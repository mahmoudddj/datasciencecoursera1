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8" r:id="rId4"/>
    <p:sldId id="259" r:id="rId5"/>
    <p:sldId id="268" r:id="rId15"/>
    <p:sldId id="260" r:id="rId6"/>
    <p:sldId id="269" r:id="rId16"/>
    <p:sldId id="270" r:id="rId17"/>
    <p:sldId id="261" r:id="rId7"/>
    <p:sldId id="262" r:id="rId8"/>
    <p:sldId id="271" r:id="rId18"/>
    <p:sldId id="266" r:id="rId9"/>
    <p:sldId id="264" r:id="rId10"/>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94660"/>
  </p:normalViewPr>
  <p:slideViewPr>
    <p:cSldViewPr>
      <p:cViewPr varScale="1">
        <p:scale>
          <a:sx n="47" d="100"/>
          <a:sy n="47" d="100"/>
        </p:scale>
        <p:origin x="845"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5.xml"/><Relationship Id="rId7" Type="http://schemas.openxmlformats.org/officeDocument/2006/relationships/slide" Target="slides/slide8.xml"/><Relationship Id="rId8" Type="http://schemas.openxmlformats.org/officeDocument/2006/relationships/slide" Target="slides/slide9.xml"/><Relationship Id="rId9" Type="http://schemas.openxmlformats.org/officeDocument/2006/relationships/slide" Target="slides/slide11.xml"/><Relationship Id="rId10" Type="http://schemas.openxmlformats.org/officeDocument/2006/relationships/slide" Target="slides/slide12.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4.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8288000" cy="10286999"/>
          </a:xfrm>
          <a:prstGeom prst="rect">
            <a:avLst/>
          </a:prstGeom>
        </p:spPr>
      </p:pic>
      <p:pic>
        <p:nvPicPr>
          <p:cNvPr id="17" name="bg object 17"/>
          <p:cNvPicPr/>
          <p:nvPr/>
        </p:nvPicPr>
        <p:blipFill>
          <a:blip r:embed="rId3" cstate="print"/>
          <a:stretch>
            <a:fillRect/>
          </a:stretch>
        </p:blipFill>
        <p:spPr>
          <a:xfrm>
            <a:off x="513760" y="3345563"/>
            <a:ext cx="16745538" cy="5010268"/>
          </a:xfrm>
          <a:prstGeom prst="rect">
            <a:avLst/>
          </a:prstGeom>
        </p:spPr>
      </p:pic>
      <p:sp>
        <p:nvSpPr>
          <p:cNvPr id="2" name="Holder 2"/>
          <p:cNvSpPr>
            <a:spLocks noGrp="1"/>
          </p:cNvSpPr>
          <p:nvPr>
            <p:ph type="ctrTitle"/>
          </p:nvPr>
        </p:nvSpPr>
        <p:spPr>
          <a:xfrm>
            <a:off x="1465676" y="3329951"/>
            <a:ext cx="6014720" cy="855097"/>
          </a:xfrm>
          <a:prstGeom prst="rect">
            <a:avLst/>
          </a:prstGeom>
        </p:spPr>
        <p:txBody>
          <a:bodyPr wrap="square" lIns="0" tIns="0" rIns="0" bIns="0">
            <a:spAutoFit/>
          </a:bodyPr>
          <a:lstStyle>
            <a:lvl1pPr>
              <a:defRPr sz="6300" b="0" i="0">
                <a:solidFill>
                  <a:schemeClr val="bg1"/>
                </a:solidFill>
                <a:latin typeface="Tahoma"/>
                <a:cs typeface="Tahoma"/>
              </a:defRPr>
            </a:lvl1pPr>
          </a:lstStyle>
          <a:p>
            <a:endParaRPr/>
          </a:p>
        </p:txBody>
      </p:sp>
      <p:sp>
        <p:nvSpPr>
          <p:cNvPr id="3" name="Holder 3"/>
          <p:cNvSpPr>
            <a:spLocks noGrp="1"/>
          </p:cNvSpPr>
          <p:nvPr>
            <p:ph type="subTitle" idx="4"/>
          </p:nvPr>
        </p:nvSpPr>
        <p:spPr>
          <a:xfrm>
            <a:off x="1465676" y="5292700"/>
            <a:ext cx="11450955" cy="107696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2550" b="1" i="0">
                <a:solidFill>
                  <a:srgbClr val="C4F8FE"/>
                </a:solidFill>
                <a:latin typeface="Tahoma"/>
                <a:cs typeface="Tahoma"/>
              </a:defRPr>
            </a:lvl1pPr>
          </a:lstStyle>
          <a:p>
            <a:pPr marL="12700">
              <a:lnSpc>
                <a:spcPts val="2575"/>
              </a:lnSpc>
              <a:spcBef>
                <a:spcPts val="865"/>
              </a:spcBef>
            </a:pPr>
            <a:r>
              <a:rPr spc="-305" dirty="0"/>
              <a:t>MEDATHON</a:t>
            </a:r>
          </a:p>
          <a:p>
            <a:pPr marL="12700">
              <a:lnSpc>
                <a:spcPts val="2575"/>
              </a:lnSpc>
            </a:pPr>
            <a:r>
              <a:rPr spc="-305" dirty="0">
                <a:solidFill>
                  <a:srgbClr val="CBF8FE"/>
                </a:solidFill>
              </a:rPr>
              <a:t>MEDATHON</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10/3/2026</a:t>
            </a:fld>
            <a:endParaRPr lang="en-US"/>
          </a:p>
        </p:txBody>
      </p:sp>
      <p:sp>
        <p:nvSpPr>
          <p:cNvPr id="6" name="Holder 6"/>
          <p:cNvSpPr>
            <a:spLocks noGrp="1"/>
          </p:cNvSpPr>
          <p:nvPr>
            <p:ph type="sldNum" sz="quarter" idx="7"/>
          </p:nvPr>
        </p:nvSpPr>
        <p:spPr/>
        <p:txBody>
          <a:bodyPr lIns="0" tIns="0" rIns="0" bIns="0"/>
          <a:lstStyle>
            <a:lvl1pPr>
              <a:defRPr sz="2350" b="1" i="0">
                <a:solidFill>
                  <a:srgbClr val="AAF5FE"/>
                </a:solidFill>
                <a:latin typeface="Tahoma"/>
                <a:cs typeface="Tahoma"/>
              </a:defRPr>
            </a:lvl1pPr>
          </a:lstStyle>
          <a:p>
            <a:pPr marL="12700">
              <a:lnSpc>
                <a:spcPct val="100000"/>
              </a:lnSpc>
              <a:spcBef>
                <a:spcPts val="45"/>
              </a:spcBef>
            </a:pPr>
            <a:r>
              <a:rPr spc="-20" dirty="0"/>
              <a:t>M</a:t>
            </a:r>
            <a:r>
              <a:rPr spc="-15" dirty="0"/>
              <a:t>E</a:t>
            </a:r>
            <a:r>
              <a:rPr spc="-135" dirty="0"/>
              <a:t>D</a:t>
            </a:r>
            <a:r>
              <a:rPr spc="-220" dirty="0"/>
              <a:t>A</a:t>
            </a:r>
            <a:r>
              <a:rPr spc="-15" dirty="0"/>
              <a:t>T</a:t>
            </a:r>
            <a:r>
              <a:rPr spc="-25" dirty="0"/>
              <a:t>H</a:t>
            </a:r>
            <a:r>
              <a:rPr spc="-20" dirty="0"/>
              <a:t>O</a:t>
            </a:r>
            <a:r>
              <a:rPr spc="-830" dirty="0"/>
              <a:t>N</a:t>
            </a:r>
            <a:fld id="{81D60167-4931-47E6-BA6A-407CBD079E47}" type="slidenum">
              <a:rPr sz="3000" b="0" spc="67" baseline="-25000" dirty="0">
                <a:solidFill>
                  <a:srgbClr val="FFFFFF"/>
                </a:solidFill>
                <a:latin typeface="Lucida Sans Unicode"/>
                <a:cs typeface="Lucida Sans Unicode"/>
              </a:rPr>
              <a:t>‹#›</a:t>
            </a:fld>
            <a:endParaRPr sz="3000" baseline="-25000">
              <a:latin typeface="Lucida Sans Unicode"/>
              <a:cs typeface="Lucida Sans Unicode"/>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8288000" cy="10287000"/>
          </a:xfrm>
          <a:custGeom>
            <a:avLst/>
            <a:gdLst/>
            <a:ahLst/>
            <a:cxnLst/>
            <a:rect l="l" t="t" r="r" b="b"/>
            <a:pathLst>
              <a:path w="18288000" h="10287000">
                <a:moveTo>
                  <a:pt x="18287998" y="10286999"/>
                </a:moveTo>
                <a:lnTo>
                  <a:pt x="0" y="10286999"/>
                </a:lnTo>
                <a:lnTo>
                  <a:pt x="0" y="0"/>
                </a:lnTo>
                <a:lnTo>
                  <a:pt x="18287998" y="0"/>
                </a:lnTo>
                <a:lnTo>
                  <a:pt x="18287998" y="10286999"/>
                </a:lnTo>
                <a:close/>
              </a:path>
            </a:pathLst>
          </a:custGeom>
          <a:solidFill>
            <a:srgbClr val="000000"/>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13662933" y="0"/>
            <a:ext cx="4625066" cy="10286999"/>
          </a:xfrm>
          <a:prstGeom prst="rect">
            <a:avLst/>
          </a:prstGeom>
        </p:spPr>
      </p:pic>
      <p:sp>
        <p:nvSpPr>
          <p:cNvPr id="18" name="bg object 18"/>
          <p:cNvSpPr/>
          <p:nvPr/>
        </p:nvSpPr>
        <p:spPr>
          <a:xfrm>
            <a:off x="5056691" y="6766437"/>
            <a:ext cx="5218430" cy="1260475"/>
          </a:xfrm>
          <a:custGeom>
            <a:avLst/>
            <a:gdLst/>
            <a:ahLst/>
            <a:cxnLst/>
            <a:rect l="l" t="t" r="r" b="b"/>
            <a:pathLst>
              <a:path w="5218430" h="1260475">
                <a:moveTo>
                  <a:pt x="5028886" y="1260215"/>
                </a:moveTo>
                <a:lnTo>
                  <a:pt x="190499" y="1260215"/>
                </a:lnTo>
                <a:lnTo>
                  <a:pt x="153161" y="1256520"/>
                </a:lnTo>
                <a:lnTo>
                  <a:pt x="84810" y="1228208"/>
                </a:lnTo>
                <a:lnTo>
                  <a:pt x="32006" y="1175404"/>
                </a:lnTo>
                <a:lnTo>
                  <a:pt x="3694" y="1107053"/>
                </a:lnTo>
                <a:lnTo>
                  <a:pt x="0" y="1069715"/>
                </a:lnTo>
                <a:lnTo>
                  <a:pt x="0" y="190499"/>
                </a:lnTo>
                <a:lnTo>
                  <a:pt x="14500" y="117598"/>
                </a:lnTo>
                <a:lnTo>
                  <a:pt x="55796" y="55796"/>
                </a:lnTo>
                <a:lnTo>
                  <a:pt x="117598" y="14500"/>
                </a:lnTo>
                <a:lnTo>
                  <a:pt x="190499" y="0"/>
                </a:lnTo>
                <a:lnTo>
                  <a:pt x="5028886" y="0"/>
                </a:lnTo>
                <a:lnTo>
                  <a:pt x="5101787" y="14500"/>
                </a:lnTo>
                <a:lnTo>
                  <a:pt x="5163590" y="55796"/>
                </a:lnTo>
                <a:lnTo>
                  <a:pt x="5204885" y="117598"/>
                </a:lnTo>
                <a:lnTo>
                  <a:pt x="5218078" y="177285"/>
                </a:lnTo>
                <a:lnTo>
                  <a:pt x="5218078" y="1082929"/>
                </a:lnTo>
                <a:lnTo>
                  <a:pt x="5204885" y="1142616"/>
                </a:lnTo>
                <a:lnTo>
                  <a:pt x="5163590" y="1204418"/>
                </a:lnTo>
                <a:lnTo>
                  <a:pt x="5101787" y="1245714"/>
                </a:lnTo>
                <a:lnTo>
                  <a:pt x="5028886" y="1260215"/>
                </a:lnTo>
                <a:close/>
              </a:path>
            </a:pathLst>
          </a:custGeom>
          <a:solidFill>
            <a:srgbClr val="00E4FF">
              <a:alpha val="19999"/>
            </a:srgbClr>
          </a:solidFill>
        </p:spPr>
        <p:txBody>
          <a:bodyPr wrap="square" lIns="0" tIns="0" rIns="0" bIns="0" rtlCol="0"/>
          <a:lstStyle/>
          <a:p>
            <a:endParaRPr/>
          </a:p>
        </p:txBody>
      </p:sp>
      <p:sp>
        <p:nvSpPr>
          <p:cNvPr id="19" name="bg object 19"/>
          <p:cNvSpPr/>
          <p:nvPr/>
        </p:nvSpPr>
        <p:spPr>
          <a:xfrm>
            <a:off x="5056691" y="5350567"/>
            <a:ext cx="5218430" cy="1260475"/>
          </a:xfrm>
          <a:custGeom>
            <a:avLst/>
            <a:gdLst/>
            <a:ahLst/>
            <a:cxnLst/>
            <a:rect l="l" t="t" r="r" b="b"/>
            <a:pathLst>
              <a:path w="5218430" h="1260475">
                <a:moveTo>
                  <a:pt x="5028886" y="1260215"/>
                </a:moveTo>
                <a:lnTo>
                  <a:pt x="190499" y="1260215"/>
                </a:lnTo>
                <a:lnTo>
                  <a:pt x="153161" y="1256520"/>
                </a:lnTo>
                <a:lnTo>
                  <a:pt x="84810" y="1228208"/>
                </a:lnTo>
                <a:lnTo>
                  <a:pt x="32006" y="1175404"/>
                </a:lnTo>
                <a:lnTo>
                  <a:pt x="3694" y="1107053"/>
                </a:lnTo>
                <a:lnTo>
                  <a:pt x="0" y="1069715"/>
                </a:lnTo>
                <a:lnTo>
                  <a:pt x="0" y="190499"/>
                </a:lnTo>
                <a:lnTo>
                  <a:pt x="14500" y="117598"/>
                </a:lnTo>
                <a:lnTo>
                  <a:pt x="55796" y="55796"/>
                </a:lnTo>
                <a:lnTo>
                  <a:pt x="117598" y="14500"/>
                </a:lnTo>
                <a:lnTo>
                  <a:pt x="190499" y="0"/>
                </a:lnTo>
                <a:lnTo>
                  <a:pt x="5028886" y="0"/>
                </a:lnTo>
                <a:lnTo>
                  <a:pt x="5066224" y="3694"/>
                </a:lnTo>
                <a:lnTo>
                  <a:pt x="5134575" y="32006"/>
                </a:lnTo>
                <a:lnTo>
                  <a:pt x="5187380" y="84810"/>
                </a:lnTo>
                <a:lnTo>
                  <a:pt x="5215691" y="153161"/>
                </a:lnTo>
                <a:lnTo>
                  <a:pt x="5218078" y="177285"/>
                </a:lnTo>
                <a:lnTo>
                  <a:pt x="5218078" y="1082929"/>
                </a:lnTo>
                <a:lnTo>
                  <a:pt x="5204885" y="1142616"/>
                </a:lnTo>
                <a:lnTo>
                  <a:pt x="5163590" y="1204418"/>
                </a:lnTo>
                <a:lnTo>
                  <a:pt x="5101787" y="1245714"/>
                </a:lnTo>
                <a:lnTo>
                  <a:pt x="5028886" y="1260215"/>
                </a:lnTo>
                <a:close/>
              </a:path>
            </a:pathLst>
          </a:custGeom>
          <a:solidFill>
            <a:srgbClr val="00E4FF">
              <a:alpha val="19999"/>
            </a:srgbClr>
          </a:solidFill>
        </p:spPr>
        <p:txBody>
          <a:bodyPr wrap="square" lIns="0" tIns="0" rIns="0" bIns="0" rtlCol="0"/>
          <a:lstStyle/>
          <a:p>
            <a:endParaRPr/>
          </a:p>
        </p:txBody>
      </p:sp>
      <p:sp>
        <p:nvSpPr>
          <p:cNvPr id="20" name="bg object 20"/>
          <p:cNvSpPr/>
          <p:nvPr/>
        </p:nvSpPr>
        <p:spPr>
          <a:xfrm>
            <a:off x="5056691" y="3937952"/>
            <a:ext cx="5218430" cy="1260475"/>
          </a:xfrm>
          <a:custGeom>
            <a:avLst/>
            <a:gdLst/>
            <a:ahLst/>
            <a:cxnLst/>
            <a:rect l="l" t="t" r="r" b="b"/>
            <a:pathLst>
              <a:path w="5218430" h="1260475">
                <a:moveTo>
                  <a:pt x="5028886" y="1260215"/>
                </a:moveTo>
                <a:lnTo>
                  <a:pt x="190499" y="1260215"/>
                </a:lnTo>
                <a:lnTo>
                  <a:pt x="153161" y="1256520"/>
                </a:lnTo>
                <a:lnTo>
                  <a:pt x="84810" y="1228208"/>
                </a:lnTo>
                <a:lnTo>
                  <a:pt x="32006" y="1175404"/>
                </a:lnTo>
                <a:lnTo>
                  <a:pt x="3694" y="1107053"/>
                </a:lnTo>
                <a:lnTo>
                  <a:pt x="0" y="1069715"/>
                </a:lnTo>
                <a:lnTo>
                  <a:pt x="0" y="190499"/>
                </a:lnTo>
                <a:lnTo>
                  <a:pt x="14500" y="117598"/>
                </a:lnTo>
                <a:lnTo>
                  <a:pt x="55796" y="55796"/>
                </a:lnTo>
                <a:lnTo>
                  <a:pt x="117598" y="14500"/>
                </a:lnTo>
                <a:lnTo>
                  <a:pt x="190499" y="0"/>
                </a:lnTo>
                <a:lnTo>
                  <a:pt x="5028886" y="0"/>
                </a:lnTo>
                <a:lnTo>
                  <a:pt x="5101787" y="14500"/>
                </a:lnTo>
                <a:lnTo>
                  <a:pt x="5163590" y="55796"/>
                </a:lnTo>
                <a:lnTo>
                  <a:pt x="5204885" y="117598"/>
                </a:lnTo>
                <a:lnTo>
                  <a:pt x="5218078" y="177285"/>
                </a:lnTo>
                <a:lnTo>
                  <a:pt x="5218078" y="1082929"/>
                </a:lnTo>
                <a:lnTo>
                  <a:pt x="5204885" y="1142616"/>
                </a:lnTo>
                <a:lnTo>
                  <a:pt x="5163590" y="1204419"/>
                </a:lnTo>
                <a:lnTo>
                  <a:pt x="5101787" y="1245714"/>
                </a:lnTo>
                <a:lnTo>
                  <a:pt x="5028886" y="1260215"/>
                </a:lnTo>
                <a:close/>
              </a:path>
            </a:pathLst>
          </a:custGeom>
          <a:solidFill>
            <a:srgbClr val="00E4FF">
              <a:alpha val="19999"/>
            </a:srgbClr>
          </a:solidFill>
        </p:spPr>
        <p:txBody>
          <a:bodyPr wrap="square" lIns="0" tIns="0" rIns="0" bIns="0" rtlCol="0"/>
          <a:lstStyle/>
          <a:p>
            <a:endParaRPr/>
          </a:p>
        </p:txBody>
      </p:sp>
      <p:sp>
        <p:nvSpPr>
          <p:cNvPr id="21" name="bg object 21"/>
          <p:cNvSpPr/>
          <p:nvPr/>
        </p:nvSpPr>
        <p:spPr>
          <a:xfrm>
            <a:off x="5208328" y="6922816"/>
            <a:ext cx="4918710" cy="948055"/>
          </a:xfrm>
          <a:custGeom>
            <a:avLst/>
            <a:gdLst/>
            <a:ahLst/>
            <a:cxnLst/>
            <a:rect l="l" t="t" r="r" b="b"/>
            <a:pathLst>
              <a:path w="4918709" h="948054">
                <a:moveTo>
                  <a:pt x="4728325" y="947455"/>
                </a:moveTo>
                <a:lnTo>
                  <a:pt x="190499" y="947455"/>
                </a:lnTo>
                <a:lnTo>
                  <a:pt x="153161" y="943761"/>
                </a:lnTo>
                <a:lnTo>
                  <a:pt x="84810" y="915449"/>
                </a:lnTo>
                <a:lnTo>
                  <a:pt x="32006" y="862645"/>
                </a:lnTo>
                <a:lnTo>
                  <a:pt x="3694" y="794293"/>
                </a:lnTo>
                <a:lnTo>
                  <a:pt x="0" y="756955"/>
                </a:lnTo>
                <a:lnTo>
                  <a:pt x="0" y="190499"/>
                </a:lnTo>
                <a:lnTo>
                  <a:pt x="14500" y="117598"/>
                </a:lnTo>
                <a:lnTo>
                  <a:pt x="55796" y="55796"/>
                </a:lnTo>
                <a:lnTo>
                  <a:pt x="117598" y="14500"/>
                </a:lnTo>
                <a:lnTo>
                  <a:pt x="190499" y="0"/>
                </a:lnTo>
                <a:lnTo>
                  <a:pt x="4728325" y="0"/>
                </a:lnTo>
                <a:lnTo>
                  <a:pt x="4801226" y="14500"/>
                </a:lnTo>
                <a:lnTo>
                  <a:pt x="4863029" y="55796"/>
                </a:lnTo>
                <a:lnTo>
                  <a:pt x="4904324" y="117598"/>
                </a:lnTo>
                <a:lnTo>
                  <a:pt x="4918627" y="188493"/>
                </a:lnTo>
                <a:lnTo>
                  <a:pt x="4918627" y="758961"/>
                </a:lnTo>
                <a:lnTo>
                  <a:pt x="4904324" y="829856"/>
                </a:lnTo>
                <a:lnTo>
                  <a:pt x="4863029" y="891659"/>
                </a:lnTo>
                <a:lnTo>
                  <a:pt x="4801226" y="932954"/>
                </a:lnTo>
                <a:lnTo>
                  <a:pt x="4728325" y="947455"/>
                </a:lnTo>
                <a:close/>
              </a:path>
            </a:pathLst>
          </a:custGeom>
          <a:solidFill>
            <a:srgbClr val="00E4FF">
              <a:alpha val="50000"/>
            </a:srgbClr>
          </a:solidFill>
        </p:spPr>
        <p:txBody>
          <a:bodyPr wrap="square" lIns="0" tIns="0" rIns="0" bIns="0" rtlCol="0"/>
          <a:lstStyle/>
          <a:p>
            <a:endParaRPr/>
          </a:p>
        </p:txBody>
      </p:sp>
      <p:sp>
        <p:nvSpPr>
          <p:cNvPr id="22" name="bg object 22"/>
          <p:cNvSpPr/>
          <p:nvPr/>
        </p:nvSpPr>
        <p:spPr>
          <a:xfrm>
            <a:off x="5208328" y="5506947"/>
            <a:ext cx="4918710" cy="948055"/>
          </a:xfrm>
          <a:custGeom>
            <a:avLst/>
            <a:gdLst/>
            <a:ahLst/>
            <a:cxnLst/>
            <a:rect l="l" t="t" r="r" b="b"/>
            <a:pathLst>
              <a:path w="4918709" h="948054">
                <a:moveTo>
                  <a:pt x="4728325" y="947455"/>
                </a:moveTo>
                <a:lnTo>
                  <a:pt x="190499" y="947455"/>
                </a:lnTo>
                <a:lnTo>
                  <a:pt x="153161" y="943761"/>
                </a:lnTo>
                <a:lnTo>
                  <a:pt x="84810" y="915449"/>
                </a:lnTo>
                <a:lnTo>
                  <a:pt x="32006" y="862645"/>
                </a:lnTo>
                <a:lnTo>
                  <a:pt x="3694" y="794293"/>
                </a:lnTo>
                <a:lnTo>
                  <a:pt x="0" y="756955"/>
                </a:lnTo>
                <a:lnTo>
                  <a:pt x="0" y="190499"/>
                </a:lnTo>
                <a:lnTo>
                  <a:pt x="14500" y="117598"/>
                </a:lnTo>
                <a:lnTo>
                  <a:pt x="55796" y="55796"/>
                </a:lnTo>
                <a:lnTo>
                  <a:pt x="117598" y="14500"/>
                </a:lnTo>
                <a:lnTo>
                  <a:pt x="190499" y="0"/>
                </a:lnTo>
                <a:lnTo>
                  <a:pt x="4728325" y="0"/>
                </a:lnTo>
                <a:lnTo>
                  <a:pt x="4801226" y="14500"/>
                </a:lnTo>
                <a:lnTo>
                  <a:pt x="4863029" y="55796"/>
                </a:lnTo>
                <a:lnTo>
                  <a:pt x="4904324" y="117598"/>
                </a:lnTo>
                <a:lnTo>
                  <a:pt x="4918627" y="188493"/>
                </a:lnTo>
                <a:lnTo>
                  <a:pt x="4918627" y="758961"/>
                </a:lnTo>
                <a:lnTo>
                  <a:pt x="4904324" y="829856"/>
                </a:lnTo>
                <a:lnTo>
                  <a:pt x="4863029" y="891659"/>
                </a:lnTo>
                <a:lnTo>
                  <a:pt x="4801226" y="932954"/>
                </a:lnTo>
                <a:lnTo>
                  <a:pt x="4728325" y="947455"/>
                </a:lnTo>
                <a:close/>
              </a:path>
            </a:pathLst>
          </a:custGeom>
          <a:solidFill>
            <a:srgbClr val="00E4FF">
              <a:alpha val="50000"/>
            </a:srgbClr>
          </a:solidFill>
        </p:spPr>
        <p:txBody>
          <a:bodyPr wrap="square" lIns="0" tIns="0" rIns="0" bIns="0" rtlCol="0"/>
          <a:lstStyle/>
          <a:p>
            <a:endParaRPr/>
          </a:p>
        </p:txBody>
      </p:sp>
      <p:sp>
        <p:nvSpPr>
          <p:cNvPr id="23" name="bg object 23"/>
          <p:cNvSpPr/>
          <p:nvPr/>
        </p:nvSpPr>
        <p:spPr>
          <a:xfrm>
            <a:off x="5208328" y="4094331"/>
            <a:ext cx="4918710" cy="948055"/>
          </a:xfrm>
          <a:custGeom>
            <a:avLst/>
            <a:gdLst/>
            <a:ahLst/>
            <a:cxnLst/>
            <a:rect l="l" t="t" r="r" b="b"/>
            <a:pathLst>
              <a:path w="4918709" h="948054">
                <a:moveTo>
                  <a:pt x="4728325" y="947455"/>
                </a:moveTo>
                <a:lnTo>
                  <a:pt x="190499" y="947455"/>
                </a:lnTo>
                <a:lnTo>
                  <a:pt x="153161" y="943761"/>
                </a:lnTo>
                <a:lnTo>
                  <a:pt x="84810" y="915449"/>
                </a:lnTo>
                <a:lnTo>
                  <a:pt x="32006" y="862645"/>
                </a:lnTo>
                <a:lnTo>
                  <a:pt x="3694" y="794293"/>
                </a:lnTo>
                <a:lnTo>
                  <a:pt x="0" y="756955"/>
                </a:lnTo>
                <a:lnTo>
                  <a:pt x="0" y="190499"/>
                </a:lnTo>
                <a:lnTo>
                  <a:pt x="14500" y="117598"/>
                </a:lnTo>
                <a:lnTo>
                  <a:pt x="55796" y="55796"/>
                </a:lnTo>
                <a:lnTo>
                  <a:pt x="117598" y="14500"/>
                </a:lnTo>
                <a:lnTo>
                  <a:pt x="190499" y="0"/>
                </a:lnTo>
                <a:lnTo>
                  <a:pt x="4728325" y="0"/>
                </a:lnTo>
                <a:lnTo>
                  <a:pt x="4801226" y="14500"/>
                </a:lnTo>
                <a:lnTo>
                  <a:pt x="4863029" y="55796"/>
                </a:lnTo>
                <a:lnTo>
                  <a:pt x="4904324" y="117598"/>
                </a:lnTo>
                <a:lnTo>
                  <a:pt x="4918627" y="188493"/>
                </a:lnTo>
                <a:lnTo>
                  <a:pt x="4918627" y="758961"/>
                </a:lnTo>
                <a:lnTo>
                  <a:pt x="4904324" y="829856"/>
                </a:lnTo>
                <a:lnTo>
                  <a:pt x="4863029" y="891659"/>
                </a:lnTo>
                <a:lnTo>
                  <a:pt x="4801226" y="932954"/>
                </a:lnTo>
                <a:lnTo>
                  <a:pt x="4728325" y="947455"/>
                </a:lnTo>
                <a:close/>
              </a:path>
            </a:pathLst>
          </a:custGeom>
          <a:solidFill>
            <a:srgbClr val="00E4FF">
              <a:alpha val="50000"/>
            </a:srgbClr>
          </a:solidFill>
        </p:spPr>
        <p:txBody>
          <a:bodyPr wrap="square" lIns="0" tIns="0" rIns="0" bIns="0" rtlCol="0"/>
          <a:lstStyle/>
          <a:p>
            <a:endParaRPr/>
          </a:p>
        </p:txBody>
      </p:sp>
      <p:pic>
        <p:nvPicPr>
          <p:cNvPr id="24" name="bg object 24"/>
          <p:cNvPicPr/>
          <p:nvPr/>
        </p:nvPicPr>
        <p:blipFill>
          <a:blip r:embed="rId3" cstate="print"/>
          <a:stretch>
            <a:fillRect/>
          </a:stretch>
        </p:blipFill>
        <p:spPr>
          <a:xfrm>
            <a:off x="1256298" y="0"/>
            <a:ext cx="17031701" cy="10286999"/>
          </a:xfrm>
          <a:prstGeom prst="rect">
            <a:avLst/>
          </a:prstGeom>
        </p:spPr>
      </p:pic>
      <p:sp>
        <p:nvSpPr>
          <p:cNvPr id="2" name="Holder 2"/>
          <p:cNvSpPr>
            <a:spLocks noGrp="1"/>
          </p:cNvSpPr>
          <p:nvPr>
            <p:ph type="title"/>
          </p:nvPr>
        </p:nvSpPr>
        <p:spPr/>
        <p:txBody>
          <a:bodyPr lIns="0" tIns="0" rIns="0" bIns="0"/>
          <a:lstStyle>
            <a:lvl1pPr>
              <a:defRPr sz="6300" b="0" i="0">
                <a:solidFill>
                  <a:schemeClr val="bg1"/>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2550" b="1" i="0">
                <a:solidFill>
                  <a:srgbClr val="C4F8FE"/>
                </a:solidFill>
                <a:latin typeface="Tahoma"/>
                <a:cs typeface="Tahoma"/>
              </a:defRPr>
            </a:lvl1pPr>
          </a:lstStyle>
          <a:p>
            <a:pPr marL="12700">
              <a:lnSpc>
                <a:spcPts val="2575"/>
              </a:lnSpc>
              <a:spcBef>
                <a:spcPts val="865"/>
              </a:spcBef>
            </a:pPr>
            <a:r>
              <a:rPr spc="-305" dirty="0"/>
              <a:t>MEDATHON</a:t>
            </a:r>
          </a:p>
          <a:p>
            <a:pPr marL="12700">
              <a:lnSpc>
                <a:spcPts val="2575"/>
              </a:lnSpc>
            </a:pPr>
            <a:r>
              <a:rPr spc="-305" dirty="0">
                <a:solidFill>
                  <a:srgbClr val="CBF8FE"/>
                </a:solidFill>
              </a:rPr>
              <a:t>MEDATHON</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10/3/2026</a:t>
            </a:fld>
            <a:endParaRPr lang="en-US"/>
          </a:p>
        </p:txBody>
      </p:sp>
      <p:sp>
        <p:nvSpPr>
          <p:cNvPr id="6" name="Holder 6"/>
          <p:cNvSpPr>
            <a:spLocks noGrp="1"/>
          </p:cNvSpPr>
          <p:nvPr>
            <p:ph type="sldNum" sz="quarter" idx="7"/>
          </p:nvPr>
        </p:nvSpPr>
        <p:spPr/>
        <p:txBody>
          <a:bodyPr lIns="0" tIns="0" rIns="0" bIns="0"/>
          <a:lstStyle>
            <a:lvl1pPr>
              <a:defRPr sz="2350" b="1" i="0">
                <a:solidFill>
                  <a:srgbClr val="AAF5FE"/>
                </a:solidFill>
                <a:latin typeface="Tahoma"/>
                <a:cs typeface="Tahoma"/>
              </a:defRPr>
            </a:lvl1pPr>
          </a:lstStyle>
          <a:p>
            <a:pPr marL="12700">
              <a:lnSpc>
                <a:spcPct val="100000"/>
              </a:lnSpc>
              <a:spcBef>
                <a:spcPts val="45"/>
              </a:spcBef>
            </a:pPr>
            <a:r>
              <a:rPr spc="-20" dirty="0"/>
              <a:t>M</a:t>
            </a:r>
            <a:r>
              <a:rPr spc="-15" dirty="0"/>
              <a:t>E</a:t>
            </a:r>
            <a:r>
              <a:rPr spc="-135" dirty="0"/>
              <a:t>D</a:t>
            </a:r>
            <a:r>
              <a:rPr spc="-220" dirty="0"/>
              <a:t>A</a:t>
            </a:r>
            <a:r>
              <a:rPr spc="-15" dirty="0"/>
              <a:t>T</a:t>
            </a:r>
            <a:r>
              <a:rPr spc="-25" dirty="0"/>
              <a:t>H</a:t>
            </a:r>
            <a:r>
              <a:rPr spc="-20" dirty="0"/>
              <a:t>O</a:t>
            </a:r>
            <a:r>
              <a:rPr spc="-830" dirty="0"/>
              <a:t>N</a:t>
            </a:r>
            <a:fld id="{81D60167-4931-47E6-BA6A-407CBD079E47}" type="slidenum">
              <a:rPr sz="3000" b="0" spc="67" baseline="-25000" dirty="0">
                <a:solidFill>
                  <a:srgbClr val="FFFFFF"/>
                </a:solidFill>
                <a:latin typeface="Lucida Sans Unicode"/>
                <a:cs typeface="Lucida Sans Unicode"/>
              </a:rPr>
              <a:t>‹#›</a:t>
            </a:fld>
            <a:endParaRPr sz="3000" baseline="-25000">
              <a:latin typeface="Lucida Sans Unicode"/>
              <a:cs typeface="Lucida Sans Unicode"/>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300" b="0" i="0">
                <a:solidFill>
                  <a:schemeClr val="bg1"/>
                </a:solidFill>
                <a:latin typeface="Tahoma"/>
                <a:cs typeface="Tahoma"/>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2550" b="1" i="0">
                <a:solidFill>
                  <a:srgbClr val="C4F8FE"/>
                </a:solidFill>
                <a:latin typeface="Tahoma"/>
                <a:cs typeface="Tahoma"/>
              </a:defRPr>
            </a:lvl1pPr>
          </a:lstStyle>
          <a:p>
            <a:pPr marL="12700">
              <a:lnSpc>
                <a:spcPts val="2575"/>
              </a:lnSpc>
              <a:spcBef>
                <a:spcPts val="865"/>
              </a:spcBef>
            </a:pPr>
            <a:r>
              <a:rPr spc="-305" dirty="0"/>
              <a:t>MEDATHON</a:t>
            </a:r>
          </a:p>
          <a:p>
            <a:pPr marL="12700">
              <a:lnSpc>
                <a:spcPts val="2575"/>
              </a:lnSpc>
            </a:pPr>
            <a:r>
              <a:rPr spc="-305" dirty="0">
                <a:solidFill>
                  <a:srgbClr val="CBF8FE"/>
                </a:solidFill>
              </a:rPr>
              <a:t>MEDATHON</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10/3/2026</a:t>
            </a:fld>
            <a:endParaRPr lang="en-US"/>
          </a:p>
        </p:txBody>
      </p:sp>
      <p:sp>
        <p:nvSpPr>
          <p:cNvPr id="7" name="Holder 7"/>
          <p:cNvSpPr>
            <a:spLocks noGrp="1"/>
          </p:cNvSpPr>
          <p:nvPr>
            <p:ph type="sldNum" sz="quarter" idx="7"/>
          </p:nvPr>
        </p:nvSpPr>
        <p:spPr/>
        <p:txBody>
          <a:bodyPr lIns="0" tIns="0" rIns="0" bIns="0"/>
          <a:lstStyle>
            <a:lvl1pPr>
              <a:defRPr sz="2350" b="1" i="0">
                <a:solidFill>
                  <a:srgbClr val="AAF5FE"/>
                </a:solidFill>
                <a:latin typeface="Tahoma"/>
                <a:cs typeface="Tahoma"/>
              </a:defRPr>
            </a:lvl1pPr>
          </a:lstStyle>
          <a:p>
            <a:pPr marL="12700">
              <a:lnSpc>
                <a:spcPct val="100000"/>
              </a:lnSpc>
              <a:spcBef>
                <a:spcPts val="45"/>
              </a:spcBef>
            </a:pPr>
            <a:r>
              <a:rPr spc="-20" dirty="0"/>
              <a:t>M</a:t>
            </a:r>
            <a:r>
              <a:rPr spc="-15" dirty="0"/>
              <a:t>E</a:t>
            </a:r>
            <a:r>
              <a:rPr spc="-135" dirty="0"/>
              <a:t>D</a:t>
            </a:r>
            <a:r>
              <a:rPr spc="-220" dirty="0"/>
              <a:t>A</a:t>
            </a:r>
            <a:r>
              <a:rPr spc="-15" dirty="0"/>
              <a:t>T</a:t>
            </a:r>
            <a:r>
              <a:rPr spc="-25" dirty="0"/>
              <a:t>H</a:t>
            </a:r>
            <a:r>
              <a:rPr spc="-20" dirty="0"/>
              <a:t>O</a:t>
            </a:r>
            <a:r>
              <a:rPr spc="-830" dirty="0"/>
              <a:t>N</a:t>
            </a:r>
            <a:fld id="{81D60167-4931-47E6-BA6A-407CBD079E47}" type="slidenum">
              <a:rPr sz="3000" b="0" spc="67" baseline="-25000" dirty="0">
                <a:solidFill>
                  <a:srgbClr val="FFFFFF"/>
                </a:solidFill>
                <a:latin typeface="Lucida Sans Unicode"/>
                <a:cs typeface="Lucida Sans Unicode"/>
              </a:rPr>
              <a:t>‹#›</a:t>
            </a:fld>
            <a:endParaRPr sz="3000" baseline="-25000">
              <a:latin typeface="Lucida Sans Unicode"/>
              <a:cs typeface="Lucida Sans Unicode"/>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300" b="0" i="0">
                <a:solidFill>
                  <a:schemeClr val="bg1"/>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defRPr sz="2550" b="1" i="0">
                <a:solidFill>
                  <a:srgbClr val="C4F8FE"/>
                </a:solidFill>
                <a:latin typeface="Tahoma"/>
                <a:cs typeface="Tahoma"/>
              </a:defRPr>
            </a:lvl1pPr>
          </a:lstStyle>
          <a:p>
            <a:pPr marL="12700">
              <a:lnSpc>
                <a:spcPts val="2575"/>
              </a:lnSpc>
              <a:spcBef>
                <a:spcPts val="865"/>
              </a:spcBef>
            </a:pPr>
            <a:r>
              <a:rPr spc="-305" dirty="0"/>
              <a:t>MEDATHON</a:t>
            </a:r>
          </a:p>
          <a:p>
            <a:pPr marL="12700">
              <a:lnSpc>
                <a:spcPts val="2575"/>
              </a:lnSpc>
            </a:pPr>
            <a:r>
              <a:rPr spc="-305" dirty="0">
                <a:solidFill>
                  <a:srgbClr val="CBF8FE"/>
                </a:solidFill>
              </a:rPr>
              <a:t>MEDATHON</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10/3/2026</a:t>
            </a:fld>
            <a:endParaRPr lang="en-US"/>
          </a:p>
        </p:txBody>
      </p:sp>
      <p:sp>
        <p:nvSpPr>
          <p:cNvPr id="5" name="Holder 5"/>
          <p:cNvSpPr>
            <a:spLocks noGrp="1"/>
          </p:cNvSpPr>
          <p:nvPr>
            <p:ph type="sldNum" sz="quarter" idx="7"/>
          </p:nvPr>
        </p:nvSpPr>
        <p:spPr/>
        <p:txBody>
          <a:bodyPr lIns="0" tIns="0" rIns="0" bIns="0"/>
          <a:lstStyle>
            <a:lvl1pPr>
              <a:defRPr sz="2350" b="1" i="0">
                <a:solidFill>
                  <a:srgbClr val="AAF5FE"/>
                </a:solidFill>
                <a:latin typeface="Tahoma"/>
                <a:cs typeface="Tahoma"/>
              </a:defRPr>
            </a:lvl1pPr>
          </a:lstStyle>
          <a:p>
            <a:pPr marL="12700">
              <a:lnSpc>
                <a:spcPct val="100000"/>
              </a:lnSpc>
              <a:spcBef>
                <a:spcPts val="45"/>
              </a:spcBef>
            </a:pPr>
            <a:r>
              <a:rPr spc="-20" dirty="0"/>
              <a:t>M</a:t>
            </a:r>
            <a:r>
              <a:rPr spc="-15" dirty="0"/>
              <a:t>E</a:t>
            </a:r>
            <a:r>
              <a:rPr spc="-135" dirty="0"/>
              <a:t>D</a:t>
            </a:r>
            <a:r>
              <a:rPr spc="-220" dirty="0"/>
              <a:t>A</a:t>
            </a:r>
            <a:r>
              <a:rPr spc="-15" dirty="0"/>
              <a:t>T</a:t>
            </a:r>
            <a:r>
              <a:rPr spc="-25" dirty="0"/>
              <a:t>H</a:t>
            </a:r>
            <a:r>
              <a:rPr spc="-20" dirty="0"/>
              <a:t>O</a:t>
            </a:r>
            <a:r>
              <a:rPr spc="-830" dirty="0"/>
              <a:t>N</a:t>
            </a:r>
            <a:fld id="{81D60167-4931-47E6-BA6A-407CBD079E47}" type="slidenum">
              <a:rPr sz="3000" b="0" spc="67" baseline="-25000" dirty="0">
                <a:solidFill>
                  <a:srgbClr val="FFFFFF"/>
                </a:solidFill>
                <a:latin typeface="Lucida Sans Unicode"/>
                <a:cs typeface="Lucida Sans Unicode"/>
              </a:rPr>
              <a:t>‹#›</a:t>
            </a:fld>
            <a:endParaRPr sz="3000" baseline="-25000">
              <a:latin typeface="Lucida Sans Unicode"/>
              <a:cs typeface="Lucida Sans Unicode"/>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8288000" cy="10286999"/>
          </a:xfrm>
          <a:prstGeom prst="rect">
            <a:avLst/>
          </a:prstGeom>
        </p:spPr>
      </p:pic>
      <p:pic>
        <p:nvPicPr>
          <p:cNvPr id="17" name="bg object 17"/>
          <p:cNvPicPr/>
          <p:nvPr/>
        </p:nvPicPr>
        <p:blipFill>
          <a:blip r:embed="rId3" cstate="print"/>
          <a:stretch>
            <a:fillRect/>
          </a:stretch>
        </p:blipFill>
        <p:spPr>
          <a:xfrm>
            <a:off x="0" y="0"/>
            <a:ext cx="18287999" cy="5143499"/>
          </a:xfrm>
          <a:prstGeom prst="rect">
            <a:avLst/>
          </a:prstGeom>
        </p:spPr>
      </p:pic>
      <p:pic>
        <p:nvPicPr>
          <p:cNvPr id="18" name="bg object 18"/>
          <p:cNvPicPr/>
          <p:nvPr/>
        </p:nvPicPr>
        <p:blipFill>
          <a:blip r:embed="rId4" cstate="print"/>
          <a:stretch>
            <a:fillRect/>
          </a:stretch>
        </p:blipFill>
        <p:spPr>
          <a:xfrm>
            <a:off x="0" y="7659451"/>
            <a:ext cx="8816039" cy="2627548"/>
          </a:xfrm>
          <a:prstGeom prst="rect">
            <a:avLst/>
          </a:prstGeom>
        </p:spPr>
      </p:pic>
      <p:sp>
        <p:nvSpPr>
          <p:cNvPr id="2" name="Holder 2"/>
          <p:cNvSpPr>
            <a:spLocks noGrp="1"/>
          </p:cNvSpPr>
          <p:nvPr>
            <p:ph type="ftr" sz="quarter" idx="5"/>
          </p:nvPr>
        </p:nvSpPr>
        <p:spPr/>
        <p:txBody>
          <a:bodyPr lIns="0" tIns="0" rIns="0" bIns="0"/>
          <a:lstStyle>
            <a:lvl1pPr>
              <a:defRPr sz="2550" b="1" i="0">
                <a:solidFill>
                  <a:srgbClr val="C4F8FE"/>
                </a:solidFill>
                <a:latin typeface="Tahoma"/>
                <a:cs typeface="Tahoma"/>
              </a:defRPr>
            </a:lvl1pPr>
          </a:lstStyle>
          <a:p>
            <a:pPr marL="12700">
              <a:lnSpc>
                <a:spcPts val="2575"/>
              </a:lnSpc>
              <a:spcBef>
                <a:spcPts val="865"/>
              </a:spcBef>
            </a:pPr>
            <a:r>
              <a:rPr spc="-305" dirty="0"/>
              <a:t>MEDATHON</a:t>
            </a:r>
          </a:p>
          <a:p>
            <a:pPr marL="12700">
              <a:lnSpc>
                <a:spcPts val="2575"/>
              </a:lnSpc>
            </a:pPr>
            <a:r>
              <a:rPr spc="-305" dirty="0">
                <a:solidFill>
                  <a:srgbClr val="CBF8FE"/>
                </a:solidFill>
              </a:rPr>
              <a:t>MEDATHON</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10/3/2026</a:t>
            </a:fld>
            <a:endParaRPr lang="en-US"/>
          </a:p>
        </p:txBody>
      </p:sp>
      <p:sp>
        <p:nvSpPr>
          <p:cNvPr id="4" name="Holder 4"/>
          <p:cNvSpPr>
            <a:spLocks noGrp="1"/>
          </p:cNvSpPr>
          <p:nvPr>
            <p:ph type="sldNum" sz="quarter" idx="7"/>
          </p:nvPr>
        </p:nvSpPr>
        <p:spPr/>
        <p:txBody>
          <a:bodyPr lIns="0" tIns="0" rIns="0" bIns="0"/>
          <a:lstStyle>
            <a:lvl1pPr>
              <a:defRPr sz="2350" b="1" i="0">
                <a:solidFill>
                  <a:srgbClr val="AAF5FE"/>
                </a:solidFill>
                <a:latin typeface="Tahoma"/>
                <a:cs typeface="Tahoma"/>
              </a:defRPr>
            </a:lvl1pPr>
          </a:lstStyle>
          <a:p>
            <a:pPr marL="12700">
              <a:lnSpc>
                <a:spcPct val="100000"/>
              </a:lnSpc>
              <a:spcBef>
                <a:spcPts val="45"/>
              </a:spcBef>
            </a:pPr>
            <a:r>
              <a:rPr spc="-20" dirty="0"/>
              <a:t>M</a:t>
            </a:r>
            <a:r>
              <a:rPr spc="-15" dirty="0"/>
              <a:t>E</a:t>
            </a:r>
            <a:r>
              <a:rPr spc="-135" dirty="0"/>
              <a:t>D</a:t>
            </a:r>
            <a:r>
              <a:rPr spc="-220" dirty="0"/>
              <a:t>A</a:t>
            </a:r>
            <a:r>
              <a:rPr spc="-15" dirty="0"/>
              <a:t>T</a:t>
            </a:r>
            <a:r>
              <a:rPr spc="-25" dirty="0"/>
              <a:t>H</a:t>
            </a:r>
            <a:r>
              <a:rPr spc="-20" dirty="0"/>
              <a:t>O</a:t>
            </a:r>
            <a:r>
              <a:rPr spc="-830" dirty="0"/>
              <a:t>N</a:t>
            </a:r>
            <a:fld id="{81D60167-4931-47E6-BA6A-407CBD079E47}" type="slidenum">
              <a:rPr sz="3000" b="0" spc="67" baseline="-25000" dirty="0">
                <a:solidFill>
                  <a:srgbClr val="FFFFFF"/>
                </a:solidFill>
                <a:latin typeface="Lucida Sans Unicode"/>
                <a:cs typeface="Lucida Sans Unicode"/>
              </a:rPr>
              <a:t>‹#›</a:t>
            </a:fld>
            <a:endParaRPr sz="3000" baseline="-25000">
              <a:latin typeface="Lucida Sans Unicode"/>
              <a:cs typeface="Lucida Sans Unicode"/>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8288000" cy="10287000"/>
          </a:xfrm>
          <a:custGeom>
            <a:avLst/>
            <a:gdLst/>
            <a:ahLst/>
            <a:cxnLst/>
            <a:rect l="l" t="t" r="r" b="b"/>
            <a:pathLst>
              <a:path w="18288000" h="10287000">
                <a:moveTo>
                  <a:pt x="18287998" y="10286999"/>
                </a:moveTo>
                <a:lnTo>
                  <a:pt x="0" y="10286999"/>
                </a:lnTo>
                <a:lnTo>
                  <a:pt x="0" y="0"/>
                </a:lnTo>
                <a:lnTo>
                  <a:pt x="18287998" y="0"/>
                </a:lnTo>
                <a:lnTo>
                  <a:pt x="18287998" y="10286999"/>
                </a:lnTo>
                <a:close/>
              </a:path>
            </a:pathLst>
          </a:custGeom>
          <a:solidFill>
            <a:srgbClr val="000000"/>
          </a:solidFill>
        </p:spPr>
        <p:txBody>
          <a:bodyPr wrap="square" lIns="0" tIns="0" rIns="0" bIns="0" rtlCol="0"/>
          <a:lstStyle/>
          <a:p>
            <a:endParaRPr/>
          </a:p>
        </p:txBody>
      </p:sp>
      <p:sp>
        <p:nvSpPr>
          <p:cNvPr id="2" name="Holder 2"/>
          <p:cNvSpPr>
            <a:spLocks noGrp="1"/>
          </p:cNvSpPr>
          <p:nvPr>
            <p:ph type="title"/>
          </p:nvPr>
        </p:nvSpPr>
        <p:spPr>
          <a:xfrm>
            <a:off x="1513368" y="1736556"/>
            <a:ext cx="12154357" cy="1795779"/>
          </a:xfrm>
          <a:prstGeom prst="rect">
            <a:avLst/>
          </a:prstGeom>
        </p:spPr>
        <p:txBody>
          <a:bodyPr wrap="square" lIns="0" tIns="0" rIns="0" bIns="0">
            <a:spAutoFit/>
          </a:bodyPr>
          <a:lstStyle>
            <a:lvl1pPr>
              <a:defRPr sz="6300" b="0" i="0">
                <a:solidFill>
                  <a:schemeClr val="bg1"/>
                </a:solidFill>
                <a:latin typeface="Tahoma"/>
                <a:cs typeface="Tahoma"/>
              </a:defRPr>
            </a:lvl1pPr>
          </a:lstStyle>
          <a:p>
            <a:endParaRPr/>
          </a:p>
        </p:txBody>
      </p:sp>
      <p:sp>
        <p:nvSpPr>
          <p:cNvPr id="3" name="Holder 3"/>
          <p:cNvSpPr>
            <a:spLocks noGrp="1"/>
          </p:cNvSpPr>
          <p:nvPr>
            <p:ph type="body" idx="1"/>
          </p:nvPr>
        </p:nvSpPr>
        <p:spPr>
          <a:xfrm>
            <a:off x="914400" y="2366010"/>
            <a:ext cx="1645920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15740197" y="9215479"/>
            <a:ext cx="1781809" cy="764540"/>
          </a:xfrm>
          <a:prstGeom prst="rect">
            <a:avLst/>
          </a:prstGeom>
        </p:spPr>
        <p:txBody>
          <a:bodyPr wrap="square" lIns="0" tIns="0" rIns="0" bIns="0">
            <a:spAutoFit/>
          </a:bodyPr>
          <a:lstStyle>
            <a:lvl1pPr>
              <a:defRPr sz="2550" b="1" i="0">
                <a:solidFill>
                  <a:srgbClr val="C4F8FE"/>
                </a:solidFill>
                <a:latin typeface="Tahoma"/>
                <a:cs typeface="Tahoma"/>
              </a:defRPr>
            </a:lvl1pPr>
          </a:lstStyle>
          <a:p>
            <a:pPr marL="12700">
              <a:lnSpc>
                <a:spcPts val="2575"/>
              </a:lnSpc>
              <a:spcBef>
                <a:spcPts val="865"/>
              </a:spcBef>
            </a:pPr>
            <a:r>
              <a:rPr spc="-305" dirty="0"/>
              <a:t>MEDATHON</a:t>
            </a:r>
          </a:p>
          <a:p>
            <a:pPr marL="12700">
              <a:lnSpc>
                <a:spcPts val="2575"/>
              </a:lnSpc>
            </a:pPr>
            <a:r>
              <a:rPr spc="-305" dirty="0">
                <a:solidFill>
                  <a:srgbClr val="CBF8FE"/>
                </a:solidFill>
              </a:rPr>
              <a:t>MEDATHON</a:t>
            </a: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10/3/2026</a:t>
            </a:fld>
            <a:endParaRPr lang="en-US"/>
          </a:p>
        </p:txBody>
      </p:sp>
      <p:sp>
        <p:nvSpPr>
          <p:cNvPr id="6" name="Holder 6"/>
          <p:cNvSpPr>
            <a:spLocks noGrp="1"/>
          </p:cNvSpPr>
          <p:nvPr>
            <p:ph type="sldNum" sz="quarter" idx="7"/>
          </p:nvPr>
        </p:nvSpPr>
        <p:spPr>
          <a:xfrm>
            <a:off x="15740197" y="9079503"/>
            <a:ext cx="1781809" cy="507365"/>
          </a:xfrm>
          <a:prstGeom prst="rect">
            <a:avLst/>
          </a:prstGeom>
        </p:spPr>
        <p:txBody>
          <a:bodyPr wrap="square" lIns="0" tIns="0" rIns="0" bIns="0">
            <a:spAutoFit/>
          </a:bodyPr>
          <a:lstStyle>
            <a:lvl1pPr>
              <a:defRPr sz="2350" b="1" i="0">
                <a:solidFill>
                  <a:srgbClr val="AAF5FE"/>
                </a:solidFill>
                <a:latin typeface="Tahoma"/>
                <a:cs typeface="Tahoma"/>
              </a:defRPr>
            </a:lvl1pPr>
          </a:lstStyle>
          <a:p>
            <a:pPr marL="12700">
              <a:lnSpc>
                <a:spcPct val="100000"/>
              </a:lnSpc>
              <a:spcBef>
                <a:spcPts val="45"/>
              </a:spcBef>
            </a:pPr>
            <a:r>
              <a:rPr spc="-20" dirty="0"/>
              <a:t>M</a:t>
            </a:r>
            <a:r>
              <a:rPr spc="-15" dirty="0"/>
              <a:t>E</a:t>
            </a:r>
            <a:r>
              <a:rPr spc="-135" dirty="0"/>
              <a:t>D</a:t>
            </a:r>
            <a:r>
              <a:rPr spc="-220" dirty="0"/>
              <a:t>A</a:t>
            </a:r>
            <a:r>
              <a:rPr spc="-15" dirty="0"/>
              <a:t>T</a:t>
            </a:r>
            <a:r>
              <a:rPr spc="-25" dirty="0"/>
              <a:t>H</a:t>
            </a:r>
            <a:r>
              <a:rPr spc="-20" dirty="0"/>
              <a:t>O</a:t>
            </a:r>
            <a:r>
              <a:rPr spc="-830" dirty="0"/>
              <a:t>N</a:t>
            </a:r>
            <a:fld id="{81D60167-4931-47E6-BA6A-407CBD079E47}" type="slidenum">
              <a:rPr sz="3000" b="0" spc="67" baseline="-25000" dirty="0">
                <a:solidFill>
                  <a:srgbClr val="FFFFFF"/>
                </a:solidFill>
                <a:latin typeface="Lucida Sans Unicode"/>
                <a:cs typeface="Lucida Sans Unicode"/>
              </a:rPr>
              <a:t>‹#›</a:t>
            </a:fld>
            <a:endParaRPr sz="3000" baseline="-25000">
              <a:latin typeface="Lucida Sans Unicode"/>
              <a:cs typeface="Lucida Sans Unicode"/>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8.png"/><Relationship Id="rId6" Type="http://schemas.openxmlformats.org/officeDocument/2006/relationships/image" Target="../media/image26.png"/><Relationship Id="rId7" Type="http://schemas.openxmlformats.org/officeDocument/2006/relationships/image" Target="../media/image10.png"/><Relationship Id="rId8"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668170" y="413794"/>
            <a:ext cx="16778065" cy="1170084"/>
            <a:chOff x="668170" y="413794"/>
            <a:chExt cx="16778065" cy="1170084"/>
          </a:xfrm>
        </p:grpSpPr>
        <p:pic>
          <p:nvPicPr>
            <p:cNvPr id="5" name="object 5"/>
            <p:cNvPicPr/>
            <p:nvPr/>
          </p:nvPicPr>
          <p:blipFill>
            <a:blip r:embed="rId2" cstate="print"/>
            <a:stretch>
              <a:fillRect/>
            </a:stretch>
          </p:blipFill>
          <p:spPr>
            <a:xfrm>
              <a:off x="15156071" y="538094"/>
              <a:ext cx="2290164" cy="1040075"/>
            </a:xfrm>
            <a:prstGeom prst="rect">
              <a:avLst/>
            </a:prstGeom>
          </p:spPr>
        </p:pic>
        <p:pic>
          <p:nvPicPr>
            <p:cNvPr id="6" name="object 6"/>
            <p:cNvPicPr/>
            <p:nvPr/>
          </p:nvPicPr>
          <p:blipFill>
            <a:blip r:embed="rId3" cstate="print"/>
            <a:stretch>
              <a:fillRect/>
            </a:stretch>
          </p:blipFill>
          <p:spPr>
            <a:xfrm>
              <a:off x="2506745" y="654022"/>
              <a:ext cx="440031" cy="660047"/>
            </a:xfrm>
            <a:prstGeom prst="rect">
              <a:avLst/>
            </a:prstGeom>
          </p:spPr>
        </p:pic>
        <p:pic>
          <p:nvPicPr>
            <p:cNvPr id="7" name="object 7"/>
            <p:cNvPicPr/>
            <p:nvPr/>
          </p:nvPicPr>
          <p:blipFill>
            <a:blip r:embed="rId4" cstate="print"/>
            <a:stretch>
              <a:fillRect/>
            </a:stretch>
          </p:blipFill>
          <p:spPr>
            <a:xfrm>
              <a:off x="3177544" y="745879"/>
              <a:ext cx="990071" cy="550039"/>
            </a:xfrm>
            <a:prstGeom prst="rect">
              <a:avLst/>
            </a:prstGeom>
          </p:spPr>
        </p:pic>
        <p:sp>
          <p:nvSpPr>
            <p:cNvPr id="8" name="object 8"/>
            <p:cNvSpPr/>
            <p:nvPr/>
          </p:nvSpPr>
          <p:spPr>
            <a:xfrm>
              <a:off x="2359272" y="547749"/>
              <a:ext cx="6350" cy="872490"/>
            </a:xfrm>
            <a:custGeom>
              <a:avLst/>
              <a:gdLst/>
              <a:ahLst/>
              <a:cxnLst/>
              <a:rect l="l" t="t" r="r" b="b"/>
              <a:pathLst>
                <a:path w="6350" h="872490">
                  <a:moveTo>
                    <a:pt x="5864" y="0"/>
                  </a:moveTo>
                  <a:lnTo>
                    <a:pt x="0" y="872474"/>
                  </a:lnTo>
                </a:path>
              </a:pathLst>
            </a:custGeom>
            <a:ln w="20001">
              <a:solidFill>
                <a:srgbClr val="FEFFFF"/>
              </a:solidFill>
            </a:ln>
          </p:spPr>
          <p:txBody>
            <a:bodyPr wrap="square" lIns="0" tIns="0" rIns="0" bIns="0" rtlCol="0"/>
            <a:lstStyle/>
            <a:p>
              <a:endParaRPr/>
            </a:p>
          </p:txBody>
        </p:sp>
        <p:pic>
          <p:nvPicPr>
            <p:cNvPr id="9" name="object 9"/>
            <p:cNvPicPr/>
            <p:nvPr/>
          </p:nvPicPr>
          <p:blipFill>
            <a:blip r:embed="rId5" cstate="print"/>
            <a:stretch>
              <a:fillRect/>
            </a:stretch>
          </p:blipFill>
          <p:spPr>
            <a:xfrm>
              <a:off x="668170" y="413794"/>
              <a:ext cx="1550111" cy="1170084"/>
            </a:xfrm>
            <a:prstGeom prst="rect">
              <a:avLst/>
            </a:prstGeom>
          </p:spPr>
        </p:pic>
      </p:grpSp>
      <p:sp>
        <p:nvSpPr>
          <p:cNvPr id="10" name="object 10"/>
          <p:cNvSpPr txBox="1">
            <a:spLocks noGrp="1"/>
          </p:cNvSpPr>
          <p:nvPr>
            <p:ph type="sldNum" sz="quarter" idx="7"/>
          </p:nvPr>
        </p:nvSpPr>
        <p:spPr>
          <a:xfrm>
            <a:off x="14996159" y="9079503"/>
            <a:ext cx="2560320" cy="367408"/>
          </a:xfrm>
          <a:prstGeom prst="rect">
            <a:avLst/>
          </a:prstGeom>
        </p:spPr>
        <p:txBody>
          <a:bodyPr vert="horz" wrap="square" lIns="0" tIns="5715" rIns="0" bIns="0" rtlCol="0">
            <a:spAutoFit/>
          </a:bodyPr>
          <a:lstStyle/>
          <a:p>
            <a:pPr marL="12700">
              <a:lnSpc>
                <a:spcPct val="100000"/>
              </a:lnSpc>
              <a:spcBef>
                <a:spcPts val="45"/>
              </a:spcBef>
            </a:pPr>
            <a:r>
              <a:rPr spc="-20" dirty="0"/>
              <a:t>M</a:t>
            </a:r>
            <a:r>
              <a:rPr spc="-15" dirty="0"/>
              <a:t>E</a:t>
            </a:r>
            <a:r>
              <a:rPr spc="-135" dirty="0"/>
              <a:t>D</a:t>
            </a:r>
            <a:r>
              <a:rPr spc="-220" dirty="0"/>
              <a:t>A</a:t>
            </a:r>
            <a:r>
              <a:rPr spc="-15" dirty="0"/>
              <a:t>T</a:t>
            </a:r>
            <a:r>
              <a:rPr spc="-25" dirty="0"/>
              <a:t>H</a:t>
            </a:r>
            <a:r>
              <a:rPr spc="-20" dirty="0"/>
              <a:t>O</a:t>
            </a:r>
            <a:r>
              <a:rPr spc="-830" dirty="0"/>
              <a:t>N</a:t>
            </a:r>
            <a:endParaRPr sz="3000" baseline="-25000" dirty="0">
              <a:latin typeface="Lucida Sans Unicode"/>
              <a:cs typeface="Lucida Sans Unicode"/>
            </a:endParaRPr>
          </a:p>
        </p:txBody>
      </p:sp>
      <p:pic>
        <p:nvPicPr>
          <p:cNvPr id="17" name="object 4">
            <a:extLst>
              <a:ext uri="{FF2B5EF4-FFF2-40B4-BE49-F238E27FC236}">
                <a16:creationId xmlns:a16="http://schemas.microsoft.com/office/drawing/2014/main" id="{1A48EE19-37C2-2FC9-7D3F-1F2EEC1D1AA9}"/>
              </a:ext>
            </a:extLst>
          </p:cNvPr>
          <p:cNvPicPr>
            <a:picLocks noGrp="1" noRot="1" noMove="1" noResize="1" noEditPoints="1" noAdjustHandles="1" noChangeArrowheads="1" noChangeShapeType="1" noCrop="1"/>
          </p:cNvPicPr>
          <p:nvPr/>
        </p:nvPicPr>
        <p:blipFill>
          <a:blip r:embed="rId6" cstate="print"/>
          <a:stretch>
            <a:fillRect/>
          </a:stretch>
        </p:blipFill>
        <p:spPr>
          <a:xfrm>
            <a:off x="0" y="1095428"/>
            <a:ext cx="14529249" cy="9191571"/>
          </a:xfrm>
          <a:prstGeom prst="rect">
            <a:avLst/>
          </a:prstGeom>
        </p:spPr>
      </p:pic>
      <p:sp>
        <p:nvSpPr>
          <p:cNvPr id="19" name="TextBox 18">
            <a:extLst>
              <a:ext uri="{FF2B5EF4-FFF2-40B4-BE49-F238E27FC236}">
                <a16:creationId xmlns:a16="http://schemas.microsoft.com/office/drawing/2014/main" id="{9C6639D1-DC24-34D5-5ABE-82B0C4F0C49C}"/>
              </a:ext>
            </a:extLst>
          </p:cNvPr>
          <p:cNvSpPr txBox="1"/>
          <p:nvPr/>
        </p:nvSpPr>
        <p:spPr>
          <a:xfrm>
            <a:off x="2726760" y="5074920"/>
            <a:ext cx="8229600" cy="1828800"/>
          </a:xfrm>
          <a:prstGeom prst="rect">
            <a:avLst/>
          </a:prstGeom>
          <a:noFill/>
        </p:spPr>
        <p:txBody>
          <a:bodyPr wrap="square" rtlCol="0">
            <a:spAutoFit/>
          </a:bodyPr>
          <a:lstStyle/>
          <a:p>
            <a:r>
              <a:rPr sz="2400" b="1">
                <a:solidFill>
                  <a:srgbClr val="00E4FF"/>
                </a:solidFill>
                <a:latin typeface="Tahoma"/>
              </a:rPr>
              <a:t>Sepsis Infection Risk Early Notification</a:t>
            </a:r>
          </a:p>
          <a:p>
            <a:r>
              <a:rPr sz="2000">
                <a:solidFill>
                  <a:srgbClr val="FFFFFF"/>
                </a:solidFill>
                <a:latin typeface="Tahoma"/>
              </a:rPr>
              <a:t>[TEAM NAME]</a:t>
            </a:r>
          </a:p>
          <a:p>
            <a:r>
              <a:rPr sz="1800">
                <a:solidFill>
                  <a:srgbClr val="C9D6DF"/>
                </a:solidFill>
                <a:latin typeface="Tahoma"/>
              </a:rPr>
              <a:t>Track: Healthcare Digital Transformation</a:t>
            </a:r>
          </a:p>
        </p:txBody>
      </p:sp>
      <p:sp>
        <p:nvSpPr>
          <p:cNvPr id="2" name="TextBox 1">
            <a:extLst>
              <a:ext uri="{FF2B5EF4-FFF2-40B4-BE49-F238E27FC236}">
                <a16:creationId xmlns:a16="http://schemas.microsoft.com/office/drawing/2014/main" id="{098FC9E0-771F-3449-DB03-6CDF3E61DB37}"/>
              </a:ext>
            </a:extLst>
          </p:cNvPr>
          <p:cNvSpPr txBox="1"/>
          <p:nvPr/>
        </p:nvSpPr>
        <p:spPr>
          <a:xfrm>
            <a:off x="2667000" y="4003200"/>
            <a:ext cx="6477000" cy="923330"/>
          </a:xfrm>
          <a:prstGeom prst="rect">
            <a:avLst/>
          </a:prstGeom>
          <a:noFill/>
        </p:spPr>
        <p:txBody>
          <a:bodyPr wrap="square" rtlCol="0">
            <a:spAutoFit/>
          </a:bodyPr>
          <a:lstStyle/>
          <a:p>
            <a:r>
              <a:rPr sz="6000" b="1">
                <a:solidFill>
                  <a:srgbClr val="FFFFFF"/>
                </a:solidFill>
                <a:latin typeface="Tahoma"/>
              </a:rPr>
              <a:t>SIREN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8287999" cy="10286999"/>
            <a:chOff x="0" y="0"/>
            <a:chExt cx="18287999" cy="10286999"/>
          </a:xfrm>
        </p:grpSpPr>
        <p:pic>
          <p:nvPicPr>
            <p:cNvPr id="3" name="object 3"/>
            <p:cNvPicPr/>
            <p:nvPr/>
          </p:nvPicPr>
          <p:blipFill>
            <a:blip r:embed="rId2" cstate="print"/>
            <a:stretch>
              <a:fillRect/>
            </a:stretch>
          </p:blipFill>
          <p:spPr>
            <a:xfrm>
              <a:off x="4132009" y="0"/>
              <a:ext cx="14155989" cy="10286999"/>
            </a:xfrm>
            <a:prstGeom prst="rect">
              <a:avLst/>
            </a:prstGeom>
          </p:spPr>
        </p:pic>
        <p:pic>
          <p:nvPicPr>
            <p:cNvPr id="4" name="object 4"/>
            <p:cNvPicPr/>
            <p:nvPr/>
          </p:nvPicPr>
          <p:blipFill>
            <a:blip r:embed="rId3" cstate="print"/>
            <a:stretch>
              <a:fillRect/>
            </a:stretch>
          </p:blipFill>
          <p:spPr>
            <a:xfrm>
              <a:off x="2194796" y="0"/>
              <a:ext cx="16093203" cy="10286999"/>
            </a:xfrm>
            <a:prstGeom prst="rect">
              <a:avLst/>
            </a:prstGeom>
          </p:spPr>
        </p:pic>
        <p:pic>
          <p:nvPicPr>
            <p:cNvPr id="5" name="object 5"/>
            <p:cNvPicPr/>
            <p:nvPr/>
          </p:nvPicPr>
          <p:blipFill>
            <a:blip r:embed="rId4" cstate="print"/>
            <a:stretch>
              <a:fillRect/>
            </a:stretch>
          </p:blipFill>
          <p:spPr>
            <a:xfrm>
              <a:off x="0" y="0"/>
              <a:ext cx="7707839" cy="10286999"/>
            </a:xfrm>
            <a:prstGeom prst="rect">
              <a:avLst/>
            </a:prstGeom>
          </p:spPr>
        </p:pic>
        <p:pic>
          <p:nvPicPr>
            <p:cNvPr id="6" name="object 6"/>
            <p:cNvPicPr/>
            <p:nvPr/>
          </p:nvPicPr>
          <p:blipFill>
            <a:blip r:embed="rId5" cstate="print"/>
            <a:stretch>
              <a:fillRect/>
            </a:stretch>
          </p:blipFill>
          <p:spPr>
            <a:xfrm>
              <a:off x="0" y="0"/>
              <a:ext cx="4114799" cy="10286999"/>
            </a:xfrm>
            <a:prstGeom prst="rect">
              <a:avLst/>
            </a:prstGeom>
          </p:spPr>
        </p:pic>
        <p:sp>
          <p:nvSpPr>
            <p:cNvPr id="7" name="object 7"/>
            <p:cNvSpPr/>
            <p:nvPr/>
          </p:nvSpPr>
          <p:spPr>
            <a:xfrm>
              <a:off x="4198095" y="3935435"/>
              <a:ext cx="2964815" cy="2964815"/>
            </a:xfrm>
            <a:custGeom>
              <a:avLst/>
              <a:gdLst/>
              <a:ahLst/>
              <a:cxnLst/>
              <a:rect l="l" t="t" r="r" b="b"/>
              <a:pathLst>
                <a:path w="2964815" h="2964815">
                  <a:moveTo>
                    <a:pt x="2775872" y="2964781"/>
                  </a:moveTo>
                  <a:lnTo>
                    <a:pt x="188909" y="2964781"/>
                  </a:lnTo>
                  <a:lnTo>
                    <a:pt x="182529" y="2964138"/>
                  </a:lnTo>
                  <a:lnTo>
                    <a:pt x="139618" y="2950818"/>
                  </a:lnTo>
                  <a:lnTo>
                    <a:pt x="100787" y="2929741"/>
                  </a:lnTo>
                  <a:lnTo>
                    <a:pt x="66955" y="2901827"/>
                  </a:lnTo>
                  <a:lnTo>
                    <a:pt x="39041" y="2867994"/>
                  </a:lnTo>
                  <a:lnTo>
                    <a:pt x="17964" y="2829163"/>
                  </a:lnTo>
                  <a:lnTo>
                    <a:pt x="4644" y="2786253"/>
                  </a:lnTo>
                  <a:lnTo>
                    <a:pt x="0" y="2740182"/>
                  </a:lnTo>
                  <a:lnTo>
                    <a:pt x="0" y="228599"/>
                  </a:lnTo>
                  <a:lnTo>
                    <a:pt x="4644" y="182529"/>
                  </a:lnTo>
                  <a:lnTo>
                    <a:pt x="17964" y="139618"/>
                  </a:lnTo>
                  <a:lnTo>
                    <a:pt x="39041" y="100787"/>
                  </a:lnTo>
                  <a:lnTo>
                    <a:pt x="66955" y="66955"/>
                  </a:lnTo>
                  <a:lnTo>
                    <a:pt x="100787" y="39041"/>
                  </a:lnTo>
                  <a:lnTo>
                    <a:pt x="139618" y="17964"/>
                  </a:lnTo>
                  <a:lnTo>
                    <a:pt x="182529" y="4644"/>
                  </a:lnTo>
                  <a:lnTo>
                    <a:pt x="228599" y="0"/>
                  </a:lnTo>
                  <a:lnTo>
                    <a:pt x="2736181" y="0"/>
                  </a:lnTo>
                  <a:lnTo>
                    <a:pt x="2782252" y="4644"/>
                  </a:lnTo>
                  <a:lnTo>
                    <a:pt x="2825162" y="17964"/>
                  </a:lnTo>
                  <a:lnTo>
                    <a:pt x="2863993" y="39041"/>
                  </a:lnTo>
                  <a:lnTo>
                    <a:pt x="2897825" y="66955"/>
                  </a:lnTo>
                  <a:lnTo>
                    <a:pt x="2925739" y="100787"/>
                  </a:lnTo>
                  <a:lnTo>
                    <a:pt x="2946816" y="139618"/>
                  </a:lnTo>
                  <a:lnTo>
                    <a:pt x="2960136" y="182529"/>
                  </a:lnTo>
                  <a:lnTo>
                    <a:pt x="2964781" y="228599"/>
                  </a:lnTo>
                  <a:lnTo>
                    <a:pt x="2964781" y="2740182"/>
                  </a:lnTo>
                  <a:lnTo>
                    <a:pt x="2960136" y="2786253"/>
                  </a:lnTo>
                  <a:lnTo>
                    <a:pt x="2946816" y="2829163"/>
                  </a:lnTo>
                  <a:lnTo>
                    <a:pt x="2925739" y="2867994"/>
                  </a:lnTo>
                  <a:lnTo>
                    <a:pt x="2897825" y="2901827"/>
                  </a:lnTo>
                  <a:lnTo>
                    <a:pt x="2863993" y="2929741"/>
                  </a:lnTo>
                  <a:lnTo>
                    <a:pt x="2825162" y="2950818"/>
                  </a:lnTo>
                  <a:lnTo>
                    <a:pt x="2782252" y="2964138"/>
                  </a:lnTo>
                  <a:lnTo>
                    <a:pt x="2775872" y="2964781"/>
                  </a:lnTo>
                  <a:close/>
                </a:path>
              </a:pathLst>
            </a:custGeom>
            <a:solidFill>
              <a:srgbClr val="00E4FF">
                <a:alpha val="19999"/>
              </a:srgbClr>
            </a:solidFill>
          </p:spPr>
          <p:txBody>
            <a:bodyPr wrap="square" lIns="0" tIns="0" rIns="0" bIns="0" rtlCol="0"/>
            <a:lstStyle/>
            <a:p>
              <a:endParaRPr dirty="0"/>
            </a:p>
          </p:txBody>
        </p:sp>
        <p:sp>
          <p:nvSpPr>
            <p:cNvPr id="8" name="object 8"/>
            <p:cNvSpPr/>
            <p:nvPr/>
          </p:nvSpPr>
          <p:spPr>
            <a:xfrm>
              <a:off x="4381937" y="4123574"/>
              <a:ext cx="2593975" cy="1129665"/>
            </a:xfrm>
            <a:custGeom>
              <a:avLst/>
              <a:gdLst/>
              <a:ahLst/>
              <a:cxnLst/>
              <a:rect l="l" t="t" r="r" b="b"/>
              <a:pathLst>
                <a:path w="2593975" h="1129664">
                  <a:moveTo>
                    <a:pt x="2365227" y="1129613"/>
                  </a:moveTo>
                  <a:lnTo>
                    <a:pt x="228600" y="1129613"/>
                  </a:lnTo>
                  <a:lnTo>
                    <a:pt x="182529" y="1124969"/>
                  </a:lnTo>
                  <a:lnTo>
                    <a:pt x="139618" y="1111649"/>
                  </a:lnTo>
                  <a:lnTo>
                    <a:pt x="100787" y="1090572"/>
                  </a:lnTo>
                  <a:lnTo>
                    <a:pt x="66955" y="1062658"/>
                  </a:lnTo>
                  <a:lnTo>
                    <a:pt x="39041" y="1028825"/>
                  </a:lnTo>
                  <a:lnTo>
                    <a:pt x="17964" y="989994"/>
                  </a:lnTo>
                  <a:lnTo>
                    <a:pt x="4644" y="947084"/>
                  </a:lnTo>
                  <a:lnTo>
                    <a:pt x="0" y="901013"/>
                  </a:lnTo>
                  <a:lnTo>
                    <a:pt x="0" y="228600"/>
                  </a:lnTo>
                  <a:lnTo>
                    <a:pt x="4644" y="182529"/>
                  </a:lnTo>
                  <a:lnTo>
                    <a:pt x="17964" y="139618"/>
                  </a:lnTo>
                  <a:lnTo>
                    <a:pt x="39041" y="100787"/>
                  </a:lnTo>
                  <a:lnTo>
                    <a:pt x="66955" y="66955"/>
                  </a:lnTo>
                  <a:lnTo>
                    <a:pt x="100787" y="39041"/>
                  </a:lnTo>
                  <a:lnTo>
                    <a:pt x="139618" y="17964"/>
                  </a:lnTo>
                  <a:lnTo>
                    <a:pt x="182529" y="4644"/>
                  </a:lnTo>
                  <a:lnTo>
                    <a:pt x="228600" y="0"/>
                  </a:lnTo>
                  <a:lnTo>
                    <a:pt x="2365227" y="0"/>
                  </a:lnTo>
                  <a:lnTo>
                    <a:pt x="2411298" y="4644"/>
                  </a:lnTo>
                  <a:lnTo>
                    <a:pt x="2454208" y="17964"/>
                  </a:lnTo>
                  <a:lnTo>
                    <a:pt x="2493039" y="39041"/>
                  </a:lnTo>
                  <a:lnTo>
                    <a:pt x="2526871" y="66955"/>
                  </a:lnTo>
                  <a:lnTo>
                    <a:pt x="2554786" y="100787"/>
                  </a:lnTo>
                  <a:lnTo>
                    <a:pt x="2575862" y="139618"/>
                  </a:lnTo>
                  <a:lnTo>
                    <a:pt x="2589183" y="182529"/>
                  </a:lnTo>
                  <a:lnTo>
                    <a:pt x="2593827" y="228600"/>
                  </a:lnTo>
                  <a:lnTo>
                    <a:pt x="2593827" y="901013"/>
                  </a:lnTo>
                  <a:lnTo>
                    <a:pt x="2589183" y="947084"/>
                  </a:lnTo>
                  <a:lnTo>
                    <a:pt x="2575862" y="989994"/>
                  </a:lnTo>
                  <a:lnTo>
                    <a:pt x="2554786" y="1028825"/>
                  </a:lnTo>
                  <a:lnTo>
                    <a:pt x="2526871" y="1062658"/>
                  </a:lnTo>
                  <a:lnTo>
                    <a:pt x="2493039" y="1090572"/>
                  </a:lnTo>
                  <a:lnTo>
                    <a:pt x="2454208" y="1111649"/>
                  </a:lnTo>
                  <a:lnTo>
                    <a:pt x="2411298" y="1124969"/>
                  </a:lnTo>
                  <a:lnTo>
                    <a:pt x="2365227" y="1129613"/>
                  </a:lnTo>
                  <a:close/>
                </a:path>
              </a:pathLst>
            </a:custGeom>
            <a:solidFill>
              <a:srgbClr val="00E4FF">
                <a:alpha val="9999"/>
              </a:srgbClr>
            </a:solidFill>
          </p:spPr>
          <p:txBody>
            <a:bodyPr wrap="square" lIns="0" tIns="0" rIns="0" bIns="0" rtlCol="0"/>
            <a:lstStyle/>
            <a:p>
              <a:endParaRPr/>
            </a:p>
          </p:txBody>
        </p:sp>
        <p:sp>
          <p:nvSpPr>
            <p:cNvPr id="9" name="object 9"/>
            <p:cNvSpPr/>
            <p:nvPr/>
          </p:nvSpPr>
          <p:spPr>
            <a:xfrm>
              <a:off x="7603912" y="3935435"/>
              <a:ext cx="2964815" cy="2964815"/>
            </a:xfrm>
            <a:custGeom>
              <a:avLst/>
              <a:gdLst/>
              <a:ahLst/>
              <a:cxnLst/>
              <a:rect l="l" t="t" r="r" b="b"/>
              <a:pathLst>
                <a:path w="2964815" h="2964815">
                  <a:moveTo>
                    <a:pt x="2775872" y="2964781"/>
                  </a:moveTo>
                  <a:lnTo>
                    <a:pt x="188909" y="2964781"/>
                  </a:lnTo>
                  <a:lnTo>
                    <a:pt x="182529" y="2964138"/>
                  </a:lnTo>
                  <a:lnTo>
                    <a:pt x="139618" y="2950818"/>
                  </a:lnTo>
                  <a:lnTo>
                    <a:pt x="100787" y="2929741"/>
                  </a:lnTo>
                  <a:lnTo>
                    <a:pt x="66955" y="2901827"/>
                  </a:lnTo>
                  <a:lnTo>
                    <a:pt x="39041" y="2867994"/>
                  </a:lnTo>
                  <a:lnTo>
                    <a:pt x="17964" y="2829163"/>
                  </a:lnTo>
                  <a:lnTo>
                    <a:pt x="4644" y="2786253"/>
                  </a:lnTo>
                  <a:lnTo>
                    <a:pt x="0" y="2740182"/>
                  </a:lnTo>
                  <a:lnTo>
                    <a:pt x="0" y="228599"/>
                  </a:lnTo>
                  <a:lnTo>
                    <a:pt x="4644" y="182529"/>
                  </a:lnTo>
                  <a:lnTo>
                    <a:pt x="17964" y="139618"/>
                  </a:lnTo>
                  <a:lnTo>
                    <a:pt x="39041" y="100787"/>
                  </a:lnTo>
                  <a:lnTo>
                    <a:pt x="66955" y="66955"/>
                  </a:lnTo>
                  <a:lnTo>
                    <a:pt x="100787" y="39041"/>
                  </a:lnTo>
                  <a:lnTo>
                    <a:pt x="139618" y="17964"/>
                  </a:lnTo>
                  <a:lnTo>
                    <a:pt x="182529" y="4644"/>
                  </a:lnTo>
                  <a:lnTo>
                    <a:pt x="228599" y="0"/>
                  </a:lnTo>
                  <a:lnTo>
                    <a:pt x="2736181" y="0"/>
                  </a:lnTo>
                  <a:lnTo>
                    <a:pt x="2782252" y="4644"/>
                  </a:lnTo>
                  <a:lnTo>
                    <a:pt x="2825162" y="17964"/>
                  </a:lnTo>
                  <a:lnTo>
                    <a:pt x="2863993" y="39041"/>
                  </a:lnTo>
                  <a:lnTo>
                    <a:pt x="2897825" y="66955"/>
                  </a:lnTo>
                  <a:lnTo>
                    <a:pt x="2925739" y="100787"/>
                  </a:lnTo>
                  <a:lnTo>
                    <a:pt x="2946816" y="139618"/>
                  </a:lnTo>
                  <a:lnTo>
                    <a:pt x="2960136" y="182529"/>
                  </a:lnTo>
                  <a:lnTo>
                    <a:pt x="2964781" y="228599"/>
                  </a:lnTo>
                  <a:lnTo>
                    <a:pt x="2964781" y="2740182"/>
                  </a:lnTo>
                  <a:lnTo>
                    <a:pt x="2960136" y="2786253"/>
                  </a:lnTo>
                  <a:lnTo>
                    <a:pt x="2946816" y="2829163"/>
                  </a:lnTo>
                  <a:lnTo>
                    <a:pt x="2925739" y="2867994"/>
                  </a:lnTo>
                  <a:lnTo>
                    <a:pt x="2897825" y="2901827"/>
                  </a:lnTo>
                  <a:lnTo>
                    <a:pt x="2863993" y="2929741"/>
                  </a:lnTo>
                  <a:lnTo>
                    <a:pt x="2825162" y="2950818"/>
                  </a:lnTo>
                  <a:lnTo>
                    <a:pt x="2782252" y="2964138"/>
                  </a:lnTo>
                  <a:lnTo>
                    <a:pt x="2775872" y="2964781"/>
                  </a:lnTo>
                  <a:close/>
                </a:path>
              </a:pathLst>
            </a:custGeom>
            <a:solidFill>
              <a:srgbClr val="00E4FF">
                <a:alpha val="19999"/>
              </a:srgbClr>
            </a:solidFill>
          </p:spPr>
          <p:txBody>
            <a:bodyPr wrap="square" lIns="0" tIns="0" rIns="0" bIns="0" rtlCol="0"/>
            <a:lstStyle/>
            <a:p>
              <a:endParaRPr/>
            </a:p>
          </p:txBody>
        </p:sp>
        <p:sp>
          <p:nvSpPr>
            <p:cNvPr id="10" name="object 10"/>
            <p:cNvSpPr/>
            <p:nvPr/>
          </p:nvSpPr>
          <p:spPr>
            <a:xfrm>
              <a:off x="7787595" y="4123574"/>
              <a:ext cx="2593975" cy="1129665"/>
            </a:xfrm>
            <a:custGeom>
              <a:avLst/>
              <a:gdLst/>
              <a:ahLst/>
              <a:cxnLst/>
              <a:rect l="l" t="t" r="r" b="b"/>
              <a:pathLst>
                <a:path w="2593975" h="1129664">
                  <a:moveTo>
                    <a:pt x="2365227" y="1129613"/>
                  </a:moveTo>
                  <a:lnTo>
                    <a:pt x="228600" y="1129613"/>
                  </a:lnTo>
                  <a:lnTo>
                    <a:pt x="182529" y="1124969"/>
                  </a:lnTo>
                  <a:lnTo>
                    <a:pt x="139618" y="1111649"/>
                  </a:lnTo>
                  <a:lnTo>
                    <a:pt x="100787" y="1090572"/>
                  </a:lnTo>
                  <a:lnTo>
                    <a:pt x="66955" y="1062658"/>
                  </a:lnTo>
                  <a:lnTo>
                    <a:pt x="39041" y="1028825"/>
                  </a:lnTo>
                  <a:lnTo>
                    <a:pt x="17964" y="989994"/>
                  </a:lnTo>
                  <a:lnTo>
                    <a:pt x="4644" y="947084"/>
                  </a:lnTo>
                  <a:lnTo>
                    <a:pt x="0" y="901013"/>
                  </a:lnTo>
                  <a:lnTo>
                    <a:pt x="0" y="228600"/>
                  </a:lnTo>
                  <a:lnTo>
                    <a:pt x="4644" y="182529"/>
                  </a:lnTo>
                  <a:lnTo>
                    <a:pt x="17964" y="139618"/>
                  </a:lnTo>
                  <a:lnTo>
                    <a:pt x="39041" y="100787"/>
                  </a:lnTo>
                  <a:lnTo>
                    <a:pt x="66955" y="66955"/>
                  </a:lnTo>
                  <a:lnTo>
                    <a:pt x="100787" y="39041"/>
                  </a:lnTo>
                  <a:lnTo>
                    <a:pt x="139618" y="17964"/>
                  </a:lnTo>
                  <a:lnTo>
                    <a:pt x="182529" y="4644"/>
                  </a:lnTo>
                  <a:lnTo>
                    <a:pt x="228600" y="0"/>
                  </a:lnTo>
                  <a:lnTo>
                    <a:pt x="2365227" y="0"/>
                  </a:lnTo>
                  <a:lnTo>
                    <a:pt x="2411298" y="4644"/>
                  </a:lnTo>
                  <a:lnTo>
                    <a:pt x="2454208" y="17964"/>
                  </a:lnTo>
                  <a:lnTo>
                    <a:pt x="2493039" y="39041"/>
                  </a:lnTo>
                  <a:lnTo>
                    <a:pt x="2526871" y="66955"/>
                  </a:lnTo>
                  <a:lnTo>
                    <a:pt x="2554786" y="100787"/>
                  </a:lnTo>
                  <a:lnTo>
                    <a:pt x="2575862" y="139618"/>
                  </a:lnTo>
                  <a:lnTo>
                    <a:pt x="2589183" y="182529"/>
                  </a:lnTo>
                  <a:lnTo>
                    <a:pt x="2593827" y="228600"/>
                  </a:lnTo>
                  <a:lnTo>
                    <a:pt x="2593827" y="901013"/>
                  </a:lnTo>
                  <a:lnTo>
                    <a:pt x="2589183" y="947084"/>
                  </a:lnTo>
                  <a:lnTo>
                    <a:pt x="2575862" y="989994"/>
                  </a:lnTo>
                  <a:lnTo>
                    <a:pt x="2554786" y="1028825"/>
                  </a:lnTo>
                  <a:lnTo>
                    <a:pt x="2526871" y="1062658"/>
                  </a:lnTo>
                  <a:lnTo>
                    <a:pt x="2493039" y="1090572"/>
                  </a:lnTo>
                  <a:lnTo>
                    <a:pt x="2454208" y="1111649"/>
                  </a:lnTo>
                  <a:lnTo>
                    <a:pt x="2411298" y="1124969"/>
                  </a:lnTo>
                  <a:lnTo>
                    <a:pt x="2365227" y="1129613"/>
                  </a:lnTo>
                  <a:close/>
                </a:path>
              </a:pathLst>
            </a:custGeom>
            <a:solidFill>
              <a:srgbClr val="00E4FF">
                <a:alpha val="9999"/>
              </a:srgbClr>
            </a:solidFill>
          </p:spPr>
          <p:txBody>
            <a:bodyPr wrap="square" lIns="0" tIns="0" rIns="0" bIns="0" rtlCol="0"/>
            <a:lstStyle/>
            <a:p>
              <a:endParaRPr/>
            </a:p>
          </p:txBody>
        </p:sp>
        <p:sp>
          <p:nvSpPr>
            <p:cNvPr id="11" name="object 11"/>
            <p:cNvSpPr/>
            <p:nvPr/>
          </p:nvSpPr>
          <p:spPr>
            <a:xfrm>
              <a:off x="11006136" y="3935435"/>
              <a:ext cx="2964815" cy="2964815"/>
            </a:xfrm>
            <a:custGeom>
              <a:avLst/>
              <a:gdLst/>
              <a:ahLst/>
              <a:cxnLst/>
              <a:rect l="l" t="t" r="r" b="b"/>
              <a:pathLst>
                <a:path w="2964815" h="2964815">
                  <a:moveTo>
                    <a:pt x="2775872" y="2964781"/>
                  </a:moveTo>
                  <a:lnTo>
                    <a:pt x="188909" y="2964781"/>
                  </a:lnTo>
                  <a:lnTo>
                    <a:pt x="182529" y="2964138"/>
                  </a:lnTo>
                  <a:lnTo>
                    <a:pt x="139618" y="2950818"/>
                  </a:lnTo>
                  <a:lnTo>
                    <a:pt x="100787" y="2929741"/>
                  </a:lnTo>
                  <a:lnTo>
                    <a:pt x="66955" y="2901827"/>
                  </a:lnTo>
                  <a:lnTo>
                    <a:pt x="39041" y="2867994"/>
                  </a:lnTo>
                  <a:lnTo>
                    <a:pt x="17964" y="2829163"/>
                  </a:lnTo>
                  <a:lnTo>
                    <a:pt x="4644" y="2786253"/>
                  </a:lnTo>
                  <a:lnTo>
                    <a:pt x="0" y="2740182"/>
                  </a:lnTo>
                  <a:lnTo>
                    <a:pt x="0" y="228599"/>
                  </a:lnTo>
                  <a:lnTo>
                    <a:pt x="4644" y="182529"/>
                  </a:lnTo>
                  <a:lnTo>
                    <a:pt x="17964" y="139618"/>
                  </a:lnTo>
                  <a:lnTo>
                    <a:pt x="39041" y="100787"/>
                  </a:lnTo>
                  <a:lnTo>
                    <a:pt x="66955" y="66955"/>
                  </a:lnTo>
                  <a:lnTo>
                    <a:pt x="100787" y="39041"/>
                  </a:lnTo>
                  <a:lnTo>
                    <a:pt x="139618" y="17964"/>
                  </a:lnTo>
                  <a:lnTo>
                    <a:pt x="182529" y="4644"/>
                  </a:lnTo>
                  <a:lnTo>
                    <a:pt x="228599" y="0"/>
                  </a:lnTo>
                  <a:lnTo>
                    <a:pt x="2736181" y="0"/>
                  </a:lnTo>
                  <a:lnTo>
                    <a:pt x="2782252" y="4644"/>
                  </a:lnTo>
                  <a:lnTo>
                    <a:pt x="2825162" y="17964"/>
                  </a:lnTo>
                  <a:lnTo>
                    <a:pt x="2863993" y="39041"/>
                  </a:lnTo>
                  <a:lnTo>
                    <a:pt x="2897825" y="66955"/>
                  </a:lnTo>
                  <a:lnTo>
                    <a:pt x="2925739" y="100787"/>
                  </a:lnTo>
                  <a:lnTo>
                    <a:pt x="2946816" y="139618"/>
                  </a:lnTo>
                  <a:lnTo>
                    <a:pt x="2960136" y="182529"/>
                  </a:lnTo>
                  <a:lnTo>
                    <a:pt x="2964781" y="228599"/>
                  </a:lnTo>
                  <a:lnTo>
                    <a:pt x="2964781" y="2740182"/>
                  </a:lnTo>
                  <a:lnTo>
                    <a:pt x="2960136" y="2786253"/>
                  </a:lnTo>
                  <a:lnTo>
                    <a:pt x="2946816" y="2829163"/>
                  </a:lnTo>
                  <a:lnTo>
                    <a:pt x="2925739" y="2867994"/>
                  </a:lnTo>
                  <a:lnTo>
                    <a:pt x="2897825" y="2901827"/>
                  </a:lnTo>
                  <a:lnTo>
                    <a:pt x="2863993" y="2929741"/>
                  </a:lnTo>
                  <a:lnTo>
                    <a:pt x="2825162" y="2950818"/>
                  </a:lnTo>
                  <a:lnTo>
                    <a:pt x="2782252" y="2964138"/>
                  </a:lnTo>
                  <a:lnTo>
                    <a:pt x="2775872" y="2964781"/>
                  </a:lnTo>
                  <a:close/>
                </a:path>
              </a:pathLst>
            </a:custGeom>
            <a:solidFill>
              <a:srgbClr val="00E4FF">
                <a:alpha val="19999"/>
              </a:srgbClr>
            </a:solidFill>
          </p:spPr>
          <p:txBody>
            <a:bodyPr wrap="square" lIns="0" tIns="0" rIns="0" bIns="0" rtlCol="0"/>
            <a:lstStyle/>
            <a:p>
              <a:endParaRPr/>
            </a:p>
          </p:txBody>
        </p:sp>
        <p:sp>
          <p:nvSpPr>
            <p:cNvPr id="12" name="object 12"/>
            <p:cNvSpPr/>
            <p:nvPr/>
          </p:nvSpPr>
          <p:spPr>
            <a:xfrm>
              <a:off x="11194071" y="4123574"/>
              <a:ext cx="2593975" cy="1129665"/>
            </a:xfrm>
            <a:custGeom>
              <a:avLst/>
              <a:gdLst/>
              <a:ahLst/>
              <a:cxnLst/>
              <a:rect l="l" t="t" r="r" b="b"/>
              <a:pathLst>
                <a:path w="2593975" h="1129664">
                  <a:moveTo>
                    <a:pt x="2365227" y="1129613"/>
                  </a:moveTo>
                  <a:lnTo>
                    <a:pt x="228600" y="1129613"/>
                  </a:lnTo>
                  <a:lnTo>
                    <a:pt x="182529" y="1124969"/>
                  </a:lnTo>
                  <a:lnTo>
                    <a:pt x="139618" y="1111649"/>
                  </a:lnTo>
                  <a:lnTo>
                    <a:pt x="100787" y="1090572"/>
                  </a:lnTo>
                  <a:lnTo>
                    <a:pt x="66955" y="1062658"/>
                  </a:lnTo>
                  <a:lnTo>
                    <a:pt x="39041" y="1028825"/>
                  </a:lnTo>
                  <a:lnTo>
                    <a:pt x="17964" y="989994"/>
                  </a:lnTo>
                  <a:lnTo>
                    <a:pt x="4644" y="947084"/>
                  </a:lnTo>
                  <a:lnTo>
                    <a:pt x="0" y="901013"/>
                  </a:lnTo>
                  <a:lnTo>
                    <a:pt x="0" y="228600"/>
                  </a:lnTo>
                  <a:lnTo>
                    <a:pt x="4644" y="182529"/>
                  </a:lnTo>
                  <a:lnTo>
                    <a:pt x="17964" y="139618"/>
                  </a:lnTo>
                  <a:lnTo>
                    <a:pt x="39041" y="100787"/>
                  </a:lnTo>
                  <a:lnTo>
                    <a:pt x="66955" y="66955"/>
                  </a:lnTo>
                  <a:lnTo>
                    <a:pt x="100787" y="39041"/>
                  </a:lnTo>
                  <a:lnTo>
                    <a:pt x="139618" y="17964"/>
                  </a:lnTo>
                  <a:lnTo>
                    <a:pt x="182529" y="4644"/>
                  </a:lnTo>
                  <a:lnTo>
                    <a:pt x="228600" y="0"/>
                  </a:lnTo>
                  <a:lnTo>
                    <a:pt x="2365227" y="0"/>
                  </a:lnTo>
                  <a:lnTo>
                    <a:pt x="2411298" y="4644"/>
                  </a:lnTo>
                  <a:lnTo>
                    <a:pt x="2454208" y="17964"/>
                  </a:lnTo>
                  <a:lnTo>
                    <a:pt x="2493039" y="39041"/>
                  </a:lnTo>
                  <a:lnTo>
                    <a:pt x="2526871" y="66955"/>
                  </a:lnTo>
                  <a:lnTo>
                    <a:pt x="2554786" y="100787"/>
                  </a:lnTo>
                  <a:lnTo>
                    <a:pt x="2575862" y="139618"/>
                  </a:lnTo>
                  <a:lnTo>
                    <a:pt x="2589183" y="182529"/>
                  </a:lnTo>
                  <a:lnTo>
                    <a:pt x="2593827" y="228600"/>
                  </a:lnTo>
                  <a:lnTo>
                    <a:pt x="2593827" y="901013"/>
                  </a:lnTo>
                  <a:lnTo>
                    <a:pt x="2589183" y="947084"/>
                  </a:lnTo>
                  <a:lnTo>
                    <a:pt x="2575862" y="989994"/>
                  </a:lnTo>
                  <a:lnTo>
                    <a:pt x="2554786" y="1028825"/>
                  </a:lnTo>
                  <a:lnTo>
                    <a:pt x="2526871" y="1062658"/>
                  </a:lnTo>
                  <a:lnTo>
                    <a:pt x="2493039" y="1090572"/>
                  </a:lnTo>
                  <a:lnTo>
                    <a:pt x="2454208" y="1111649"/>
                  </a:lnTo>
                  <a:lnTo>
                    <a:pt x="2411298" y="1124969"/>
                  </a:lnTo>
                  <a:lnTo>
                    <a:pt x="2365227" y="1129613"/>
                  </a:lnTo>
                  <a:close/>
                </a:path>
              </a:pathLst>
            </a:custGeom>
            <a:solidFill>
              <a:srgbClr val="00E4FF">
                <a:alpha val="9999"/>
              </a:srgbClr>
            </a:solidFill>
          </p:spPr>
          <p:txBody>
            <a:bodyPr wrap="square" lIns="0" tIns="0" rIns="0" bIns="0" rtlCol="0"/>
            <a:lstStyle/>
            <a:p>
              <a:endParaRPr/>
            </a:p>
          </p:txBody>
        </p:sp>
      </p:grpSp>
      <p:sp>
        <p:nvSpPr>
          <p:cNvPr id="19" name="object 19" descr="$PPTXTitle"/>
          <p:cNvSpPr txBox="1">
            <a:spLocks noGrp="1"/>
          </p:cNvSpPr>
          <p:nvPr>
            <p:ph type="title"/>
          </p:nvPr>
        </p:nvSpPr>
        <p:spPr>
          <a:xfrm>
            <a:off x="1217393" y="1475275"/>
            <a:ext cx="6570201" cy="981038"/>
          </a:xfrm>
          <a:prstGeom prst="rect">
            <a:avLst/>
          </a:prstGeom>
        </p:spPr>
        <p:txBody>
          <a:bodyPr vert="horz" wrap="square" lIns="0" tIns="11430" rIns="0" bIns="0" rtlCol="0">
            <a:spAutoFit/>
          </a:bodyPr>
          <a:lstStyle/>
          <a:p>
            <a:pPr marL="12700">
              <a:lnSpc>
                <a:spcPct val="100000"/>
              </a:lnSpc>
              <a:spcBef>
                <a:spcPts val="90"/>
              </a:spcBef>
            </a:pPr>
            <a:r>
              <a:rPr b="1" dirty="0">
                <a:latin typeface="Tahoma"/>
                <a:cs typeface="Tahoma"/>
              </a:rPr>
              <a:t>Team </a:t>
            </a:r>
            <a:r>
              <a:rPr b="1" dirty="0">
                <a:solidFill>
                  <a:srgbClr val="00E4FF"/>
                </a:solidFill>
                <a:latin typeface="Tahoma"/>
                <a:cs typeface="Tahoma"/>
              </a:rPr>
              <a:t>members</a:t>
            </a:r>
          </a:p>
        </p:txBody>
      </p:sp>
      <p:grpSp>
        <p:nvGrpSpPr>
          <p:cNvPr id="20" name="object 20"/>
          <p:cNvGrpSpPr/>
          <p:nvPr/>
        </p:nvGrpSpPr>
        <p:grpSpPr>
          <a:xfrm>
            <a:off x="668170" y="413794"/>
            <a:ext cx="16778605" cy="1170305"/>
            <a:chOff x="668170" y="413794"/>
            <a:chExt cx="16778605" cy="1170305"/>
          </a:xfrm>
        </p:grpSpPr>
        <p:pic>
          <p:nvPicPr>
            <p:cNvPr id="21" name="object 21"/>
            <p:cNvPicPr/>
            <p:nvPr/>
          </p:nvPicPr>
          <p:blipFill>
            <a:blip r:embed="rId6" cstate="print"/>
            <a:stretch>
              <a:fillRect/>
            </a:stretch>
          </p:blipFill>
          <p:spPr>
            <a:xfrm>
              <a:off x="15156072" y="538094"/>
              <a:ext cx="2290164" cy="1040075"/>
            </a:xfrm>
            <a:prstGeom prst="rect">
              <a:avLst/>
            </a:prstGeom>
          </p:spPr>
        </p:pic>
        <p:pic>
          <p:nvPicPr>
            <p:cNvPr id="22" name="object 22"/>
            <p:cNvPicPr/>
            <p:nvPr/>
          </p:nvPicPr>
          <p:blipFill>
            <a:blip r:embed="rId7" cstate="print"/>
            <a:stretch>
              <a:fillRect/>
            </a:stretch>
          </p:blipFill>
          <p:spPr>
            <a:xfrm>
              <a:off x="2506745" y="654022"/>
              <a:ext cx="440031" cy="660047"/>
            </a:xfrm>
            <a:prstGeom prst="rect">
              <a:avLst/>
            </a:prstGeom>
          </p:spPr>
        </p:pic>
        <p:pic>
          <p:nvPicPr>
            <p:cNvPr id="23" name="object 23"/>
            <p:cNvPicPr/>
            <p:nvPr/>
          </p:nvPicPr>
          <p:blipFill>
            <a:blip r:embed="rId8" cstate="print"/>
            <a:stretch>
              <a:fillRect/>
            </a:stretch>
          </p:blipFill>
          <p:spPr>
            <a:xfrm>
              <a:off x="3177544" y="745879"/>
              <a:ext cx="990071" cy="550039"/>
            </a:xfrm>
            <a:prstGeom prst="rect">
              <a:avLst/>
            </a:prstGeom>
          </p:spPr>
        </p:pic>
        <p:sp>
          <p:nvSpPr>
            <p:cNvPr id="24" name="object 24"/>
            <p:cNvSpPr/>
            <p:nvPr/>
          </p:nvSpPr>
          <p:spPr>
            <a:xfrm>
              <a:off x="2359271" y="547749"/>
              <a:ext cx="6350" cy="872490"/>
            </a:xfrm>
            <a:custGeom>
              <a:avLst/>
              <a:gdLst/>
              <a:ahLst/>
              <a:cxnLst/>
              <a:rect l="l" t="t" r="r" b="b"/>
              <a:pathLst>
                <a:path w="6350" h="872490">
                  <a:moveTo>
                    <a:pt x="5864" y="0"/>
                  </a:moveTo>
                  <a:lnTo>
                    <a:pt x="0" y="872474"/>
                  </a:lnTo>
                </a:path>
              </a:pathLst>
            </a:custGeom>
            <a:ln w="20001">
              <a:solidFill>
                <a:srgbClr val="FEFFFF"/>
              </a:solidFill>
            </a:ln>
          </p:spPr>
          <p:txBody>
            <a:bodyPr wrap="square" lIns="0" tIns="0" rIns="0" bIns="0" rtlCol="0"/>
            <a:lstStyle/>
            <a:p>
              <a:endParaRPr/>
            </a:p>
          </p:txBody>
        </p:sp>
        <p:pic>
          <p:nvPicPr>
            <p:cNvPr id="25" name="object 25"/>
            <p:cNvPicPr/>
            <p:nvPr/>
          </p:nvPicPr>
          <p:blipFill>
            <a:blip r:embed="rId9" cstate="print"/>
            <a:stretch>
              <a:fillRect/>
            </a:stretch>
          </p:blipFill>
          <p:spPr>
            <a:xfrm>
              <a:off x="668170" y="413794"/>
              <a:ext cx="1550111" cy="1170084"/>
            </a:xfrm>
            <a:prstGeom prst="rect">
              <a:avLst/>
            </a:prstGeom>
          </p:spPr>
        </p:pic>
      </p:grpSp>
      <p:sp>
        <p:nvSpPr>
          <p:cNvPr id="28" name="object 10">
            <a:extLst>
              <a:ext uri="{FF2B5EF4-FFF2-40B4-BE49-F238E27FC236}">
                <a16:creationId xmlns:a16="http://schemas.microsoft.com/office/drawing/2014/main" id="{7FCC8959-CCC0-D3A1-053A-FD331F3403CD}"/>
              </a:ext>
            </a:extLst>
          </p:cNvPr>
          <p:cNvSpPr txBox="1">
            <a:spLocks noGrp="1"/>
          </p:cNvSpPr>
          <p:nvPr>
            <p:ph type="sldNum" sz="quarter" idx="7"/>
          </p:nvPr>
        </p:nvSpPr>
        <p:spPr>
          <a:xfrm>
            <a:off x="14996159" y="9079503"/>
            <a:ext cx="2560320" cy="367408"/>
          </a:xfrm>
          <a:prstGeom prst="rect">
            <a:avLst/>
          </a:prstGeom>
        </p:spPr>
        <p:txBody>
          <a:bodyPr vert="horz" wrap="square" lIns="0" tIns="5715" rIns="0" bIns="0" rtlCol="0">
            <a:spAutoFit/>
          </a:bodyPr>
          <a:lstStyle/>
          <a:p>
            <a:pPr marL="12700">
              <a:lnSpc>
                <a:spcPct val="100000"/>
              </a:lnSpc>
              <a:spcBef>
                <a:spcPts val="45"/>
              </a:spcBef>
            </a:pPr>
            <a:r>
              <a:rPr spc="-20" dirty="0"/>
              <a:t>M</a:t>
            </a:r>
            <a:r>
              <a:rPr spc="-15" dirty="0"/>
              <a:t>E</a:t>
            </a:r>
            <a:r>
              <a:rPr spc="-135" dirty="0"/>
              <a:t>D</a:t>
            </a:r>
            <a:r>
              <a:rPr spc="-220" dirty="0"/>
              <a:t>A</a:t>
            </a:r>
            <a:r>
              <a:rPr spc="-15" dirty="0"/>
              <a:t>T</a:t>
            </a:r>
            <a:r>
              <a:rPr spc="-25" dirty="0"/>
              <a:t>H</a:t>
            </a:r>
            <a:r>
              <a:rPr spc="-20" dirty="0"/>
              <a:t>O</a:t>
            </a:r>
            <a:r>
              <a:rPr spc="-830" dirty="0"/>
              <a:t>N</a:t>
            </a:r>
            <a:endParaRPr sz="3000" baseline="-25000" dirty="0">
              <a:latin typeface="Lucida Sans Unicode"/>
              <a:cs typeface="Lucida Sans Unicode"/>
            </a:endParaRPr>
          </a:p>
        </p:txBody>
      </p:sp>
      <p:sp>
        <p:nvSpPr>
          <p:cNvPr id="29" name="member name 1"/>
          <p:cNvSpPr txBox="1"/>
          <p:nvPr/>
        </p:nvSpPr>
        <p:spPr>
          <a:xfrm>
            <a:off x="4288536" y="4160520"/>
            <a:ext cx="2788920" cy="1051560"/>
          </a:xfrm>
          <a:prstGeom prst="rect">
            <a:avLst/>
          </a:prstGeom>
          <a:noFill/>
        </p:spPr>
        <p:txBody>
          <a:bodyPr wrap="square" lIns="73152" rIns="73152" tIns="36576" bIns="36576" anchor="ctr">
            <a:spAutoFit/>
          </a:bodyPr>
          <a:lstStyle/>
          <a:p>
            <a:pPr algn="ctr"/>
            <a:r>
              <a:rPr sz="2000" b="1">
                <a:solidFill>
                  <a:srgbClr val="FFFFFF"/>
                </a:solidFill>
                <a:latin typeface="Tahoma"/>
              </a:rPr>
              <a:t>[Student name]</a:t>
            </a:r>
          </a:p>
        </p:txBody>
      </p:sp>
      <p:sp>
        <p:nvSpPr>
          <p:cNvPr id="30" name="member role 1"/>
          <p:cNvSpPr txBox="1"/>
          <p:nvPr/>
        </p:nvSpPr>
        <p:spPr>
          <a:xfrm>
            <a:off x="4288536" y="5349240"/>
            <a:ext cx="2788920" cy="1463040"/>
          </a:xfrm>
          <a:prstGeom prst="rect">
            <a:avLst/>
          </a:prstGeom>
          <a:noFill/>
        </p:spPr>
        <p:txBody>
          <a:bodyPr wrap="square" lIns="73152" rIns="73152" tIns="36576" bIns="36576" anchor="ctr">
            <a:spAutoFit/>
          </a:bodyPr>
          <a:lstStyle/>
          <a:p>
            <a:pPr algn="ctr"/>
            <a:r>
              <a:rPr sz="1300">
                <a:solidFill>
                  <a:srgbClr val="FFFFFF"/>
                </a:solidFill>
                <a:latin typeface="Tahoma"/>
              </a:rPr>
              <a:t>Clinical lead  ·  Year [x] medical student</a:t>
            </a:r>
          </a:p>
        </p:txBody>
      </p:sp>
      <p:sp>
        <p:nvSpPr>
          <p:cNvPr id="31" name="member name 2"/>
          <p:cNvSpPr txBox="1"/>
          <p:nvPr/>
        </p:nvSpPr>
        <p:spPr>
          <a:xfrm>
            <a:off x="7694675" y="4160520"/>
            <a:ext cx="2788920" cy="1051560"/>
          </a:xfrm>
          <a:prstGeom prst="rect">
            <a:avLst/>
          </a:prstGeom>
          <a:noFill/>
        </p:spPr>
        <p:txBody>
          <a:bodyPr wrap="square" lIns="73152" rIns="73152" tIns="36576" bIns="36576" anchor="ctr">
            <a:spAutoFit/>
          </a:bodyPr>
          <a:lstStyle/>
          <a:p>
            <a:pPr algn="ctr"/>
            <a:r>
              <a:rPr sz="2000" b="1">
                <a:solidFill>
                  <a:srgbClr val="FFFFFF"/>
                </a:solidFill>
                <a:latin typeface="Tahoma"/>
              </a:rPr>
              <a:t>[Student name]</a:t>
            </a:r>
          </a:p>
        </p:txBody>
      </p:sp>
      <p:sp>
        <p:nvSpPr>
          <p:cNvPr id="32" name="member role 2"/>
          <p:cNvSpPr txBox="1"/>
          <p:nvPr/>
        </p:nvSpPr>
        <p:spPr>
          <a:xfrm>
            <a:off x="7694675" y="5349240"/>
            <a:ext cx="2788920" cy="1463040"/>
          </a:xfrm>
          <a:prstGeom prst="rect">
            <a:avLst/>
          </a:prstGeom>
          <a:noFill/>
        </p:spPr>
        <p:txBody>
          <a:bodyPr wrap="square" lIns="73152" rIns="73152" tIns="36576" bIns="36576" anchor="ctr">
            <a:spAutoFit/>
          </a:bodyPr>
          <a:lstStyle/>
          <a:p>
            <a:pPr algn="ctr"/>
            <a:r>
              <a:rPr sz="1300">
                <a:solidFill>
                  <a:srgbClr val="FFFFFF"/>
                </a:solidFill>
                <a:latin typeface="Tahoma"/>
              </a:rPr>
              <a:t>Data and prototype lead  ·  Year [x] medical student</a:t>
            </a:r>
          </a:p>
        </p:txBody>
      </p:sp>
      <p:sp>
        <p:nvSpPr>
          <p:cNvPr id="33" name="member name 3"/>
          <p:cNvSpPr txBox="1"/>
          <p:nvPr/>
        </p:nvSpPr>
        <p:spPr>
          <a:xfrm>
            <a:off x="11100815" y="4160520"/>
            <a:ext cx="2788920" cy="1051560"/>
          </a:xfrm>
          <a:prstGeom prst="rect">
            <a:avLst/>
          </a:prstGeom>
          <a:noFill/>
        </p:spPr>
        <p:txBody>
          <a:bodyPr wrap="square" lIns="73152" rIns="73152" tIns="36576" bIns="36576" anchor="ctr">
            <a:spAutoFit/>
          </a:bodyPr>
          <a:lstStyle/>
          <a:p>
            <a:pPr algn="ctr"/>
            <a:r>
              <a:rPr sz="2000" b="1">
                <a:solidFill>
                  <a:srgbClr val="FFFFFF"/>
                </a:solidFill>
                <a:latin typeface="Tahoma"/>
              </a:rPr>
              <a:t>[Student name]</a:t>
            </a:r>
          </a:p>
        </p:txBody>
      </p:sp>
      <p:sp>
        <p:nvSpPr>
          <p:cNvPr id="34" name="member role 3"/>
          <p:cNvSpPr txBox="1"/>
          <p:nvPr/>
        </p:nvSpPr>
        <p:spPr>
          <a:xfrm>
            <a:off x="11100815" y="5349240"/>
            <a:ext cx="2788920" cy="1463040"/>
          </a:xfrm>
          <a:prstGeom prst="rect">
            <a:avLst/>
          </a:prstGeom>
          <a:noFill/>
        </p:spPr>
        <p:txBody>
          <a:bodyPr wrap="square" lIns="73152" rIns="73152" tIns="36576" bIns="36576" anchor="ctr">
            <a:spAutoFit/>
          </a:bodyPr>
          <a:lstStyle/>
          <a:p>
            <a:pPr algn="ctr"/>
            <a:r>
              <a:rPr sz="1300">
                <a:solidFill>
                  <a:srgbClr val="FFFFFF"/>
                </a:solidFill>
                <a:latin typeface="Tahoma"/>
              </a:rPr>
              <a:t>Design and user research lead  ·  Year [x] medical student</a:t>
            </a:r>
          </a:p>
        </p:txBody>
      </p:sp>
      <p:sp>
        <p:nvSpPr>
          <p:cNvPr id="35" name="mentor note"/>
          <p:cNvSpPr txBox="1"/>
          <p:nvPr/>
        </p:nvSpPr>
        <p:spPr>
          <a:xfrm>
            <a:off x="1216152" y="7498079"/>
            <a:ext cx="12801600" cy="822960"/>
          </a:xfrm>
          <a:prstGeom prst="rect">
            <a:avLst/>
          </a:prstGeom>
          <a:noFill/>
        </p:spPr>
        <p:txBody>
          <a:bodyPr wrap="square" lIns="73152" rIns="73152" tIns="36576" bIns="36576" anchor="t">
            <a:spAutoFit/>
          </a:bodyPr>
          <a:lstStyle/>
          <a:p>
            <a:pPr algn="l"/>
            <a:r>
              <a:rPr sz="1400">
                <a:solidFill>
                  <a:srgbClr val="C9D6DF"/>
                </a:solidFill>
                <a:latin typeface="Tahoma"/>
              </a:rPr>
              <a:t>Mentored by a clinical pharmacist and PhD researcher in AI for sepsis (advisory role only; the idea, prototype and presentation are the team's own).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descr="$PPTXTitle"/>
          <p:cNvSpPr txBox="1">
            <a:spLocks noGrp="1"/>
          </p:cNvSpPr>
          <p:nvPr>
            <p:ph type="ctrTitle"/>
          </p:nvPr>
        </p:nvSpPr>
        <p:spPr>
          <a:xfrm>
            <a:off x="1465676" y="3329951"/>
            <a:ext cx="6916324" cy="849982"/>
          </a:xfrm>
          <a:prstGeom prst="rect">
            <a:avLst/>
          </a:prstGeom>
        </p:spPr>
        <p:txBody>
          <a:bodyPr vert="horz" wrap="square" lIns="0" tIns="87382" rIns="0" bIns="0" rtlCol="0">
            <a:spAutoFit/>
          </a:bodyPr>
          <a:lstStyle/>
          <a:p>
            <a:pPr marL="203835">
              <a:lnSpc>
                <a:spcPct val="100000"/>
              </a:lnSpc>
              <a:spcBef>
                <a:spcPts val="125"/>
              </a:spcBef>
            </a:pPr>
            <a:r>
              <a:rPr sz="4950" b="1" dirty="0">
                <a:latin typeface="Tahoma"/>
                <a:cs typeface="Tahoma"/>
              </a:rPr>
              <a:t>Problem Statement</a:t>
            </a:r>
            <a:endParaRPr sz="4950" dirty="0">
              <a:latin typeface="Tahoma"/>
              <a:cs typeface="Tahoma"/>
            </a:endParaRPr>
          </a:p>
        </p:txBody>
      </p:sp>
      <p:pic>
        <p:nvPicPr>
          <p:cNvPr id="2" name="object 2"/>
          <p:cNvPicPr/>
          <p:nvPr/>
        </p:nvPicPr>
        <p:blipFill>
          <a:blip r:embed="rId2" cstate="print"/>
          <a:stretch>
            <a:fillRect/>
          </a:stretch>
        </p:blipFill>
        <p:spPr>
          <a:xfrm>
            <a:off x="13662933" y="0"/>
            <a:ext cx="4625066" cy="10286999"/>
          </a:xfrm>
          <a:prstGeom prst="rect">
            <a:avLst/>
          </a:prstGeom>
        </p:spPr>
      </p:pic>
      <p:sp>
        <p:nvSpPr>
          <p:cNvPr id="11" name="object 11"/>
          <p:cNvSpPr txBox="1"/>
          <p:nvPr/>
        </p:nvSpPr>
        <p:spPr>
          <a:xfrm>
            <a:off x="1578276" y="4754880"/>
            <a:ext cx="11887200" cy="1737360"/>
          </a:xfrm>
          <a:prstGeom prst="rect">
            <a:avLst/>
          </a:prstGeom>
        </p:spPr>
        <p:txBody>
          <a:bodyPr vert="horz" wrap="square" lIns="0" tIns="11430" rIns="0" bIns="0" rtlCol="0">
            <a:spAutoFit/>
          </a:bodyPr>
          <a:lstStyle/>
          <a:p>
            <a:r>
              <a:rPr sz="2000">
                <a:solidFill>
                  <a:srgbClr val="FFFFFF"/>
                </a:solidFill>
                <a:latin typeface="Tahoma"/>
              </a:rPr>
              <a:t>Sepsis is the body's life-threatening response to infection. It kills about 11 million people a year worldwide and is involved in one in every two to three hospital deaths. Every hour of delay in treatment raises the odds of death by about 4 %.</a:t>
            </a:r>
          </a:p>
        </p:txBody>
      </p:sp>
      <p:sp>
        <p:nvSpPr>
          <p:cNvPr id="14" name="object 10">
            <a:extLst>
              <a:ext uri="{FF2B5EF4-FFF2-40B4-BE49-F238E27FC236}">
                <a16:creationId xmlns:a16="http://schemas.microsoft.com/office/drawing/2014/main" id="{BD1893AB-88EB-8549-AED5-8848246150DC}"/>
              </a:ext>
            </a:extLst>
          </p:cNvPr>
          <p:cNvSpPr txBox="1">
            <a:spLocks noGrp="1"/>
          </p:cNvSpPr>
          <p:nvPr>
            <p:ph type="sldNum" sz="quarter" idx="7"/>
          </p:nvPr>
        </p:nvSpPr>
        <p:spPr>
          <a:xfrm>
            <a:off x="14996159" y="9079503"/>
            <a:ext cx="2560320" cy="367408"/>
          </a:xfrm>
          <a:prstGeom prst="rect">
            <a:avLst/>
          </a:prstGeom>
        </p:spPr>
        <p:txBody>
          <a:bodyPr vert="horz" wrap="square" lIns="0" tIns="5715" rIns="0" bIns="0" rtlCol="0">
            <a:spAutoFit/>
          </a:bodyPr>
          <a:lstStyle/>
          <a:p>
            <a:pPr marL="12700">
              <a:lnSpc>
                <a:spcPct val="100000"/>
              </a:lnSpc>
              <a:spcBef>
                <a:spcPts val="45"/>
              </a:spcBef>
            </a:pPr>
            <a:r>
              <a:rPr spc="-20" dirty="0"/>
              <a:t>M</a:t>
            </a:r>
            <a:r>
              <a:rPr spc="-15" dirty="0"/>
              <a:t>E</a:t>
            </a:r>
            <a:r>
              <a:rPr spc="-135" dirty="0"/>
              <a:t>D</a:t>
            </a:r>
            <a:r>
              <a:rPr spc="-220" dirty="0"/>
              <a:t>A</a:t>
            </a:r>
            <a:r>
              <a:rPr spc="-15" dirty="0"/>
              <a:t>T</a:t>
            </a:r>
            <a:r>
              <a:rPr spc="-25" dirty="0"/>
              <a:t>H</a:t>
            </a:r>
            <a:r>
              <a:rPr spc="-20" dirty="0"/>
              <a:t>O</a:t>
            </a:r>
            <a:r>
              <a:rPr spc="-830" dirty="0"/>
              <a:t>N</a:t>
            </a:r>
            <a:endParaRPr sz="3000" baseline="-25000" dirty="0">
              <a:latin typeface="Lucida Sans Unicode"/>
              <a:cs typeface="Lucida Sans Unicode"/>
            </a:endParaRPr>
          </a:p>
        </p:txBody>
      </p:sp>
      <p:grpSp>
        <p:nvGrpSpPr>
          <p:cNvPr id="32" name="object 4">
            <a:extLst>
              <a:ext uri="{FF2B5EF4-FFF2-40B4-BE49-F238E27FC236}">
                <a16:creationId xmlns:a16="http://schemas.microsoft.com/office/drawing/2014/main" id="{E86D287F-EFCA-04C6-69FB-DB9253917598}"/>
              </a:ext>
            </a:extLst>
          </p:cNvPr>
          <p:cNvGrpSpPr/>
          <p:nvPr/>
        </p:nvGrpSpPr>
        <p:grpSpPr>
          <a:xfrm>
            <a:off x="668170" y="413794"/>
            <a:ext cx="16778066" cy="3852867"/>
            <a:chOff x="668170" y="413794"/>
            <a:chExt cx="16778066" cy="3852867"/>
          </a:xfrm>
        </p:grpSpPr>
        <p:sp>
          <p:nvSpPr>
            <p:cNvPr id="33" name="object 5">
              <a:extLst>
                <a:ext uri="{FF2B5EF4-FFF2-40B4-BE49-F238E27FC236}">
                  <a16:creationId xmlns:a16="http://schemas.microsoft.com/office/drawing/2014/main" id="{49AE2191-25D1-3ACD-1F80-32C7055899A9}"/>
                </a:ext>
              </a:extLst>
            </p:cNvPr>
            <p:cNvSpPr/>
            <p:nvPr/>
          </p:nvSpPr>
          <p:spPr>
            <a:xfrm>
              <a:off x="1234623" y="3373851"/>
              <a:ext cx="7286625" cy="892810"/>
            </a:xfrm>
            <a:custGeom>
              <a:avLst/>
              <a:gdLst/>
              <a:ahLst/>
              <a:cxnLst/>
              <a:rect l="l" t="t" r="r" b="b"/>
              <a:pathLst>
                <a:path w="7286625" h="892810">
                  <a:moveTo>
                    <a:pt x="7057605" y="892471"/>
                  </a:moveTo>
                  <a:lnTo>
                    <a:pt x="228599" y="892471"/>
                  </a:lnTo>
                  <a:lnTo>
                    <a:pt x="183794" y="888038"/>
                  </a:lnTo>
                  <a:lnTo>
                    <a:pt x="141118" y="875070"/>
                  </a:lnTo>
                  <a:lnTo>
                    <a:pt x="101772" y="854063"/>
                  </a:lnTo>
                  <a:lnTo>
                    <a:pt x="66955" y="825515"/>
                  </a:lnTo>
                  <a:lnTo>
                    <a:pt x="38407" y="790698"/>
                  </a:lnTo>
                  <a:lnTo>
                    <a:pt x="17401" y="751352"/>
                  </a:lnTo>
                  <a:lnTo>
                    <a:pt x="4433" y="708677"/>
                  </a:lnTo>
                  <a:lnTo>
                    <a:pt x="0" y="663871"/>
                  </a:lnTo>
                  <a:lnTo>
                    <a:pt x="0" y="228599"/>
                  </a:lnTo>
                  <a:lnTo>
                    <a:pt x="4433" y="183794"/>
                  </a:lnTo>
                  <a:lnTo>
                    <a:pt x="17401" y="141118"/>
                  </a:lnTo>
                  <a:lnTo>
                    <a:pt x="38407" y="101772"/>
                  </a:lnTo>
                  <a:lnTo>
                    <a:pt x="66955" y="66955"/>
                  </a:lnTo>
                  <a:lnTo>
                    <a:pt x="101772" y="38407"/>
                  </a:lnTo>
                  <a:lnTo>
                    <a:pt x="141118" y="17401"/>
                  </a:lnTo>
                  <a:lnTo>
                    <a:pt x="183794" y="4433"/>
                  </a:lnTo>
                  <a:lnTo>
                    <a:pt x="228599" y="0"/>
                  </a:lnTo>
                  <a:lnTo>
                    <a:pt x="7057605" y="0"/>
                  </a:lnTo>
                  <a:lnTo>
                    <a:pt x="7102411" y="4433"/>
                  </a:lnTo>
                  <a:lnTo>
                    <a:pt x="7145087" y="17401"/>
                  </a:lnTo>
                  <a:lnTo>
                    <a:pt x="7184433" y="38407"/>
                  </a:lnTo>
                  <a:lnTo>
                    <a:pt x="7219250" y="66955"/>
                  </a:lnTo>
                  <a:lnTo>
                    <a:pt x="7247798" y="101772"/>
                  </a:lnTo>
                  <a:lnTo>
                    <a:pt x="7268804" y="141118"/>
                  </a:lnTo>
                  <a:lnTo>
                    <a:pt x="7281772" y="183794"/>
                  </a:lnTo>
                  <a:lnTo>
                    <a:pt x="7286205" y="228599"/>
                  </a:lnTo>
                  <a:lnTo>
                    <a:pt x="7286205" y="663871"/>
                  </a:lnTo>
                  <a:lnTo>
                    <a:pt x="7281772" y="708677"/>
                  </a:lnTo>
                  <a:lnTo>
                    <a:pt x="7268804" y="751352"/>
                  </a:lnTo>
                  <a:lnTo>
                    <a:pt x="7247798" y="790698"/>
                  </a:lnTo>
                  <a:lnTo>
                    <a:pt x="7219250" y="825515"/>
                  </a:lnTo>
                  <a:lnTo>
                    <a:pt x="7184433" y="854063"/>
                  </a:lnTo>
                  <a:lnTo>
                    <a:pt x="7145087" y="875070"/>
                  </a:lnTo>
                  <a:lnTo>
                    <a:pt x="7102411" y="888038"/>
                  </a:lnTo>
                  <a:lnTo>
                    <a:pt x="7057605" y="892471"/>
                  </a:lnTo>
                  <a:close/>
                </a:path>
              </a:pathLst>
            </a:custGeom>
            <a:solidFill>
              <a:srgbClr val="FFFFFF">
                <a:alpha val="9999"/>
              </a:srgbClr>
            </a:solidFill>
          </p:spPr>
          <p:txBody>
            <a:bodyPr wrap="square" lIns="0" tIns="0" rIns="0" bIns="0" rtlCol="0"/>
            <a:lstStyle/>
            <a:p>
              <a:endParaRPr dirty="0"/>
            </a:p>
          </p:txBody>
        </p:sp>
        <p:pic>
          <p:nvPicPr>
            <p:cNvPr id="34" name="object 6">
              <a:extLst>
                <a:ext uri="{FF2B5EF4-FFF2-40B4-BE49-F238E27FC236}">
                  <a16:creationId xmlns:a16="http://schemas.microsoft.com/office/drawing/2014/main" id="{72D556DB-5B66-0441-B9E9-7968339E1EC1}"/>
                </a:ext>
              </a:extLst>
            </p:cNvPr>
            <p:cNvPicPr/>
            <p:nvPr/>
          </p:nvPicPr>
          <p:blipFill>
            <a:blip r:embed="rId3" cstate="print"/>
            <a:stretch>
              <a:fillRect/>
            </a:stretch>
          </p:blipFill>
          <p:spPr>
            <a:xfrm>
              <a:off x="15156072" y="538094"/>
              <a:ext cx="2290164" cy="1040075"/>
            </a:xfrm>
            <a:prstGeom prst="rect">
              <a:avLst/>
            </a:prstGeom>
          </p:spPr>
        </p:pic>
        <p:pic>
          <p:nvPicPr>
            <p:cNvPr id="35" name="object 7">
              <a:extLst>
                <a:ext uri="{FF2B5EF4-FFF2-40B4-BE49-F238E27FC236}">
                  <a16:creationId xmlns:a16="http://schemas.microsoft.com/office/drawing/2014/main" id="{0B4CD23A-F167-B062-1440-57DEEF295B2E}"/>
                </a:ext>
              </a:extLst>
            </p:cNvPr>
            <p:cNvPicPr/>
            <p:nvPr/>
          </p:nvPicPr>
          <p:blipFill>
            <a:blip r:embed="rId4" cstate="print"/>
            <a:stretch>
              <a:fillRect/>
            </a:stretch>
          </p:blipFill>
          <p:spPr>
            <a:xfrm>
              <a:off x="2506745" y="654022"/>
              <a:ext cx="440031" cy="660047"/>
            </a:xfrm>
            <a:prstGeom prst="rect">
              <a:avLst/>
            </a:prstGeom>
          </p:spPr>
        </p:pic>
        <p:pic>
          <p:nvPicPr>
            <p:cNvPr id="36" name="object 8">
              <a:extLst>
                <a:ext uri="{FF2B5EF4-FFF2-40B4-BE49-F238E27FC236}">
                  <a16:creationId xmlns:a16="http://schemas.microsoft.com/office/drawing/2014/main" id="{AE906417-482B-2B41-1D77-12E78BAC027A}"/>
                </a:ext>
              </a:extLst>
            </p:cNvPr>
            <p:cNvPicPr/>
            <p:nvPr/>
          </p:nvPicPr>
          <p:blipFill>
            <a:blip r:embed="rId5" cstate="print"/>
            <a:stretch>
              <a:fillRect/>
            </a:stretch>
          </p:blipFill>
          <p:spPr>
            <a:xfrm>
              <a:off x="3177544" y="745879"/>
              <a:ext cx="990071" cy="550039"/>
            </a:xfrm>
            <a:prstGeom prst="rect">
              <a:avLst/>
            </a:prstGeom>
          </p:spPr>
        </p:pic>
        <p:sp>
          <p:nvSpPr>
            <p:cNvPr id="37" name="object 9">
              <a:extLst>
                <a:ext uri="{FF2B5EF4-FFF2-40B4-BE49-F238E27FC236}">
                  <a16:creationId xmlns:a16="http://schemas.microsoft.com/office/drawing/2014/main" id="{A00ACD2E-79BD-AB05-B4C6-B25879A4212C}"/>
                </a:ext>
              </a:extLst>
            </p:cNvPr>
            <p:cNvSpPr/>
            <p:nvPr/>
          </p:nvSpPr>
          <p:spPr>
            <a:xfrm>
              <a:off x="2359271" y="547749"/>
              <a:ext cx="6350" cy="872490"/>
            </a:xfrm>
            <a:custGeom>
              <a:avLst/>
              <a:gdLst/>
              <a:ahLst/>
              <a:cxnLst/>
              <a:rect l="l" t="t" r="r" b="b"/>
              <a:pathLst>
                <a:path w="6350" h="872490">
                  <a:moveTo>
                    <a:pt x="5864" y="0"/>
                  </a:moveTo>
                  <a:lnTo>
                    <a:pt x="0" y="872474"/>
                  </a:lnTo>
                </a:path>
              </a:pathLst>
            </a:custGeom>
            <a:ln w="20001">
              <a:solidFill>
                <a:srgbClr val="FEFFFF"/>
              </a:solidFill>
            </a:ln>
          </p:spPr>
          <p:txBody>
            <a:bodyPr wrap="square" lIns="0" tIns="0" rIns="0" bIns="0" rtlCol="0"/>
            <a:lstStyle/>
            <a:p>
              <a:endParaRPr/>
            </a:p>
          </p:txBody>
        </p:sp>
        <p:pic>
          <p:nvPicPr>
            <p:cNvPr id="38" name="object 10">
              <a:extLst>
                <a:ext uri="{FF2B5EF4-FFF2-40B4-BE49-F238E27FC236}">
                  <a16:creationId xmlns:a16="http://schemas.microsoft.com/office/drawing/2014/main" id="{9323BDF6-944F-46E3-BF01-72D2BF9AF841}"/>
                </a:ext>
              </a:extLst>
            </p:cNvPr>
            <p:cNvPicPr/>
            <p:nvPr/>
          </p:nvPicPr>
          <p:blipFill>
            <a:blip r:embed="rId6" cstate="print"/>
            <a:stretch>
              <a:fillRect/>
            </a:stretch>
          </p:blipFill>
          <p:spPr>
            <a:xfrm>
              <a:off x="668170" y="413794"/>
              <a:ext cx="1550111" cy="1170084"/>
            </a:xfrm>
            <a:prstGeom prst="rect">
              <a:avLst/>
            </a:prstGeom>
          </p:spPr>
        </p:pic>
      </p:grpSp>
      <p:sp>
        <p:nvSpPr>
          <p:cNvPr id="39" name="stat card 1"/>
          <p:cNvSpPr/>
          <p:nvPr/>
        </p:nvSpPr>
        <p:spPr>
          <a:xfrm>
            <a:off x="1581912" y="6720840"/>
            <a:ext cx="2834640" cy="1828800"/>
          </a:xfrm>
          <a:prstGeom prst="roundRect">
            <a:avLst>
              <a:gd name="adj" fmla="val 6000"/>
            </a:avLst>
          </a:prstGeom>
          <a:solidFill>
            <a:srgbClr val="123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stat 1"/>
          <p:cNvSpPr txBox="1"/>
          <p:nvPr/>
        </p:nvSpPr>
        <p:spPr>
          <a:xfrm>
            <a:off x="1581912" y="6766560"/>
            <a:ext cx="2834640" cy="822960"/>
          </a:xfrm>
          <a:prstGeom prst="rect">
            <a:avLst/>
          </a:prstGeom>
          <a:noFill/>
        </p:spPr>
        <p:txBody>
          <a:bodyPr wrap="square" lIns="73152" rIns="73152" tIns="36576" bIns="36576" anchor="ctr">
            <a:spAutoFit/>
          </a:bodyPr>
          <a:lstStyle/>
          <a:p>
            <a:pPr algn="ctr"/>
            <a:r>
              <a:rPr sz="3000" b="1">
                <a:solidFill>
                  <a:srgbClr val="00E4FF"/>
                </a:solidFill>
                <a:latin typeface="Tahoma"/>
              </a:rPr>
              <a:t>11 M</a:t>
            </a:r>
          </a:p>
        </p:txBody>
      </p:sp>
      <p:sp>
        <p:nvSpPr>
          <p:cNvPr id="41" name="stat label 1"/>
          <p:cNvSpPr txBox="1"/>
          <p:nvPr/>
        </p:nvSpPr>
        <p:spPr>
          <a:xfrm>
            <a:off x="1673352" y="7543800"/>
            <a:ext cx="2651760" cy="960120"/>
          </a:xfrm>
          <a:prstGeom prst="rect">
            <a:avLst/>
          </a:prstGeom>
          <a:noFill/>
        </p:spPr>
        <p:txBody>
          <a:bodyPr wrap="square" lIns="73152" rIns="73152" tIns="36576" bIns="36576" anchor="t">
            <a:spAutoFit/>
          </a:bodyPr>
          <a:lstStyle/>
          <a:p>
            <a:pPr algn="ctr"/>
            <a:r>
              <a:rPr sz="1150">
                <a:solidFill>
                  <a:srgbClr val="FFFFFF"/>
                </a:solidFill>
                <a:latin typeface="Tahoma"/>
              </a:rPr>
              <a:t>deaths a year worldwide (Rudd, Lancet 2020)</a:t>
            </a:r>
          </a:p>
        </p:txBody>
      </p:sp>
      <p:sp>
        <p:nvSpPr>
          <p:cNvPr id="42" name="stat card 2"/>
          <p:cNvSpPr/>
          <p:nvPr/>
        </p:nvSpPr>
        <p:spPr>
          <a:xfrm>
            <a:off x="4645152" y="6720840"/>
            <a:ext cx="2834640" cy="1828800"/>
          </a:xfrm>
          <a:prstGeom prst="roundRect">
            <a:avLst>
              <a:gd name="adj" fmla="val 6000"/>
            </a:avLst>
          </a:prstGeom>
          <a:solidFill>
            <a:srgbClr val="123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stat 2"/>
          <p:cNvSpPr txBox="1"/>
          <p:nvPr/>
        </p:nvSpPr>
        <p:spPr>
          <a:xfrm>
            <a:off x="4645152" y="6766560"/>
            <a:ext cx="2834640" cy="822960"/>
          </a:xfrm>
          <a:prstGeom prst="rect">
            <a:avLst/>
          </a:prstGeom>
          <a:noFill/>
        </p:spPr>
        <p:txBody>
          <a:bodyPr wrap="square" lIns="73152" rIns="73152" tIns="36576" bIns="36576" anchor="ctr">
            <a:spAutoFit/>
          </a:bodyPr>
          <a:lstStyle/>
          <a:p>
            <a:pPr algn="ctr"/>
            <a:r>
              <a:rPr sz="3000" b="1">
                <a:solidFill>
                  <a:srgbClr val="00E4FF"/>
                </a:solidFill>
                <a:latin typeface="Tahoma"/>
              </a:rPr>
              <a:t>1 in 2–3</a:t>
            </a:r>
          </a:p>
        </p:txBody>
      </p:sp>
      <p:sp>
        <p:nvSpPr>
          <p:cNvPr id="44" name="stat label 2"/>
          <p:cNvSpPr txBox="1"/>
          <p:nvPr/>
        </p:nvSpPr>
        <p:spPr>
          <a:xfrm>
            <a:off x="4736592" y="7543800"/>
            <a:ext cx="2651760" cy="960120"/>
          </a:xfrm>
          <a:prstGeom prst="rect">
            <a:avLst/>
          </a:prstGeom>
          <a:noFill/>
        </p:spPr>
        <p:txBody>
          <a:bodyPr wrap="square" lIns="73152" rIns="73152" tIns="36576" bIns="36576" anchor="t">
            <a:spAutoFit/>
          </a:bodyPr>
          <a:lstStyle/>
          <a:p>
            <a:pPr algn="ctr"/>
            <a:r>
              <a:rPr sz="1150">
                <a:solidFill>
                  <a:srgbClr val="FFFFFF"/>
                </a:solidFill>
                <a:latin typeface="Tahoma"/>
              </a:rPr>
              <a:t>hospital deaths involve sepsis (Liu, JAMA 2014)</a:t>
            </a:r>
          </a:p>
        </p:txBody>
      </p:sp>
      <p:sp>
        <p:nvSpPr>
          <p:cNvPr id="45" name="stat card 3"/>
          <p:cNvSpPr/>
          <p:nvPr/>
        </p:nvSpPr>
        <p:spPr>
          <a:xfrm>
            <a:off x="7708392" y="6720840"/>
            <a:ext cx="2834640" cy="1828800"/>
          </a:xfrm>
          <a:prstGeom prst="roundRect">
            <a:avLst>
              <a:gd name="adj" fmla="val 6000"/>
            </a:avLst>
          </a:prstGeom>
          <a:solidFill>
            <a:srgbClr val="123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stat 3"/>
          <p:cNvSpPr txBox="1"/>
          <p:nvPr/>
        </p:nvSpPr>
        <p:spPr>
          <a:xfrm>
            <a:off x="7708392" y="6766560"/>
            <a:ext cx="2834640" cy="822960"/>
          </a:xfrm>
          <a:prstGeom prst="rect">
            <a:avLst/>
          </a:prstGeom>
          <a:noFill/>
        </p:spPr>
        <p:txBody>
          <a:bodyPr wrap="square" lIns="73152" rIns="73152" tIns="36576" bIns="36576" anchor="ctr">
            <a:spAutoFit/>
          </a:bodyPr>
          <a:lstStyle/>
          <a:p>
            <a:pPr algn="ctr"/>
            <a:r>
              <a:rPr sz="3000" b="1">
                <a:solidFill>
                  <a:srgbClr val="00E4FF"/>
                </a:solidFill>
                <a:latin typeface="Tahoma"/>
              </a:rPr>
              <a:t>+4 % / h</a:t>
            </a:r>
          </a:p>
        </p:txBody>
      </p:sp>
      <p:sp>
        <p:nvSpPr>
          <p:cNvPr id="47" name="stat label 3"/>
          <p:cNvSpPr txBox="1"/>
          <p:nvPr/>
        </p:nvSpPr>
        <p:spPr>
          <a:xfrm>
            <a:off x="7799831" y="7543800"/>
            <a:ext cx="2651760" cy="960120"/>
          </a:xfrm>
          <a:prstGeom prst="rect">
            <a:avLst/>
          </a:prstGeom>
          <a:noFill/>
        </p:spPr>
        <p:txBody>
          <a:bodyPr wrap="square" lIns="73152" rIns="73152" tIns="36576" bIns="36576" anchor="t">
            <a:spAutoFit/>
          </a:bodyPr>
          <a:lstStyle/>
          <a:p>
            <a:pPr algn="ctr"/>
            <a:r>
              <a:rPr sz="1150">
                <a:solidFill>
                  <a:srgbClr val="FFFFFF"/>
                </a:solidFill>
                <a:latin typeface="Tahoma"/>
              </a:rPr>
              <a:t>odds of death per hour of treatment delay (Seymour, NEJM 2017)</a:t>
            </a:r>
          </a:p>
        </p:txBody>
      </p:sp>
      <p:sp>
        <p:nvSpPr>
          <p:cNvPr id="48" name="stat card 4"/>
          <p:cNvSpPr/>
          <p:nvPr/>
        </p:nvSpPr>
        <p:spPr>
          <a:xfrm>
            <a:off x="10771632" y="6720840"/>
            <a:ext cx="2834640" cy="1828800"/>
          </a:xfrm>
          <a:prstGeom prst="roundRect">
            <a:avLst>
              <a:gd name="adj" fmla="val 6000"/>
            </a:avLst>
          </a:prstGeom>
          <a:solidFill>
            <a:srgbClr val="123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stat 4"/>
          <p:cNvSpPr txBox="1"/>
          <p:nvPr/>
        </p:nvSpPr>
        <p:spPr>
          <a:xfrm>
            <a:off x="10771632" y="6766560"/>
            <a:ext cx="2834640" cy="822960"/>
          </a:xfrm>
          <a:prstGeom prst="rect">
            <a:avLst/>
          </a:prstGeom>
          <a:noFill/>
        </p:spPr>
        <p:txBody>
          <a:bodyPr wrap="square" lIns="73152" rIns="73152" tIns="36576" bIns="36576" anchor="ctr">
            <a:spAutoFit/>
          </a:bodyPr>
          <a:lstStyle/>
          <a:p>
            <a:pPr algn="ctr"/>
            <a:r>
              <a:rPr sz="3000" b="1">
                <a:solidFill>
                  <a:srgbClr val="00E4FF"/>
                </a:solidFill>
                <a:latin typeface="Tahoma"/>
              </a:rPr>
              <a:t>40 %</a:t>
            </a:r>
          </a:p>
        </p:txBody>
      </p:sp>
      <p:sp>
        <p:nvSpPr>
          <p:cNvPr id="50" name="stat label 4"/>
          <p:cNvSpPr txBox="1"/>
          <p:nvPr/>
        </p:nvSpPr>
        <p:spPr>
          <a:xfrm>
            <a:off x="10863072" y="7543800"/>
            <a:ext cx="2651760" cy="960120"/>
          </a:xfrm>
          <a:prstGeom prst="rect">
            <a:avLst/>
          </a:prstGeom>
          <a:noFill/>
        </p:spPr>
        <p:txBody>
          <a:bodyPr wrap="square" lIns="73152" rIns="73152" tIns="36576" bIns="36576" anchor="t">
            <a:spAutoFit/>
          </a:bodyPr>
          <a:lstStyle/>
          <a:p>
            <a:pPr algn="ctr"/>
            <a:r>
              <a:rPr sz="1150">
                <a:solidFill>
                  <a:srgbClr val="FFFFFF"/>
                </a:solidFill>
                <a:latin typeface="Tahoma"/>
              </a:rPr>
              <a:t>ICU mortality among septic patients in one Saudi hospital (Buraidah, 2012)</a:t>
            </a:r>
          </a:p>
        </p:txBody>
      </p:sp>
      <p:sp>
        <p:nvSpPr>
          <p:cNvPr id="51" name="stakeholders"/>
          <p:cNvSpPr txBox="1"/>
          <p:nvPr/>
        </p:nvSpPr>
        <p:spPr>
          <a:xfrm>
            <a:off x="1581912" y="8686800"/>
            <a:ext cx="11430000" cy="457200"/>
          </a:xfrm>
          <a:prstGeom prst="rect">
            <a:avLst/>
          </a:prstGeom>
          <a:noFill/>
        </p:spPr>
        <p:txBody>
          <a:bodyPr wrap="square" lIns="73152" rIns="73152" tIns="36576" bIns="36576" anchor="t">
            <a:spAutoFit/>
          </a:bodyPr>
          <a:lstStyle/>
          <a:p>
            <a:pPr algn="l"/>
            <a:r>
              <a:rPr sz="1200">
                <a:solidFill>
                  <a:srgbClr val="C9D6DF"/>
                </a:solidFill>
                <a:latin typeface="Tahoma"/>
              </a:rPr>
              <a:t>Stakeholders: ICU and ward patients, nurses, physicians, hospital quality teams, the Ministry of Health. The problem is not detection in theory; it is detection early enough, in every hospital, without drowning clinicians in alarms.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BBDD3-BD88-543D-E589-9A1DCA165FB4}"/>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0E286E7E-775C-A8DE-CBB8-F01999B64544}"/>
              </a:ext>
            </a:extLst>
          </p:cNvPr>
          <p:cNvGrpSpPr/>
          <p:nvPr/>
        </p:nvGrpSpPr>
        <p:grpSpPr>
          <a:xfrm>
            <a:off x="0" y="0"/>
            <a:ext cx="18287999" cy="10286999"/>
            <a:chOff x="0" y="0"/>
            <a:chExt cx="18287999" cy="10286999"/>
          </a:xfrm>
        </p:grpSpPr>
        <p:pic>
          <p:nvPicPr>
            <p:cNvPr id="3" name="object 3">
              <a:extLst>
                <a:ext uri="{FF2B5EF4-FFF2-40B4-BE49-F238E27FC236}">
                  <a16:creationId xmlns:a16="http://schemas.microsoft.com/office/drawing/2014/main" id="{1C2CC7C6-A10F-CC7A-F1ED-427DA5DA7E52}"/>
                </a:ext>
              </a:extLst>
            </p:cNvPr>
            <p:cNvPicPr/>
            <p:nvPr/>
          </p:nvPicPr>
          <p:blipFill>
            <a:blip r:embed="rId2" cstate="print"/>
            <a:stretch>
              <a:fillRect/>
            </a:stretch>
          </p:blipFill>
          <p:spPr>
            <a:xfrm>
              <a:off x="0" y="0"/>
              <a:ext cx="10465974" cy="10286999"/>
            </a:xfrm>
            <a:prstGeom prst="rect">
              <a:avLst/>
            </a:prstGeom>
          </p:spPr>
        </p:pic>
        <p:pic>
          <p:nvPicPr>
            <p:cNvPr id="4" name="object 4">
              <a:extLst>
                <a:ext uri="{FF2B5EF4-FFF2-40B4-BE49-F238E27FC236}">
                  <a16:creationId xmlns:a16="http://schemas.microsoft.com/office/drawing/2014/main" id="{C075EEE3-E7E2-6354-5918-E39DC28A3FD4}"/>
                </a:ext>
              </a:extLst>
            </p:cNvPr>
            <p:cNvPicPr/>
            <p:nvPr/>
          </p:nvPicPr>
          <p:blipFill>
            <a:blip r:embed="rId3" cstate="print"/>
            <a:stretch>
              <a:fillRect/>
            </a:stretch>
          </p:blipFill>
          <p:spPr>
            <a:xfrm>
              <a:off x="7620234" y="0"/>
              <a:ext cx="10667764" cy="10286999"/>
            </a:xfrm>
            <a:prstGeom prst="rect">
              <a:avLst/>
            </a:prstGeom>
          </p:spPr>
        </p:pic>
        <p:pic>
          <p:nvPicPr>
            <p:cNvPr id="5" name="object 5">
              <a:extLst>
                <a:ext uri="{FF2B5EF4-FFF2-40B4-BE49-F238E27FC236}">
                  <a16:creationId xmlns:a16="http://schemas.microsoft.com/office/drawing/2014/main" id="{A0CADA48-4ECA-FFDD-3E6A-7D3B0E3C6C98}"/>
                </a:ext>
              </a:extLst>
            </p:cNvPr>
            <p:cNvPicPr/>
            <p:nvPr/>
          </p:nvPicPr>
          <p:blipFill>
            <a:blip r:embed="rId4" cstate="print"/>
            <a:stretch>
              <a:fillRect/>
            </a:stretch>
          </p:blipFill>
          <p:spPr>
            <a:xfrm>
              <a:off x="0" y="5294312"/>
              <a:ext cx="18287999" cy="4992687"/>
            </a:xfrm>
            <a:prstGeom prst="rect">
              <a:avLst/>
            </a:prstGeom>
          </p:spPr>
        </p:pic>
      </p:grpSp>
      <p:grpSp>
        <p:nvGrpSpPr>
          <p:cNvPr id="13" name="object 13">
            <a:extLst>
              <a:ext uri="{FF2B5EF4-FFF2-40B4-BE49-F238E27FC236}">
                <a16:creationId xmlns:a16="http://schemas.microsoft.com/office/drawing/2014/main" id="{822EB941-6AD6-B70F-2968-0ABCB42D9C2F}"/>
              </a:ext>
            </a:extLst>
          </p:cNvPr>
          <p:cNvGrpSpPr/>
          <p:nvPr/>
        </p:nvGrpSpPr>
        <p:grpSpPr>
          <a:xfrm>
            <a:off x="668170" y="413794"/>
            <a:ext cx="16778605" cy="1170305"/>
            <a:chOff x="668170" y="413794"/>
            <a:chExt cx="16778605" cy="1170305"/>
          </a:xfrm>
        </p:grpSpPr>
        <p:pic>
          <p:nvPicPr>
            <p:cNvPr id="14" name="object 14">
              <a:extLst>
                <a:ext uri="{FF2B5EF4-FFF2-40B4-BE49-F238E27FC236}">
                  <a16:creationId xmlns:a16="http://schemas.microsoft.com/office/drawing/2014/main" id="{FEFE9340-7FC5-EC0C-CC35-C70CB89210B6}"/>
                </a:ext>
              </a:extLst>
            </p:cNvPr>
            <p:cNvPicPr/>
            <p:nvPr/>
          </p:nvPicPr>
          <p:blipFill>
            <a:blip r:embed="rId5" cstate="print"/>
            <a:stretch>
              <a:fillRect/>
            </a:stretch>
          </p:blipFill>
          <p:spPr>
            <a:xfrm>
              <a:off x="15156072" y="538094"/>
              <a:ext cx="2290164" cy="1040075"/>
            </a:xfrm>
            <a:prstGeom prst="rect">
              <a:avLst/>
            </a:prstGeom>
          </p:spPr>
        </p:pic>
        <p:pic>
          <p:nvPicPr>
            <p:cNvPr id="15" name="object 15">
              <a:extLst>
                <a:ext uri="{FF2B5EF4-FFF2-40B4-BE49-F238E27FC236}">
                  <a16:creationId xmlns:a16="http://schemas.microsoft.com/office/drawing/2014/main" id="{BF1D2176-2D9B-8175-ED41-7679B6731AC0}"/>
                </a:ext>
              </a:extLst>
            </p:cNvPr>
            <p:cNvPicPr/>
            <p:nvPr/>
          </p:nvPicPr>
          <p:blipFill>
            <a:blip r:embed="rId6" cstate="print"/>
            <a:stretch>
              <a:fillRect/>
            </a:stretch>
          </p:blipFill>
          <p:spPr>
            <a:xfrm>
              <a:off x="2506745" y="654022"/>
              <a:ext cx="440031" cy="660047"/>
            </a:xfrm>
            <a:prstGeom prst="rect">
              <a:avLst/>
            </a:prstGeom>
          </p:spPr>
        </p:pic>
        <p:pic>
          <p:nvPicPr>
            <p:cNvPr id="16" name="object 16">
              <a:extLst>
                <a:ext uri="{FF2B5EF4-FFF2-40B4-BE49-F238E27FC236}">
                  <a16:creationId xmlns:a16="http://schemas.microsoft.com/office/drawing/2014/main" id="{9CD9D661-E89A-4890-2771-9491237ED3D8}"/>
                </a:ext>
              </a:extLst>
            </p:cNvPr>
            <p:cNvPicPr/>
            <p:nvPr/>
          </p:nvPicPr>
          <p:blipFill>
            <a:blip r:embed="rId7" cstate="print"/>
            <a:stretch>
              <a:fillRect/>
            </a:stretch>
          </p:blipFill>
          <p:spPr>
            <a:xfrm>
              <a:off x="3177544" y="745879"/>
              <a:ext cx="990071" cy="550039"/>
            </a:xfrm>
            <a:prstGeom prst="rect">
              <a:avLst/>
            </a:prstGeom>
          </p:spPr>
        </p:pic>
        <p:sp>
          <p:nvSpPr>
            <p:cNvPr id="17" name="object 17">
              <a:extLst>
                <a:ext uri="{FF2B5EF4-FFF2-40B4-BE49-F238E27FC236}">
                  <a16:creationId xmlns:a16="http://schemas.microsoft.com/office/drawing/2014/main" id="{25BA63A8-B1A1-1300-94B1-5333BBA584AA}"/>
                </a:ext>
              </a:extLst>
            </p:cNvPr>
            <p:cNvSpPr/>
            <p:nvPr/>
          </p:nvSpPr>
          <p:spPr>
            <a:xfrm>
              <a:off x="2359271" y="547749"/>
              <a:ext cx="6350" cy="872490"/>
            </a:xfrm>
            <a:custGeom>
              <a:avLst/>
              <a:gdLst/>
              <a:ahLst/>
              <a:cxnLst/>
              <a:rect l="l" t="t" r="r" b="b"/>
              <a:pathLst>
                <a:path w="6350" h="872490">
                  <a:moveTo>
                    <a:pt x="5864" y="0"/>
                  </a:moveTo>
                  <a:lnTo>
                    <a:pt x="0" y="872474"/>
                  </a:lnTo>
                </a:path>
              </a:pathLst>
            </a:custGeom>
            <a:ln w="20001">
              <a:solidFill>
                <a:srgbClr val="FEFFFF"/>
              </a:solidFill>
            </a:ln>
          </p:spPr>
          <p:txBody>
            <a:bodyPr wrap="square" lIns="0" tIns="0" rIns="0" bIns="0" rtlCol="0"/>
            <a:lstStyle/>
            <a:p>
              <a:endParaRPr/>
            </a:p>
          </p:txBody>
        </p:sp>
        <p:pic>
          <p:nvPicPr>
            <p:cNvPr id="18" name="object 18">
              <a:extLst>
                <a:ext uri="{FF2B5EF4-FFF2-40B4-BE49-F238E27FC236}">
                  <a16:creationId xmlns:a16="http://schemas.microsoft.com/office/drawing/2014/main" id="{A1D3C0DA-E439-2ABB-FDE8-FFB5523F9072}"/>
                </a:ext>
              </a:extLst>
            </p:cNvPr>
            <p:cNvPicPr/>
            <p:nvPr/>
          </p:nvPicPr>
          <p:blipFill>
            <a:blip r:embed="rId8" cstate="print"/>
            <a:stretch>
              <a:fillRect/>
            </a:stretch>
          </p:blipFill>
          <p:spPr>
            <a:xfrm>
              <a:off x="668170" y="413794"/>
              <a:ext cx="1550111" cy="1170084"/>
            </a:xfrm>
            <a:prstGeom prst="rect">
              <a:avLst/>
            </a:prstGeom>
          </p:spPr>
        </p:pic>
      </p:grpSp>
      <p:sp>
        <p:nvSpPr>
          <p:cNvPr id="21" name="object 10">
            <a:extLst>
              <a:ext uri="{FF2B5EF4-FFF2-40B4-BE49-F238E27FC236}">
                <a16:creationId xmlns:a16="http://schemas.microsoft.com/office/drawing/2014/main" id="{372EE99E-3F28-9FE8-8BB4-1BDACA07B901}"/>
              </a:ext>
            </a:extLst>
          </p:cNvPr>
          <p:cNvSpPr txBox="1">
            <a:spLocks noGrp="1"/>
          </p:cNvSpPr>
          <p:nvPr>
            <p:ph type="sldNum" sz="quarter" idx="7"/>
          </p:nvPr>
        </p:nvSpPr>
        <p:spPr>
          <a:xfrm>
            <a:off x="14996159" y="9079503"/>
            <a:ext cx="2560320" cy="367408"/>
          </a:xfrm>
          <a:prstGeom prst="rect">
            <a:avLst/>
          </a:prstGeom>
        </p:spPr>
        <p:txBody>
          <a:bodyPr vert="horz" wrap="square" lIns="0" tIns="5715" rIns="0" bIns="0" rtlCol="0">
            <a:spAutoFit/>
          </a:bodyPr>
          <a:lstStyle/>
          <a:p>
            <a:pPr marL="12700">
              <a:lnSpc>
                <a:spcPct val="100000"/>
              </a:lnSpc>
              <a:spcBef>
                <a:spcPts val="45"/>
              </a:spcBef>
            </a:pPr>
            <a:r>
              <a:rPr spc="-20" dirty="0"/>
              <a:t>M</a:t>
            </a:r>
            <a:r>
              <a:rPr spc="-15" dirty="0"/>
              <a:t>E</a:t>
            </a:r>
            <a:r>
              <a:rPr spc="-135" dirty="0"/>
              <a:t>D</a:t>
            </a:r>
            <a:r>
              <a:rPr spc="-220" dirty="0"/>
              <a:t>A</a:t>
            </a:r>
            <a:r>
              <a:rPr spc="-15" dirty="0"/>
              <a:t>T</a:t>
            </a:r>
            <a:r>
              <a:rPr spc="-25" dirty="0"/>
              <a:t>H</a:t>
            </a:r>
            <a:r>
              <a:rPr spc="-20" dirty="0"/>
              <a:t>O</a:t>
            </a:r>
            <a:r>
              <a:rPr spc="-830" dirty="0"/>
              <a:t>N</a:t>
            </a:r>
            <a:endParaRPr sz="3000" baseline="-25000" dirty="0">
              <a:latin typeface="Lucida Sans Unicode"/>
              <a:cs typeface="Lucida Sans Unicode"/>
            </a:endParaRPr>
          </a:p>
        </p:txBody>
      </p:sp>
      <p:sp>
        <p:nvSpPr>
          <p:cNvPr id="22" name="title"/>
          <p:cNvSpPr txBox="1"/>
          <p:nvPr/>
        </p:nvSpPr>
        <p:spPr>
          <a:xfrm>
            <a:off x="1216152" y="1600200"/>
            <a:ext cx="12801600" cy="914400"/>
          </a:xfrm>
          <a:prstGeom prst="rect">
            <a:avLst/>
          </a:prstGeom>
          <a:noFill/>
        </p:spPr>
        <p:txBody>
          <a:bodyPr wrap="square" lIns="73152" rIns="73152" tIns="36576" bIns="36576" anchor="t">
            <a:spAutoFit/>
          </a:bodyPr>
          <a:lstStyle/>
          <a:p>
            <a:pPr algn="l"/>
            <a:r>
              <a:rPr sz="4000" b="1">
                <a:solidFill>
                  <a:srgbClr val="FFFFFF"/>
                </a:solidFill>
                <a:latin typeface="Tahoma"/>
              </a:rPr>
              <a:t>Why today's sepsis alerts fail</a:t>
            </a:r>
          </a:p>
        </p:txBody>
      </p:sp>
      <p:sp>
        <p:nvSpPr>
          <p:cNvPr id="23" name="fail card 1"/>
          <p:cNvSpPr/>
          <p:nvPr/>
        </p:nvSpPr>
        <p:spPr>
          <a:xfrm>
            <a:off x="1216152" y="2834640"/>
            <a:ext cx="4983480" cy="3657600"/>
          </a:xfrm>
          <a:prstGeom prst="roundRect">
            <a:avLst>
              <a:gd name="adj" fmla="val 6000"/>
            </a:avLst>
          </a:prstGeom>
          <a:solidFill>
            <a:srgbClr val="123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fail head 1"/>
          <p:cNvSpPr txBox="1"/>
          <p:nvPr/>
        </p:nvSpPr>
        <p:spPr>
          <a:xfrm>
            <a:off x="1399032" y="2971800"/>
            <a:ext cx="4617720" cy="640080"/>
          </a:xfrm>
          <a:prstGeom prst="rect">
            <a:avLst/>
          </a:prstGeom>
          <a:noFill/>
        </p:spPr>
        <p:txBody>
          <a:bodyPr wrap="square" lIns="73152" rIns="73152" tIns="36576" bIns="36576" anchor="t">
            <a:spAutoFit/>
          </a:bodyPr>
          <a:lstStyle/>
          <a:p>
            <a:pPr algn="l"/>
            <a:r>
              <a:rPr sz="2000" b="1">
                <a:solidFill>
                  <a:srgbClr val="00E4FF"/>
                </a:solidFill>
                <a:latin typeface="Tahoma"/>
              </a:rPr>
              <a:t>Missed cases, constant alarms</a:t>
            </a:r>
          </a:p>
        </p:txBody>
      </p:sp>
      <p:sp>
        <p:nvSpPr>
          <p:cNvPr id="25" name="fail body 1"/>
          <p:cNvSpPr txBox="1"/>
          <p:nvPr/>
        </p:nvSpPr>
        <p:spPr>
          <a:xfrm>
            <a:off x="1399032" y="3657600"/>
            <a:ext cx="4617720" cy="2103120"/>
          </a:xfrm>
          <a:prstGeom prst="rect">
            <a:avLst/>
          </a:prstGeom>
          <a:noFill/>
        </p:spPr>
        <p:txBody>
          <a:bodyPr wrap="square" lIns="73152" rIns="73152" tIns="36576" bIns="36576" anchor="t">
            <a:spAutoFit/>
          </a:bodyPr>
          <a:lstStyle/>
          <a:p>
            <a:pPr algn="l"/>
            <a:r>
              <a:rPr sz="1500">
                <a:solidFill>
                  <a:srgbClr val="FFFFFF"/>
                </a:solidFill>
                <a:latin typeface="Tahoma"/>
              </a:rPr>
              <a:t>The most widely deployed hospital sepsis model missed 67 % of sepsis cases and alerted on 18 % of all admitted patients.</a:t>
            </a:r>
          </a:p>
        </p:txBody>
      </p:sp>
      <p:sp>
        <p:nvSpPr>
          <p:cNvPr id="26" name="fail src 1"/>
          <p:cNvSpPr txBox="1"/>
          <p:nvPr/>
        </p:nvSpPr>
        <p:spPr>
          <a:xfrm>
            <a:off x="1399032" y="5897880"/>
            <a:ext cx="4617720" cy="457200"/>
          </a:xfrm>
          <a:prstGeom prst="rect">
            <a:avLst/>
          </a:prstGeom>
          <a:noFill/>
        </p:spPr>
        <p:txBody>
          <a:bodyPr wrap="square" lIns="73152" rIns="73152" tIns="36576" bIns="36576" anchor="t">
            <a:spAutoFit/>
          </a:bodyPr>
          <a:lstStyle/>
          <a:p>
            <a:pPr algn="l"/>
            <a:r>
              <a:rPr sz="1100">
                <a:solidFill>
                  <a:srgbClr val="C9D6DF"/>
                </a:solidFill>
                <a:latin typeface="Tahoma"/>
              </a:rPr>
              <a:t>Wong et al., JAMA Intern Med 2021</a:t>
            </a:r>
          </a:p>
        </p:txBody>
      </p:sp>
      <p:sp>
        <p:nvSpPr>
          <p:cNvPr id="27" name="fail card 2"/>
          <p:cNvSpPr/>
          <p:nvPr/>
        </p:nvSpPr>
        <p:spPr>
          <a:xfrm>
            <a:off x="6565392" y="2834640"/>
            <a:ext cx="4983480" cy="3657600"/>
          </a:xfrm>
          <a:prstGeom prst="roundRect">
            <a:avLst>
              <a:gd name="adj" fmla="val 6000"/>
            </a:avLst>
          </a:prstGeom>
          <a:solidFill>
            <a:srgbClr val="123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fail head 2"/>
          <p:cNvSpPr txBox="1"/>
          <p:nvPr/>
        </p:nvSpPr>
        <p:spPr>
          <a:xfrm>
            <a:off x="6748272" y="2971800"/>
            <a:ext cx="4617720" cy="640080"/>
          </a:xfrm>
          <a:prstGeom prst="rect">
            <a:avLst/>
          </a:prstGeom>
          <a:noFill/>
        </p:spPr>
        <p:txBody>
          <a:bodyPr wrap="square" lIns="73152" rIns="73152" tIns="36576" bIns="36576" anchor="t">
            <a:spAutoFit/>
          </a:bodyPr>
          <a:lstStyle/>
          <a:p>
            <a:pPr algn="l"/>
            <a:r>
              <a:rPr sz="2000" b="1">
                <a:solidFill>
                  <a:srgbClr val="00E4FF"/>
                </a:solidFill>
                <a:latin typeface="Tahoma"/>
              </a:rPr>
              <a:t>Models that do not travel</a:t>
            </a:r>
          </a:p>
        </p:txBody>
      </p:sp>
      <p:sp>
        <p:nvSpPr>
          <p:cNvPr id="29" name="fail body 2"/>
          <p:cNvSpPr txBox="1"/>
          <p:nvPr/>
        </p:nvSpPr>
        <p:spPr>
          <a:xfrm>
            <a:off x="6748272" y="3657600"/>
            <a:ext cx="4617720" cy="2103120"/>
          </a:xfrm>
          <a:prstGeom prst="rect">
            <a:avLst/>
          </a:prstGeom>
          <a:noFill/>
        </p:spPr>
        <p:txBody>
          <a:bodyPr wrap="square" lIns="73152" rIns="73152" tIns="36576" bIns="36576" anchor="t">
            <a:spAutoFit/>
          </a:bodyPr>
          <a:lstStyle/>
          <a:p>
            <a:pPr algn="l"/>
            <a:r>
              <a:rPr sz="1500">
                <a:solidFill>
                  <a:srgbClr val="FFFFFF"/>
                </a:solidFill>
                <a:latin typeface="Tahoma"/>
              </a:rPr>
              <a:t>The winning model of the PhysioNet 2019 challenge scored 0.43 on its own hospitals and −0.12, worse than silence, on a hospital it had never seen.</a:t>
            </a:r>
          </a:p>
        </p:txBody>
      </p:sp>
      <p:sp>
        <p:nvSpPr>
          <p:cNvPr id="30" name="fail src 2"/>
          <p:cNvSpPr txBox="1"/>
          <p:nvPr/>
        </p:nvSpPr>
        <p:spPr>
          <a:xfrm>
            <a:off x="6748272" y="5897880"/>
            <a:ext cx="4617720" cy="457200"/>
          </a:xfrm>
          <a:prstGeom prst="rect">
            <a:avLst/>
          </a:prstGeom>
          <a:noFill/>
        </p:spPr>
        <p:txBody>
          <a:bodyPr wrap="square" lIns="73152" rIns="73152" tIns="36576" bIns="36576" anchor="t">
            <a:spAutoFit/>
          </a:bodyPr>
          <a:lstStyle/>
          <a:p>
            <a:pPr algn="l"/>
            <a:r>
              <a:rPr sz="1100">
                <a:solidFill>
                  <a:srgbClr val="C9D6DF"/>
                </a:solidFill>
                <a:latin typeface="Tahoma"/>
              </a:rPr>
              <a:t>Reyna et al., Crit Care Med 2020</a:t>
            </a:r>
          </a:p>
        </p:txBody>
      </p:sp>
      <p:sp>
        <p:nvSpPr>
          <p:cNvPr id="31" name="fail card 3"/>
          <p:cNvSpPr/>
          <p:nvPr/>
        </p:nvSpPr>
        <p:spPr>
          <a:xfrm>
            <a:off x="11914632" y="2834640"/>
            <a:ext cx="4983480" cy="3657600"/>
          </a:xfrm>
          <a:prstGeom prst="roundRect">
            <a:avLst>
              <a:gd name="adj" fmla="val 6000"/>
            </a:avLst>
          </a:prstGeom>
          <a:solidFill>
            <a:srgbClr val="123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fail head 3"/>
          <p:cNvSpPr txBox="1"/>
          <p:nvPr/>
        </p:nvSpPr>
        <p:spPr>
          <a:xfrm>
            <a:off x="12097511" y="2971800"/>
            <a:ext cx="4617720" cy="640080"/>
          </a:xfrm>
          <a:prstGeom prst="rect">
            <a:avLst/>
          </a:prstGeom>
          <a:noFill/>
        </p:spPr>
        <p:txBody>
          <a:bodyPr wrap="square" lIns="73152" rIns="73152" tIns="36576" bIns="36576" anchor="t">
            <a:spAutoFit/>
          </a:bodyPr>
          <a:lstStyle/>
          <a:p>
            <a:pPr algn="l"/>
            <a:r>
              <a:rPr sz="2000" b="1">
                <a:solidFill>
                  <a:srgbClr val="00E4FF"/>
                </a:solidFill>
                <a:latin typeface="Tahoma"/>
              </a:rPr>
              <a:t>Tested on themselves</a:t>
            </a:r>
          </a:p>
        </p:txBody>
      </p:sp>
      <p:sp>
        <p:nvSpPr>
          <p:cNvPr id="33" name="fail body 3"/>
          <p:cNvSpPr txBox="1"/>
          <p:nvPr/>
        </p:nvSpPr>
        <p:spPr>
          <a:xfrm>
            <a:off x="12097511" y="3657600"/>
            <a:ext cx="4617720" cy="2103120"/>
          </a:xfrm>
          <a:prstGeom prst="rect">
            <a:avLst/>
          </a:prstGeom>
          <a:noFill/>
        </p:spPr>
        <p:txBody>
          <a:bodyPr wrap="square" lIns="73152" rIns="73152" tIns="36576" bIns="36576" anchor="t">
            <a:spAutoFit/>
          </a:bodyPr>
          <a:lstStyle/>
          <a:p>
            <a:pPr algn="l"/>
            <a:r>
              <a:rPr sz="1500">
                <a:solidFill>
                  <a:srgbClr val="FFFFFF"/>
                </a:solidFill>
                <a:latin typeface="Tahoma"/>
              </a:rPr>
              <a:t>81 % of published clinical AI models were never tested on data from another hospital; most of the rest lost performance when they were.</a:t>
            </a:r>
          </a:p>
        </p:txBody>
      </p:sp>
      <p:sp>
        <p:nvSpPr>
          <p:cNvPr id="34" name="fail src 3"/>
          <p:cNvSpPr txBox="1"/>
          <p:nvPr/>
        </p:nvSpPr>
        <p:spPr>
          <a:xfrm>
            <a:off x="12097511" y="5897880"/>
            <a:ext cx="4617720" cy="457200"/>
          </a:xfrm>
          <a:prstGeom prst="rect">
            <a:avLst/>
          </a:prstGeom>
          <a:noFill/>
        </p:spPr>
        <p:txBody>
          <a:bodyPr wrap="square" lIns="73152" rIns="73152" tIns="36576" bIns="36576" anchor="t">
            <a:spAutoFit/>
          </a:bodyPr>
          <a:lstStyle/>
          <a:p>
            <a:pPr algn="l"/>
            <a:r>
              <a:rPr sz="1100">
                <a:solidFill>
                  <a:srgbClr val="C9D6DF"/>
                </a:solidFill>
                <a:latin typeface="Tahoma"/>
              </a:rPr>
              <a:t>Yu et al., Radiol Artif Intell 2022</a:t>
            </a:r>
          </a:p>
        </p:txBody>
      </p:sp>
      <p:sp>
        <p:nvSpPr>
          <p:cNvPr id="35" name="root causes head"/>
          <p:cNvSpPr txBox="1"/>
          <p:nvPr/>
        </p:nvSpPr>
        <p:spPr>
          <a:xfrm>
            <a:off x="1216152" y="6858000"/>
            <a:ext cx="15819120" cy="548640"/>
          </a:xfrm>
          <a:prstGeom prst="rect">
            <a:avLst/>
          </a:prstGeom>
          <a:noFill/>
        </p:spPr>
        <p:txBody>
          <a:bodyPr wrap="square" lIns="73152" rIns="73152" tIns="36576" bIns="36576" anchor="t">
            <a:spAutoFit/>
          </a:bodyPr>
          <a:lstStyle/>
          <a:p>
            <a:pPr algn="l"/>
            <a:r>
              <a:rPr sz="1800" b="1">
                <a:solidFill>
                  <a:srgbClr val="FFFFFF"/>
                </a:solidFill>
                <a:latin typeface="Tahoma"/>
              </a:rPr>
              <a:t>Three root causes we read in the literature</a:t>
            </a:r>
          </a:p>
        </p:txBody>
      </p:sp>
      <p:sp>
        <p:nvSpPr>
          <p:cNvPr id="36" name="root num 1"/>
          <p:cNvSpPr txBox="1"/>
          <p:nvPr/>
        </p:nvSpPr>
        <p:spPr>
          <a:xfrm>
            <a:off x="1216152" y="7452360"/>
            <a:ext cx="4983480" cy="1463040"/>
          </a:xfrm>
          <a:prstGeom prst="rect">
            <a:avLst/>
          </a:prstGeom>
          <a:noFill/>
        </p:spPr>
        <p:txBody>
          <a:bodyPr wrap="square" lIns="73152" rIns="73152" tIns="36576" bIns="36576" anchor="t">
            <a:spAutoFit/>
          </a:bodyPr>
          <a:lstStyle/>
          <a:p>
            <a:pPr algn="l"/>
            <a:r>
              <a:rPr sz="1400" b="1">
                <a:solidFill>
                  <a:srgbClr val="00E4FF"/>
                </a:solidFill>
                <a:latin typeface="Tahoma"/>
              </a:rPr>
              <a:t>1.  </a:t>
            </a:r>
          </a:p>
        </p:txBody>
      </p:sp>
      <p:sp>
        <p:nvSpPr>
          <p:cNvPr id="37" name="root 1"/>
          <p:cNvSpPr txBox="1"/>
          <p:nvPr/>
        </p:nvSpPr>
        <p:spPr>
          <a:xfrm>
            <a:off x="1627632" y="7452360"/>
            <a:ext cx="4572000" cy="1463040"/>
          </a:xfrm>
          <a:prstGeom prst="rect">
            <a:avLst/>
          </a:prstGeom>
          <a:noFill/>
        </p:spPr>
        <p:txBody>
          <a:bodyPr wrap="square" lIns="73152" rIns="73152" tIns="36576" bIns="36576" anchor="t">
            <a:spAutoFit/>
          </a:bodyPr>
          <a:lstStyle/>
          <a:p>
            <a:pPr algn="l"/>
            <a:r>
              <a:rPr sz="1300">
                <a:solidFill>
                  <a:srgbClr val="FFFFFF"/>
                </a:solidFill>
                <a:latin typeface="Tahoma"/>
              </a:rPr>
              <a:t>Every hospital stores the same vital sign under a different name, unit and clock, so a model trained in one hospital reads nonsense in the next.</a:t>
            </a:r>
          </a:p>
        </p:txBody>
      </p:sp>
      <p:sp>
        <p:nvSpPr>
          <p:cNvPr id="38" name="root num 2"/>
          <p:cNvSpPr txBox="1"/>
          <p:nvPr/>
        </p:nvSpPr>
        <p:spPr>
          <a:xfrm>
            <a:off x="6565392" y="7452360"/>
            <a:ext cx="4983480" cy="1463040"/>
          </a:xfrm>
          <a:prstGeom prst="rect">
            <a:avLst/>
          </a:prstGeom>
          <a:noFill/>
        </p:spPr>
        <p:txBody>
          <a:bodyPr wrap="square" lIns="73152" rIns="73152" tIns="36576" bIns="36576" anchor="t">
            <a:spAutoFit/>
          </a:bodyPr>
          <a:lstStyle/>
          <a:p>
            <a:pPr algn="l"/>
            <a:r>
              <a:rPr sz="1400" b="1">
                <a:solidFill>
                  <a:srgbClr val="00E4FF"/>
                </a:solidFill>
                <a:latin typeface="Tahoma"/>
              </a:rPr>
              <a:t>2.  </a:t>
            </a:r>
          </a:p>
        </p:txBody>
      </p:sp>
      <p:sp>
        <p:nvSpPr>
          <p:cNvPr id="39" name="root 2"/>
          <p:cNvSpPr txBox="1"/>
          <p:nvPr/>
        </p:nvSpPr>
        <p:spPr>
          <a:xfrm>
            <a:off x="6976872" y="7452360"/>
            <a:ext cx="4572000" cy="1463040"/>
          </a:xfrm>
          <a:prstGeom prst="rect">
            <a:avLst/>
          </a:prstGeom>
          <a:noFill/>
        </p:spPr>
        <p:txBody>
          <a:bodyPr wrap="square" lIns="73152" rIns="73152" tIns="36576" bIns="36576" anchor="t">
            <a:spAutoFit/>
          </a:bodyPr>
          <a:lstStyle/>
          <a:p>
            <a:pPr algn="l"/>
            <a:r>
              <a:rPr sz="1300">
                <a:solidFill>
                  <a:srgbClr val="FFFFFF"/>
                </a:solidFill>
                <a:latin typeface="Tahoma"/>
              </a:rPr>
              <a:t>Models are often trained with information from after the moment of prediction (a test ordered because the doctor already suspected sepsis), so they look brilliant on paper and fail at the bedside.</a:t>
            </a:r>
          </a:p>
        </p:txBody>
      </p:sp>
      <p:sp>
        <p:nvSpPr>
          <p:cNvPr id="40" name="root num 3"/>
          <p:cNvSpPr txBox="1"/>
          <p:nvPr/>
        </p:nvSpPr>
        <p:spPr>
          <a:xfrm>
            <a:off x="11914632" y="7452360"/>
            <a:ext cx="4983480" cy="1463040"/>
          </a:xfrm>
          <a:prstGeom prst="rect">
            <a:avLst/>
          </a:prstGeom>
          <a:noFill/>
        </p:spPr>
        <p:txBody>
          <a:bodyPr wrap="square" lIns="73152" rIns="73152" tIns="36576" bIns="36576" anchor="t">
            <a:spAutoFit/>
          </a:bodyPr>
          <a:lstStyle/>
          <a:p>
            <a:pPr algn="l"/>
            <a:r>
              <a:rPr sz="1400" b="1">
                <a:solidFill>
                  <a:srgbClr val="00E4FF"/>
                </a:solidFill>
                <a:latin typeface="Tahoma"/>
              </a:rPr>
              <a:t>3.  </a:t>
            </a:r>
          </a:p>
        </p:txBody>
      </p:sp>
      <p:sp>
        <p:nvSpPr>
          <p:cNvPr id="41" name="root 3"/>
          <p:cNvSpPr txBox="1"/>
          <p:nvPr/>
        </p:nvSpPr>
        <p:spPr>
          <a:xfrm>
            <a:off x="12326111" y="7452360"/>
            <a:ext cx="4572000" cy="1463040"/>
          </a:xfrm>
          <a:prstGeom prst="rect">
            <a:avLst/>
          </a:prstGeom>
          <a:noFill/>
        </p:spPr>
        <p:txBody>
          <a:bodyPr wrap="square" lIns="73152" rIns="73152" tIns="36576" bIns="36576" anchor="t">
            <a:spAutoFit/>
          </a:bodyPr>
          <a:lstStyle/>
          <a:p>
            <a:pPr algn="l"/>
            <a:r>
              <a:rPr sz="1300">
                <a:solidFill>
                  <a:srgbClr val="FFFFFF"/>
                </a:solidFill>
                <a:latin typeface="Tahoma"/>
              </a:rPr>
              <a:t>They are judged by a statistic (AUROC) that counts neither the patients missed nor the alarms clinicians have to answer.</a:t>
            </a:r>
          </a:p>
        </p:txBody>
      </p:sp>
    </p:spTree>
    <p:extLst>
      <p:ext uri="{BB962C8B-B14F-4D97-AF65-F5344CB8AC3E}">
        <p14:creationId xmlns:p14="http://schemas.microsoft.com/office/powerpoint/2010/main" val="861142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8288000" cy="10287000"/>
            <a:chOff x="0" y="0"/>
            <a:chExt cx="18288000" cy="10287000"/>
          </a:xfrm>
        </p:grpSpPr>
        <p:pic>
          <p:nvPicPr>
            <p:cNvPr id="3" name="object 3"/>
            <p:cNvPicPr/>
            <p:nvPr/>
          </p:nvPicPr>
          <p:blipFill>
            <a:blip r:embed="rId2" cstate="print"/>
            <a:stretch>
              <a:fillRect/>
            </a:stretch>
          </p:blipFill>
          <p:spPr>
            <a:xfrm>
              <a:off x="0" y="0"/>
              <a:ext cx="4114799" cy="10286999"/>
            </a:xfrm>
            <a:prstGeom prst="rect">
              <a:avLst/>
            </a:prstGeom>
          </p:spPr>
        </p:pic>
        <p:sp>
          <p:nvSpPr>
            <p:cNvPr id="4" name="object 4"/>
            <p:cNvSpPr/>
            <p:nvPr/>
          </p:nvSpPr>
          <p:spPr>
            <a:xfrm>
              <a:off x="1234623" y="3373851"/>
              <a:ext cx="7286625" cy="892810"/>
            </a:xfrm>
            <a:custGeom>
              <a:avLst/>
              <a:gdLst/>
              <a:ahLst/>
              <a:cxnLst/>
              <a:rect l="l" t="t" r="r" b="b"/>
              <a:pathLst>
                <a:path w="7286625" h="892810">
                  <a:moveTo>
                    <a:pt x="7057605" y="892471"/>
                  </a:moveTo>
                  <a:lnTo>
                    <a:pt x="228599" y="892471"/>
                  </a:lnTo>
                  <a:lnTo>
                    <a:pt x="183794" y="888038"/>
                  </a:lnTo>
                  <a:lnTo>
                    <a:pt x="141118" y="875070"/>
                  </a:lnTo>
                  <a:lnTo>
                    <a:pt x="101772" y="854063"/>
                  </a:lnTo>
                  <a:lnTo>
                    <a:pt x="66955" y="825515"/>
                  </a:lnTo>
                  <a:lnTo>
                    <a:pt x="38407" y="790698"/>
                  </a:lnTo>
                  <a:lnTo>
                    <a:pt x="17401" y="751352"/>
                  </a:lnTo>
                  <a:lnTo>
                    <a:pt x="4433" y="708677"/>
                  </a:lnTo>
                  <a:lnTo>
                    <a:pt x="0" y="663871"/>
                  </a:lnTo>
                  <a:lnTo>
                    <a:pt x="0" y="228599"/>
                  </a:lnTo>
                  <a:lnTo>
                    <a:pt x="4433" y="183794"/>
                  </a:lnTo>
                  <a:lnTo>
                    <a:pt x="17401" y="141118"/>
                  </a:lnTo>
                  <a:lnTo>
                    <a:pt x="38407" y="101772"/>
                  </a:lnTo>
                  <a:lnTo>
                    <a:pt x="66955" y="66955"/>
                  </a:lnTo>
                  <a:lnTo>
                    <a:pt x="101772" y="38407"/>
                  </a:lnTo>
                  <a:lnTo>
                    <a:pt x="141118" y="17401"/>
                  </a:lnTo>
                  <a:lnTo>
                    <a:pt x="183794" y="4433"/>
                  </a:lnTo>
                  <a:lnTo>
                    <a:pt x="228599" y="0"/>
                  </a:lnTo>
                  <a:lnTo>
                    <a:pt x="7057605" y="0"/>
                  </a:lnTo>
                  <a:lnTo>
                    <a:pt x="7102411" y="4433"/>
                  </a:lnTo>
                  <a:lnTo>
                    <a:pt x="7145087" y="17401"/>
                  </a:lnTo>
                  <a:lnTo>
                    <a:pt x="7184433" y="38407"/>
                  </a:lnTo>
                  <a:lnTo>
                    <a:pt x="7219250" y="66955"/>
                  </a:lnTo>
                  <a:lnTo>
                    <a:pt x="7247798" y="101772"/>
                  </a:lnTo>
                  <a:lnTo>
                    <a:pt x="7268804" y="141118"/>
                  </a:lnTo>
                  <a:lnTo>
                    <a:pt x="7281772" y="183794"/>
                  </a:lnTo>
                  <a:lnTo>
                    <a:pt x="7286205" y="228599"/>
                  </a:lnTo>
                  <a:lnTo>
                    <a:pt x="7286205" y="663871"/>
                  </a:lnTo>
                  <a:lnTo>
                    <a:pt x="7281772" y="708677"/>
                  </a:lnTo>
                  <a:lnTo>
                    <a:pt x="7268804" y="751352"/>
                  </a:lnTo>
                  <a:lnTo>
                    <a:pt x="7247798" y="790698"/>
                  </a:lnTo>
                  <a:lnTo>
                    <a:pt x="7219250" y="825515"/>
                  </a:lnTo>
                  <a:lnTo>
                    <a:pt x="7184433" y="854063"/>
                  </a:lnTo>
                  <a:lnTo>
                    <a:pt x="7145087" y="875070"/>
                  </a:lnTo>
                  <a:lnTo>
                    <a:pt x="7102411" y="888038"/>
                  </a:lnTo>
                  <a:lnTo>
                    <a:pt x="7057605" y="892471"/>
                  </a:lnTo>
                  <a:close/>
                </a:path>
              </a:pathLst>
            </a:custGeom>
            <a:solidFill>
              <a:srgbClr val="FFFFFF">
                <a:alpha val="9999"/>
              </a:srgbClr>
            </a:solidFill>
          </p:spPr>
          <p:txBody>
            <a:bodyPr wrap="square" lIns="0" tIns="0" rIns="0" bIns="0" rtlCol="0"/>
            <a:lstStyle/>
            <a:p>
              <a:endParaRPr/>
            </a:p>
          </p:txBody>
        </p:sp>
      </p:grpSp>
      <p:grpSp>
        <p:nvGrpSpPr>
          <p:cNvPr id="7" name="object 7"/>
          <p:cNvGrpSpPr/>
          <p:nvPr/>
        </p:nvGrpSpPr>
        <p:grpSpPr>
          <a:xfrm>
            <a:off x="668170" y="413794"/>
            <a:ext cx="16778605" cy="1170305"/>
            <a:chOff x="668170" y="413794"/>
            <a:chExt cx="16778605" cy="1170305"/>
          </a:xfrm>
        </p:grpSpPr>
        <p:pic>
          <p:nvPicPr>
            <p:cNvPr id="8" name="object 8"/>
            <p:cNvPicPr/>
            <p:nvPr/>
          </p:nvPicPr>
          <p:blipFill>
            <a:blip r:embed="rId3" cstate="print"/>
            <a:stretch>
              <a:fillRect/>
            </a:stretch>
          </p:blipFill>
          <p:spPr>
            <a:xfrm>
              <a:off x="15156072" y="538094"/>
              <a:ext cx="2290164" cy="1040075"/>
            </a:xfrm>
            <a:prstGeom prst="rect">
              <a:avLst/>
            </a:prstGeom>
          </p:spPr>
        </p:pic>
        <p:pic>
          <p:nvPicPr>
            <p:cNvPr id="9" name="object 9"/>
            <p:cNvPicPr/>
            <p:nvPr/>
          </p:nvPicPr>
          <p:blipFill>
            <a:blip r:embed="rId4" cstate="print"/>
            <a:stretch>
              <a:fillRect/>
            </a:stretch>
          </p:blipFill>
          <p:spPr>
            <a:xfrm>
              <a:off x="2506745" y="654022"/>
              <a:ext cx="440031" cy="660047"/>
            </a:xfrm>
            <a:prstGeom prst="rect">
              <a:avLst/>
            </a:prstGeom>
          </p:spPr>
        </p:pic>
        <p:pic>
          <p:nvPicPr>
            <p:cNvPr id="10" name="object 10"/>
            <p:cNvPicPr/>
            <p:nvPr/>
          </p:nvPicPr>
          <p:blipFill>
            <a:blip r:embed="rId5" cstate="print"/>
            <a:stretch>
              <a:fillRect/>
            </a:stretch>
          </p:blipFill>
          <p:spPr>
            <a:xfrm>
              <a:off x="3177544" y="745879"/>
              <a:ext cx="990071" cy="550039"/>
            </a:xfrm>
            <a:prstGeom prst="rect">
              <a:avLst/>
            </a:prstGeom>
          </p:spPr>
        </p:pic>
        <p:sp>
          <p:nvSpPr>
            <p:cNvPr id="11" name="object 11"/>
            <p:cNvSpPr/>
            <p:nvPr/>
          </p:nvSpPr>
          <p:spPr>
            <a:xfrm>
              <a:off x="2359271" y="547749"/>
              <a:ext cx="6350" cy="872490"/>
            </a:xfrm>
            <a:custGeom>
              <a:avLst/>
              <a:gdLst/>
              <a:ahLst/>
              <a:cxnLst/>
              <a:rect l="l" t="t" r="r" b="b"/>
              <a:pathLst>
                <a:path w="6350" h="872490">
                  <a:moveTo>
                    <a:pt x="5864" y="0"/>
                  </a:moveTo>
                  <a:lnTo>
                    <a:pt x="0" y="872474"/>
                  </a:lnTo>
                </a:path>
              </a:pathLst>
            </a:custGeom>
            <a:ln w="20001">
              <a:solidFill>
                <a:srgbClr val="FEFFFF"/>
              </a:solidFill>
            </a:ln>
          </p:spPr>
          <p:txBody>
            <a:bodyPr wrap="square" lIns="0" tIns="0" rIns="0" bIns="0" rtlCol="0"/>
            <a:lstStyle/>
            <a:p>
              <a:endParaRPr/>
            </a:p>
          </p:txBody>
        </p:sp>
        <p:pic>
          <p:nvPicPr>
            <p:cNvPr id="12" name="object 12"/>
            <p:cNvPicPr/>
            <p:nvPr/>
          </p:nvPicPr>
          <p:blipFill>
            <a:blip r:embed="rId6" cstate="print"/>
            <a:stretch>
              <a:fillRect/>
            </a:stretch>
          </p:blipFill>
          <p:spPr>
            <a:xfrm>
              <a:off x="668170" y="413794"/>
              <a:ext cx="1550111" cy="1170084"/>
            </a:xfrm>
            <a:prstGeom prst="rect">
              <a:avLst/>
            </a:prstGeom>
          </p:spPr>
        </p:pic>
      </p:grpSp>
      <p:sp>
        <p:nvSpPr>
          <p:cNvPr id="5" name="object 5" descr="$PPTXTitle"/>
          <p:cNvSpPr txBox="1">
            <a:spLocks noGrp="1"/>
          </p:cNvSpPr>
          <p:nvPr>
            <p:ph type="ctrTitle"/>
          </p:nvPr>
        </p:nvSpPr>
        <p:spPr>
          <a:xfrm>
            <a:off x="1465676" y="3329951"/>
            <a:ext cx="7373524" cy="823302"/>
          </a:xfrm>
          <a:prstGeom prst="rect">
            <a:avLst/>
          </a:prstGeom>
        </p:spPr>
        <p:txBody>
          <a:bodyPr vert="horz" wrap="square" lIns="0" tIns="15240" rIns="0" bIns="0" rtlCol="0">
            <a:spAutoFit/>
          </a:bodyPr>
          <a:lstStyle/>
          <a:p>
            <a:pPr marL="12700">
              <a:lnSpc>
                <a:spcPct val="100000"/>
              </a:lnSpc>
              <a:spcBef>
                <a:spcPts val="120"/>
              </a:spcBef>
            </a:pPr>
            <a:r>
              <a:rPr sz="5250" b="1" dirty="0">
                <a:latin typeface="Tahoma"/>
                <a:cs typeface="Tahoma"/>
              </a:rPr>
              <a:t>Innovation Overview</a:t>
            </a:r>
            <a:endParaRPr sz="5250" dirty="0">
              <a:latin typeface="Tahoma"/>
              <a:cs typeface="Tahoma"/>
            </a:endParaRPr>
          </a:p>
        </p:txBody>
      </p:sp>
      <p:sp>
        <p:nvSpPr>
          <p:cNvPr id="6" name="object 6"/>
          <p:cNvSpPr txBox="1"/>
          <p:nvPr/>
        </p:nvSpPr>
        <p:spPr>
          <a:xfrm>
            <a:off x="1581912" y="4709160"/>
            <a:ext cx="13716000" cy="1554480"/>
          </a:xfrm>
          <a:prstGeom prst="rect">
            <a:avLst/>
          </a:prstGeom>
        </p:spPr>
        <p:txBody>
          <a:bodyPr vert="horz" wrap="square" lIns="0" tIns="12700" rIns="0" bIns="0" rtlCol="0">
            <a:spAutoFit/>
          </a:bodyPr>
          <a:lstStyle/>
          <a:p>
            <a:r>
              <a:rPr sz="1900">
                <a:solidFill>
                  <a:srgbClr val="FFFFFF"/>
                </a:solidFill>
                <a:latin typeface="Tahoma"/>
              </a:rPr>
              <a:t>SIREN is an early sepsis warning for the whole hospital that speaks every ward's data language, uses only what the clinician could have known at that hour, and is judged by patients helped and alarms raised, not by a statistic.</a:t>
            </a:r>
          </a:p>
        </p:txBody>
      </p:sp>
      <p:sp>
        <p:nvSpPr>
          <p:cNvPr id="15" name="object 10">
            <a:extLst>
              <a:ext uri="{FF2B5EF4-FFF2-40B4-BE49-F238E27FC236}">
                <a16:creationId xmlns:a16="http://schemas.microsoft.com/office/drawing/2014/main" id="{D6C11C00-4BDD-20AD-468C-552E8F4E59F4}"/>
              </a:ext>
            </a:extLst>
          </p:cNvPr>
          <p:cNvSpPr txBox="1">
            <a:spLocks noGrp="1"/>
          </p:cNvSpPr>
          <p:nvPr>
            <p:ph type="sldNum" sz="quarter" idx="7"/>
          </p:nvPr>
        </p:nvSpPr>
        <p:spPr>
          <a:xfrm>
            <a:off x="14996159" y="9079503"/>
            <a:ext cx="2560320" cy="367408"/>
          </a:xfrm>
          <a:prstGeom prst="rect">
            <a:avLst/>
          </a:prstGeom>
        </p:spPr>
        <p:txBody>
          <a:bodyPr vert="horz" wrap="square" lIns="0" tIns="5715" rIns="0" bIns="0" rtlCol="0">
            <a:spAutoFit/>
          </a:bodyPr>
          <a:lstStyle/>
          <a:p>
            <a:pPr marL="12700">
              <a:lnSpc>
                <a:spcPct val="100000"/>
              </a:lnSpc>
              <a:spcBef>
                <a:spcPts val="45"/>
              </a:spcBef>
            </a:pPr>
            <a:r>
              <a:rPr spc="-20" dirty="0"/>
              <a:t>M</a:t>
            </a:r>
            <a:r>
              <a:rPr spc="-15" dirty="0"/>
              <a:t>E</a:t>
            </a:r>
            <a:r>
              <a:rPr spc="-135" dirty="0"/>
              <a:t>D</a:t>
            </a:r>
            <a:r>
              <a:rPr spc="-220" dirty="0"/>
              <a:t>A</a:t>
            </a:r>
            <a:r>
              <a:rPr spc="-15" dirty="0"/>
              <a:t>T</a:t>
            </a:r>
            <a:r>
              <a:rPr spc="-25" dirty="0"/>
              <a:t>H</a:t>
            </a:r>
            <a:r>
              <a:rPr spc="-20" dirty="0"/>
              <a:t>O</a:t>
            </a:r>
            <a:r>
              <a:rPr spc="-830" dirty="0"/>
              <a:t>N</a:t>
            </a:r>
            <a:endParaRPr sz="3000" baseline="-25000" dirty="0">
              <a:latin typeface="Lucida Sans Unicode"/>
              <a:cs typeface="Lucida Sans Unicode"/>
            </a:endParaRPr>
          </a:p>
        </p:txBody>
      </p:sp>
      <p:sp>
        <p:nvSpPr>
          <p:cNvPr id="16" name="pillar 1"/>
          <p:cNvSpPr/>
          <p:nvPr/>
        </p:nvSpPr>
        <p:spPr>
          <a:xfrm>
            <a:off x="1581912" y="6492240"/>
            <a:ext cx="3429000" cy="2514600"/>
          </a:xfrm>
          <a:prstGeom prst="roundRect">
            <a:avLst>
              <a:gd name="adj" fmla="val 6000"/>
            </a:avLst>
          </a:prstGeom>
          <a:solidFill>
            <a:srgbClr val="123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illar head 1"/>
          <p:cNvSpPr txBox="1"/>
          <p:nvPr/>
        </p:nvSpPr>
        <p:spPr>
          <a:xfrm>
            <a:off x="1719072" y="6583680"/>
            <a:ext cx="3154680" cy="548640"/>
          </a:xfrm>
          <a:prstGeom prst="rect">
            <a:avLst/>
          </a:prstGeom>
          <a:noFill/>
        </p:spPr>
        <p:txBody>
          <a:bodyPr wrap="square" lIns="73152" rIns="73152" tIns="36576" bIns="36576" anchor="t">
            <a:spAutoFit/>
          </a:bodyPr>
          <a:lstStyle/>
          <a:p>
            <a:pPr algn="l"/>
            <a:r>
              <a:rPr sz="1700" b="1">
                <a:solidFill>
                  <a:srgbClr val="00E4FF"/>
                </a:solidFill>
                <a:latin typeface="Tahoma"/>
              </a:rPr>
              <a:t>One language</a:t>
            </a:r>
          </a:p>
        </p:txBody>
      </p:sp>
      <p:sp>
        <p:nvSpPr>
          <p:cNvPr id="18" name="pillar body 1"/>
          <p:cNvSpPr txBox="1"/>
          <p:nvPr/>
        </p:nvSpPr>
        <p:spPr>
          <a:xfrm>
            <a:off x="1719072" y="7132320"/>
            <a:ext cx="3154680" cy="1828800"/>
          </a:xfrm>
          <a:prstGeom prst="rect">
            <a:avLst/>
          </a:prstGeom>
          <a:noFill/>
        </p:spPr>
        <p:txBody>
          <a:bodyPr wrap="square" lIns="73152" rIns="73152" tIns="36576" bIns="36576" anchor="t">
            <a:spAutoFit/>
          </a:bodyPr>
          <a:lstStyle/>
          <a:p>
            <a:pPr algn="l"/>
            <a:r>
              <a:rPr sz="1300">
                <a:solidFill>
                  <a:srgbClr val="FFFFFF"/>
                </a:solidFill>
                <a:latin typeface="Tahoma"/>
              </a:rPr>
              <a:t>Every vital sign, lab and drug is translated to one name, one unit and one clock before any model sees it.</a:t>
            </a:r>
          </a:p>
        </p:txBody>
      </p:sp>
      <p:sp>
        <p:nvSpPr>
          <p:cNvPr id="19" name="pillar 2"/>
          <p:cNvSpPr/>
          <p:nvPr/>
        </p:nvSpPr>
        <p:spPr>
          <a:xfrm>
            <a:off x="5239512" y="6492240"/>
            <a:ext cx="3429000" cy="2514600"/>
          </a:xfrm>
          <a:prstGeom prst="roundRect">
            <a:avLst>
              <a:gd name="adj" fmla="val 6000"/>
            </a:avLst>
          </a:prstGeom>
          <a:solidFill>
            <a:srgbClr val="123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illar head 2"/>
          <p:cNvSpPr txBox="1"/>
          <p:nvPr/>
        </p:nvSpPr>
        <p:spPr>
          <a:xfrm>
            <a:off x="5376672" y="6583680"/>
            <a:ext cx="3154680" cy="548640"/>
          </a:xfrm>
          <a:prstGeom prst="rect">
            <a:avLst/>
          </a:prstGeom>
          <a:noFill/>
        </p:spPr>
        <p:txBody>
          <a:bodyPr wrap="square" lIns="73152" rIns="73152" tIns="36576" bIns="36576" anchor="t">
            <a:spAutoFit/>
          </a:bodyPr>
          <a:lstStyle/>
          <a:p>
            <a:pPr algn="l"/>
            <a:r>
              <a:rPr sz="1700" b="1">
                <a:solidFill>
                  <a:srgbClr val="00E4FF"/>
                </a:solidFill>
                <a:latin typeface="Tahoma"/>
              </a:rPr>
              <a:t>Only the past</a:t>
            </a:r>
          </a:p>
        </p:txBody>
      </p:sp>
      <p:sp>
        <p:nvSpPr>
          <p:cNvPr id="21" name="pillar body 2"/>
          <p:cNvSpPr txBox="1"/>
          <p:nvPr/>
        </p:nvSpPr>
        <p:spPr>
          <a:xfrm>
            <a:off x="5376672" y="7132320"/>
            <a:ext cx="3154680" cy="1828800"/>
          </a:xfrm>
          <a:prstGeom prst="rect">
            <a:avLst/>
          </a:prstGeom>
          <a:noFill/>
        </p:spPr>
        <p:txBody>
          <a:bodyPr wrap="square" lIns="73152" rIns="73152" tIns="36576" bIns="36576" anchor="t">
            <a:spAutoFit/>
          </a:bodyPr>
          <a:lstStyle/>
          <a:p>
            <a:pPr algn="l"/>
            <a:r>
              <a:rPr sz="1300">
                <a:solidFill>
                  <a:srgbClr val="FFFFFF"/>
                </a:solidFill>
                <a:latin typeface="Tahoma"/>
              </a:rPr>
              <a:t>Each value is used from the hour it became available. No information from the future, ever.</a:t>
            </a:r>
          </a:p>
        </p:txBody>
      </p:sp>
      <p:sp>
        <p:nvSpPr>
          <p:cNvPr id="22" name="pillar 3"/>
          <p:cNvSpPr/>
          <p:nvPr/>
        </p:nvSpPr>
        <p:spPr>
          <a:xfrm>
            <a:off x="8897112" y="6492240"/>
            <a:ext cx="3429000" cy="2514600"/>
          </a:xfrm>
          <a:prstGeom prst="roundRect">
            <a:avLst>
              <a:gd name="adj" fmla="val 6000"/>
            </a:avLst>
          </a:prstGeom>
          <a:solidFill>
            <a:srgbClr val="123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illar head 3"/>
          <p:cNvSpPr txBox="1"/>
          <p:nvPr/>
        </p:nvSpPr>
        <p:spPr>
          <a:xfrm>
            <a:off x="9034272" y="6583680"/>
            <a:ext cx="3154680" cy="548640"/>
          </a:xfrm>
          <a:prstGeom prst="rect">
            <a:avLst/>
          </a:prstGeom>
          <a:noFill/>
        </p:spPr>
        <p:txBody>
          <a:bodyPr wrap="square" lIns="73152" rIns="73152" tIns="36576" bIns="36576" anchor="t">
            <a:spAutoFit/>
          </a:bodyPr>
          <a:lstStyle/>
          <a:p>
            <a:pPr algn="l"/>
            <a:r>
              <a:rPr sz="1700" b="1">
                <a:solidFill>
                  <a:srgbClr val="00E4FF"/>
                </a:solidFill>
                <a:latin typeface="Tahoma"/>
              </a:rPr>
              <a:t>Judged by utility</a:t>
            </a:r>
          </a:p>
        </p:txBody>
      </p:sp>
      <p:sp>
        <p:nvSpPr>
          <p:cNvPr id="24" name="pillar body 3"/>
          <p:cNvSpPr txBox="1"/>
          <p:nvPr/>
        </p:nvSpPr>
        <p:spPr>
          <a:xfrm>
            <a:off x="9034272" y="7132320"/>
            <a:ext cx="3154680" cy="1828800"/>
          </a:xfrm>
          <a:prstGeom prst="rect">
            <a:avLst/>
          </a:prstGeom>
          <a:noFill/>
        </p:spPr>
        <p:txBody>
          <a:bodyPr wrap="square" lIns="73152" rIns="73152" tIns="36576" bIns="36576" anchor="t">
            <a:spAutoFit/>
          </a:bodyPr>
          <a:lstStyle/>
          <a:p>
            <a:pPr algn="l"/>
            <a:r>
              <a:rPr sz="1300">
                <a:solidFill>
                  <a:srgbClr val="FFFFFF"/>
                </a:solidFill>
                <a:latin typeface="Tahoma"/>
              </a:rPr>
              <a:t>A score that pays for every hour of early warning and charges for every false alarm and every missed patient.</a:t>
            </a:r>
          </a:p>
        </p:txBody>
      </p:sp>
      <p:sp>
        <p:nvSpPr>
          <p:cNvPr id="25" name="pillar 4"/>
          <p:cNvSpPr/>
          <p:nvPr/>
        </p:nvSpPr>
        <p:spPr>
          <a:xfrm>
            <a:off x="12554712" y="6492240"/>
            <a:ext cx="3429000" cy="2514600"/>
          </a:xfrm>
          <a:prstGeom prst="roundRect">
            <a:avLst>
              <a:gd name="adj" fmla="val 6000"/>
            </a:avLst>
          </a:prstGeom>
          <a:solidFill>
            <a:srgbClr val="123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pillar head 4"/>
          <p:cNvSpPr txBox="1"/>
          <p:nvPr/>
        </p:nvSpPr>
        <p:spPr>
          <a:xfrm>
            <a:off x="12691872" y="6583680"/>
            <a:ext cx="3154680" cy="548640"/>
          </a:xfrm>
          <a:prstGeom prst="rect">
            <a:avLst/>
          </a:prstGeom>
          <a:noFill/>
        </p:spPr>
        <p:txBody>
          <a:bodyPr wrap="square" lIns="73152" rIns="73152" tIns="36576" bIns="36576" anchor="t">
            <a:spAutoFit/>
          </a:bodyPr>
          <a:lstStyle/>
          <a:p>
            <a:pPr algn="l"/>
            <a:r>
              <a:rPr sz="1700" b="1">
                <a:solidFill>
                  <a:srgbClr val="00E4FF"/>
                </a:solidFill>
                <a:latin typeface="Tahoma"/>
              </a:rPr>
              <a:t>Clinician in the loop</a:t>
            </a:r>
          </a:p>
        </p:txBody>
      </p:sp>
      <p:sp>
        <p:nvSpPr>
          <p:cNvPr id="27" name="pillar body 4"/>
          <p:cNvSpPr txBox="1"/>
          <p:nvPr/>
        </p:nvSpPr>
        <p:spPr>
          <a:xfrm>
            <a:off x="12691872" y="7132320"/>
            <a:ext cx="3154680" cy="1828800"/>
          </a:xfrm>
          <a:prstGeom prst="rect">
            <a:avLst/>
          </a:prstGeom>
          <a:noFill/>
        </p:spPr>
        <p:txBody>
          <a:bodyPr wrap="square" lIns="73152" rIns="73152" tIns="36576" bIns="36576" anchor="t">
            <a:spAutoFit/>
          </a:bodyPr>
          <a:lstStyle/>
          <a:p>
            <a:pPr algn="l"/>
            <a:r>
              <a:rPr sz="1300">
                <a:solidFill>
                  <a:srgbClr val="FFFFFF"/>
                </a:solidFill>
                <a:latin typeface="Tahoma"/>
              </a:rPr>
              <a:t>Clinicians set the alarm budget and get a reason per organ, so the alert is one they will act on.</a:t>
            </a:r>
          </a:p>
        </p:txBody>
      </p:sp>
      <p:sp>
        <p:nvSpPr>
          <p:cNvPr id="28" name="difference"/>
          <p:cNvSpPr txBox="1"/>
          <p:nvPr/>
        </p:nvSpPr>
        <p:spPr>
          <a:xfrm>
            <a:off x="1581912" y="9144000"/>
            <a:ext cx="13716000" cy="457200"/>
          </a:xfrm>
          <a:prstGeom prst="rect">
            <a:avLst/>
          </a:prstGeom>
          <a:noFill/>
        </p:spPr>
        <p:txBody>
          <a:bodyPr wrap="square" lIns="73152" rIns="73152" tIns="36576" bIns="36576" anchor="t">
            <a:spAutoFit/>
          </a:bodyPr>
          <a:lstStyle/>
          <a:p>
            <a:pPr algn="l"/>
            <a:r>
              <a:rPr sz="1250">
                <a:solidFill>
                  <a:srgbClr val="C9D6DF"/>
                </a:solidFill>
                <a:latin typeface="Tahoma"/>
              </a:rPr>
              <a:t>What is different: existing alerts are one model, one hospital, one statistic. SIREN is a method that any hospital can plug its own records into and get a warning it can trust and tune.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BBDD3-BD88-543D-E589-9A1DCA165FB4}"/>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0E286E7E-775C-A8DE-CBB8-F01999B64544}"/>
              </a:ext>
            </a:extLst>
          </p:cNvPr>
          <p:cNvGrpSpPr/>
          <p:nvPr/>
        </p:nvGrpSpPr>
        <p:grpSpPr>
          <a:xfrm>
            <a:off x="0" y="0"/>
            <a:ext cx="18287999" cy="10286999"/>
            <a:chOff x="0" y="0"/>
            <a:chExt cx="18287999" cy="10286999"/>
          </a:xfrm>
        </p:grpSpPr>
        <p:pic>
          <p:nvPicPr>
            <p:cNvPr id="3" name="object 3">
              <a:extLst>
                <a:ext uri="{FF2B5EF4-FFF2-40B4-BE49-F238E27FC236}">
                  <a16:creationId xmlns:a16="http://schemas.microsoft.com/office/drawing/2014/main" id="{1C2CC7C6-A10F-CC7A-F1ED-427DA5DA7E52}"/>
                </a:ext>
              </a:extLst>
            </p:cNvPr>
            <p:cNvPicPr/>
            <p:nvPr/>
          </p:nvPicPr>
          <p:blipFill>
            <a:blip r:embed="rId2" cstate="print"/>
            <a:stretch>
              <a:fillRect/>
            </a:stretch>
          </p:blipFill>
          <p:spPr>
            <a:xfrm>
              <a:off x="0" y="0"/>
              <a:ext cx="10465974" cy="10286999"/>
            </a:xfrm>
            <a:prstGeom prst="rect">
              <a:avLst/>
            </a:prstGeom>
          </p:spPr>
        </p:pic>
        <p:pic>
          <p:nvPicPr>
            <p:cNvPr id="4" name="object 4">
              <a:extLst>
                <a:ext uri="{FF2B5EF4-FFF2-40B4-BE49-F238E27FC236}">
                  <a16:creationId xmlns:a16="http://schemas.microsoft.com/office/drawing/2014/main" id="{C075EEE3-E7E2-6354-5918-E39DC28A3FD4}"/>
                </a:ext>
              </a:extLst>
            </p:cNvPr>
            <p:cNvPicPr/>
            <p:nvPr/>
          </p:nvPicPr>
          <p:blipFill>
            <a:blip r:embed="rId3" cstate="print"/>
            <a:stretch>
              <a:fillRect/>
            </a:stretch>
          </p:blipFill>
          <p:spPr>
            <a:xfrm>
              <a:off x="7620234" y="0"/>
              <a:ext cx="10667764" cy="10286999"/>
            </a:xfrm>
            <a:prstGeom prst="rect">
              <a:avLst/>
            </a:prstGeom>
          </p:spPr>
        </p:pic>
        <p:pic>
          <p:nvPicPr>
            <p:cNvPr id="5" name="object 5">
              <a:extLst>
                <a:ext uri="{FF2B5EF4-FFF2-40B4-BE49-F238E27FC236}">
                  <a16:creationId xmlns:a16="http://schemas.microsoft.com/office/drawing/2014/main" id="{A0CADA48-4ECA-FFDD-3E6A-7D3B0E3C6C98}"/>
                </a:ext>
              </a:extLst>
            </p:cNvPr>
            <p:cNvPicPr/>
            <p:nvPr/>
          </p:nvPicPr>
          <p:blipFill>
            <a:blip r:embed="rId4" cstate="print"/>
            <a:stretch>
              <a:fillRect/>
            </a:stretch>
          </p:blipFill>
          <p:spPr>
            <a:xfrm>
              <a:off x="0" y="5294312"/>
              <a:ext cx="18287999" cy="4992687"/>
            </a:xfrm>
            <a:prstGeom prst="rect">
              <a:avLst/>
            </a:prstGeom>
          </p:spPr>
        </p:pic>
      </p:grpSp>
      <p:grpSp>
        <p:nvGrpSpPr>
          <p:cNvPr id="13" name="object 13">
            <a:extLst>
              <a:ext uri="{FF2B5EF4-FFF2-40B4-BE49-F238E27FC236}">
                <a16:creationId xmlns:a16="http://schemas.microsoft.com/office/drawing/2014/main" id="{822EB941-6AD6-B70F-2968-0ABCB42D9C2F}"/>
              </a:ext>
            </a:extLst>
          </p:cNvPr>
          <p:cNvGrpSpPr/>
          <p:nvPr/>
        </p:nvGrpSpPr>
        <p:grpSpPr>
          <a:xfrm>
            <a:off x="668170" y="413794"/>
            <a:ext cx="16778605" cy="1170305"/>
            <a:chOff x="668170" y="413794"/>
            <a:chExt cx="16778605" cy="1170305"/>
          </a:xfrm>
        </p:grpSpPr>
        <p:pic>
          <p:nvPicPr>
            <p:cNvPr id="14" name="object 14">
              <a:extLst>
                <a:ext uri="{FF2B5EF4-FFF2-40B4-BE49-F238E27FC236}">
                  <a16:creationId xmlns:a16="http://schemas.microsoft.com/office/drawing/2014/main" id="{FEFE9340-7FC5-EC0C-CC35-C70CB89210B6}"/>
                </a:ext>
              </a:extLst>
            </p:cNvPr>
            <p:cNvPicPr/>
            <p:nvPr/>
          </p:nvPicPr>
          <p:blipFill>
            <a:blip r:embed="rId5" cstate="print"/>
            <a:stretch>
              <a:fillRect/>
            </a:stretch>
          </p:blipFill>
          <p:spPr>
            <a:xfrm>
              <a:off x="15156072" y="538094"/>
              <a:ext cx="2290164" cy="1040075"/>
            </a:xfrm>
            <a:prstGeom prst="rect">
              <a:avLst/>
            </a:prstGeom>
          </p:spPr>
        </p:pic>
        <p:pic>
          <p:nvPicPr>
            <p:cNvPr id="15" name="object 15">
              <a:extLst>
                <a:ext uri="{FF2B5EF4-FFF2-40B4-BE49-F238E27FC236}">
                  <a16:creationId xmlns:a16="http://schemas.microsoft.com/office/drawing/2014/main" id="{BF1D2176-2D9B-8175-ED41-7679B6731AC0}"/>
                </a:ext>
              </a:extLst>
            </p:cNvPr>
            <p:cNvPicPr/>
            <p:nvPr/>
          </p:nvPicPr>
          <p:blipFill>
            <a:blip r:embed="rId6" cstate="print"/>
            <a:stretch>
              <a:fillRect/>
            </a:stretch>
          </p:blipFill>
          <p:spPr>
            <a:xfrm>
              <a:off x="2506745" y="654022"/>
              <a:ext cx="440031" cy="660047"/>
            </a:xfrm>
            <a:prstGeom prst="rect">
              <a:avLst/>
            </a:prstGeom>
          </p:spPr>
        </p:pic>
        <p:pic>
          <p:nvPicPr>
            <p:cNvPr id="16" name="object 16">
              <a:extLst>
                <a:ext uri="{FF2B5EF4-FFF2-40B4-BE49-F238E27FC236}">
                  <a16:creationId xmlns:a16="http://schemas.microsoft.com/office/drawing/2014/main" id="{9CD9D661-E89A-4890-2771-9491237ED3D8}"/>
                </a:ext>
              </a:extLst>
            </p:cNvPr>
            <p:cNvPicPr/>
            <p:nvPr/>
          </p:nvPicPr>
          <p:blipFill>
            <a:blip r:embed="rId7" cstate="print"/>
            <a:stretch>
              <a:fillRect/>
            </a:stretch>
          </p:blipFill>
          <p:spPr>
            <a:xfrm>
              <a:off x="3177544" y="745879"/>
              <a:ext cx="990071" cy="550039"/>
            </a:xfrm>
            <a:prstGeom prst="rect">
              <a:avLst/>
            </a:prstGeom>
          </p:spPr>
        </p:pic>
        <p:sp>
          <p:nvSpPr>
            <p:cNvPr id="17" name="object 17">
              <a:extLst>
                <a:ext uri="{FF2B5EF4-FFF2-40B4-BE49-F238E27FC236}">
                  <a16:creationId xmlns:a16="http://schemas.microsoft.com/office/drawing/2014/main" id="{25BA63A8-B1A1-1300-94B1-5333BBA584AA}"/>
                </a:ext>
              </a:extLst>
            </p:cNvPr>
            <p:cNvSpPr/>
            <p:nvPr/>
          </p:nvSpPr>
          <p:spPr>
            <a:xfrm>
              <a:off x="2359271" y="547749"/>
              <a:ext cx="6350" cy="872490"/>
            </a:xfrm>
            <a:custGeom>
              <a:avLst/>
              <a:gdLst/>
              <a:ahLst/>
              <a:cxnLst/>
              <a:rect l="l" t="t" r="r" b="b"/>
              <a:pathLst>
                <a:path w="6350" h="872490">
                  <a:moveTo>
                    <a:pt x="5864" y="0"/>
                  </a:moveTo>
                  <a:lnTo>
                    <a:pt x="0" y="872474"/>
                  </a:lnTo>
                </a:path>
              </a:pathLst>
            </a:custGeom>
            <a:ln w="20001">
              <a:solidFill>
                <a:srgbClr val="FEFFFF"/>
              </a:solidFill>
            </a:ln>
          </p:spPr>
          <p:txBody>
            <a:bodyPr wrap="square" lIns="0" tIns="0" rIns="0" bIns="0" rtlCol="0"/>
            <a:lstStyle/>
            <a:p>
              <a:endParaRPr/>
            </a:p>
          </p:txBody>
        </p:sp>
        <p:pic>
          <p:nvPicPr>
            <p:cNvPr id="18" name="object 18">
              <a:extLst>
                <a:ext uri="{FF2B5EF4-FFF2-40B4-BE49-F238E27FC236}">
                  <a16:creationId xmlns:a16="http://schemas.microsoft.com/office/drawing/2014/main" id="{A1D3C0DA-E439-2ABB-FDE8-FFB5523F9072}"/>
                </a:ext>
              </a:extLst>
            </p:cNvPr>
            <p:cNvPicPr/>
            <p:nvPr/>
          </p:nvPicPr>
          <p:blipFill>
            <a:blip r:embed="rId8" cstate="print"/>
            <a:stretch>
              <a:fillRect/>
            </a:stretch>
          </p:blipFill>
          <p:spPr>
            <a:xfrm>
              <a:off x="668170" y="413794"/>
              <a:ext cx="1550111" cy="1170084"/>
            </a:xfrm>
            <a:prstGeom prst="rect">
              <a:avLst/>
            </a:prstGeom>
          </p:spPr>
        </p:pic>
      </p:grpSp>
      <p:sp>
        <p:nvSpPr>
          <p:cNvPr id="21" name="object 10">
            <a:extLst>
              <a:ext uri="{FF2B5EF4-FFF2-40B4-BE49-F238E27FC236}">
                <a16:creationId xmlns:a16="http://schemas.microsoft.com/office/drawing/2014/main" id="{372EE99E-3F28-9FE8-8BB4-1BDACA07B901}"/>
              </a:ext>
            </a:extLst>
          </p:cNvPr>
          <p:cNvSpPr txBox="1">
            <a:spLocks noGrp="1"/>
          </p:cNvSpPr>
          <p:nvPr>
            <p:ph type="sldNum" sz="quarter" idx="7"/>
          </p:nvPr>
        </p:nvSpPr>
        <p:spPr>
          <a:xfrm>
            <a:off x="14996159" y="9079503"/>
            <a:ext cx="2560320" cy="367408"/>
          </a:xfrm>
          <a:prstGeom prst="rect">
            <a:avLst/>
          </a:prstGeom>
        </p:spPr>
        <p:txBody>
          <a:bodyPr vert="horz" wrap="square" lIns="0" tIns="5715" rIns="0" bIns="0" rtlCol="0">
            <a:spAutoFit/>
          </a:bodyPr>
          <a:lstStyle/>
          <a:p>
            <a:pPr marL="12700">
              <a:lnSpc>
                <a:spcPct val="100000"/>
              </a:lnSpc>
              <a:spcBef>
                <a:spcPts val="45"/>
              </a:spcBef>
            </a:pPr>
            <a:r>
              <a:rPr spc="-20" dirty="0"/>
              <a:t>M</a:t>
            </a:r>
            <a:r>
              <a:rPr spc="-15" dirty="0"/>
              <a:t>E</a:t>
            </a:r>
            <a:r>
              <a:rPr spc="-135" dirty="0"/>
              <a:t>D</a:t>
            </a:r>
            <a:r>
              <a:rPr spc="-220" dirty="0"/>
              <a:t>A</a:t>
            </a:r>
            <a:r>
              <a:rPr spc="-15" dirty="0"/>
              <a:t>T</a:t>
            </a:r>
            <a:r>
              <a:rPr spc="-25" dirty="0"/>
              <a:t>H</a:t>
            </a:r>
            <a:r>
              <a:rPr spc="-20" dirty="0"/>
              <a:t>O</a:t>
            </a:r>
            <a:r>
              <a:rPr spc="-830" dirty="0"/>
              <a:t>N</a:t>
            </a:r>
            <a:endParaRPr sz="3000" baseline="-25000" dirty="0">
              <a:latin typeface="Lucida Sans Unicode"/>
              <a:cs typeface="Lucida Sans Unicode"/>
            </a:endParaRPr>
          </a:p>
        </p:txBody>
      </p:sp>
      <p:sp>
        <p:nvSpPr>
          <p:cNvPr id="22" name="title"/>
          <p:cNvSpPr txBox="1"/>
          <p:nvPr/>
        </p:nvSpPr>
        <p:spPr>
          <a:xfrm>
            <a:off x="1216152" y="1600200"/>
            <a:ext cx="12801600" cy="914400"/>
          </a:xfrm>
          <a:prstGeom prst="rect">
            <a:avLst/>
          </a:prstGeom>
          <a:noFill/>
        </p:spPr>
        <p:txBody>
          <a:bodyPr wrap="square" lIns="73152" rIns="73152" tIns="36576" bIns="36576" anchor="t">
            <a:spAutoFit/>
          </a:bodyPr>
          <a:lstStyle/>
          <a:p>
            <a:pPr algn="l"/>
            <a:r>
              <a:rPr sz="4000" b="1">
                <a:solidFill>
                  <a:srgbClr val="FFFFFF"/>
                </a:solidFill>
                <a:latin typeface="Tahoma"/>
              </a:rPr>
              <a:t>How SIREN works</a:t>
            </a:r>
          </a:p>
        </p:txBody>
      </p:sp>
      <p:sp>
        <p:nvSpPr>
          <p:cNvPr id="23" name="step 1"/>
          <p:cNvSpPr/>
          <p:nvPr/>
        </p:nvSpPr>
        <p:spPr>
          <a:xfrm>
            <a:off x="1216152" y="3017520"/>
            <a:ext cx="2331720" cy="3291840"/>
          </a:xfrm>
          <a:prstGeom prst="roundRect">
            <a:avLst>
              <a:gd name="adj" fmla="val 6000"/>
            </a:avLst>
          </a:prstGeom>
          <a:solidFill>
            <a:srgbClr val="123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step num 1"/>
          <p:cNvSpPr txBox="1"/>
          <p:nvPr/>
        </p:nvSpPr>
        <p:spPr>
          <a:xfrm>
            <a:off x="1307592" y="3108960"/>
            <a:ext cx="2148839" cy="457200"/>
          </a:xfrm>
          <a:prstGeom prst="rect">
            <a:avLst/>
          </a:prstGeom>
          <a:noFill/>
        </p:spPr>
        <p:txBody>
          <a:bodyPr wrap="square" lIns="73152" rIns="73152" tIns="36576" bIns="36576" anchor="t">
            <a:spAutoFit/>
          </a:bodyPr>
          <a:lstStyle/>
          <a:p>
            <a:pPr algn="l"/>
            <a:r>
              <a:rPr sz="2200" b="1">
                <a:solidFill>
                  <a:srgbClr val="00E4FF"/>
                </a:solidFill>
                <a:latin typeface="Tahoma"/>
              </a:rPr>
              <a:t>1</a:t>
            </a:r>
          </a:p>
        </p:txBody>
      </p:sp>
      <p:sp>
        <p:nvSpPr>
          <p:cNvPr id="25" name="step head 1"/>
          <p:cNvSpPr txBox="1"/>
          <p:nvPr/>
        </p:nvSpPr>
        <p:spPr>
          <a:xfrm>
            <a:off x="1307592" y="3611880"/>
            <a:ext cx="2148839" cy="685800"/>
          </a:xfrm>
          <a:prstGeom prst="rect">
            <a:avLst/>
          </a:prstGeom>
          <a:noFill/>
        </p:spPr>
        <p:txBody>
          <a:bodyPr wrap="square" lIns="73152" rIns="73152" tIns="36576" bIns="36576" anchor="t">
            <a:spAutoFit/>
          </a:bodyPr>
          <a:lstStyle/>
          <a:p>
            <a:pPr algn="l"/>
            <a:r>
              <a:rPr sz="1700" b="1">
                <a:solidFill>
                  <a:srgbClr val="FFFFFF"/>
                </a:solidFill>
                <a:latin typeface="Tahoma"/>
              </a:rPr>
              <a:t>Hospital records</a:t>
            </a:r>
          </a:p>
        </p:txBody>
      </p:sp>
      <p:sp>
        <p:nvSpPr>
          <p:cNvPr id="26" name="step body 1"/>
          <p:cNvSpPr txBox="1"/>
          <p:nvPr/>
        </p:nvSpPr>
        <p:spPr>
          <a:xfrm>
            <a:off x="1307592" y="4297680"/>
            <a:ext cx="2148839" cy="1920240"/>
          </a:xfrm>
          <a:prstGeom prst="rect">
            <a:avLst/>
          </a:prstGeom>
          <a:noFill/>
        </p:spPr>
        <p:txBody>
          <a:bodyPr wrap="square" lIns="73152" rIns="73152" tIns="36576" bIns="36576" anchor="t">
            <a:spAutoFit/>
          </a:bodyPr>
          <a:lstStyle/>
          <a:p>
            <a:pPr algn="l"/>
            <a:r>
              <a:rPr sz="1250">
                <a:solidFill>
                  <a:srgbClr val="C9D6DF"/>
                </a:solidFill>
                <a:latin typeface="Tahoma"/>
              </a:rPr>
              <a:t>vital signs, labs, drugs, nursing charts, as they are stored</a:t>
            </a:r>
          </a:p>
        </p:txBody>
      </p:sp>
      <p:sp>
        <p:nvSpPr>
          <p:cNvPr id="27" name="arrow 1"/>
          <p:cNvSpPr/>
          <p:nvPr/>
        </p:nvSpPr>
        <p:spPr>
          <a:xfrm>
            <a:off x="3602736" y="4434840"/>
            <a:ext cx="274320" cy="320040"/>
          </a:xfrm>
          <a:prstGeom prst="rightArrow">
            <a:avLst/>
          </a:prstGeom>
          <a:solidFill>
            <a:srgbClr val="00E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tep 2"/>
          <p:cNvSpPr/>
          <p:nvPr/>
        </p:nvSpPr>
        <p:spPr>
          <a:xfrm>
            <a:off x="3931920" y="3017520"/>
            <a:ext cx="2331720" cy="3291840"/>
          </a:xfrm>
          <a:prstGeom prst="roundRect">
            <a:avLst>
              <a:gd name="adj" fmla="val 6000"/>
            </a:avLst>
          </a:prstGeom>
          <a:solidFill>
            <a:srgbClr val="123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step num 2"/>
          <p:cNvSpPr txBox="1"/>
          <p:nvPr/>
        </p:nvSpPr>
        <p:spPr>
          <a:xfrm>
            <a:off x="4023359" y="3108960"/>
            <a:ext cx="2148839" cy="457200"/>
          </a:xfrm>
          <a:prstGeom prst="rect">
            <a:avLst/>
          </a:prstGeom>
          <a:noFill/>
        </p:spPr>
        <p:txBody>
          <a:bodyPr wrap="square" lIns="73152" rIns="73152" tIns="36576" bIns="36576" anchor="t">
            <a:spAutoFit/>
          </a:bodyPr>
          <a:lstStyle/>
          <a:p>
            <a:pPr algn="l"/>
            <a:r>
              <a:rPr sz="2200" b="1">
                <a:solidFill>
                  <a:srgbClr val="00E4FF"/>
                </a:solidFill>
                <a:latin typeface="Tahoma"/>
              </a:rPr>
              <a:t>2</a:t>
            </a:r>
          </a:p>
        </p:txBody>
      </p:sp>
      <p:sp>
        <p:nvSpPr>
          <p:cNvPr id="30" name="step head 2"/>
          <p:cNvSpPr txBox="1"/>
          <p:nvPr/>
        </p:nvSpPr>
        <p:spPr>
          <a:xfrm>
            <a:off x="4023359" y="3611880"/>
            <a:ext cx="2148839" cy="685800"/>
          </a:xfrm>
          <a:prstGeom prst="rect">
            <a:avLst/>
          </a:prstGeom>
          <a:noFill/>
        </p:spPr>
        <p:txBody>
          <a:bodyPr wrap="square" lIns="73152" rIns="73152" tIns="36576" bIns="36576" anchor="t">
            <a:spAutoFit/>
          </a:bodyPr>
          <a:lstStyle/>
          <a:p>
            <a:pPr algn="l"/>
            <a:r>
              <a:rPr sz="1700" b="1">
                <a:solidFill>
                  <a:srgbClr val="FFFFFF"/>
                </a:solidFill>
                <a:latin typeface="Tahoma"/>
              </a:rPr>
              <a:t>One language</a:t>
            </a:r>
          </a:p>
        </p:txBody>
      </p:sp>
      <p:sp>
        <p:nvSpPr>
          <p:cNvPr id="31" name="step body 2"/>
          <p:cNvSpPr txBox="1"/>
          <p:nvPr/>
        </p:nvSpPr>
        <p:spPr>
          <a:xfrm>
            <a:off x="4023359" y="4297680"/>
            <a:ext cx="2148839" cy="1920240"/>
          </a:xfrm>
          <a:prstGeom prst="rect">
            <a:avLst/>
          </a:prstGeom>
          <a:noFill/>
        </p:spPr>
        <p:txBody>
          <a:bodyPr wrap="square" lIns="73152" rIns="73152" tIns="36576" bIns="36576" anchor="t">
            <a:spAutoFit/>
          </a:bodyPr>
          <a:lstStyle/>
          <a:p>
            <a:pPr algn="l"/>
            <a:r>
              <a:rPr sz="1250">
                <a:solidFill>
                  <a:srgbClr val="C9D6DF"/>
                </a:solidFill>
                <a:latin typeface="Tahoma"/>
              </a:rPr>
              <a:t>same name, unit and clock in every ward and hospital</a:t>
            </a:r>
          </a:p>
        </p:txBody>
      </p:sp>
      <p:sp>
        <p:nvSpPr>
          <p:cNvPr id="32" name="arrow 2"/>
          <p:cNvSpPr/>
          <p:nvPr/>
        </p:nvSpPr>
        <p:spPr>
          <a:xfrm>
            <a:off x="6318503" y="4434840"/>
            <a:ext cx="274320" cy="320040"/>
          </a:xfrm>
          <a:prstGeom prst="rightArrow">
            <a:avLst/>
          </a:prstGeom>
          <a:solidFill>
            <a:srgbClr val="00E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tep 3"/>
          <p:cNvSpPr/>
          <p:nvPr/>
        </p:nvSpPr>
        <p:spPr>
          <a:xfrm>
            <a:off x="6647688" y="3017520"/>
            <a:ext cx="2331720" cy="3291840"/>
          </a:xfrm>
          <a:prstGeom prst="roundRect">
            <a:avLst>
              <a:gd name="adj" fmla="val 6000"/>
            </a:avLst>
          </a:prstGeom>
          <a:solidFill>
            <a:srgbClr val="123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step num 3"/>
          <p:cNvSpPr txBox="1"/>
          <p:nvPr/>
        </p:nvSpPr>
        <p:spPr>
          <a:xfrm>
            <a:off x="6739127" y="3108960"/>
            <a:ext cx="2148839" cy="457200"/>
          </a:xfrm>
          <a:prstGeom prst="rect">
            <a:avLst/>
          </a:prstGeom>
          <a:noFill/>
        </p:spPr>
        <p:txBody>
          <a:bodyPr wrap="square" lIns="73152" rIns="73152" tIns="36576" bIns="36576" anchor="t">
            <a:spAutoFit/>
          </a:bodyPr>
          <a:lstStyle/>
          <a:p>
            <a:pPr algn="l"/>
            <a:r>
              <a:rPr sz="2200" b="1">
                <a:solidFill>
                  <a:srgbClr val="00E4FF"/>
                </a:solidFill>
                <a:latin typeface="Tahoma"/>
              </a:rPr>
              <a:t>3</a:t>
            </a:r>
          </a:p>
        </p:txBody>
      </p:sp>
      <p:sp>
        <p:nvSpPr>
          <p:cNvPr id="35" name="step head 3"/>
          <p:cNvSpPr txBox="1"/>
          <p:nvPr/>
        </p:nvSpPr>
        <p:spPr>
          <a:xfrm>
            <a:off x="6739127" y="3611880"/>
            <a:ext cx="2148839" cy="685800"/>
          </a:xfrm>
          <a:prstGeom prst="rect">
            <a:avLst/>
          </a:prstGeom>
          <a:noFill/>
        </p:spPr>
        <p:txBody>
          <a:bodyPr wrap="square" lIns="73152" rIns="73152" tIns="36576" bIns="36576" anchor="t">
            <a:spAutoFit/>
          </a:bodyPr>
          <a:lstStyle/>
          <a:p>
            <a:pPr algn="l"/>
            <a:r>
              <a:rPr sz="1700" b="1">
                <a:solidFill>
                  <a:srgbClr val="FFFFFF"/>
                </a:solidFill>
                <a:latin typeface="Tahoma"/>
              </a:rPr>
              <a:t>One definition</a:t>
            </a:r>
          </a:p>
        </p:txBody>
      </p:sp>
      <p:sp>
        <p:nvSpPr>
          <p:cNvPr id="36" name="step body 3"/>
          <p:cNvSpPr txBox="1"/>
          <p:nvPr/>
        </p:nvSpPr>
        <p:spPr>
          <a:xfrm>
            <a:off x="6739127" y="4297680"/>
            <a:ext cx="2148839" cy="1920240"/>
          </a:xfrm>
          <a:prstGeom prst="rect">
            <a:avLst/>
          </a:prstGeom>
          <a:noFill/>
        </p:spPr>
        <p:txBody>
          <a:bodyPr wrap="square" lIns="73152" rIns="73152" tIns="36576" bIns="36576" anchor="t">
            <a:spAutoFit/>
          </a:bodyPr>
          <a:lstStyle/>
          <a:p>
            <a:pPr algn="l"/>
            <a:r>
              <a:rPr sz="1250">
                <a:solidFill>
                  <a:srgbClr val="C9D6DF"/>
                </a:solidFill>
                <a:latin typeface="Tahoma"/>
              </a:rPr>
              <a:t>Sepsis-3: suspected infection plus new organ dysfunction, applied identically</a:t>
            </a:r>
          </a:p>
        </p:txBody>
      </p:sp>
      <p:sp>
        <p:nvSpPr>
          <p:cNvPr id="37" name="arrow 3"/>
          <p:cNvSpPr/>
          <p:nvPr/>
        </p:nvSpPr>
        <p:spPr>
          <a:xfrm>
            <a:off x="9034272" y="4434840"/>
            <a:ext cx="274320" cy="320040"/>
          </a:xfrm>
          <a:prstGeom prst="rightArrow">
            <a:avLst/>
          </a:prstGeom>
          <a:solidFill>
            <a:srgbClr val="00E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tep 4"/>
          <p:cNvSpPr/>
          <p:nvPr/>
        </p:nvSpPr>
        <p:spPr>
          <a:xfrm>
            <a:off x="9363456" y="3017520"/>
            <a:ext cx="2331720" cy="3291840"/>
          </a:xfrm>
          <a:prstGeom prst="roundRect">
            <a:avLst>
              <a:gd name="adj" fmla="val 6000"/>
            </a:avLst>
          </a:prstGeom>
          <a:solidFill>
            <a:srgbClr val="123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step num 4"/>
          <p:cNvSpPr txBox="1"/>
          <p:nvPr/>
        </p:nvSpPr>
        <p:spPr>
          <a:xfrm>
            <a:off x="9454896" y="3108960"/>
            <a:ext cx="2148839" cy="457200"/>
          </a:xfrm>
          <a:prstGeom prst="rect">
            <a:avLst/>
          </a:prstGeom>
          <a:noFill/>
        </p:spPr>
        <p:txBody>
          <a:bodyPr wrap="square" lIns="73152" rIns="73152" tIns="36576" bIns="36576" anchor="t">
            <a:spAutoFit/>
          </a:bodyPr>
          <a:lstStyle/>
          <a:p>
            <a:pPr algn="l"/>
            <a:r>
              <a:rPr sz="2200" b="1">
                <a:solidFill>
                  <a:srgbClr val="00E4FF"/>
                </a:solidFill>
                <a:latin typeface="Tahoma"/>
              </a:rPr>
              <a:t>4</a:t>
            </a:r>
          </a:p>
        </p:txBody>
      </p:sp>
      <p:sp>
        <p:nvSpPr>
          <p:cNvPr id="40" name="step head 4"/>
          <p:cNvSpPr txBox="1"/>
          <p:nvPr/>
        </p:nvSpPr>
        <p:spPr>
          <a:xfrm>
            <a:off x="9454896" y="3611880"/>
            <a:ext cx="2148839" cy="685800"/>
          </a:xfrm>
          <a:prstGeom prst="rect">
            <a:avLst/>
          </a:prstGeom>
          <a:noFill/>
        </p:spPr>
        <p:txBody>
          <a:bodyPr wrap="square" lIns="73152" rIns="73152" tIns="36576" bIns="36576" anchor="t">
            <a:spAutoFit/>
          </a:bodyPr>
          <a:lstStyle/>
          <a:p>
            <a:pPr algn="l"/>
            <a:r>
              <a:rPr sz="1700" b="1">
                <a:solidFill>
                  <a:srgbClr val="FFFFFF"/>
                </a:solidFill>
                <a:latin typeface="Tahoma"/>
              </a:rPr>
              <a:t>Hour by hour</a:t>
            </a:r>
          </a:p>
        </p:txBody>
      </p:sp>
      <p:sp>
        <p:nvSpPr>
          <p:cNvPr id="41" name="step body 4"/>
          <p:cNvSpPr txBox="1"/>
          <p:nvPr/>
        </p:nvSpPr>
        <p:spPr>
          <a:xfrm>
            <a:off x="9454896" y="4297680"/>
            <a:ext cx="2148839" cy="1920240"/>
          </a:xfrm>
          <a:prstGeom prst="rect">
            <a:avLst/>
          </a:prstGeom>
          <a:noFill/>
        </p:spPr>
        <p:txBody>
          <a:bodyPr wrap="square" lIns="73152" rIns="73152" tIns="36576" bIns="36576" anchor="t">
            <a:spAutoFit/>
          </a:bodyPr>
          <a:lstStyle/>
          <a:p>
            <a:pPr algn="l"/>
            <a:r>
              <a:rPr sz="1250">
                <a:solidFill>
                  <a:srgbClr val="C9D6DF"/>
                </a:solidFill>
                <a:latin typeface="Tahoma"/>
              </a:rPr>
              <a:t>at every hour the model sees only what was known by then</a:t>
            </a:r>
          </a:p>
        </p:txBody>
      </p:sp>
      <p:sp>
        <p:nvSpPr>
          <p:cNvPr id="42" name="arrow 4"/>
          <p:cNvSpPr/>
          <p:nvPr/>
        </p:nvSpPr>
        <p:spPr>
          <a:xfrm>
            <a:off x="11750040" y="4434840"/>
            <a:ext cx="274320" cy="320040"/>
          </a:xfrm>
          <a:prstGeom prst="rightArrow">
            <a:avLst/>
          </a:prstGeom>
          <a:solidFill>
            <a:srgbClr val="00E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step 5"/>
          <p:cNvSpPr/>
          <p:nvPr/>
        </p:nvSpPr>
        <p:spPr>
          <a:xfrm>
            <a:off x="12079224" y="3017520"/>
            <a:ext cx="2331720" cy="3291840"/>
          </a:xfrm>
          <a:prstGeom prst="roundRect">
            <a:avLst>
              <a:gd name="adj" fmla="val 6000"/>
            </a:avLst>
          </a:prstGeom>
          <a:solidFill>
            <a:srgbClr val="0E2B33"/>
          </a:solidFill>
          <a:ln w="12700">
            <a:solidFill>
              <a:srgbClr val="00E4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step num 5"/>
          <p:cNvSpPr txBox="1"/>
          <p:nvPr/>
        </p:nvSpPr>
        <p:spPr>
          <a:xfrm>
            <a:off x="12170663" y="3108960"/>
            <a:ext cx="2148839" cy="457200"/>
          </a:xfrm>
          <a:prstGeom prst="rect">
            <a:avLst/>
          </a:prstGeom>
          <a:noFill/>
        </p:spPr>
        <p:txBody>
          <a:bodyPr wrap="square" lIns="73152" rIns="73152" tIns="36576" bIns="36576" anchor="t">
            <a:spAutoFit/>
          </a:bodyPr>
          <a:lstStyle/>
          <a:p>
            <a:pPr algn="l"/>
            <a:r>
              <a:rPr sz="2200" b="1">
                <a:solidFill>
                  <a:srgbClr val="00E4FF"/>
                </a:solidFill>
                <a:latin typeface="Tahoma"/>
              </a:rPr>
              <a:t>5</a:t>
            </a:r>
          </a:p>
        </p:txBody>
      </p:sp>
      <p:sp>
        <p:nvSpPr>
          <p:cNvPr id="45" name="step head 5"/>
          <p:cNvSpPr txBox="1"/>
          <p:nvPr/>
        </p:nvSpPr>
        <p:spPr>
          <a:xfrm>
            <a:off x="12170663" y="3611880"/>
            <a:ext cx="2148839" cy="685800"/>
          </a:xfrm>
          <a:prstGeom prst="rect">
            <a:avLst/>
          </a:prstGeom>
          <a:noFill/>
        </p:spPr>
        <p:txBody>
          <a:bodyPr wrap="square" lIns="73152" rIns="73152" tIns="36576" bIns="36576" anchor="t">
            <a:spAutoFit/>
          </a:bodyPr>
          <a:lstStyle/>
          <a:p>
            <a:pPr algn="l"/>
            <a:r>
              <a:rPr sz="1700" b="1">
                <a:solidFill>
                  <a:srgbClr val="FFFFFF"/>
                </a:solidFill>
                <a:latin typeface="Tahoma"/>
              </a:rPr>
              <a:t>Risk + reason</a:t>
            </a:r>
          </a:p>
        </p:txBody>
      </p:sp>
      <p:sp>
        <p:nvSpPr>
          <p:cNvPr id="46" name="step body 5"/>
          <p:cNvSpPr txBox="1"/>
          <p:nvPr/>
        </p:nvSpPr>
        <p:spPr>
          <a:xfrm>
            <a:off x="12170663" y="4297680"/>
            <a:ext cx="2148839" cy="1920240"/>
          </a:xfrm>
          <a:prstGeom prst="rect">
            <a:avLst/>
          </a:prstGeom>
          <a:noFill/>
        </p:spPr>
        <p:txBody>
          <a:bodyPr wrap="square" lIns="73152" rIns="73152" tIns="36576" bIns="36576" anchor="t">
            <a:spAutoFit/>
          </a:bodyPr>
          <a:lstStyle/>
          <a:p>
            <a:pPr algn="l"/>
            <a:r>
              <a:rPr sz="1250">
                <a:solidFill>
                  <a:srgbClr val="C9D6DF"/>
                </a:solidFill>
                <a:latin typeface="Tahoma"/>
              </a:rPr>
              <a:t>risk of sepsis in the next 6 hours, and which organ is driving it</a:t>
            </a:r>
          </a:p>
        </p:txBody>
      </p:sp>
      <p:sp>
        <p:nvSpPr>
          <p:cNvPr id="47" name="arrow 5"/>
          <p:cNvSpPr/>
          <p:nvPr/>
        </p:nvSpPr>
        <p:spPr>
          <a:xfrm>
            <a:off x="14465807" y="4434840"/>
            <a:ext cx="274320" cy="320040"/>
          </a:xfrm>
          <a:prstGeom prst="rightArrow">
            <a:avLst/>
          </a:prstGeom>
          <a:solidFill>
            <a:srgbClr val="00E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tep 6"/>
          <p:cNvSpPr/>
          <p:nvPr/>
        </p:nvSpPr>
        <p:spPr>
          <a:xfrm>
            <a:off x="14794992" y="3017520"/>
            <a:ext cx="2331720" cy="3291840"/>
          </a:xfrm>
          <a:prstGeom prst="roundRect">
            <a:avLst>
              <a:gd name="adj" fmla="val 6000"/>
            </a:avLst>
          </a:prstGeom>
          <a:solidFill>
            <a:srgbClr val="123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step num 6"/>
          <p:cNvSpPr txBox="1"/>
          <p:nvPr/>
        </p:nvSpPr>
        <p:spPr>
          <a:xfrm>
            <a:off x="14886432" y="3108960"/>
            <a:ext cx="2148839" cy="457200"/>
          </a:xfrm>
          <a:prstGeom prst="rect">
            <a:avLst/>
          </a:prstGeom>
          <a:noFill/>
        </p:spPr>
        <p:txBody>
          <a:bodyPr wrap="square" lIns="73152" rIns="73152" tIns="36576" bIns="36576" anchor="t">
            <a:spAutoFit/>
          </a:bodyPr>
          <a:lstStyle/>
          <a:p>
            <a:pPr algn="l"/>
            <a:r>
              <a:rPr sz="2200" b="1">
                <a:solidFill>
                  <a:srgbClr val="00E4FF"/>
                </a:solidFill>
                <a:latin typeface="Tahoma"/>
              </a:rPr>
              <a:t>6</a:t>
            </a:r>
          </a:p>
        </p:txBody>
      </p:sp>
      <p:sp>
        <p:nvSpPr>
          <p:cNvPr id="50" name="step head 6"/>
          <p:cNvSpPr txBox="1"/>
          <p:nvPr/>
        </p:nvSpPr>
        <p:spPr>
          <a:xfrm>
            <a:off x="14886432" y="3611880"/>
            <a:ext cx="2148839" cy="685800"/>
          </a:xfrm>
          <a:prstGeom prst="rect">
            <a:avLst/>
          </a:prstGeom>
          <a:noFill/>
        </p:spPr>
        <p:txBody>
          <a:bodyPr wrap="square" lIns="73152" rIns="73152" tIns="36576" bIns="36576" anchor="t">
            <a:spAutoFit/>
          </a:bodyPr>
          <a:lstStyle/>
          <a:p>
            <a:pPr algn="l"/>
            <a:r>
              <a:rPr sz="1700" b="1">
                <a:solidFill>
                  <a:srgbClr val="FFFFFF"/>
                </a:solidFill>
                <a:latin typeface="Tahoma"/>
              </a:rPr>
              <a:t>Alarm policy</a:t>
            </a:r>
          </a:p>
        </p:txBody>
      </p:sp>
      <p:sp>
        <p:nvSpPr>
          <p:cNvPr id="51" name="step body 6"/>
          <p:cNvSpPr txBox="1"/>
          <p:nvPr/>
        </p:nvSpPr>
        <p:spPr>
          <a:xfrm>
            <a:off x="14886432" y="4297680"/>
            <a:ext cx="2148839" cy="1920240"/>
          </a:xfrm>
          <a:prstGeom prst="rect">
            <a:avLst/>
          </a:prstGeom>
          <a:noFill/>
        </p:spPr>
        <p:txBody>
          <a:bodyPr wrap="square" lIns="73152" rIns="73152" tIns="36576" bIns="36576" anchor="t">
            <a:spAutoFit/>
          </a:bodyPr>
          <a:lstStyle/>
          <a:p>
            <a:pPr algn="l"/>
            <a:r>
              <a:rPr sz="1250">
                <a:solidFill>
                  <a:srgbClr val="C9D6DF"/>
                </a:solidFill>
                <a:latin typeface="Tahoma"/>
              </a:rPr>
              <a:t>the ward's alarm budget decides when a rising risk becomes a bell</a:t>
            </a:r>
          </a:p>
        </p:txBody>
      </p:sp>
      <p:sp>
        <p:nvSpPr>
          <p:cNvPr id="52" name="sees head"/>
          <p:cNvSpPr txBox="1"/>
          <p:nvPr/>
        </p:nvSpPr>
        <p:spPr>
          <a:xfrm>
            <a:off x="1216152" y="6766560"/>
            <a:ext cx="15819120" cy="502920"/>
          </a:xfrm>
          <a:prstGeom prst="rect">
            <a:avLst/>
          </a:prstGeom>
          <a:noFill/>
        </p:spPr>
        <p:txBody>
          <a:bodyPr wrap="square" lIns="73152" rIns="73152" tIns="36576" bIns="36576" anchor="t">
            <a:spAutoFit/>
          </a:bodyPr>
          <a:lstStyle/>
          <a:p>
            <a:pPr algn="l"/>
            <a:r>
              <a:rPr sz="1800" b="1">
                <a:solidFill>
                  <a:srgbClr val="FFFFFF"/>
                </a:solidFill>
                <a:latin typeface="Tahoma"/>
              </a:rPr>
              <a:t>What the clinician sees</a:t>
            </a:r>
          </a:p>
        </p:txBody>
      </p:sp>
      <p:sp>
        <p:nvSpPr>
          <p:cNvPr id="53" name="sees 1"/>
          <p:cNvSpPr txBox="1"/>
          <p:nvPr/>
        </p:nvSpPr>
        <p:spPr>
          <a:xfrm>
            <a:off x="1216152" y="7360920"/>
            <a:ext cx="4983480" cy="1645920"/>
          </a:xfrm>
          <a:prstGeom prst="rect">
            <a:avLst/>
          </a:prstGeom>
          <a:noFill/>
        </p:spPr>
        <p:txBody>
          <a:bodyPr wrap="square" lIns="73152" rIns="73152" tIns="36576" bIns="36576" anchor="t">
            <a:spAutoFit/>
          </a:bodyPr>
          <a:lstStyle/>
          <a:p>
            <a:pPr algn="l"/>
            <a:r>
              <a:rPr sz="1500" b="1">
                <a:solidFill>
                  <a:srgbClr val="00E4FF"/>
                </a:solidFill>
                <a:latin typeface="Tahoma"/>
              </a:rPr>
              <a:t>A risk trajectory</a:t>
            </a:r>
          </a:p>
          <a:p>
            <a:pPr algn="l"/>
            <a:r>
              <a:rPr sz="1300">
                <a:solidFill>
                  <a:srgbClr val="FFFFFF"/>
                </a:solidFill>
                <a:latin typeface="Tahoma"/>
              </a:rPr>
              <a:t>the patient's six-hour sepsis risk over the stay, not a single number</a:t>
            </a:r>
          </a:p>
        </p:txBody>
      </p:sp>
      <p:sp>
        <p:nvSpPr>
          <p:cNvPr id="54" name="sees 2"/>
          <p:cNvSpPr txBox="1"/>
          <p:nvPr/>
        </p:nvSpPr>
        <p:spPr>
          <a:xfrm>
            <a:off x="6565392" y="7360920"/>
            <a:ext cx="4983480" cy="1645920"/>
          </a:xfrm>
          <a:prstGeom prst="rect">
            <a:avLst/>
          </a:prstGeom>
          <a:noFill/>
        </p:spPr>
        <p:txBody>
          <a:bodyPr wrap="square" lIns="73152" rIns="73152" tIns="36576" bIns="36576" anchor="t">
            <a:spAutoFit/>
          </a:bodyPr>
          <a:lstStyle/>
          <a:p>
            <a:pPr algn="l"/>
            <a:r>
              <a:rPr sz="1500" b="1">
                <a:solidFill>
                  <a:srgbClr val="00E4FF"/>
                </a:solidFill>
                <a:latin typeface="Tahoma"/>
              </a:rPr>
              <a:t>An organ panel</a:t>
            </a:r>
          </a:p>
          <a:p>
            <a:pPr algn="l"/>
            <a:r>
              <a:rPr sz="1300">
                <a:solidFill>
                  <a:srgbClr val="FFFFFF"/>
                </a:solidFill>
                <a:latin typeface="Tahoma"/>
              </a:rPr>
              <a:t>kidneys, lungs, circulation, liver, clotting, brain: which one is moving</a:t>
            </a:r>
          </a:p>
        </p:txBody>
      </p:sp>
      <p:sp>
        <p:nvSpPr>
          <p:cNvPr id="55" name="sees 3"/>
          <p:cNvSpPr txBox="1"/>
          <p:nvPr/>
        </p:nvSpPr>
        <p:spPr>
          <a:xfrm>
            <a:off x="11914632" y="7360920"/>
            <a:ext cx="4983480" cy="1645920"/>
          </a:xfrm>
          <a:prstGeom prst="rect">
            <a:avLst/>
          </a:prstGeom>
          <a:noFill/>
        </p:spPr>
        <p:txBody>
          <a:bodyPr wrap="square" lIns="73152" rIns="73152" tIns="36576" bIns="36576" anchor="t">
            <a:spAutoFit/>
          </a:bodyPr>
          <a:lstStyle/>
          <a:p>
            <a:pPr algn="l"/>
            <a:r>
              <a:rPr sz="1500" b="1">
                <a:solidFill>
                  <a:srgbClr val="00E4FF"/>
                </a:solidFill>
                <a:latin typeface="Tahoma"/>
              </a:rPr>
              <a:t>An alarm that respects a budget</a:t>
            </a:r>
          </a:p>
          <a:p>
            <a:pPr algn="l"/>
            <a:r>
              <a:rPr sz="1300">
                <a:solidFill>
                  <a:srgbClr val="FFFFFF"/>
                </a:solidFill>
                <a:latin typeface="Tahoma"/>
              </a:rPr>
              <a:t>two hours of rising risk, no repeat for six hours, only when something new was charted</a:t>
            </a:r>
          </a:p>
        </p:txBody>
      </p:sp>
    </p:spTree>
    <p:extLst>
      <p:ext uri="{BB962C8B-B14F-4D97-AF65-F5344CB8AC3E}">
        <p14:creationId xmlns:p14="http://schemas.microsoft.com/office/powerpoint/2010/main" val="8611423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BBDD3-BD88-543D-E589-9A1DCA165FB4}"/>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0E286E7E-775C-A8DE-CBB8-F01999B64544}"/>
              </a:ext>
            </a:extLst>
          </p:cNvPr>
          <p:cNvGrpSpPr/>
          <p:nvPr/>
        </p:nvGrpSpPr>
        <p:grpSpPr>
          <a:xfrm>
            <a:off x="0" y="0"/>
            <a:ext cx="18287999" cy="10286999"/>
            <a:chOff x="0" y="0"/>
            <a:chExt cx="18287999" cy="10286999"/>
          </a:xfrm>
        </p:grpSpPr>
        <p:pic>
          <p:nvPicPr>
            <p:cNvPr id="3" name="object 3">
              <a:extLst>
                <a:ext uri="{FF2B5EF4-FFF2-40B4-BE49-F238E27FC236}">
                  <a16:creationId xmlns:a16="http://schemas.microsoft.com/office/drawing/2014/main" id="{1C2CC7C6-A10F-CC7A-F1ED-427DA5DA7E52}"/>
                </a:ext>
              </a:extLst>
            </p:cNvPr>
            <p:cNvPicPr/>
            <p:nvPr/>
          </p:nvPicPr>
          <p:blipFill>
            <a:blip r:embed="rId2" cstate="print"/>
            <a:stretch>
              <a:fillRect/>
            </a:stretch>
          </p:blipFill>
          <p:spPr>
            <a:xfrm>
              <a:off x="0" y="0"/>
              <a:ext cx="10465974" cy="10286999"/>
            </a:xfrm>
            <a:prstGeom prst="rect">
              <a:avLst/>
            </a:prstGeom>
          </p:spPr>
        </p:pic>
        <p:pic>
          <p:nvPicPr>
            <p:cNvPr id="4" name="object 4">
              <a:extLst>
                <a:ext uri="{FF2B5EF4-FFF2-40B4-BE49-F238E27FC236}">
                  <a16:creationId xmlns:a16="http://schemas.microsoft.com/office/drawing/2014/main" id="{C075EEE3-E7E2-6354-5918-E39DC28A3FD4}"/>
                </a:ext>
              </a:extLst>
            </p:cNvPr>
            <p:cNvPicPr/>
            <p:nvPr/>
          </p:nvPicPr>
          <p:blipFill>
            <a:blip r:embed="rId3" cstate="print"/>
            <a:stretch>
              <a:fillRect/>
            </a:stretch>
          </p:blipFill>
          <p:spPr>
            <a:xfrm>
              <a:off x="7620234" y="0"/>
              <a:ext cx="10667764" cy="10286999"/>
            </a:xfrm>
            <a:prstGeom prst="rect">
              <a:avLst/>
            </a:prstGeom>
          </p:spPr>
        </p:pic>
        <p:pic>
          <p:nvPicPr>
            <p:cNvPr id="5" name="object 5">
              <a:extLst>
                <a:ext uri="{FF2B5EF4-FFF2-40B4-BE49-F238E27FC236}">
                  <a16:creationId xmlns:a16="http://schemas.microsoft.com/office/drawing/2014/main" id="{A0CADA48-4ECA-FFDD-3E6A-7D3B0E3C6C98}"/>
                </a:ext>
              </a:extLst>
            </p:cNvPr>
            <p:cNvPicPr/>
            <p:nvPr/>
          </p:nvPicPr>
          <p:blipFill>
            <a:blip r:embed="rId4" cstate="print"/>
            <a:stretch>
              <a:fillRect/>
            </a:stretch>
          </p:blipFill>
          <p:spPr>
            <a:xfrm>
              <a:off x="0" y="5294312"/>
              <a:ext cx="18287999" cy="4992687"/>
            </a:xfrm>
            <a:prstGeom prst="rect">
              <a:avLst/>
            </a:prstGeom>
          </p:spPr>
        </p:pic>
      </p:grpSp>
      <p:grpSp>
        <p:nvGrpSpPr>
          <p:cNvPr id="13" name="object 13">
            <a:extLst>
              <a:ext uri="{FF2B5EF4-FFF2-40B4-BE49-F238E27FC236}">
                <a16:creationId xmlns:a16="http://schemas.microsoft.com/office/drawing/2014/main" id="{822EB941-6AD6-B70F-2968-0ABCB42D9C2F}"/>
              </a:ext>
            </a:extLst>
          </p:cNvPr>
          <p:cNvGrpSpPr/>
          <p:nvPr/>
        </p:nvGrpSpPr>
        <p:grpSpPr>
          <a:xfrm>
            <a:off x="668170" y="413794"/>
            <a:ext cx="16778605" cy="1170305"/>
            <a:chOff x="668170" y="413794"/>
            <a:chExt cx="16778605" cy="1170305"/>
          </a:xfrm>
        </p:grpSpPr>
        <p:pic>
          <p:nvPicPr>
            <p:cNvPr id="14" name="object 14">
              <a:extLst>
                <a:ext uri="{FF2B5EF4-FFF2-40B4-BE49-F238E27FC236}">
                  <a16:creationId xmlns:a16="http://schemas.microsoft.com/office/drawing/2014/main" id="{FEFE9340-7FC5-EC0C-CC35-C70CB89210B6}"/>
                </a:ext>
              </a:extLst>
            </p:cNvPr>
            <p:cNvPicPr/>
            <p:nvPr/>
          </p:nvPicPr>
          <p:blipFill>
            <a:blip r:embed="rId5" cstate="print"/>
            <a:stretch>
              <a:fillRect/>
            </a:stretch>
          </p:blipFill>
          <p:spPr>
            <a:xfrm>
              <a:off x="15156072" y="538094"/>
              <a:ext cx="2290164" cy="1040075"/>
            </a:xfrm>
            <a:prstGeom prst="rect">
              <a:avLst/>
            </a:prstGeom>
          </p:spPr>
        </p:pic>
        <p:pic>
          <p:nvPicPr>
            <p:cNvPr id="15" name="object 15">
              <a:extLst>
                <a:ext uri="{FF2B5EF4-FFF2-40B4-BE49-F238E27FC236}">
                  <a16:creationId xmlns:a16="http://schemas.microsoft.com/office/drawing/2014/main" id="{BF1D2176-2D9B-8175-ED41-7679B6731AC0}"/>
                </a:ext>
              </a:extLst>
            </p:cNvPr>
            <p:cNvPicPr/>
            <p:nvPr/>
          </p:nvPicPr>
          <p:blipFill>
            <a:blip r:embed="rId6" cstate="print"/>
            <a:stretch>
              <a:fillRect/>
            </a:stretch>
          </p:blipFill>
          <p:spPr>
            <a:xfrm>
              <a:off x="2506745" y="654022"/>
              <a:ext cx="440031" cy="660047"/>
            </a:xfrm>
            <a:prstGeom prst="rect">
              <a:avLst/>
            </a:prstGeom>
          </p:spPr>
        </p:pic>
        <p:pic>
          <p:nvPicPr>
            <p:cNvPr id="16" name="object 16">
              <a:extLst>
                <a:ext uri="{FF2B5EF4-FFF2-40B4-BE49-F238E27FC236}">
                  <a16:creationId xmlns:a16="http://schemas.microsoft.com/office/drawing/2014/main" id="{9CD9D661-E89A-4890-2771-9491237ED3D8}"/>
                </a:ext>
              </a:extLst>
            </p:cNvPr>
            <p:cNvPicPr/>
            <p:nvPr/>
          </p:nvPicPr>
          <p:blipFill>
            <a:blip r:embed="rId7" cstate="print"/>
            <a:stretch>
              <a:fillRect/>
            </a:stretch>
          </p:blipFill>
          <p:spPr>
            <a:xfrm>
              <a:off x="3177544" y="745879"/>
              <a:ext cx="990071" cy="550039"/>
            </a:xfrm>
            <a:prstGeom prst="rect">
              <a:avLst/>
            </a:prstGeom>
          </p:spPr>
        </p:pic>
        <p:sp>
          <p:nvSpPr>
            <p:cNvPr id="17" name="object 17">
              <a:extLst>
                <a:ext uri="{FF2B5EF4-FFF2-40B4-BE49-F238E27FC236}">
                  <a16:creationId xmlns:a16="http://schemas.microsoft.com/office/drawing/2014/main" id="{25BA63A8-B1A1-1300-94B1-5333BBA584AA}"/>
                </a:ext>
              </a:extLst>
            </p:cNvPr>
            <p:cNvSpPr/>
            <p:nvPr/>
          </p:nvSpPr>
          <p:spPr>
            <a:xfrm>
              <a:off x="2359271" y="547749"/>
              <a:ext cx="6350" cy="872490"/>
            </a:xfrm>
            <a:custGeom>
              <a:avLst/>
              <a:gdLst/>
              <a:ahLst/>
              <a:cxnLst/>
              <a:rect l="l" t="t" r="r" b="b"/>
              <a:pathLst>
                <a:path w="6350" h="872490">
                  <a:moveTo>
                    <a:pt x="5864" y="0"/>
                  </a:moveTo>
                  <a:lnTo>
                    <a:pt x="0" y="872474"/>
                  </a:lnTo>
                </a:path>
              </a:pathLst>
            </a:custGeom>
            <a:ln w="20001">
              <a:solidFill>
                <a:srgbClr val="FEFFFF"/>
              </a:solidFill>
            </a:ln>
          </p:spPr>
          <p:txBody>
            <a:bodyPr wrap="square" lIns="0" tIns="0" rIns="0" bIns="0" rtlCol="0"/>
            <a:lstStyle/>
            <a:p>
              <a:endParaRPr/>
            </a:p>
          </p:txBody>
        </p:sp>
        <p:pic>
          <p:nvPicPr>
            <p:cNvPr id="18" name="object 18">
              <a:extLst>
                <a:ext uri="{FF2B5EF4-FFF2-40B4-BE49-F238E27FC236}">
                  <a16:creationId xmlns:a16="http://schemas.microsoft.com/office/drawing/2014/main" id="{A1D3C0DA-E439-2ABB-FDE8-FFB5523F9072}"/>
                </a:ext>
              </a:extLst>
            </p:cNvPr>
            <p:cNvPicPr/>
            <p:nvPr/>
          </p:nvPicPr>
          <p:blipFill>
            <a:blip r:embed="rId8" cstate="print"/>
            <a:stretch>
              <a:fillRect/>
            </a:stretch>
          </p:blipFill>
          <p:spPr>
            <a:xfrm>
              <a:off x="668170" y="413794"/>
              <a:ext cx="1550111" cy="1170084"/>
            </a:xfrm>
            <a:prstGeom prst="rect">
              <a:avLst/>
            </a:prstGeom>
          </p:spPr>
        </p:pic>
      </p:grpSp>
      <p:sp>
        <p:nvSpPr>
          <p:cNvPr id="21" name="object 10">
            <a:extLst>
              <a:ext uri="{FF2B5EF4-FFF2-40B4-BE49-F238E27FC236}">
                <a16:creationId xmlns:a16="http://schemas.microsoft.com/office/drawing/2014/main" id="{372EE99E-3F28-9FE8-8BB4-1BDACA07B901}"/>
              </a:ext>
            </a:extLst>
          </p:cNvPr>
          <p:cNvSpPr txBox="1">
            <a:spLocks noGrp="1"/>
          </p:cNvSpPr>
          <p:nvPr>
            <p:ph type="sldNum" sz="quarter" idx="7"/>
          </p:nvPr>
        </p:nvSpPr>
        <p:spPr>
          <a:xfrm>
            <a:off x="14996159" y="9079503"/>
            <a:ext cx="2560320" cy="367408"/>
          </a:xfrm>
          <a:prstGeom prst="rect">
            <a:avLst/>
          </a:prstGeom>
        </p:spPr>
        <p:txBody>
          <a:bodyPr vert="horz" wrap="square" lIns="0" tIns="5715" rIns="0" bIns="0" rtlCol="0">
            <a:spAutoFit/>
          </a:bodyPr>
          <a:lstStyle/>
          <a:p>
            <a:pPr marL="12700">
              <a:lnSpc>
                <a:spcPct val="100000"/>
              </a:lnSpc>
              <a:spcBef>
                <a:spcPts val="45"/>
              </a:spcBef>
            </a:pPr>
            <a:r>
              <a:rPr spc="-20" dirty="0"/>
              <a:t>M</a:t>
            </a:r>
            <a:r>
              <a:rPr spc="-15" dirty="0"/>
              <a:t>E</a:t>
            </a:r>
            <a:r>
              <a:rPr spc="-135" dirty="0"/>
              <a:t>D</a:t>
            </a:r>
            <a:r>
              <a:rPr spc="-220" dirty="0"/>
              <a:t>A</a:t>
            </a:r>
            <a:r>
              <a:rPr spc="-15" dirty="0"/>
              <a:t>T</a:t>
            </a:r>
            <a:r>
              <a:rPr spc="-25" dirty="0"/>
              <a:t>H</a:t>
            </a:r>
            <a:r>
              <a:rPr spc="-20" dirty="0"/>
              <a:t>O</a:t>
            </a:r>
            <a:r>
              <a:rPr spc="-830" dirty="0"/>
              <a:t>N</a:t>
            </a:r>
            <a:endParaRPr sz="3000" baseline="-25000" dirty="0">
              <a:latin typeface="Lucida Sans Unicode"/>
              <a:cs typeface="Lucida Sans Unicode"/>
            </a:endParaRPr>
          </a:p>
        </p:txBody>
      </p:sp>
      <p:sp>
        <p:nvSpPr>
          <p:cNvPr id="22" name="title"/>
          <p:cNvSpPr txBox="1"/>
          <p:nvPr/>
        </p:nvSpPr>
        <p:spPr>
          <a:xfrm>
            <a:off x="1216152" y="1600200"/>
            <a:ext cx="12801600" cy="914400"/>
          </a:xfrm>
          <a:prstGeom prst="rect">
            <a:avLst/>
          </a:prstGeom>
          <a:noFill/>
        </p:spPr>
        <p:txBody>
          <a:bodyPr wrap="square" lIns="73152" rIns="73152" tIns="36576" bIns="36576" anchor="t">
            <a:spAutoFit/>
          </a:bodyPr>
          <a:lstStyle/>
          <a:p>
            <a:pPr algn="l"/>
            <a:r>
              <a:rPr sz="4000" b="1">
                <a:solidFill>
                  <a:srgbClr val="FFFFFF"/>
                </a:solidFill>
                <a:latin typeface="Tahoma"/>
              </a:rPr>
              <a:t>Prototype plan, feasibility and risks</a:t>
            </a:r>
          </a:p>
        </p:txBody>
      </p:sp>
      <p:sp>
        <p:nvSpPr>
          <p:cNvPr id="23" name="prototype card"/>
          <p:cNvSpPr/>
          <p:nvPr/>
        </p:nvSpPr>
        <p:spPr>
          <a:xfrm>
            <a:off x="1216152" y="2834640"/>
            <a:ext cx="7863840" cy="6126480"/>
          </a:xfrm>
          <a:prstGeom prst="roundRect">
            <a:avLst>
              <a:gd name="adj" fmla="val 6000"/>
            </a:avLst>
          </a:prstGeom>
          <a:solidFill>
            <a:srgbClr val="123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proto head"/>
          <p:cNvSpPr txBox="1"/>
          <p:nvPr/>
        </p:nvSpPr>
        <p:spPr>
          <a:xfrm>
            <a:off x="1417320" y="2926080"/>
            <a:ext cx="7498079" cy="548640"/>
          </a:xfrm>
          <a:prstGeom prst="rect">
            <a:avLst/>
          </a:prstGeom>
          <a:noFill/>
        </p:spPr>
        <p:txBody>
          <a:bodyPr wrap="square" lIns="73152" rIns="73152" tIns="36576" bIns="36576" anchor="t">
            <a:spAutoFit/>
          </a:bodyPr>
          <a:lstStyle/>
          <a:p>
            <a:pPr algn="l"/>
            <a:r>
              <a:rPr sz="1900" b="1">
                <a:solidFill>
                  <a:srgbClr val="00E4FF"/>
                </a:solidFill>
                <a:latin typeface="Tahoma"/>
              </a:rPr>
              <a:t>What we build in the two-week sprint</a:t>
            </a:r>
          </a:p>
        </p:txBody>
      </p:sp>
      <p:sp>
        <p:nvSpPr>
          <p:cNvPr id="25" name="proto label 1"/>
          <p:cNvSpPr txBox="1"/>
          <p:nvPr/>
        </p:nvSpPr>
        <p:spPr>
          <a:xfrm>
            <a:off x="1417320" y="3566160"/>
            <a:ext cx="1371600" cy="1188720"/>
          </a:xfrm>
          <a:prstGeom prst="rect">
            <a:avLst/>
          </a:prstGeom>
          <a:noFill/>
        </p:spPr>
        <p:txBody>
          <a:bodyPr wrap="square" lIns="73152" rIns="73152" tIns="36576" bIns="36576" anchor="t">
            <a:spAutoFit/>
          </a:bodyPr>
          <a:lstStyle/>
          <a:p>
            <a:pPr algn="l"/>
            <a:r>
              <a:rPr sz="1400" b="1">
                <a:solidFill>
                  <a:srgbClr val="00E4FF"/>
                </a:solidFill>
                <a:latin typeface="Tahoma"/>
              </a:rPr>
              <a:t>Data</a:t>
            </a:r>
          </a:p>
        </p:txBody>
      </p:sp>
      <p:sp>
        <p:nvSpPr>
          <p:cNvPr id="26" name="proto text 1"/>
          <p:cNvSpPr txBox="1"/>
          <p:nvPr/>
        </p:nvSpPr>
        <p:spPr>
          <a:xfrm>
            <a:off x="2743200" y="3566160"/>
            <a:ext cx="6172200" cy="1188720"/>
          </a:xfrm>
          <a:prstGeom prst="rect">
            <a:avLst/>
          </a:prstGeom>
          <a:noFill/>
        </p:spPr>
        <p:txBody>
          <a:bodyPr wrap="square" lIns="73152" rIns="73152" tIns="36576" bIns="36576" anchor="t">
            <a:spAutoFit/>
          </a:bodyPr>
          <a:lstStyle/>
          <a:p>
            <a:pPr algn="l"/>
            <a:r>
              <a:rPr sz="1250">
                <a:solidFill>
                  <a:srgbClr val="FFFFFF"/>
                </a:solidFill>
                <a:latin typeface="Tahoma"/>
              </a:rPr>
              <a:t>The open PhysioNet 2019 Sepsis Challenge set: 40,336 ICU patients from two US hospitals, hourly vitals and labs, free for research. No patient data of our own is needed.</a:t>
            </a:r>
          </a:p>
        </p:txBody>
      </p:sp>
      <p:sp>
        <p:nvSpPr>
          <p:cNvPr id="27" name="proto label 2"/>
          <p:cNvSpPr txBox="1"/>
          <p:nvPr/>
        </p:nvSpPr>
        <p:spPr>
          <a:xfrm>
            <a:off x="1417320" y="4864608"/>
            <a:ext cx="1371600" cy="1188720"/>
          </a:xfrm>
          <a:prstGeom prst="rect">
            <a:avLst/>
          </a:prstGeom>
          <a:noFill/>
        </p:spPr>
        <p:txBody>
          <a:bodyPr wrap="square" lIns="73152" rIns="73152" tIns="36576" bIns="36576" anchor="t">
            <a:spAutoFit/>
          </a:bodyPr>
          <a:lstStyle/>
          <a:p>
            <a:pPr algn="l"/>
            <a:r>
              <a:rPr sz="1400" b="1">
                <a:solidFill>
                  <a:srgbClr val="00E4FF"/>
                </a:solidFill>
                <a:latin typeface="Tahoma"/>
              </a:rPr>
              <a:t>Model</a:t>
            </a:r>
          </a:p>
        </p:txBody>
      </p:sp>
      <p:sp>
        <p:nvSpPr>
          <p:cNvPr id="28" name="proto text 2"/>
          <p:cNvSpPr txBox="1"/>
          <p:nvPr/>
        </p:nvSpPr>
        <p:spPr>
          <a:xfrm>
            <a:off x="2743200" y="4864608"/>
            <a:ext cx="6172200" cy="1188720"/>
          </a:xfrm>
          <a:prstGeom prst="rect">
            <a:avLst/>
          </a:prstGeom>
          <a:noFill/>
        </p:spPr>
        <p:txBody>
          <a:bodyPr wrap="square" lIns="73152" rIns="73152" tIns="36576" bIns="36576" anchor="t">
            <a:spAutoFit/>
          </a:bodyPr>
          <a:lstStyle/>
          <a:p>
            <a:pPr algn="l"/>
            <a:r>
              <a:rPr sz="1250">
                <a:solidFill>
                  <a:srgbClr val="FFFFFF"/>
                </a:solidFill>
                <a:latin typeface="Tahoma"/>
              </a:rPr>
              <a:t>A simple hour-by-hour model (logistic regression or gradient-boosted trees) in Google Colab, trained with the strict rule that each hour sees only earlier hours.</a:t>
            </a:r>
          </a:p>
        </p:txBody>
      </p:sp>
      <p:sp>
        <p:nvSpPr>
          <p:cNvPr id="29" name="proto label 3"/>
          <p:cNvSpPr txBox="1"/>
          <p:nvPr/>
        </p:nvSpPr>
        <p:spPr>
          <a:xfrm>
            <a:off x="1417320" y="6163056"/>
            <a:ext cx="1371600" cy="1188720"/>
          </a:xfrm>
          <a:prstGeom prst="rect">
            <a:avLst/>
          </a:prstGeom>
          <a:noFill/>
        </p:spPr>
        <p:txBody>
          <a:bodyPr wrap="square" lIns="73152" rIns="73152" tIns="36576" bIns="36576" anchor="t">
            <a:spAutoFit/>
          </a:bodyPr>
          <a:lstStyle/>
          <a:p>
            <a:pPr algn="l"/>
            <a:r>
              <a:rPr sz="1400" b="1">
                <a:solidFill>
                  <a:srgbClr val="00E4FF"/>
                </a:solidFill>
                <a:latin typeface="Tahoma"/>
              </a:rPr>
              <a:t>Score</a:t>
            </a:r>
          </a:p>
        </p:txBody>
      </p:sp>
      <p:sp>
        <p:nvSpPr>
          <p:cNvPr id="30" name="proto text 3"/>
          <p:cNvSpPr txBox="1"/>
          <p:nvPr/>
        </p:nvSpPr>
        <p:spPr>
          <a:xfrm>
            <a:off x="2743200" y="6163056"/>
            <a:ext cx="6172200" cy="1188720"/>
          </a:xfrm>
          <a:prstGeom prst="rect">
            <a:avLst/>
          </a:prstGeom>
          <a:noFill/>
        </p:spPr>
        <p:txBody>
          <a:bodyPr wrap="square" lIns="73152" rIns="73152" tIns="36576" bIns="36576" anchor="t">
            <a:spAutoFit/>
          </a:bodyPr>
          <a:lstStyle/>
          <a:p>
            <a:pPr algn="l"/>
            <a:r>
              <a:rPr sz="1250">
                <a:solidFill>
                  <a:srgbClr val="FFFFFF"/>
                </a:solidFill>
                <a:latin typeface="Tahoma"/>
              </a:rPr>
              <a:t>The challenge's published utility score: reward for warnings up to 12 h early, a cost for each false alarm, a penalty for each missed patient.</a:t>
            </a:r>
          </a:p>
        </p:txBody>
      </p:sp>
      <p:sp>
        <p:nvSpPr>
          <p:cNvPr id="31" name="proto label 4"/>
          <p:cNvSpPr txBox="1"/>
          <p:nvPr/>
        </p:nvSpPr>
        <p:spPr>
          <a:xfrm>
            <a:off x="1417320" y="7461504"/>
            <a:ext cx="1371600" cy="1188720"/>
          </a:xfrm>
          <a:prstGeom prst="rect">
            <a:avLst/>
          </a:prstGeom>
          <a:noFill/>
        </p:spPr>
        <p:txBody>
          <a:bodyPr wrap="square" lIns="73152" rIns="73152" tIns="36576" bIns="36576" anchor="t">
            <a:spAutoFit/>
          </a:bodyPr>
          <a:lstStyle/>
          <a:p>
            <a:pPr algn="l"/>
            <a:r>
              <a:rPr sz="1400" b="1">
                <a:solidFill>
                  <a:srgbClr val="00E4FF"/>
                </a:solidFill>
                <a:latin typeface="Tahoma"/>
              </a:rPr>
              <a:t>Screen</a:t>
            </a:r>
          </a:p>
        </p:txBody>
      </p:sp>
      <p:sp>
        <p:nvSpPr>
          <p:cNvPr id="32" name="proto text 4"/>
          <p:cNvSpPr txBox="1"/>
          <p:nvPr/>
        </p:nvSpPr>
        <p:spPr>
          <a:xfrm>
            <a:off x="2743200" y="7461504"/>
            <a:ext cx="6172200" cy="1188720"/>
          </a:xfrm>
          <a:prstGeom prst="rect">
            <a:avLst/>
          </a:prstGeom>
          <a:noFill/>
        </p:spPr>
        <p:txBody>
          <a:bodyPr wrap="square" lIns="73152" rIns="73152" tIns="36576" bIns="36576" anchor="t">
            <a:spAutoFit/>
          </a:bodyPr>
          <a:lstStyle/>
          <a:p>
            <a:pPr algn="l"/>
            <a:r>
              <a:rPr sz="1250">
                <a:solidFill>
                  <a:srgbClr val="FFFFFF"/>
                </a:solidFill>
                <a:latin typeface="Tahoma"/>
              </a:rPr>
              <a:t>A Figma dashboard: risk trajectory, organ panel, alarm-budget slider. Tested with five clinicians using Google Forms feedback.</a:t>
            </a:r>
          </a:p>
        </p:txBody>
      </p:sp>
      <p:sp>
        <p:nvSpPr>
          <p:cNvPr id="33" name="risk card"/>
          <p:cNvSpPr/>
          <p:nvPr/>
        </p:nvSpPr>
        <p:spPr>
          <a:xfrm>
            <a:off x="9509760" y="2834640"/>
            <a:ext cx="7543800" cy="6126480"/>
          </a:xfrm>
          <a:prstGeom prst="roundRect">
            <a:avLst>
              <a:gd name="adj" fmla="val 6000"/>
            </a:avLst>
          </a:prstGeom>
          <a:solidFill>
            <a:srgbClr val="0E2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isk head"/>
          <p:cNvSpPr txBox="1"/>
          <p:nvPr/>
        </p:nvSpPr>
        <p:spPr>
          <a:xfrm>
            <a:off x="9692640" y="2926080"/>
            <a:ext cx="7223760" cy="548640"/>
          </a:xfrm>
          <a:prstGeom prst="rect">
            <a:avLst/>
          </a:prstGeom>
          <a:noFill/>
        </p:spPr>
        <p:txBody>
          <a:bodyPr wrap="square" lIns="73152" rIns="73152" tIns="36576" bIns="36576" anchor="t">
            <a:spAutoFit/>
          </a:bodyPr>
          <a:lstStyle/>
          <a:p>
            <a:pPr algn="l"/>
            <a:r>
              <a:rPr sz="1900" b="1">
                <a:solidFill>
                  <a:srgbClr val="00E4FF"/>
                </a:solidFill>
                <a:latin typeface="Tahoma"/>
              </a:rPr>
              <a:t>Risks we already know about</a:t>
            </a:r>
          </a:p>
        </p:txBody>
      </p:sp>
      <p:sp>
        <p:nvSpPr>
          <p:cNvPr id="35" name="risk label 1"/>
          <p:cNvSpPr txBox="1"/>
          <p:nvPr/>
        </p:nvSpPr>
        <p:spPr>
          <a:xfrm>
            <a:off x="9692640" y="3566160"/>
            <a:ext cx="2377440" cy="1005840"/>
          </a:xfrm>
          <a:prstGeom prst="rect">
            <a:avLst/>
          </a:prstGeom>
          <a:noFill/>
        </p:spPr>
        <p:txBody>
          <a:bodyPr wrap="square" lIns="73152" rIns="73152" tIns="36576" bIns="36576" anchor="t">
            <a:spAutoFit/>
          </a:bodyPr>
          <a:lstStyle/>
          <a:p>
            <a:pPr algn="l"/>
            <a:r>
              <a:rPr sz="1350" b="1">
                <a:solidFill>
                  <a:srgbClr val="00E4FF"/>
                </a:solidFill>
                <a:latin typeface="Tahoma"/>
              </a:rPr>
              <a:t>Alert fatigue</a:t>
            </a:r>
          </a:p>
        </p:txBody>
      </p:sp>
      <p:sp>
        <p:nvSpPr>
          <p:cNvPr id="36" name="risk text 1"/>
          <p:cNvSpPr txBox="1"/>
          <p:nvPr/>
        </p:nvSpPr>
        <p:spPr>
          <a:xfrm>
            <a:off x="11978640" y="3566160"/>
            <a:ext cx="4937760" cy="1005840"/>
          </a:xfrm>
          <a:prstGeom prst="rect">
            <a:avLst/>
          </a:prstGeom>
          <a:noFill/>
        </p:spPr>
        <p:txBody>
          <a:bodyPr wrap="square" lIns="73152" rIns="73152" tIns="36576" bIns="36576" anchor="t">
            <a:spAutoFit/>
          </a:bodyPr>
          <a:lstStyle/>
          <a:p>
            <a:pPr algn="l"/>
            <a:r>
              <a:rPr sz="1200">
                <a:solidFill>
                  <a:srgbClr val="FFFFFF"/>
                </a:solidFill>
                <a:latin typeface="Tahoma"/>
              </a:rPr>
              <a:t>a budget of false alarms per patient-day, set with clinicians, is part of the design</a:t>
            </a:r>
          </a:p>
        </p:txBody>
      </p:sp>
      <p:sp>
        <p:nvSpPr>
          <p:cNvPr id="37" name="risk label 2"/>
          <p:cNvSpPr txBox="1"/>
          <p:nvPr/>
        </p:nvSpPr>
        <p:spPr>
          <a:xfrm>
            <a:off x="9692640" y="4608576"/>
            <a:ext cx="2377440" cy="1005840"/>
          </a:xfrm>
          <a:prstGeom prst="rect">
            <a:avLst/>
          </a:prstGeom>
          <a:noFill/>
        </p:spPr>
        <p:txBody>
          <a:bodyPr wrap="square" lIns="73152" rIns="73152" tIns="36576" bIns="36576" anchor="t">
            <a:spAutoFit/>
          </a:bodyPr>
          <a:lstStyle/>
          <a:p>
            <a:pPr algn="l"/>
            <a:r>
              <a:rPr sz="1350" b="1">
                <a:solidFill>
                  <a:srgbClr val="00E4FF"/>
                </a:solidFill>
                <a:latin typeface="Tahoma"/>
              </a:rPr>
              <a:t>Information from the future</a:t>
            </a:r>
          </a:p>
        </p:txBody>
      </p:sp>
      <p:sp>
        <p:nvSpPr>
          <p:cNvPr id="38" name="risk text 2"/>
          <p:cNvSpPr txBox="1"/>
          <p:nvPr/>
        </p:nvSpPr>
        <p:spPr>
          <a:xfrm>
            <a:off x="11978640" y="4608576"/>
            <a:ext cx="4937760" cy="1005840"/>
          </a:xfrm>
          <a:prstGeom prst="rect">
            <a:avLst/>
          </a:prstGeom>
          <a:noFill/>
        </p:spPr>
        <p:txBody>
          <a:bodyPr wrap="square" lIns="73152" rIns="73152" tIns="36576" bIns="36576" anchor="t">
            <a:spAutoFit/>
          </a:bodyPr>
          <a:lstStyle/>
          <a:p>
            <a:pPr algn="l"/>
            <a:r>
              <a:rPr sz="1200">
                <a:solidFill>
                  <a:srgbClr val="FFFFFF"/>
                </a:solidFill>
                <a:latin typeface="Tahoma"/>
              </a:rPr>
              <a:t>every input is time-stamped by when it became available; we test the model with that rule enforced</a:t>
            </a:r>
          </a:p>
        </p:txBody>
      </p:sp>
      <p:sp>
        <p:nvSpPr>
          <p:cNvPr id="39" name="risk label 3"/>
          <p:cNvSpPr txBox="1"/>
          <p:nvPr/>
        </p:nvSpPr>
        <p:spPr>
          <a:xfrm>
            <a:off x="9692640" y="5650992"/>
            <a:ext cx="2377440" cy="1005840"/>
          </a:xfrm>
          <a:prstGeom prst="rect">
            <a:avLst/>
          </a:prstGeom>
          <a:noFill/>
        </p:spPr>
        <p:txBody>
          <a:bodyPr wrap="square" lIns="73152" rIns="73152" tIns="36576" bIns="36576" anchor="t">
            <a:spAutoFit/>
          </a:bodyPr>
          <a:lstStyle/>
          <a:p>
            <a:pPr algn="l"/>
            <a:r>
              <a:rPr sz="1350" b="1">
                <a:solidFill>
                  <a:srgbClr val="00E4FF"/>
                </a:solidFill>
                <a:latin typeface="Tahoma"/>
              </a:rPr>
              <a:t>Does not transfer</a:t>
            </a:r>
          </a:p>
        </p:txBody>
      </p:sp>
      <p:sp>
        <p:nvSpPr>
          <p:cNvPr id="40" name="risk text 3"/>
          <p:cNvSpPr txBox="1"/>
          <p:nvPr/>
        </p:nvSpPr>
        <p:spPr>
          <a:xfrm>
            <a:off x="11978640" y="5650992"/>
            <a:ext cx="4937760" cy="1005840"/>
          </a:xfrm>
          <a:prstGeom prst="rect">
            <a:avLst/>
          </a:prstGeom>
          <a:noFill/>
        </p:spPr>
        <p:txBody>
          <a:bodyPr wrap="square" lIns="73152" rIns="73152" tIns="36576" bIns="36576" anchor="t">
            <a:spAutoFit/>
          </a:bodyPr>
          <a:lstStyle/>
          <a:p>
            <a:pPr algn="l"/>
            <a:r>
              <a:rPr sz="1200">
                <a:solidFill>
                  <a:srgbClr val="FFFFFF"/>
                </a:solidFill>
                <a:latin typeface="Tahoma"/>
              </a:rPr>
              <a:t>the challenge set has two hospitals; we train on one and test on the other before we claim anything</a:t>
            </a:r>
          </a:p>
        </p:txBody>
      </p:sp>
      <p:sp>
        <p:nvSpPr>
          <p:cNvPr id="41" name="risk label 4"/>
          <p:cNvSpPr txBox="1"/>
          <p:nvPr/>
        </p:nvSpPr>
        <p:spPr>
          <a:xfrm>
            <a:off x="9692640" y="6693408"/>
            <a:ext cx="2377440" cy="1005840"/>
          </a:xfrm>
          <a:prstGeom prst="rect">
            <a:avLst/>
          </a:prstGeom>
          <a:noFill/>
        </p:spPr>
        <p:txBody>
          <a:bodyPr wrap="square" lIns="73152" rIns="73152" tIns="36576" bIns="36576" anchor="t">
            <a:spAutoFit/>
          </a:bodyPr>
          <a:lstStyle/>
          <a:p>
            <a:pPr algn="l"/>
            <a:r>
              <a:rPr sz="1350" b="1">
                <a:solidFill>
                  <a:srgbClr val="00E4FF"/>
                </a:solidFill>
                <a:latin typeface="Tahoma"/>
              </a:rPr>
              <a:t>Privacy and regulation</a:t>
            </a:r>
          </a:p>
        </p:txBody>
      </p:sp>
      <p:sp>
        <p:nvSpPr>
          <p:cNvPr id="42" name="risk text 4"/>
          <p:cNvSpPr txBox="1"/>
          <p:nvPr/>
        </p:nvSpPr>
        <p:spPr>
          <a:xfrm>
            <a:off x="11978640" y="6693408"/>
            <a:ext cx="4937760" cy="1005840"/>
          </a:xfrm>
          <a:prstGeom prst="rect">
            <a:avLst/>
          </a:prstGeom>
          <a:noFill/>
        </p:spPr>
        <p:txBody>
          <a:bodyPr wrap="square" lIns="73152" rIns="73152" tIns="36576" bIns="36576" anchor="t">
            <a:spAutoFit/>
          </a:bodyPr>
          <a:lstStyle/>
          <a:p>
            <a:pPr algn="l"/>
            <a:r>
              <a:rPr sz="1200">
                <a:solidFill>
                  <a:srgbClr val="FFFFFF"/>
                </a:solidFill>
                <a:latin typeface="Tahoma"/>
              </a:rPr>
              <a:t>open de-identified data only; a deployed version would be software as a medical device under SFDA rules</a:t>
            </a:r>
          </a:p>
        </p:txBody>
      </p:sp>
      <p:sp>
        <p:nvSpPr>
          <p:cNvPr id="43" name="risk label 5"/>
          <p:cNvSpPr txBox="1"/>
          <p:nvPr/>
        </p:nvSpPr>
        <p:spPr>
          <a:xfrm>
            <a:off x="9692640" y="7735823"/>
            <a:ext cx="2377440" cy="1005840"/>
          </a:xfrm>
          <a:prstGeom prst="rect">
            <a:avLst/>
          </a:prstGeom>
          <a:noFill/>
        </p:spPr>
        <p:txBody>
          <a:bodyPr wrap="square" lIns="73152" rIns="73152" tIns="36576" bIns="36576" anchor="t">
            <a:spAutoFit/>
          </a:bodyPr>
          <a:lstStyle/>
          <a:p>
            <a:pPr algn="l"/>
            <a:r>
              <a:rPr sz="1350" b="1">
                <a:solidFill>
                  <a:srgbClr val="00E4FF"/>
                </a:solidFill>
                <a:latin typeface="Tahoma"/>
              </a:rPr>
              <a:t>Clinician trust</a:t>
            </a:r>
          </a:p>
        </p:txBody>
      </p:sp>
      <p:sp>
        <p:nvSpPr>
          <p:cNvPr id="44" name="risk text 5"/>
          <p:cNvSpPr txBox="1"/>
          <p:nvPr/>
        </p:nvSpPr>
        <p:spPr>
          <a:xfrm>
            <a:off x="11978640" y="7735823"/>
            <a:ext cx="4937760" cy="1005840"/>
          </a:xfrm>
          <a:prstGeom prst="rect">
            <a:avLst/>
          </a:prstGeom>
          <a:noFill/>
        </p:spPr>
        <p:txBody>
          <a:bodyPr wrap="square" lIns="73152" rIns="73152" tIns="36576" bIns="36576" anchor="t">
            <a:spAutoFit/>
          </a:bodyPr>
          <a:lstStyle/>
          <a:p>
            <a:pPr algn="l"/>
            <a:r>
              <a:rPr sz="1200">
                <a:solidFill>
                  <a:srgbClr val="FFFFFF"/>
                </a:solidFill>
                <a:latin typeface="Tahoma"/>
              </a:rPr>
              <a:t>a reason per organ and a tunable budget, tested with clinicians before any pilot</a:t>
            </a:r>
          </a:p>
        </p:txBody>
      </p:sp>
    </p:spTree>
    <p:extLst>
      <p:ext uri="{BB962C8B-B14F-4D97-AF65-F5344CB8AC3E}">
        <p14:creationId xmlns:p14="http://schemas.microsoft.com/office/powerpoint/2010/main" val="8611423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8288000" cy="10287000"/>
            <a:chOff x="0" y="0"/>
            <a:chExt cx="18288000" cy="10287000"/>
          </a:xfrm>
        </p:grpSpPr>
        <p:pic>
          <p:nvPicPr>
            <p:cNvPr id="3" name="object 3"/>
            <p:cNvPicPr/>
            <p:nvPr/>
          </p:nvPicPr>
          <p:blipFill>
            <a:blip r:embed="rId2" cstate="print"/>
            <a:stretch>
              <a:fillRect/>
            </a:stretch>
          </p:blipFill>
          <p:spPr>
            <a:xfrm>
              <a:off x="0" y="0"/>
              <a:ext cx="4114799" cy="10286999"/>
            </a:xfrm>
            <a:prstGeom prst="rect">
              <a:avLst/>
            </a:prstGeom>
          </p:spPr>
        </p:pic>
        <p:sp>
          <p:nvSpPr>
            <p:cNvPr id="4" name="object 4"/>
            <p:cNvSpPr/>
            <p:nvPr/>
          </p:nvSpPr>
          <p:spPr>
            <a:xfrm>
              <a:off x="1234623" y="3373851"/>
              <a:ext cx="7286625" cy="892810"/>
            </a:xfrm>
            <a:custGeom>
              <a:avLst/>
              <a:gdLst/>
              <a:ahLst/>
              <a:cxnLst/>
              <a:rect l="l" t="t" r="r" b="b"/>
              <a:pathLst>
                <a:path w="7286625" h="892810">
                  <a:moveTo>
                    <a:pt x="7057605" y="892471"/>
                  </a:moveTo>
                  <a:lnTo>
                    <a:pt x="228599" y="892471"/>
                  </a:lnTo>
                  <a:lnTo>
                    <a:pt x="183794" y="888038"/>
                  </a:lnTo>
                  <a:lnTo>
                    <a:pt x="141118" y="875070"/>
                  </a:lnTo>
                  <a:lnTo>
                    <a:pt x="101772" y="854063"/>
                  </a:lnTo>
                  <a:lnTo>
                    <a:pt x="66955" y="825515"/>
                  </a:lnTo>
                  <a:lnTo>
                    <a:pt x="38407" y="790698"/>
                  </a:lnTo>
                  <a:lnTo>
                    <a:pt x="17401" y="751352"/>
                  </a:lnTo>
                  <a:lnTo>
                    <a:pt x="4433" y="708677"/>
                  </a:lnTo>
                  <a:lnTo>
                    <a:pt x="0" y="663871"/>
                  </a:lnTo>
                  <a:lnTo>
                    <a:pt x="0" y="228599"/>
                  </a:lnTo>
                  <a:lnTo>
                    <a:pt x="4433" y="183794"/>
                  </a:lnTo>
                  <a:lnTo>
                    <a:pt x="17401" y="141118"/>
                  </a:lnTo>
                  <a:lnTo>
                    <a:pt x="38407" y="101772"/>
                  </a:lnTo>
                  <a:lnTo>
                    <a:pt x="66955" y="66955"/>
                  </a:lnTo>
                  <a:lnTo>
                    <a:pt x="101772" y="38407"/>
                  </a:lnTo>
                  <a:lnTo>
                    <a:pt x="141118" y="17401"/>
                  </a:lnTo>
                  <a:lnTo>
                    <a:pt x="183794" y="4433"/>
                  </a:lnTo>
                  <a:lnTo>
                    <a:pt x="228599" y="0"/>
                  </a:lnTo>
                  <a:lnTo>
                    <a:pt x="7057605" y="0"/>
                  </a:lnTo>
                  <a:lnTo>
                    <a:pt x="7102411" y="4433"/>
                  </a:lnTo>
                  <a:lnTo>
                    <a:pt x="7145087" y="17401"/>
                  </a:lnTo>
                  <a:lnTo>
                    <a:pt x="7184433" y="38407"/>
                  </a:lnTo>
                  <a:lnTo>
                    <a:pt x="7219250" y="66955"/>
                  </a:lnTo>
                  <a:lnTo>
                    <a:pt x="7247798" y="101772"/>
                  </a:lnTo>
                  <a:lnTo>
                    <a:pt x="7268804" y="141118"/>
                  </a:lnTo>
                  <a:lnTo>
                    <a:pt x="7281772" y="183794"/>
                  </a:lnTo>
                  <a:lnTo>
                    <a:pt x="7286205" y="228599"/>
                  </a:lnTo>
                  <a:lnTo>
                    <a:pt x="7286205" y="663871"/>
                  </a:lnTo>
                  <a:lnTo>
                    <a:pt x="7281772" y="708677"/>
                  </a:lnTo>
                  <a:lnTo>
                    <a:pt x="7268804" y="751352"/>
                  </a:lnTo>
                  <a:lnTo>
                    <a:pt x="7247798" y="790698"/>
                  </a:lnTo>
                  <a:lnTo>
                    <a:pt x="7219250" y="825515"/>
                  </a:lnTo>
                  <a:lnTo>
                    <a:pt x="7184433" y="854063"/>
                  </a:lnTo>
                  <a:lnTo>
                    <a:pt x="7145087" y="875070"/>
                  </a:lnTo>
                  <a:lnTo>
                    <a:pt x="7102411" y="888038"/>
                  </a:lnTo>
                  <a:lnTo>
                    <a:pt x="7057605" y="892471"/>
                  </a:lnTo>
                  <a:close/>
                </a:path>
              </a:pathLst>
            </a:custGeom>
            <a:solidFill>
              <a:srgbClr val="00E4FF">
                <a:alpha val="9999"/>
              </a:srgbClr>
            </a:solidFill>
          </p:spPr>
          <p:txBody>
            <a:bodyPr wrap="square" lIns="0" tIns="0" rIns="0" bIns="0" rtlCol="0"/>
            <a:lstStyle/>
            <a:p>
              <a:endParaRPr/>
            </a:p>
          </p:txBody>
        </p:sp>
      </p:grpSp>
      <p:grpSp>
        <p:nvGrpSpPr>
          <p:cNvPr id="7" name="object 7"/>
          <p:cNvGrpSpPr/>
          <p:nvPr/>
        </p:nvGrpSpPr>
        <p:grpSpPr>
          <a:xfrm>
            <a:off x="668170" y="413794"/>
            <a:ext cx="16778605" cy="1170305"/>
            <a:chOff x="668170" y="413794"/>
            <a:chExt cx="16778605" cy="1170305"/>
          </a:xfrm>
        </p:grpSpPr>
        <p:pic>
          <p:nvPicPr>
            <p:cNvPr id="8" name="object 8"/>
            <p:cNvPicPr/>
            <p:nvPr/>
          </p:nvPicPr>
          <p:blipFill>
            <a:blip r:embed="rId3" cstate="print"/>
            <a:stretch>
              <a:fillRect/>
            </a:stretch>
          </p:blipFill>
          <p:spPr>
            <a:xfrm>
              <a:off x="15156072" y="538094"/>
              <a:ext cx="2290164" cy="1040075"/>
            </a:xfrm>
            <a:prstGeom prst="rect">
              <a:avLst/>
            </a:prstGeom>
          </p:spPr>
        </p:pic>
        <p:pic>
          <p:nvPicPr>
            <p:cNvPr id="9" name="object 9"/>
            <p:cNvPicPr/>
            <p:nvPr/>
          </p:nvPicPr>
          <p:blipFill>
            <a:blip r:embed="rId4" cstate="print"/>
            <a:stretch>
              <a:fillRect/>
            </a:stretch>
          </p:blipFill>
          <p:spPr>
            <a:xfrm>
              <a:off x="2506745" y="654022"/>
              <a:ext cx="440031" cy="660047"/>
            </a:xfrm>
            <a:prstGeom prst="rect">
              <a:avLst/>
            </a:prstGeom>
          </p:spPr>
        </p:pic>
        <p:pic>
          <p:nvPicPr>
            <p:cNvPr id="10" name="object 10"/>
            <p:cNvPicPr/>
            <p:nvPr/>
          </p:nvPicPr>
          <p:blipFill>
            <a:blip r:embed="rId5" cstate="print"/>
            <a:stretch>
              <a:fillRect/>
            </a:stretch>
          </p:blipFill>
          <p:spPr>
            <a:xfrm>
              <a:off x="3177544" y="745879"/>
              <a:ext cx="990071" cy="550039"/>
            </a:xfrm>
            <a:prstGeom prst="rect">
              <a:avLst/>
            </a:prstGeom>
          </p:spPr>
        </p:pic>
        <p:sp>
          <p:nvSpPr>
            <p:cNvPr id="11" name="object 11"/>
            <p:cNvSpPr/>
            <p:nvPr/>
          </p:nvSpPr>
          <p:spPr>
            <a:xfrm>
              <a:off x="2359271" y="547749"/>
              <a:ext cx="6350" cy="872490"/>
            </a:xfrm>
            <a:custGeom>
              <a:avLst/>
              <a:gdLst/>
              <a:ahLst/>
              <a:cxnLst/>
              <a:rect l="l" t="t" r="r" b="b"/>
              <a:pathLst>
                <a:path w="6350" h="872490">
                  <a:moveTo>
                    <a:pt x="5864" y="0"/>
                  </a:moveTo>
                  <a:lnTo>
                    <a:pt x="0" y="872474"/>
                  </a:lnTo>
                </a:path>
              </a:pathLst>
            </a:custGeom>
            <a:ln w="20001">
              <a:solidFill>
                <a:srgbClr val="FEFFFF"/>
              </a:solidFill>
            </a:ln>
          </p:spPr>
          <p:txBody>
            <a:bodyPr wrap="square" lIns="0" tIns="0" rIns="0" bIns="0" rtlCol="0"/>
            <a:lstStyle/>
            <a:p>
              <a:endParaRPr/>
            </a:p>
          </p:txBody>
        </p:sp>
        <p:pic>
          <p:nvPicPr>
            <p:cNvPr id="12" name="object 12"/>
            <p:cNvPicPr/>
            <p:nvPr/>
          </p:nvPicPr>
          <p:blipFill>
            <a:blip r:embed="rId6" cstate="print"/>
            <a:stretch>
              <a:fillRect/>
            </a:stretch>
          </p:blipFill>
          <p:spPr>
            <a:xfrm>
              <a:off x="668170" y="413794"/>
              <a:ext cx="1550111" cy="1170084"/>
            </a:xfrm>
            <a:prstGeom prst="rect">
              <a:avLst/>
            </a:prstGeom>
          </p:spPr>
        </p:pic>
      </p:grpSp>
      <p:sp>
        <p:nvSpPr>
          <p:cNvPr id="5" name="object 5" descr="$PPTXTitle"/>
          <p:cNvSpPr txBox="1">
            <a:spLocks noGrp="1"/>
          </p:cNvSpPr>
          <p:nvPr>
            <p:ph type="ctrTitle"/>
          </p:nvPr>
        </p:nvSpPr>
        <p:spPr>
          <a:prstGeom prst="rect">
            <a:avLst/>
          </a:prstGeom>
        </p:spPr>
        <p:txBody>
          <a:bodyPr vert="horz" wrap="square" lIns="0" tIns="15240" rIns="0" bIns="0" rtlCol="0">
            <a:spAutoFit/>
          </a:bodyPr>
          <a:lstStyle/>
          <a:p>
            <a:pPr marL="12700">
              <a:lnSpc>
                <a:spcPct val="100000"/>
              </a:lnSpc>
              <a:spcBef>
                <a:spcPts val="120"/>
              </a:spcBef>
            </a:pPr>
            <a:r>
              <a:rPr sz="5250" b="1" dirty="0">
                <a:latin typeface="Tahoma"/>
                <a:cs typeface="Tahoma"/>
              </a:rPr>
              <a:t>Sustainability</a:t>
            </a:r>
            <a:endParaRPr sz="5250" dirty="0">
              <a:latin typeface="Tahoma"/>
              <a:cs typeface="Tahoma"/>
            </a:endParaRPr>
          </a:p>
        </p:txBody>
      </p:sp>
      <p:sp>
        <p:nvSpPr>
          <p:cNvPr id="6" name="object 6"/>
          <p:cNvSpPr txBox="1">
            <a:spLocks noGrp="1"/>
          </p:cNvSpPr>
          <p:nvPr>
            <p:ph type="subTitle" idx="4"/>
          </p:nvPr>
        </p:nvSpPr>
        <p:spPr>
          <a:xfrm>
            <a:off x="1581912" y="4754880"/>
            <a:ext cx="13716000" cy="914400"/>
          </a:xfrm>
          <a:prstGeom prst="rect">
            <a:avLst/>
          </a:prstGeom>
        </p:spPr>
        <p:txBody>
          <a:bodyPr vert="horz" wrap="square" lIns="0" tIns="12065" rIns="0" bIns="0" rtlCol="0">
            <a:spAutoFit/>
          </a:bodyPr>
          <a:lstStyle/>
          <a:p>
            <a:r>
              <a:rPr sz="2200">
                <a:solidFill>
                  <a:srgbClr val="FFFFFF"/>
                </a:solidFill>
                <a:latin typeface="Tahoma"/>
              </a:rPr>
              <a:t>SIREN keeps working because it is built as a method the hospital owns, not a black box it rents.</a:t>
            </a:r>
          </a:p>
        </p:txBody>
      </p:sp>
      <p:sp>
        <p:nvSpPr>
          <p:cNvPr id="15" name="object 10">
            <a:extLst>
              <a:ext uri="{FF2B5EF4-FFF2-40B4-BE49-F238E27FC236}">
                <a16:creationId xmlns:a16="http://schemas.microsoft.com/office/drawing/2014/main" id="{63FB59FA-BDCD-1B8D-71CA-2A781FD409F2}"/>
              </a:ext>
            </a:extLst>
          </p:cNvPr>
          <p:cNvSpPr txBox="1">
            <a:spLocks noGrp="1"/>
          </p:cNvSpPr>
          <p:nvPr>
            <p:ph type="sldNum" sz="quarter" idx="7"/>
          </p:nvPr>
        </p:nvSpPr>
        <p:spPr>
          <a:xfrm>
            <a:off x="14996159" y="9079503"/>
            <a:ext cx="2560320" cy="367408"/>
          </a:xfrm>
          <a:prstGeom prst="rect">
            <a:avLst/>
          </a:prstGeom>
        </p:spPr>
        <p:txBody>
          <a:bodyPr vert="horz" wrap="square" lIns="0" tIns="5715" rIns="0" bIns="0" rtlCol="0">
            <a:spAutoFit/>
          </a:bodyPr>
          <a:lstStyle/>
          <a:p>
            <a:pPr marL="12700">
              <a:lnSpc>
                <a:spcPct val="100000"/>
              </a:lnSpc>
              <a:spcBef>
                <a:spcPts val="45"/>
              </a:spcBef>
            </a:pPr>
            <a:r>
              <a:rPr spc="-20" dirty="0"/>
              <a:t>M</a:t>
            </a:r>
            <a:r>
              <a:rPr spc="-15" dirty="0"/>
              <a:t>E</a:t>
            </a:r>
            <a:r>
              <a:rPr spc="-135" dirty="0"/>
              <a:t>D</a:t>
            </a:r>
            <a:r>
              <a:rPr spc="-220" dirty="0"/>
              <a:t>A</a:t>
            </a:r>
            <a:r>
              <a:rPr spc="-15" dirty="0"/>
              <a:t>T</a:t>
            </a:r>
            <a:r>
              <a:rPr spc="-25" dirty="0"/>
              <a:t>H</a:t>
            </a:r>
            <a:r>
              <a:rPr spc="-20" dirty="0"/>
              <a:t>O</a:t>
            </a:r>
            <a:r>
              <a:rPr spc="-830" dirty="0"/>
              <a:t>N</a:t>
            </a:r>
            <a:endParaRPr sz="3000" baseline="-25000" dirty="0">
              <a:latin typeface="Lucida Sans Unicode"/>
              <a:cs typeface="Lucida Sans Unicode"/>
            </a:endParaRPr>
          </a:p>
        </p:txBody>
      </p:sp>
      <p:sp>
        <p:nvSpPr>
          <p:cNvPr id="16" name="sus card 1"/>
          <p:cNvSpPr/>
          <p:nvPr/>
        </p:nvSpPr>
        <p:spPr>
          <a:xfrm>
            <a:off x="1581912" y="5852160"/>
            <a:ext cx="7223760" cy="1444752"/>
          </a:xfrm>
          <a:prstGeom prst="roundRect">
            <a:avLst>
              <a:gd name="adj" fmla="val 6000"/>
            </a:avLst>
          </a:prstGeom>
          <a:solidFill>
            <a:srgbClr val="123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us head 1"/>
          <p:cNvSpPr txBox="1"/>
          <p:nvPr/>
        </p:nvSpPr>
        <p:spPr>
          <a:xfrm>
            <a:off x="1719072" y="5925312"/>
            <a:ext cx="6949440" cy="457200"/>
          </a:xfrm>
          <a:prstGeom prst="rect">
            <a:avLst/>
          </a:prstGeom>
          <a:noFill/>
        </p:spPr>
        <p:txBody>
          <a:bodyPr wrap="square" lIns="73152" rIns="73152" tIns="36576" bIns="36576" anchor="t">
            <a:spAutoFit/>
          </a:bodyPr>
          <a:lstStyle/>
          <a:p>
            <a:pPr algn="l"/>
            <a:r>
              <a:rPr sz="1600" b="1">
                <a:solidFill>
                  <a:srgbClr val="00E4FF"/>
                </a:solidFill>
                <a:latin typeface="Tahoma"/>
              </a:rPr>
              <a:t>Lives in the hospital system</a:t>
            </a:r>
          </a:p>
        </p:txBody>
      </p:sp>
      <p:sp>
        <p:nvSpPr>
          <p:cNvPr id="18" name="sus body 1"/>
          <p:cNvSpPr txBox="1"/>
          <p:nvPr/>
        </p:nvSpPr>
        <p:spPr>
          <a:xfrm>
            <a:off x="1719072" y="6382512"/>
            <a:ext cx="6949440" cy="960120"/>
          </a:xfrm>
          <a:prstGeom prst="rect">
            <a:avLst/>
          </a:prstGeom>
          <a:noFill/>
        </p:spPr>
        <p:txBody>
          <a:bodyPr wrap="square" lIns="73152" rIns="73152" tIns="36576" bIns="36576" anchor="t">
            <a:spAutoFit/>
          </a:bodyPr>
          <a:lstStyle/>
          <a:p>
            <a:pPr algn="l"/>
            <a:r>
              <a:rPr sz="1250">
                <a:solidFill>
                  <a:srgbClr val="FFFFFF"/>
                </a:solidFill>
                <a:latin typeface="Tahoma"/>
              </a:rPr>
              <a:t>Runs on the electronic record the hospital already has, through standard interfaces (HL7 FHIR). No new devices, no new data entry.</a:t>
            </a:r>
          </a:p>
        </p:txBody>
      </p:sp>
      <p:sp>
        <p:nvSpPr>
          <p:cNvPr id="19" name="sus card 2"/>
          <p:cNvSpPr/>
          <p:nvPr/>
        </p:nvSpPr>
        <p:spPr>
          <a:xfrm>
            <a:off x="9079992" y="5852160"/>
            <a:ext cx="7223760" cy="1444752"/>
          </a:xfrm>
          <a:prstGeom prst="roundRect">
            <a:avLst>
              <a:gd name="adj" fmla="val 6000"/>
            </a:avLst>
          </a:prstGeom>
          <a:solidFill>
            <a:srgbClr val="123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sus head 2"/>
          <p:cNvSpPr txBox="1"/>
          <p:nvPr/>
        </p:nvSpPr>
        <p:spPr>
          <a:xfrm>
            <a:off x="9217152" y="5925312"/>
            <a:ext cx="6949440" cy="457200"/>
          </a:xfrm>
          <a:prstGeom prst="rect">
            <a:avLst/>
          </a:prstGeom>
          <a:noFill/>
        </p:spPr>
        <p:txBody>
          <a:bodyPr wrap="square" lIns="73152" rIns="73152" tIns="36576" bIns="36576" anchor="t">
            <a:spAutoFit/>
          </a:bodyPr>
          <a:lstStyle/>
          <a:p>
            <a:pPr algn="l"/>
            <a:r>
              <a:rPr sz="1600" b="1">
                <a:solidFill>
                  <a:srgbClr val="00E4FF"/>
                </a:solidFill>
                <a:latin typeface="Tahoma"/>
              </a:rPr>
              <a:t>Learns the local language once</a:t>
            </a:r>
          </a:p>
        </p:txBody>
      </p:sp>
      <p:sp>
        <p:nvSpPr>
          <p:cNvPr id="21" name="sus body 2"/>
          <p:cNvSpPr txBox="1"/>
          <p:nvPr/>
        </p:nvSpPr>
        <p:spPr>
          <a:xfrm>
            <a:off x="9217152" y="6382512"/>
            <a:ext cx="6949440" cy="960120"/>
          </a:xfrm>
          <a:prstGeom prst="rect">
            <a:avLst/>
          </a:prstGeom>
          <a:noFill/>
        </p:spPr>
        <p:txBody>
          <a:bodyPr wrap="square" lIns="73152" rIns="73152" tIns="36576" bIns="36576" anchor="t">
            <a:spAutoFit/>
          </a:bodyPr>
          <a:lstStyle/>
          <a:p>
            <a:pPr algn="l"/>
            <a:r>
              <a:rPr sz="1250">
                <a:solidFill>
                  <a:srgbClr val="FFFFFF"/>
                </a:solidFill>
                <a:latin typeface="Tahoma"/>
              </a:rPr>
              <a:t>The translation of each hospital's records is built once with its own informatics team and then reused for every future model and audit.</a:t>
            </a:r>
          </a:p>
        </p:txBody>
      </p:sp>
      <p:sp>
        <p:nvSpPr>
          <p:cNvPr id="22" name="sus card 3"/>
          <p:cNvSpPr/>
          <p:nvPr/>
        </p:nvSpPr>
        <p:spPr>
          <a:xfrm>
            <a:off x="1581912" y="7424928"/>
            <a:ext cx="7223760" cy="1444752"/>
          </a:xfrm>
          <a:prstGeom prst="roundRect">
            <a:avLst>
              <a:gd name="adj" fmla="val 6000"/>
            </a:avLst>
          </a:prstGeom>
          <a:solidFill>
            <a:srgbClr val="123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sus head 3"/>
          <p:cNvSpPr txBox="1"/>
          <p:nvPr/>
        </p:nvSpPr>
        <p:spPr>
          <a:xfrm>
            <a:off x="1719072" y="7498080"/>
            <a:ext cx="6949440" cy="457200"/>
          </a:xfrm>
          <a:prstGeom prst="rect">
            <a:avLst/>
          </a:prstGeom>
          <a:noFill/>
        </p:spPr>
        <p:txBody>
          <a:bodyPr wrap="square" lIns="73152" rIns="73152" tIns="36576" bIns="36576" anchor="t">
            <a:spAutoFit/>
          </a:bodyPr>
          <a:lstStyle/>
          <a:p>
            <a:pPr algn="l"/>
            <a:r>
              <a:rPr sz="1600" b="1">
                <a:solidFill>
                  <a:srgbClr val="00E4FF"/>
                </a:solidFill>
                <a:latin typeface="Tahoma"/>
              </a:rPr>
              <a:t>Watched after launch</a:t>
            </a:r>
          </a:p>
        </p:txBody>
      </p:sp>
      <p:sp>
        <p:nvSpPr>
          <p:cNvPr id="24" name="sus body 3"/>
          <p:cNvSpPr txBox="1"/>
          <p:nvPr/>
        </p:nvSpPr>
        <p:spPr>
          <a:xfrm>
            <a:off x="1719072" y="7955280"/>
            <a:ext cx="6949440" cy="960120"/>
          </a:xfrm>
          <a:prstGeom prst="rect">
            <a:avLst/>
          </a:prstGeom>
          <a:noFill/>
        </p:spPr>
        <p:txBody>
          <a:bodyPr wrap="square" lIns="73152" rIns="73152" tIns="36576" bIns="36576" anchor="t">
            <a:spAutoFit/>
          </a:bodyPr>
          <a:lstStyle/>
          <a:p>
            <a:pPr algn="l"/>
            <a:r>
              <a:rPr sz="1250">
                <a:solidFill>
                  <a:srgbClr val="FFFFFF"/>
                </a:solidFill>
                <a:latin typeface="Tahoma"/>
              </a:rPr>
              <a:t>Alarm rate, missed cases and clinician response are monitored every month; the model is retrained when they drift, which is also how the quality team reports it.</a:t>
            </a:r>
          </a:p>
        </p:txBody>
      </p:sp>
      <p:sp>
        <p:nvSpPr>
          <p:cNvPr id="25" name="sus card 4"/>
          <p:cNvSpPr/>
          <p:nvPr/>
        </p:nvSpPr>
        <p:spPr>
          <a:xfrm>
            <a:off x="9079992" y="7424928"/>
            <a:ext cx="7223760" cy="1444752"/>
          </a:xfrm>
          <a:prstGeom prst="roundRect">
            <a:avLst>
              <a:gd name="adj" fmla="val 6000"/>
            </a:avLst>
          </a:prstGeom>
          <a:solidFill>
            <a:srgbClr val="123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sus head 4"/>
          <p:cNvSpPr txBox="1"/>
          <p:nvPr/>
        </p:nvSpPr>
        <p:spPr>
          <a:xfrm>
            <a:off x="9217152" y="7498080"/>
            <a:ext cx="6949440" cy="457200"/>
          </a:xfrm>
          <a:prstGeom prst="rect">
            <a:avLst/>
          </a:prstGeom>
          <a:noFill/>
        </p:spPr>
        <p:txBody>
          <a:bodyPr wrap="square" lIns="73152" rIns="73152" tIns="36576" bIns="36576" anchor="t">
            <a:spAutoFit/>
          </a:bodyPr>
          <a:lstStyle/>
          <a:p>
            <a:pPr algn="l"/>
            <a:r>
              <a:rPr sz="1600" b="1">
                <a:solidFill>
                  <a:srgbClr val="00E4FF"/>
                </a:solidFill>
                <a:latin typeface="Tahoma"/>
              </a:rPr>
              <a:t>Funded by what it saves</a:t>
            </a:r>
          </a:p>
        </p:txBody>
      </p:sp>
      <p:sp>
        <p:nvSpPr>
          <p:cNvPr id="27" name="sus body 4"/>
          <p:cNvSpPr txBox="1"/>
          <p:nvPr/>
        </p:nvSpPr>
        <p:spPr>
          <a:xfrm>
            <a:off x="9217152" y="7955280"/>
            <a:ext cx="6949440" cy="960120"/>
          </a:xfrm>
          <a:prstGeom prst="rect">
            <a:avLst/>
          </a:prstGeom>
          <a:noFill/>
        </p:spPr>
        <p:txBody>
          <a:bodyPr wrap="square" lIns="73152" rIns="73152" tIns="36576" bIns="36576" anchor="t">
            <a:spAutoFit/>
          </a:bodyPr>
          <a:lstStyle/>
          <a:p>
            <a:pPr algn="l"/>
            <a:r>
              <a:rPr sz="1250">
                <a:solidFill>
                  <a:srgbClr val="FFFFFF"/>
                </a:solidFill>
                <a:latin typeface="Tahoma"/>
              </a:rPr>
              <a:t>Earlier antibiotics shorten ICU stays. Hospital quality budgets and national digital-health programmes already fund early-warning tools.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8287999" cy="10286999"/>
            <a:chOff x="0" y="0"/>
            <a:chExt cx="18287999" cy="10286999"/>
          </a:xfrm>
        </p:grpSpPr>
        <p:pic>
          <p:nvPicPr>
            <p:cNvPr id="3" name="object 3"/>
            <p:cNvPicPr/>
            <p:nvPr/>
          </p:nvPicPr>
          <p:blipFill>
            <a:blip r:embed="rId2" cstate="print"/>
            <a:stretch>
              <a:fillRect/>
            </a:stretch>
          </p:blipFill>
          <p:spPr>
            <a:xfrm>
              <a:off x="0" y="0"/>
              <a:ext cx="10465974" cy="10286999"/>
            </a:xfrm>
            <a:prstGeom prst="rect">
              <a:avLst/>
            </a:prstGeom>
          </p:spPr>
        </p:pic>
        <p:pic>
          <p:nvPicPr>
            <p:cNvPr id="4" name="object 4"/>
            <p:cNvPicPr/>
            <p:nvPr/>
          </p:nvPicPr>
          <p:blipFill>
            <a:blip r:embed="rId3" cstate="print"/>
            <a:stretch>
              <a:fillRect/>
            </a:stretch>
          </p:blipFill>
          <p:spPr>
            <a:xfrm>
              <a:off x="7620234" y="0"/>
              <a:ext cx="10667764" cy="10286999"/>
            </a:xfrm>
            <a:prstGeom prst="rect">
              <a:avLst/>
            </a:prstGeom>
          </p:spPr>
        </p:pic>
        <p:pic>
          <p:nvPicPr>
            <p:cNvPr id="5" name="object 5"/>
            <p:cNvPicPr/>
            <p:nvPr/>
          </p:nvPicPr>
          <p:blipFill>
            <a:blip r:embed="rId4" cstate="print"/>
            <a:stretch>
              <a:fillRect/>
            </a:stretch>
          </p:blipFill>
          <p:spPr>
            <a:xfrm>
              <a:off x="0" y="5294312"/>
              <a:ext cx="18287999" cy="4992687"/>
            </a:xfrm>
            <a:prstGeom prst="rect">
              <a:avLst/>
            </a:prstGeom>
          </p:spPr>
        </p:pic>
      </p:grpSp>
      <p:grpSp>
        <p:nvGrpSpPr>
          <p:cNvPr id="13" name="object 13"/>
          <p:cNvGrpSpPr/>
          <p:nvPr/>
        </p:nvGrpSpPr>
        <p:grpSpPr>
          <a:xfrm>
            <a:off x="668170" y="413794"/>
            <a:ext cx="16778605" cy="1170305"/>
            <a:chOff x="668170" y="413794"/>
            <a:chExt cx="16778605" cy="1170305"/>
          </a:xfrm>
        </p:grpSpPr>
        <p:pic>
          <p:nvPicPr>
            <p:cNvPr id="14" name="object 14"/>
            <p:cNvPicPr/>
            <p:nvPr/>
          </p:nvPicPr>
          <p:blipFill>
            <a:blip r:embed="rId5" cstate="print"/>
            <a:stretch>
              <a:fillRect/>
            </a:stretch>
          </p:blipFill>
          <p:spPr>
            <a:xfrm>
              <a:off x="15156072" y="538094"/>
              <a:ext cx="2290164" cy="1040075"/>
            </a:xfrm>
            <a:prstGeom prst="rect">
              <a:avLst/>
            </a:prstGeom>
          </p:spPr>
        </p:pic>
        <p:pic>
          <p:nvPicPr>
            <p:cNvPr id="15" name="object 15"/>
            <p:cNvPicPr/>
            <p:nvPr/>
          </p:nvPicPr>
          <p:blipFill>
            <a:blip r:embed="rId6" cstate="print"/>
            <a:stretch>
              <a:fillRect/>
            </a:stretch>
          </p:blipFill>
          <p:spPr>
            <a:xfrm>
              <a:off x="2506745" y="654022"/>
              <a:ext cx="440031" cy="660047"/>
            </a:xfrm>
            <a:prstGeom prst="rect">
              <a:avLst/>
            </a:prstGeom>
          </p:spPr>
        </p:pic>
        <p:pic>
          <p:nvPicPr>
            <p:cNvPr id="16" name="object 16"/>
            <p:cNvPicPr/>
            <p:nvPr/>
          </p:nvPicPr>
          <p:blipFill>
            <a:blip r:embed="rId7" cstate="print"/>
            <a:stretch>
              <a:fillRect/>
            </a:stretch>
          </p:blipFill>
          <p:spPr>
            <a:xfrm>
              <a:off x="3177544" y="745879"/>
              <a:ext cx="990071" cy="550039"/>
            </a:xfrm>
            <a:prstGeom prst="rect">
              <a:avLst/>
            </a:prstGeom>
          </p:spPr>
        </p:pic>
        <p:sp>
          <p:nvSpPr>
            <p:cNvPr id="17" name="object 17"/>
            <p:cNvSpPr/>
            <p:nvPr/>
          </p:nvSpPr>
          <p:spPr>
            <a:xfrm>
              <a:off x="2359271" y="547749"/>
              <a:ext cx="6350" cy="872490"/>
            </a:xfrm>
            <a:custGeom>
              <a:avLst/>
              <a:gdLst/>
              <a:ahLst/>
              <a:cxnLst/>
              <a:rect l="l" t="t" r="r" b="b"/>
              <a:pathLst>
                <a:path w="6350" h="872490">
                  <a:moveTo>
                    <a:pt x="5864" y="0"/>
                  </a:moveTo>
                  <a:lnTo>
                    <a:pt x="0" y="872474"/>
                  </a:lnTo>
                </a:path>
              </a:pathLst>
            </a:custGeom>
            <a:ln w="20001">
              <a:solidFill>
                <a:srgbClr val="FEFFFF"/>
              </a:solidFill>
            </a:ln>
          </p:spPr>
          <p:txBody>
            <a:bodyPr wrap="square" lIns="0" tIns="0" rIns="0" bIns="0" rtlCol="0"/>
            <a:lstStyle/>
            <a:p>
              <a:endParaRPr/>
            </a:p>
          </p:txBody>
        </p:sp>
        <p:pic>
          <p:nvPicPr>
            <p:cNvPr id="18" name="object 18"/>
            <p:cNvPicPr/>
            <p:nvPr/>
          </p:nvPicPr>
          <p:blipFill>
            <a:blip r:embed="rId8" cstate="print"/>
            <a:stretch>
              <a:fillRect/>
            </a:stretch>
          </p:blipFill>
          <p:spPr>
            <a:xfrm>
              <a:off x="668170" y="413794"/>
              <a:ext cx="1550111" cy="1170084"/>
            </a:xfrm>
            <a:prstGeom prst="rect">
              <a:avLst/>
            </a:prstGeom>
          </p:spPr>
        </p:pic>
      </p:grpSp>
      <p:sp>
        <p:nvSpPr>
          <p:cNvPr id="12" name="object 12" descr="$PPTXTitle"/>
          <p:cNvSpPr txBox="1">
            <a:spLocks noGrp="1"/>
          </p:cNvSpPr>
          <p:nvPr>
            <p:ph type="title"/>
          </p:nvPr>
        </p:nvSpPr>
        <p:spPr>
          <a:xfrm>
            <a:off x="1748020" y="1719034"/>
            <a:ext cx="12154357" cy="750205"/>
          </a:xfrm>
          <a:prstGeom prst="rect">
            <a:avLst/>
          </a:prstGeom>
        </p:spPr>
        <p:txBody>
          <a:bodyPr vert="horz" wrap="square" lIns="0" tIns="11430" rIns="0" bIns="0" rtlCol="0">
            <a:spAutoFit/>
          </a:bodyPr>
          <a:lstStyle/>
          <a:p>
            <a:pPr marL="31115">
              <a:lnSpc>
                <a:spcPct val="100000"/>
              </a:lnSpc>
              <a:spcBef>
                <a:spcPts val="90"/>
              </a:spcBef>
            </a:pPr>
            <a:r>
              <a:rPr sz="4800" spc="-75" dirty="0"/>
              <a:t>Business</a:t>
            </a:r>
            <a:r>
              <a:rPr sz="4800" spc="-850" dirty="0"/>
              <a:t> </a:t>
            </a:r>
            <a:r>
              <a:rPr sz="4800" spc="-10" dirty="0"/>
              <a:t>Model</a:t>
            </a:r>
          </a:p>
        </p:txBody>
      </p:sp>
      <p:sp>
        <p:nvSpPr>
          <p:cNvPr id="21" name="object 10">
            <a:extLst>
              <a:ext uri="{FF2B5EF4-FFF2-40B4-BE49-F238E27FC236}">
                <a16:creationId xmlns:a16="http://schemas.microsoft.com/office/drawing/2014/main" id="{286020F7-9D99-A871-D8B0-FF7F459E2E0A}"/>
              </a:ext>
            </a:extLst>
          </p:cNvPr>
          <p:cNvSpPr txBox="1">
            <a:spLocks noGrp="1"/>
          </p:cNvSpPr>
          <p:nvPr>
            <p:ph type="sldNum" sz="quarter" idx="7"/>
          </p:nvPr>
        </p:nvSpPr>
        <p:spPr>
          <a:xfrm>
            <a:off x="14996159" y="9079503"/>
            <a:ext cx="2560320" cy="367408"/>
          </a:xfrm>
          <a:prstGeom prst="rect">
            <a:avLst/>
          </a:prstGeom>
        </p:spPr>
        <p:txBody>
          <a:bodyPr vert="horz" wrap="square" lIns="0" tIns="5715" rIns="0" bIns="0" rtlCol="0">
            <a:spAutoFit/>
          </a:bodyPr>
          <a:lstStyle/>
          <a:p>
            <a:pPr marL="12700">
              <a:lnSpc>
                <a:spcPct val="100000"/>
              </a:lnSpc>
              <a:spcBef>
                <a:spcPts val="45"/>
              </a:spcBef>
            </a:pPr>
            <a:r>
              <a:rPr spc="-20" dirty="0"/>
              <a:t>M</a:t>
            </a:r>
            <a:r>
              <a:rPr spc="-15" dirty="0"/>
              <a:t>E</a:t>
            </a:r>
            <a:r>
              <a:rPr spc="-135" dirty="0"/>
              <a:t>D</a:t>
            </a:r>
            <a:r>
              <a:rPr spc="-220" dirty="0"/>
              <a:t>A</a:t>
            </a:r>
            <a:r>
              <a:rPr spc="-15" dirty="0"/>
              <a:t>T</a:t>
            </a:r>
            <a:r>
              <a:rPr spc="-25" dirty="0"/>
              <a:t>H</a:t>
            </a:r>
            <a:r>
              <a:rPr spc="-20" dirty="0"/>
              <a:t>O</a:t>
            </a:r>
            <a:r>
              <a:rPr spc="-830" dirty="0"/>
              <a:t>N</a:t>
            </a:r>
            <a:endParaRPr sz="3000" baseline="-25000" dirty="0">
              <a:latin typeface="Lucida Sans Unicode"/>
              <a:cs typeface="Lucida Sans Unicode"/>
            </a:endParaRPr>
          </a:p>
        </p:txBody>
      </p:sp>
      <p:grpSp>
        <p:nvGrpSpPr>
          <p:cNvPr id="230" name="Group 229">
            <a:extLst>
              <a:ext uri="{FF2B5EF4-FFF2-40B4-BE49-F238E27FC236}">
                <a16:creationId xmlns:a16="http://schemas.microsoft.com/office/drawing/2014/main" id="{4554D1B2-4A42-3423-DF2F-4330D934CE5E}"/>
              </a:ext>
            </a:extLst>
          </p:cNvPr>
          <p:cNvGrpSpPr/>
          <p:nvPr/>
        </p:nvGrpSpPr>
        <p:grpSpPr>
          <a:xfrm>
            <a:off x="2218281" y="2641840"/>
            <a:ext cx="14651227" cy="6259035"/>
            <a:chOff x="544100" y="1917130"/>
            <a:chExt cx="20295800" cy="12645964"/>
          </a:xfrm>
        </p:grpSpPr>
        <p:grpSp>
          <p:nvGrpSpPr>
            <p:cNvPr id="231" name="Group 230">
              <a:extLst>
                <a:ext uri="{FF2B5EF4-FFF2-40B4-BE49-F238E27FC236}">
                  <a16:creationId xmlns:a16="http://schemas.microsoft.com/office/drawing/2014/main" id="{F7BDB082-3F78-9800-67D9-B244D731F7D1}"/>
                </a:ext>
              </a:extLst>
            </p:cNvPr>
            <p:cNvGrpSpPr/>
            <p:nvPr/>
          </p:nvGrpSpPr>
          <p:grpSpPr>
            <a:xfrm>
              <a:off x="12820880" y="2235919"/>
              <a:ext cx="3917595" cy="630038"/>
              <a:chOff x="0" y="0"/>
              <a:chExt cx="698657" cy="112360"/>
            </a:xfrm>
          </p:grpSpPr>
          <p:sp>
            <p:nvSpPr>
              <p:cNvPr id="328" name="Freeform 4">
                <a:extLst>
                  <a:ext uri="{FF2B5EF4-FFF2-40B4-BE49-F238E27FC236}">
                    <a16:creationId xmlns:a16="http://schemas.microsoft.com/office/drawing/2014/main" id="{0D5EF172-E188-1949-82CF-2B5AA5216F78}"/>
                  </a:ext>
                </a:extLst>
              </p:cNvPr>
              <p:cNvSpPr/>
              <p:nvPr/>
            </p:nvSpPr>
            <p:spPr>
              <a:xfrm>
                <a:off x="0" y="0"/>
                <a:ext cx="698657" cy="112360"/>
              </a:xfrm>
              <a:custGeom>
                <a:avLst/>
                <a:gdLst/>
                <a:ahLst/>
                <a:cxnLst/>
                <a:rect l="l" t="t" r="r" b="b"/>
                <a:pathLst>
                  <a:path w="698657" h="112360">
                    <a:moveTo>
                      <a:pt x="47429" y="0"/>
                    </a:moveTo>
                    <a:lnTo>
                      <a:pt x="651228" y="0"/>
                    </a:lnTo>
                    <a:cubicBezTo>
                      <a:pt x="677422" y="0"/>
                      <a:pt x="698657" y="21235"/>
                      <a:pt x="698657" y="47429"/>
                    </a:cubicBezTo>
                    <a:lnTo>
                      <a:pt x="698657" y="64931"/>
                    </a:lnTo>
                    <a:cubicBezTo>
                      <a:pt x="698657" y="91125"/>
                      <a:pt x="677422" y="112360"/>
                      <a:pt x="651228" y="112360"/>
                    </a:cubicBezTo>
                    <a:lnTo>
                      <a:pt x="47429" y="112360"/>
                    </a:lnTo>
                    <a:cubicBezTo>
                      <a:pt x="21235" y="112360"/>
                      <a:pt x="0" y="91125"/>
                      <a:pt x="0" y="64931"/>
                    </a:cubicBezTo>
                    <a:lnTo>
                      <a:pt x="0" y="47429"/>
                    </a:lnTo>
                    <a:cubicBezTo>
                      <a:pt x="0" y="21235"/>
                      <a:pt x="21235" y="0"/>
                      <a:pt x="47429" y="0"/>
                    </a:cubicBezTo>
                    <a:close/>
                  </a:path>
                </a:pathLst>
              </a:custGeom>
              <a:solidFill>
                <a:srgbClr val="E2E8EE"/>
              </a:solidFill>
              <a:ln w="28575" cap="rnd">
                <a:solidFill>
                  <a:srgbClr val="27374D"/>
                </a:solidFill>
                <a:prstDash val="solid"/>
                <a:round/>
              </a:ln>
            </p:spPr>
            <p:txBody>
              <a:bodyPr/>
              <a:lstStyle/>
              <a:p>
                <a:endParaRPr lang="en-US" sz="1200"/>
              </a:p>
            </p:txBody>
          </p:sp>
          <p:sp>
            <p:nvSpPr>
              <p:cNvPr id="329" name="TextBox 5">
                <a:extLst>
                  <a:ext uri="{FF2B5EF4-FFF2-40B4-BE49-F238E27FC236}">
                    <a16:creationId xmlns:a16="http://schemas.microsoft.com/office/drawing/2014/main" id="{A211BC1C-99EE-2627-6BEC-D3B8BD73F712}"/>
                  </a:ext>
                </a:extLst>
              </p:cNvPr>
              <p:cNvSpPr txBox="1"/>
              <p:nvPr/>
            </p:nvSpPr>
            <p:spPr>
              <a:xfrm>
                <a:off x="0" y="-57150"/>
                <a:ext cx="698657" cy="169510"/>
              </a:xfrm>
              <a:prstGeom prst="rect">
                <a:avLst/>
              </a:prstGeom>
            </p:spPr>
            <p:txBody>
              <a:bodyPr lIns="50800" tIns="50800" rIns="50800" bIns="50800" rtlCol="0" anchor="ctr"/>
              <a:lstStyle/>
              <a:p>
                <a:pPr algn="ctr">
                  <a:lnSpc>
                    <a:spcPts val="4060"/>
                  </a:lnSpc>
                  <a:spcBef>
                    <a:spcPct val="0"/>
                  </a:spcBef>
                </a:pPr>
                <a:endParaRPr sz="1200"/>
              </a:p>
            </p:txBody>
          </p:sp>
        </p:grpSp>
        <p:grpSp>
          <p:nvGrpSpPr>
            <p:cNvPr id="232" name="Group 6">
              <a:extLst>
                <a:ext uri="{FF2B5EF4-FFF2-40B4-BE49-F238E27FC236}">
                  <a16:creationId xmlns:a16="http://schemas.microsoft.com/office/drawing/2014/main" id="{1DBCA768-F9C5-A389-CC10-993BC729E2D2}"/>
                </a:ext>
              </a:extLst>
            </p:cNvPr>
            <p:cNvGrpSpPr/>
            <p:nvPr/>
          </p:nvGrpSpPr>
          <p:grpSpPr>
            <a:xfrm rot="-5400000">
              <a:off x="12804601" y="2439312"/>
              <a:ext cx="255809" cy="223251"/>
              <a:chOff x="0" y="0"/>
              <a:chExt cx="698500" cy="609600"/>
            </a:xfrm>
          </p:grpSpPr>
          <p:sp>
            <p:nvSpPr>
              <p:cNvPr id="326" name="Freeform 7">
                <a:extLst>
                  <a:ext uri="{FF2B5EF4-FFF2-40B4-BE49-F238E27FC236}">
                    <a16:creationId xmlns:a16="http://schemas.microsoft.com/office/drawing/2014/main" id="{4F38B199-7DA0-1745-AD92-ECCCDA935A58}"/>
                  </a:ext>
                </a:extLst>
              </p:cNvPr>
              <p:cNvSpPr/>
              <p:nvPr/>
            </p:nvSpPr>
            <p:spPr>
              <a:xfrm>
                <a:off x="87477" y="0"/>
                <a:ext cx="523545" cy="489009"/>
              </a:xfrm>
              <a:custGeom>
                <a:avLst/>
                <a:gdLst/>
                <a:ahLst/>
                <a:cxnLst/>
                <a:rect l="l" t="t" r="r" b="b"/>
                <a:pathLst>
                  <a:path w="523545" h="489009">
                    <a:moveTo>
                      <a:pt x="158340" y="429062"/>
                    </a:moveTo>
                    <a:lnTo>
                      <a:pt x="15956" y="180538"/>
                    </a:lnTo>
                    <a:cubicBezTo>
                      <a:pt x="-5425" y="143218"/>
                      <a:pt x="-5310" y="97334"/>
                      <a:pt x="16257" y="60122"/>
                    </a:cubicBezTo>
                    <a:cubicBezTo>
                      <a:pt x="37825" y="22909"/>
                      <a:pt x="77580" y="0"/>
                      <a:pt x="120591" y="0"/>
                    </a:cubicBezTo>
                    <a:lnTo>
                      <a:pt x="402955" y="0"/>
                    </a:lnTo>
                    <a:cubicBezTo>
                      <a:pt x="445966" y="0"/>
                      <a:pt x="485721" y="22909"/>
                      <a:pt x="507289" y="60122"/>
                    </a:cubicBezTo>
                    <a:cubicBezTo>
                      <a:pt x="528857" y="97335"/>
                      <a:pt x="528971" y="143218"/>
                      <a:pt x="507590" y="180538"/>
                    </a:cubicBezTo>
                    <a:lnTo>
                      <a:pt x="365206" y="429062"/>
                    </a:lnTo>
                    <a:cubicBezTo>
                      <a:pt x="343965" y="466138"/>
                      <a:pt x="304503" y="489009"/>
                      <a:pt x="261773" y="489009"/>
                    </a:cubicBezTo>
                    <a:cubicBezTo>
                      <a:pt x="219043" y="489009"/>
                      <a:pt x="179581" y="466138"/>
                      <a:pt x="158340" y="429062"/>
                    </a:cubicBezTo>
                    <a:close/>
                  </a:path>
                </a:pathLst>
              </a:custGeom>
              <a:solidFill>
                <a:srgbClr val="27374D"/>
              </a:solidFill>
            </p:spPr>
            <p:txBody>
              <a:bodyPr/>
              <a:lstStyle/>
              <a:p>
                <a:endParaRPr lang="en-US" sz="1200"/>
              </a:p>
            </p:txBody>
          </p:sp>
          <p:sp>
            <p:nvSpPr>
              <p:cNvPr id="327" name="TextBox 8">
                <a:extLst>
                  <a:ext uri="{FF2B5EF4-FFF2-40B4-BE49-F238E27FC236}">
                    <a16:creationId xmlns:a16="http://schemas.microsoft.com/office/drawing/2014/main" id="{49BD0244-5FDD-1592-CDD2-605A77862D08}"/>
                  </a:ext>
                </a:extLst>
              </p:cNvPr>
              <p:cNvSpPr txBox="1"/>
              <p:nvPr/>
            </p:nvSpPr>
            <p:spPr>
              <a:xfrm>
                <a:off x="215900" y="-57150"/>
                <a:ext cx="266700" cy="438150"/>
              </a:xfrm>
              <a:prstGeom prst="rect">
                <a:avLst/>
              </a:prstGeom>
            </p:spPr>
            <p:txBody>
              <a:bodyPr lIns="50800" tIns="50800" rIns="50800" bIns="50800" rtlCol="0" anchor="ctr"/>
              <a:lstStyle/>
              <a:p>
                <a:pPr algn="ctr">
                  <a:lnSpc>
                    <a:spcPts val="4060"/>
                  </a:lnSpc>
                </a:pPr>
                <a:endParaRPr sz="1200"/>
              </a:p>
            </p:txBody>
          </p:sp>
        </p:grpSp>
        <p:grpSp>
          <p:nvGrpSpPr>
            <p:cNvPr id="233" name="Group 9">
              <a:extLst>
                <a:ext uri="{FF2B5EF4-FFF2-40B4-BE49-F238E27FC236}">
                  <a16:creationId xmlns:a16="http://schemas.microsoft.com/office/drawing/2014/main" id="{71CD2286-3552-66F9-E9B1-C7D6371B4D2B}"/>
                </a:ext>
              </a:extLst>
            </p:cNvPr>
            <p:cNvGrpSpPr/>
            <p:nvPr/>
          </p:nvGrpSpPr>
          <p:grpSpPr>
            <a:xfrm>
              <a:off x="13010270" y="2989603"/>
              <a:ext cx="114774" cy="114774"/>
              <a:chOff x="0" y="0"/>
              <a:chExt cx="812800" cy="812800"/>
            </a:xfrm>
          </p:grpSpPr>
          <p:sp>
            <p:nvSpPr>
              <p:cNvPr id="324" name="Freeform 10">
                <a:extLst>
                  <a:ext uri="{FF2B5EF4-FFF2-40B4-BE49-F238E27FC236}">
                    <a16:creationId xmlns:a16="http://schemas.microsoft.com/office/drawing/2014/main" id="{1301355E-D9E2-D2DF-0191-15A8D6E413B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374D"/>
              </a:solidFill>
            </p:spPr>
            <p:txBody>
              <a:bodyPr/>
              <a:lstStyle/>
              <a:p>
                <a:endParaRPr lang="en-US" sz="1200"/>
              </a:p>
            </p:txBody>
          </p:sp>
          <p:sp>
            <p:nvSpPr>
              <p:cNvPr id="325" name="TextBox 11">
                <a:extLst>
                  <a:ext uri="{FF2B5EF4-FFF2-40B4-BE49-F238E27FC236}">
                    <a16:creationId xmlns:a16="http://schemas.microsoft.com/office/drawing/2014/main" id="{8FF60024-855A-BDCB-8C93-DC0E27D745D2}"/>
                  </a:ext>
                </a:extLst>
              </p:cNvPr>
              <p:cNvSpPr txBox="1"/>
              <p:nvPr/>
            </p:nvSpPr>
            <p:spPr>
              <a:xfrm>
                <a:off x="76200" y="19050"/>
                <a:ext cx="660400" cy="717550"/>
              </a:xfrm>
              <a:prstGeom prst="rect">
                <a:avLst/>
              </a:prstGeom>
            </p:spPr>
            <p:txBody>
              <a:bodyPr lIns="50800" tIns="50800" rIns="50800" bIns="50800" rtlCol="0" anchor="ctr"/>
              <a:lstStyle/>
              <a:p>
                <a:pPr algn="ctr">
                  <a:lnSpc>
                    <a:spcPts val="4060"/>
                  </a:lnSpc>
                </a:pPr>
                <a:endParaRPr sz="1200"/>
              </a:p>
            </p:txBody>
          </p:sp>
        </p:grpSp>
        <p:sp>
          <p:nvSpPr>
            <p:cNvPr id="234" name="Freeform 12">
              <a:extLst>
                <a:ext uri="{FF2B5EF4-FFF2-40B4-BE49-F238E27FC236}">
                  <a16:creationId xmlns:a16="http://schemas.microsoft.com/office/drawing/2014/main" id="{990EC347-B0F2-4EB5-A7D3-1EEE45B5EF8F}"/>
                </a:ext>
              </a:extLst>
            </p:cNvPr>
            <p:cNvSpPr/>
            <p:nvPr/>
          </p:nvSpPr>
          <p:spPr>
            <a:xfrm>
              <a:off x="12842391" y="2854260"/>
              <a:ext cx="3887503" cy="3389400"/>
            </a:xfrm>
            <a:custGeom>
              <a:avLst/>
              <a:gdLst/>
              <a:ahLst/>
              <a:cxnLst/>
              <a:rect l="l" t="t" r="r" b="b"/>
              <a:pathLst>
                <a:path w="3887503" h="3389400">
                  <a:moveTo>
                    <a:pt x="480914" y="0"/>
                  </a:moveTo>
                  <a:lnTo>
                    <a:pt x="480914" y="96365"/>
                  </a:lnTo>
                  <a:cubicBezTo>
                    <a:pt x="480914" y="121923"/>
                    <a:pt x="491066" y="146434"/>
                    <a:pt x="509138" y="164506"/>
                  </a:cubicBezTo>
                  <a:cubicBezTo>
                    <a:pt x="527210" y="182578"/>
                    <a:pt x="551722" y="192730"/>
                    <a:pt x="577278" y="192730"/>
                  </a:cubicBezTo>
                  <a:lnTo>
                    <a:pt x="3658903" y="192730"/>
                  </a:lnTo>
                  <a:cubicBezTo>
                    <a:pt x="3719531" y="192730"/>
                    <a:pt x="3777677" y="216815"/>
                    <a:pt x="3820547" y="259686"/>
                  </a:cubicBezTo>
                  <a:cubicBezTo>
                    <a:pt x="3863419" y="302557"/>
                    <a:pt x="3887503" y="360702"/>
                    <a:pt x="3887503" y="421330"/>
                  </a:cubicBezTo>
                  <a:lnTo>
                    <a:pt x="3887503" y="3160800"/>
                  </a:lnTo>
                  <a:cubicBezTo>
                    <a:pt x="3887503" y="3287053"/>
                    <a:pt x="3785155" y="3389400"/>
                    <a:pt x="3658903" y="3389400"/>
                  </a:cubicBezTo>
                  <a:lnTo>
                    <a:pt x="228600" y="3389400"/>
                  </a:lnTo>
                  <a:cubicBezTo>
                    <a:pt x="102348" y="3389400"/>
                    <a:pt x="0" y="3287053"/>
                    <a:pt x="0" y="3160800"/>
                  </a:cubicBezTo>
                  <a:lnTo>
                    <a:pt x="0" y="293601"/>
                  </a:lnTo>
                  <a:cubicBezTo>
                    <a:pt x="0" y="266848"/>
                    <a:pt x="10627" y="241191"/>
                    <a:pt x="29543" y="222274"/>
                  </a:cubicBezTo>
                  <a:cubicBezTo>
                    <a:pt x="48461" y="203358"/>
                    <a:pt x="74117" y="192730"/>
                    <a:pt x="100870" y="192730"/>
                  </a:cubicBezTo>
                  <a:lnTo>
                    <a:pt x="201740" y="192730"/>
                  </a:lnTo>
                </a:path>
              </a:pathLst>
            </a:custGeom>
            <a:ln w="28575" cap="flat">
              <a:solidFill>
                <a:srgbClr val="27374D"/>
              </a:solidFill>
              <a:prstDash val="solid"/>
              <a:headEnd type="none" w="sm" len="sm"/>
              <a:tailEnd type="none" w="sm" len="sm"/>
            </a:ln>
          </p:spPr>
          <p:txBody>
            <a:bodyPr/>
            <a:lstStyle/>
            <a:p>
              <a:endParaRPr lang="en-US" sz="1200"/>
            </a:p>
          </p:txBody>
        </p:sp>
        <p:grpSp>
          <p:nvGrpSpPr>
            <p:cNvPr id="235" name="Group 13">
              <a:extLst>
                <a:ext uri="{FF2B5EF4-FFF2-40B4-BE49-F238E27FC236}">
                  <a16:creationId xmlns:a16="http://schemas.microsoft.com/office/drawing/2014/main" id="{D4A81E3B-576C-5645-B897-2F1BE6C943AB}"/>
                </a:ext>
              </a:extLst>
            </p:cNvPr>
            <p:cNvGrpSpPr/>
            <p:nvPr/>
          </p:nvGrpSpPr>
          <p:grpSpPr>
            <a:xfrm>
              <a:off x="12820631" y="6438309"/>
              <a:ext cx="3917595" cy="630038"/>
              <a:chOff x="0" y="0"/>
              <a:chExt cx="698657" cy="112360"/>
            </a:xfrm>
          </p:grpSpPr>
          <p:sp>
            <p:nvSpPr>
              <p:cNvPr id="322" name="Freeform 14">
                <a:extLst>
                  <a:ext uri="{FF2B5EF4-FFF2-40B4-BE49-F238E27FC236}">
                    <a16:creationId xmlns:a16="http://schemas.microsoft.com/office/drawing/2014/main" id="{B340586F-C397-7D66-D56B-F7B7736E94DB}"/>
                  </a:ext>
                </a:extLst>
              </p:cNvPr>
              <p:cNvSpPr/>
              <p:nvPr/>
            </p:nvSpPr>
            <p:spPr>
              <a:xfrm>
                <a:off x="0" y="0"/>
                <a:ext cx="698657" cy="112360"/>
              </a:xfrm>
              <a:custGeom>
                <a:avLst/>
                <a:gdLst/>
                <a:ahLst/>
                <a:cxnLst/>
                <a:rect l="l" t="t" r="r" b="b"/>
                <a:pathLst>
                  <a:path w="698657" h="112360">
                    <a:moveTo>
                      <a:pt x="47429" y="0"/>
                    </a:moveTo>
                    <a:lnTo>
                      <a:pt x="651228" y="0"/>
                    </a:lnTo>
                    <a:cubicBezTo>
                      <a:pt x="677422" y="0"/>
                      <a:pt x="698657" y="21235"/>
                      <a:pt x="698657" y="47429"/>
                    </a:cubicBezTo>
                    <a:lnTo>
                      <a:pt x="698657" y="64931"/>
                    </a:lnTo>
                    <a:cubicBezTo>
                      <a:pt x="698657" y="91125"/>
                      <a:pt x="677422" y="112360"/>
                      <a:pt x="651228" y="112360"/>
                    </a:cubicBezTo>
                    <a:lnTo>
                      <a:pt x="47429" y="112360"/>
                    </a:lnTo>
                    <a:cubicBezTo>
                      <a:pt x="21235" y="112360"/>
                      <a:pt x="0" y="91125"/>
                      <a:pt x="0" y="64931"/>
                    </a:cubicBezTo>
                    <a:lnTo>
                      <a:pt x="0" y="47429"/>
                    </a:lnTo>
                    <a:cubicBezTo>
                      <a:pt x="0" y="21235"/>
                      <a:pt x="21235" y="0"/>
                      <a:pt x="47429" y="0"/>
                    </a:cubicBezTo>
                    <a:close/>
                  </a:path>
                </a:pathLst>
              </a:custGeom>
              <a:solidFill>
                <a:srgbClr val="E2E8EE"/>
              </a:solidFill>
              <a:ln w="28575" cap="rnd">
                <a:solidFill>
                  <a:srgbClr val="27374D"/>
                </a:solidFill>
                <a:prstDash val="solid"/>
                <a:round/>
              </a:ln>
            </p:spPr>
            <p:txBody>
              <a:bodyPr/>
              <a:lstStyle/>
              <a:p>
                <a:endParaRPr lang="en-US" sz="1200"/>
              </a:p>
            </p:txBody>
          </p:sp>
          <p:sp>
            <p:nvSpPr>
              <p:cNvPr id="323" name="TextBox 15">
                <a:extLst>
                  <a:ext uri="{FF2B5EF4-FFF2-40B4-BE49-F238E27FC236}">
                    <a16:creationId xmlns:a16="http://schemas.microsoft.com/office/drawing/2014/main" id="{76A66F10-E37C-61EA-CFC4-E1EBD15884E7}"/>
                  </a:ext>
                </a:extLst>
              </p:cNvPr>
              <p:cNvSpPr txBox="1"/>
              <p:nvPr/>
            </p:nvSpPr>
            <p:spPr>
              <a:xfrm>
                <a:off x="0" y="-57150"/>
                <a:ext cx="698657" cy="169510"/>
              </a:xfrm>
              <a:prstGeom prst="rect">
                <a:avLst/>
              </a:prstGeom>
            </p:spPr>
            <p:txBody>
              <a:bodyPr lIns="50800" tIns="50800" rIns="50800" bIns="50800" rtlCol="0" anchor="ctr"/>
              <a:lstStyle/>
              <a:p>
                <a:pPr algn="ctr">
                  <a:lnSpc>
                    <a:spcPts val="4060"/>
                  </a:lnSpc>
                  <a:spcBef>
                    <a:spcPct val="0"/>
                  </a:spcBef>
                </a:pPr>
                <a:endParaRPr sz="1200"/>
              </a:p>
            </p:txBody>
          </p:sp>
        </p:grpSp>
        <p:grpSp>
          <p:nvGrpSpPr>
            <p:cNvPr id="236" name="Group 16">
              <a:extLst>
                <a:ext uri="{FF2B5EF4-FFF2-40B4-BE49-F238E27FC236}">
                  <a16:creationId xmlns:a16="http://schemas.microsoft.com/office/drawing/2014/main" id="{34CED155-41F2-07E5-7901-0EFBE18C92B5}"/>
                </a:ext>
              </a:extLst>
            </p:cNvPr>
            <p:cNvGrpSpPr/>
            <p:nvPr/>
          </p:nvGrpSpPr>
          <p:grpSpPr>
            <a:xfrm rot="-5400000">
              <a:off x="12804353" y="6641703"/>
              <a:ext cx="255809" cy="223251"/>
              <a:chOff x="0" y="0"/>
              <a:chExt cx="698500" cy="609600"/>
            </a:xfrm>
          </p:grpSpPr>
          <p:sp>
            <p:nvSpPr>
              <p:cNvPr id="320" name="Freeform 17">
                <a:extLst>
                  <a:ext uri="{FF2B5EF4-FFF2-40B4-BE49-F238E27FC236}">
                    <a16:creationId xmlns:a16="http://schemas.microsoft.com/office/drawing/2014/main" id="{B13DF9F5-A3FA-1287-646D-4108CFE53D43}"/>
                  </a:ext>
                </a:extLst>
              </p:cNvPr>
              <p:cNvSpPr/>
              <p:nvPr/>
            </p:nvSpPr>
            <p:spPr>
              <a:xfrm>
                <a:off x="87477" y="0"/>
                <a:ext cx="523545" cy="489009"/>
              </a:xfrm>
              <a:custGeom>
                <a:avLst/>
                <a:gdLst/>
                <a:ahLst/>
                <a:cxnLst/>
                <a:rect l="l" t="t" r="r" b="b"/>
                <a:pathLst>
                  <a:path w="523545" h="489009">
                    <a:moveTo>
                      <a:pt x="158340" y="429062"/>
                    </a:moveTo>
                    <a:lnTo>
                      <a:pt x="15956" y="180538"/>
                    </a:lnTo>
                    <a:cubicBezTo>
                      <a:pt x="-5425" y="143218"/>
                      <a:pt x="-5310" y="97334"/>
                      <a:pt x="16257" y="60122"/>
                    </a:cubicBezTo>
                    <a:cubicBezTo>
                      <a:pt x="37825" y="22909"/>
                      <a:pt x="77580" y="0"/>
                      <a:pt x="120591" y="0"/>
                    </a:cubicBezTo>
                    <a:lnTo>
                      <a:pt x="402955" y="0"/>
                    </a:lnTo>
                    <a:cubicBezTo>
                      <a:pt x="445966" y="0"/>
                      <a:pt x="485721" y="22909"/>
                      <a:pt x="507289" y="60122"/>
                    </a:cubicBezTo>
                    <a:cubicBezTo>
                      <a:pt x="528857" y="97335"/>
                      <a:pt x="528971" y="143218"/>
                      <a:pt x="507590" y="180538"/>
                    </a:cubicBezTo>
                    <a:lnTo>
                      <a:pt x="365206" y="429062"/>
                    </a:lnTo>
                    <a:cubicBezTo>
                      <a:pt x="343965" y="466138"/>
                      <a:pt x="304503" y="489009"/>
                      <a:pt x="261773" y="489009"/>
                    </a:cubicBezTo>
                    <a:cubicBezTo>
                      <a:pt x="219043" y="489009"/>
                      <a:pt x="179581" y="466138"/>
                      <a:pt x="158340" y="429062"/>
                    </a:cubicBezTo>
                    <a:close/>
                  </a:path>
                </a:pathLst>
              </a:custGeom>
              <a:solidFill>
                <a:srgbClr val="27374D"/>
              </a:solidFill>
            </p:spPr>
            <p:txBody>
              <a:bodyPr/>
              <a:lstStyle/>
              <a:p>
                <a:endParaRPr lang="en-US" sz="1200"/>
              </a:p>
            </p:txBody>
          </p:sp>
          <p:sp>
            <p:nvSpPr>
              <p:cNvPr id="321" name="TextBox 18">
                <a:extLst>
                  <a:ext uri="{FF2B5EF4-FFF2-40B4-BE49-F238E27FC236}">
                    <a16:creationId xmlns:a16="http://schemas.microsoft.com/office/drawing/2014/main" id="{E355F35A-7DD4-E7F0-38C5-544F8E7A5CAD}"/>
                  </a:ext>
                </a:extLst>
              </p:cNvPr>
              <p:cNvSpPr txBox="1"/>
              <p:nvPr/>
            </p:nvSpPr>
            <p:spPr>
              <a:xfrm>
                <a:off x="215900" y="-57150"/>
                <a:ext cx="266700" cy="438150"/>
              </a:xfrm>
              <a:prstGeom prst="rect">
                <a:avLst/>
              </a:prstGeom>
            </p:spPr>
            <p:txBody>
              <a:bodyPr lIns="50800" tIns="50800" rIns="50800" bIns="50800" rtlCol="0" anchor="ctr"/>
              <a:lstStyle/>
              <a:p>
                <a:pPr algn="ctr">
                  <a:lnSpc>
                    <a:spcPts val="4060"/>
                  </a:lnSpc>
                </a:pPr>
                <a:endParaRPr sz="1200"/>
              </a:p>
            </p:txBody>
          </p:sp>
        </p:grpSp>
        <p:grpSp>
          <p:nvGrpSpPr>
            <p:cNvPr id="237" name="Group 19">
              <a:extLst>
                <a:ext uri="{FF2B5EF4-FFF2-40B4-BE49-F238E27FC236}">
                  <a16:creationId xmlns:a16="http://schemas.microsoft.com/office/drawing/2014/main" id="{BED4FA78-DBBF-AB12-D1FF-D6D7734899AC}"/>
                </a:ext>
              </a:extLst>
            </p:cNvPr>
            <p:cNvGrpSpPr/>
            <p:nvPr/>
          </p:nvGrpSpPr>
          <p:grpSpPr>
            <a:xfrm>
              <a:off x="13010021" y="7191994"/>
              <a:ext cx="114774" cy="114774"/>
              <a:chOff x="0" y="0"/>
              <a:chExt cx="812800" cy="812800"/>
            </a:xfrm>
          </p:grpSpPr>
          <p:sp>
            <p:nvSpPr>
              <p:cNvPr id="318" name="Freeform 20">
                <a:extLst>
                  <a:ext uri="{FF2B5EF4-FFF2-40B4-BE49-F238E27FC236}">
                    <a16:creationId xmlns:a16="http://schemas.microsoft.com/office/drawing/2014/main" id="{01CBB702-5B54-8F43-B3A4-7FBF76E8C1F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374D"/>
              </a:solidFill>
            </p:spPr>
            <p:txBody>
              <a:bodyPr/>
              <a:lstStyle/>
              <a:p>
                <a:endParaRPr lang="en-US" sz="1200"/>
              </a:p>
            </p:txBody>
          </p:sp>
          <p:sp>
            <p:nvSpPr>
              <p:cNvPr id="319" name="TextBox 21">
                <a:extLst>
                  <a:ext uri="{FF2B5EF4-FFF2-40B4-BE49-F238E27FC236}">
                    <a16:creationId xmlns:a16="http://schemas.microsoft.com/office/drawing/2014/main" id="{7BCA7B82-9154-1555-97F2-FF1C507271F5}"/>
                  </a:ext>
                </a:extLst>
              </p:cNvPr>
              <p:cNvSpPr txBox="1"/>
              <p:nvPr/>
            </p:nvSpPr>
            <p:spPr>
              <a:xfrm>
                <a:off x="76200" y="19050"/>
                <a:ext cx="660400" cy="717550"/>
              </a:xfrm>
              <a:prstGeom prst="rect">
                <a:avLst/>
              </a:prstGeom>
            </p:spPr>
            <p:txBody>
              <a:bodyPr lIns="50800" tIns="50800" rIns="50800" bIns="50800" rtlCol="0" anchor="ctr"/>
              <a:lstStyle/>
              <a:p>
                <a:pPr algn="ctr">
                  <a:lnSpc>
                    <a:spcPts val="4060"/>
                  </a:lnSpc>
                </a:pPr>
                <a:endParaRPr sz="1200"/>
              </a:p>
            </p:txBody>
          </p:sp>
        </p:grpSp>
        <p:sp>
          <p:nvSpPr>
            <p:cNvPr id="238" name="Freeform 22">
              <a:extLst>
                <a:ext uri="{FF2B5EF4-FFF2-40B4-BE49-F238E27FC236}">
                  <a16:creationId xmlns:a16="http://schemas.microsoft.com/office/drawing/2014/main" id="{D9B078E1-8252-D0B7-F93A-6364C2424F59}"/>
                </a:ext>
              </a:extLst>
            </p:cNvPr>
            <p:cNvSpPr/>
            <p:nvPr/>
          </p:nvSpPr>
          <p:spPr>
            <a:xfrm>
              <a:off x="12842142" y="7056651"/>
              <a:ext cx="3887502" cy="3389400"/>
            </a:xfrm>
            <a:custGeom>
              <a:avLst/>
              <a:gdLst/>
              <a:ahLst/>
              <a:cxnLst/>
              <a:rect l="l" t="t" r="r" b="b"/>
              <a:pathLst>
                <a:path w="3887502" h="3389400">
                  <a:moveTo>
                    <a:pt x="480915" y="0"/>
                  </a:moveTo>
                  <a:lnTo>
                    <a:pt x="480915" y="96365"/>
                  </a:lnTo>
                  <a:cubicBezTo>
                    <a:pt x="480915" y="149586"/>
                    <a:pt x="524059" y="192730"/>
                    <a:pt x="577279" y="192730"/>
                  </a:cubicBezTo>
                  <a:lnTo>
                    <a:pt x="3658902" y="192730"/>
                  </a:lnTo>
                  <a:cubicBezTo>
                    <a:pt x="3785155" y="192730"/>
                    <a:pt x="3887502" y="295078"/>
                    <a:pt x="3887502" y="421330"/>
                  </a:cubicBezTo>
                  <a:lnTo>
                    <a:pt x="3887502" y="3160800"/>
                  </a:lnTo>
                  <a:cubicBezTo>
                    <a:pt x="3887502" y="3221429"/>
                    <a:pt x="3863418" y="3279574"/>
                    <a:pt x="3820546" y="3322444"/>
                  </a:cubicBezTo>
                  <a:cubicBezTo>
                    <a:pt x="3777676" y="3365315"/>
                    <a:pt x="3719531" y="3389400"/>
                    <a:pt x="3658902" y="3389400"/>
                  </a:cubicBezTo>
                  <a:lnTo>
                    <a:pt x="228600" y="3389400"/>
                  </a:lnTo>
                  <a:cubicBezTo>
                    <a:pt x="167971" y="3389400"/>
                    <a:pt x="109826" y="3365315"/>
                    <a:pt x="66955" y="3322444"/>
                  </a:cubicBezTo>
                  <a:cubicBezTo>
                    <a:pt x="24084" y="3279574"/>
                    <a:pt x="0" y="3221429"/>
                    <a:pt x="0" y="3160800"/>
                  </a:cubicBezTo>
                  <a:lnTo>
                    <a:pt x="0" y="293600"/>
                  </a:lnTo>
                  <a:cubicBezTo>
                    <a:pt x="0" y="237891"/>
                    <a:pt x="45161" y="192730"/>
                    <a:pt x="100870" y="192730"/>
                  </a:cubicBezTo>
                  <a:lnTo>
                    <a:pt x="201741" y="192730"/>
                  </a:lnTo>
                </a:path>
              </a:pathLst>
            </a:custGeom>
            <a:ln w="28575" cap="flat">
              <a:solidFill>
                <a:srgbClr val="27374D"/>
              </a:solidFill>
              <a:prstDash val="solid"/>
              <a:headEnd type="none" w="sm" len="sm"/>
              <a:tailEnd type="none" w="sm" len="sm"/>
            </a:ln>
          </p:spPr>
          <p:txBody>
            <a:bodyPr/>
            <a:lstStyle/>
            <a:p>
              <a:endParaRPr lang="en-US" sz="1200"/>
            </a:p>
          </p:txBody>
        </p:sp>
        <p:grpSp>
          <p:nvGrpSpPr>
            <p:cNvPr id="239" name="Group 23">
              <a:extLst>
                <a:ext uri="{FF2B5EF4-FFF2-40B4-BE49-F238E27FC236}">
                  <a16:creationId xmlns:a16="http://schemas.microsoft.com/office/drawing/2014/main" id="{746824D3-C139-9E76-1C3C-652D9149DFA5}"/>
                </a:ext>
              </a:extLst>
            </p:cNvPr>
            <p:cNvGrpSpPr/>
            <p:nvPr/>
          </p:nvGrpSpPr>
          <p:grpSpPr>
            <a:xfrm>
              <a:off x="4638766" y="1917130"/>
              <a:ext cx="3917595" cy="950496"/>
              <a:chOff x="0" y="-57150"/>
              <a:chExt cx="698657" cy="169510"/>
            </a:xfrm>
          </p:grpSpPr>
          <p:sp>
            <p:nvSpPr>
              <p:cNvPr id="316" name="Freeform 24">
                <a:extLst>
                  <a:ext uri="{FF2B5EF4-FFF2-40B4-BE49-F238E27FC236}">
                    <a16:creationId xmlns:a16="http://schemas.microsoft.com/office/drawing/2014/main" id="{6B82EDBD-2255-85B6-8992-3974AA64C0FC}"/>
                  </a:ext>
                </a:extLst>
              </p:cNvPr>
              <p:cNvSpPr/>
              <p:nvPr/>
            </p:nvSpPr>
            <p:spPr>
              <a:xfrm>
                <a:off x="0" y="0"/>
                <a:ext cx="698657" cy="112360"/>
              </a:xfrm>
              <a:custGeom>
                <a:avLst/>
                <a:gdLst/>
                <a:ahLst/>
                <a:cxnLst/>
                <a:rect l="l" t="t" r="r" b="b"/>
                <a:pathLst>
                  <a:path w="698657" h="112360">
                    <a:moveTo>
                      <a:pt x="47429" y="0"/>
                    </a:moveTo>
                    <a:lnTo>
                      <a:pt x="651228" y="0"/>
                    </a:lnTo>
                    <a:cubicBezTo>
                      <a:pt x="677422" y="0"/>
                      <a:pt x="698657" y="21235"/>
                      <a:pt x="698657" y="47429"/>
                    </a:cubicBezTo>
                    <a:lnTo>
                      <a:pt x="698657" y="64931"/>
                    </a:lnTo>
                    <a:cubicBezTo>
                      <a:pt x="698657" y="91125"/>
                      <a:pt x="677422" y="112360"/>
                      <a:pt x="651228" y="112360"/>
                    </a:cubicBezTo>
                    <a:lnTo>
                      <a:pt x="47429" y="112360"/>
                    </a:lnTo>
                    <a:cubicBezTo>
                      <a:pt x="21235" y="112360"/>
                      <a:pt x="0" y="91125"/>
                      <a:pt x="0" y="64931"/>
                    </a:cubicBezTo>
                    <a:lnTo>
                      <a:pt x="0" y="47429"/>
                    </a:lnTo>
                    <a:cubicBezTo>
                      <a:pt x="0" y="21235"/>
                      <a:pt x="21235" y="0"/>
                      <a:pt x="47429" y="0"/>
                    </a:cubicBezTo>
                    <a:close/>
                  </a:path>
                </a:pathLst>
              </a:custGeom>
              <a:solidFill>
                <a:srgbClr val="E2E8EE"/>
              </a:solidFill>
              <a:ln w="28575" cap="rnd">
                <a:solidFill>
                  <a:srgbClr val="27374D"/>
                </a:solidFill>
                <a:prstDash val="solid"/>
                <a:round/>
              </a:ln>
            </p:spPr>
            <p:txBody>
              <a:bodyPr/>
              <a:lstStyle/>
              <a:p>
                <a:endParaRPr lang="en-US" sz="1200"/>
              </a:p>
            </p:txBody>
          </p:sp>
          <p:sp>
            <p:nvSpPr>
              <p:cNvPr id="317" name="TextBox 25">
                <a:extLst>
                  <a:ext uri="{FF2B5EF4-FFF2-40B4-BE49-F238E27FC236}">
                    <a16:creationId xmlns:a16="http://schemas.microsoft.com/office/drawing/2014/main" id="{3752315A-BEBA-036C-E6F5-B4236A64BE9B}"/>
                  </a:ext>
                </a:extLst>
              </p:cNvPr>
              <p:cNvSpPr txBox="1"/>
              <p:nvPr/>
            </p:nvSpPr>
            <p:spPr>
              <a:xfrm>
                <a:off x="0" y="-57150"/>
                <a:ext cx="698657" cy="169510"/>
              </a:xfrm>
              <a:prstGeom prst="rect">
                <a:avLst/>
              </a:prstGeom>
            </p:spPr>
            <p:txBody>
              <a:bodyPr lIns="50800" tIns="50800" rIns="50800" bIns="50800" rtlCol="0" anchor="ctr"/>
              <a:lstStyle/>
              <a:p>
                <a:pPr algn="ctr">
                  <a:lnSpc>
                    <a:spcPts val="4060"/>
                  </a:lnSpc>
                  <a:spcBef>
                    <a:spcPct val="0"/>
                  </a:spcBef>
                </a:pPr>
                <a:endParaRPr sz="1200"/>
              </a:p>
            </p:txBody>
          </p:sp>
        </p:grpSp>
        <p:grpSp>
          <p:nvGrpSpPr>
            <p:cNvPr id="240" name="Group 26">
              <a:extLst>
                <a:ext uri="{FF2B5EF4-FFF2-40B4-BE49-F238E27FC236}">
                  <a16:creationId xmlns:a16="http://schemas.microsoft.com/office/drawing/2014/main" id="{03FAE6AB-CDB4-48ED-6E9C-403C9AD266F4}"/>
                </a:ext>
              </a:extLst>
            </p:cNvPr>
            <p:cNvGrpSpPr/>
            <p:nvPr/>
          </p:nvGrpSpPr>
          <p:grpSpPr>
            <a:xfrm rot="-5400000">
              <a:off x="4622487" y="2440981"/>
              <a:ext cx="255809" cy="223251"/>
              <a:chOff x="0" y="0"/>
              <a:chExt cx="698500" cy="609600"/>
            </a:xfrm>
          </p:grpSpPr>
          <p:sp>
            <p:nvSpPr>
              <p:cNvPr id="314" name="Freeform 27">
                <a:extLst>
                  <a:ext uri="{FF2B5EF4-FFF2-40B4-BE49-F238E27FC236}">
                    <a16:creationId xmlns:a16="http://schemas.microsoft.com/office/drawing/2014/main" id="{92102E72-97F4-5B87-CE1B-98AFA70F975B}"/>
                  </a:ext>
                </a:extLst>
              </p:cNvPr>
              <p:cNvSpPr/>
              <p:nvPr/>
            </p:nvSpPr>
            <p:spPr>
              <a:xfrm>
                <a:off x="87477" y="0"/>
                <a:ext cx="523545" cy="489009"/>
              </a:xfrm>
              <a:custGeom>
                <a:avLst/>
                <a:gdLst/>
                <a:ahLst/>
                <a:cxnLst/>
                <a:rect l="l" t="t" r="r" b="b"/>
                <a:pathLst>
                  <a:path w="523545" h="489009">
                    <a:moveTo>
                      <a:pt x="158340" y="429062"/>
                    </a:moveTo>
                    <a:lnTo>
                      <a:pt x="15956" y="180538"/>
                    </a:lnTo>
                    <a:cubicBezTo>
                      <a:pt x="-5425" y="143218"/>
                      <a:pt x="-5310" y="97334"/>
                      <a:pt x="16257" y="60122"/>
                    </a:cubicBezTo>
                    <a:cubicBezTo>
                      <a:pt x="37825" y="22909"/>
                      <a:pt x="77580" y="0"/>
                      <a:pt x="120591" y="0"/>
                    </a:cubicBezTo>
                    <a:lnTo>
                      <a:pt x="402955" y="0"/>
                    </a:lnTo>
                    <a:cubicBezTo>
                      <a:pt x="445966" y="0"/>
                      <a:pt x="485721" y="22909"/>
                      <a:pt x="507289" y="60122"/>
                    </a:cubicBezTo>
                    <a:cubicBezTo>
                      <a:pt x="528857" y="97335"/>
                      <a:pt x="528971" y="143218"/>
                      <a:pt x="507590" y="180538"/>
                    </a:cubicBezTo>
                    <a:lnTo>
                      <a:pt x="365206" y="429062"/>
                    </a:lnTo>
                    <a:cubicBezTo>
                      <a:pt x="343965" y="466138"/>
                      <a:pt x="304503" y="489009"/>
                      <a:pt x="261773" y="489009"/>
                    </a:cubicBezTo>
                    <a:cubicBezTo>
                      <a:pt x="219043" y="489009"/>
                      <a:pt x="179581" y="466138"/>
                      <a:pt x="158340" y="429062"/>
                    </a:cubicBezTo>
                    <a:close/>
                  </a:path>
                </a:pathLst>
              </a:custGeom>
              <a:solidFill>
                <a:srgbClr val="27374D"/>
              </a:solidFill>
            </p:spPr>
            <p:txBody>
              <a:bodyPr/>
              <a:lstStyle/>
              <a:p>
                <a:endParaRPr lang="en-US" sz="1200"/>
              </a:p>
            </p:txBody>
          </p:sp>
          <p:sp>
            <p:nvSpPr>
              <p:cNvPr id="315" name="TextBox 28">
                <a:extLst>
                  <a:ext uri="{FF2B5EF4-FFF2-40B4-BE49-F238E27FC236}">
                    <a16:creationId xmlns:a16="http://schemas.microsoft.com/office/drawing/2014/main" id="{5819547D-D51C-0F01-5799-E27D4A609135}"/>
                  </a:ext>
                </a:extLst>
              </p:cNvPr>
              <p:cNvSpPr txBox="1"/>
              <p:nvPr/>
            </p:nvSpPr>
            <p:spPr>
              <a:xfrm>
                <a:off x="215900" y="-57150"/>
                <a:ext cx="266700" cy="438150"/>
              </a:xfrm>
              <a:prstGeom prst="rect">
                <a:avLst/>
              </a:prstGeom>
            </p:spPr>
            <p:txBody>
              <a:bodyPr lIns="50800" tIns="50800" rIns="50800" bIns="50800" rtlCol="0" anchor="ctr"/>
              <a:lstStyle/>
              <a:p>
                <a:pPr algn="ctr">
                  <a:lnSpc>
                    <a:spcPts val="4060"/>
                  </a:lnSpc>
                </a:pPr>
                <a:endParaRPr sz="1200"/>
              </a:p>
            </p:txBody>
          </p:sp>
        </p:grpSp>
        <p:grpSp>
          <p:nvGrpSpPr>
            <p:cNvPr id="241" name="Group 29">
              <a:extLst>
                <a:ext uri="{FF2B5EF4-FFF2-40B4-BE49-F238E27FC236}">
                  <a16:creationId xmlns:a16="http://schemas.microsoft.com/office/drawing/2014/main" id="{085BA8C3-0BBD-AC96-7E4F-C3B7068897F8}"/>
                </a:ext>
              </a:extLst>
            </p:cNvPr>
            <p:cNvGrpSpPr/>
            <p:nvPr/>
          </p:nvGrpSpPr>
          <p:grpSpPr>
            <a:xfrm>
              <a:off x="4828155" y="2991272"/>
              <a:ext cx="114774" cy="114774"/>
              <a:chOff x="0" y="0"/>
              <a:chExt cx="812800" cy="812800"/>
            </a:xfrm>
          </p:grpSpPr>
          <p:sp>
            <p:nvSpPr>
              <p:cNvPr id="312" name="Freeform 30">
                <a:extLst>
                  <a:ext uri="{FF2B5EF4-FFF2-40B4-BE49-F238E27FC236}">
                    <a16:creationId xmlns:a16="http://schemas.microsoft.com/office/drawing/2014/main" id="{EA923BE0-3755-2980-3234-922BB43A89E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374D"/>
              </a:solidFill>
            </p:spPr>
            <p:txBody>
              <a:bodyPr/>
              <a:lstStyle/>
              <a:p>
                <a:endParaRPr lang="en-US" sz="1200"/>
              </a:p>
            </p:txBody>
          </p:sp>
          <p:sp>
            <p:nvSpPr>
              <p:cNvPr id="313" name="TextBox 31">
                <a:extLst>
                  <a:ext uri="{FF2B5EF4-FFF2-40B4-BE49-F238E27FC236}">
                    <a16:creationId xmlns:a16="http://schemas.microsoft.com/office/drawing/2014/main" id="{103E49CF-9F67-8BCA-0B5D-99D732F16292}"/>
                  </a:ext>
                </a:extLst>
              </p:cNvPr>
              <p:cNvSpPr txBox="1"/>
              <p:nvPr/>
            </p:nvSpPr>
            <p:spPr>
              <a:xfrm>
                <a:off x="76200" y="19050"/>
                <a:ext cx="660400" cy="717550"/>
              </a:xfrm>
              <a:prstGeom prst="rect">
                <a:avLst/>
              </a:prstGeom>
            </p:spPr>
            <p:txBody>
              <a:bodyPr lIns="50800" tIns="50800" rIns="50800" bIns="50800" rtlCol="0" anchor="ctr"/>
              <a:lstStyle/>
              <a:p>
                <a:pPr algn="ctr">
                  <a:lnSpc>
                    <a:spcPts val="4060"/>
                  </a:lnSpc>
                </a:pPr>
                <a:endParaRPr sz="1200"/>
              </a:p>
            </p:txBody>
          </p:sp>
        </p:grpSp>
        <p:sp>
          <p:nvSpPr>
            <p:cNvPr id="242" name="Freeform 32">
              <a:extLst>
                <a:ext uri="{FF2B5EF4-FFF2-40B4-BE49-F238E27FC236}">
                  <a16:creationId xmlns:a16="http://schemas.microsoft.com/office/drawing/2014/main" id="{C13FD633-7468-C9D2-6E86-43083359D371}"/>
                </a:ext>
              </a:extLst>
            </p:cNvPr>
            <p:cNvSpPr/>
            <p:nvPr/>
          </p:nvSpPr>
          <p:spPr>
            <a:xfrm>
              <a:off x="4660275" y="2855929"/>
              <a:ext cx="3887503" cy="3389400"/>
            </a:xfrm>
            <a:custGeom>
              <a:avLst/>
              <a:gdLst/>
              <a:ahLst/>
              <a:cxnLst/>
              <a:rect l="l" t="t" r="r" b="b"/>
              <a:pathLst>
                <a:path w="3887503" h="3389400">
                  <a:moveTo>
                    <a:pt x="480914" y="0"/>
                  </a:moveTo>
                  <a:lnTo>
                    <a:pt x="480914" y="96365"/>
                  </a:lnTo>
                  <a:cubicBezTo>
                    <a:pt x="480914" y="149586"/>
                    <a:pt x="524059" y="192730"/>
                    <a:pt x="577279" y="192730"/>
                  </a:cubicBezTo>
                  <a:lnTo>
                    <a:pt x="3658903" y="192730"/>
                  </a:lnTo>
                  <a:cubicBezTo>
                    <a:pt x="3719532" y="192730"/>
                    <a:pt x="3777677" y="216815"/>
                    <a:pt x="3820547" y="259686"/>
                  </a:cubicBezTo>
                  <a:cubicBezTo>
                    <a:pt x="3863418" y="302557"/>
                    <a:pt x="3887503" y="360702"/>
                    <a:pt x="3887503" y="421330"/>
                  </a:cubicBezTo>
                  <a:lnTo>
                    <a:pt x="3887503" y="3160800"/>
                  </a:lnTo>
                  <a:cubicBezTo>
                    <a:pt x="3887503" y="3287053"/>
                    <a:pt x="3785155" y="3389400"/>
                    <a:pt x="3658903" y="3389400"/>
                  </a:cubicBezTo>
                  <a:lnTo>
                    <a:pt x="228600" y="3389400"/>
                  </a:lnTo>
                  <a:cubicBezTo>
                    <a:pt x="102348" y="3389400"/>
                    <a:pt x="0" y="3287053"/>
                    <a:pt x="0" y="3160800"/>
                  </a:cubicBezTo>
                  <a:lnTo>
                    <a:pt x="0" y="293601"/>
                  </a:lnTo>
                  <a:cubicBezTo>
                    <a:pt x="0" y="266848"/>
                    <a:pt x="10628" y="241191"/>
                    <a:pt x="29545" y="222275"/>
                  </a:cubicBezTo>
                  <a:cubicBezTo>
                    <a:pt x="48461" y="203358"/>
                    <a:pt x="74118" y="192730"/>
                    <a:pt x="100871" y="192730"/>
                  </a:cubicBezTo>
                  <a:lnTo>
                    <a:pt x="201741" y="192730"/>
                  </a:lnTo>
                </a:path>
              </a:pathLst>
            </a:custGeom>
            <a:ln w="28575" cap="flat">
              <a:solidFill>
                <a:srgbClr val="27374D"/>
              </a:solidFill>
              <a:prstDash val="solid"/>
              <a:headEnd type="none" w="sm" len="sm"/>
              <a:tailEnd type="none" w="sm" len="sm"/>
            </a:ln>
          </p:spPr>
          <p:txBody>
            <a:bodyPr/>
            <a:lstStyle/>
            <a:p>
              <a:endParaRPr lang="en-US" sz="1200"/>
            </a:p>
          </p:txBody>
        </p:sp>
        <p:grpSp>
          <p:nvGrpSpPr>
            <p:cNvPr id="243" name="Group 33">
              <a:extLst>
                <a:ext uri="{FF2B5EF4-FFF2-40B4-BE49-F238E27FC236}">
                  <a16:creationId xmlns:a16="http://schemas.microsoft.com/office/drawing/2014/main" id="{644F90F3-6953-5706-22C7-D0133C40F996}"/>
                </a:ext>
              </a:extLst>
            </p:cNvPr>
            <p:cNvGrpSpPr/>
            <p:nvPr/>
          </p:nvGrpSpPr>
          <p:grpSpPr>
            <a:xfrm>
              <a:off x="4638517" y="6439978"/>
              <a:ext cx="3917595" cy="630038"/>
              <a:chOff x="0" y="0"/>
              <a:chExt cx="698657" cy="112360"/>
            </a:xfrm>
          </p:grpSpPr>
          <p:sp>
            <p:nvSpPr>
              <p:cNvPr id="310" name="Freeform 34">
                <a:extLst>
                  <a:ext uri="{FF2B5EF4-FFF2-40B4-BE49-F238E27FC236}">
                    <a16:creationId xmlns:a16="http://schemas.microsoft.com/office/drawing/2014/main" id="{03F68DDD-E846-8644-6C8C-F7050DEFC8B0}"/>
                  </a:ext>
                </a:extLst>
              </p:cNvPr>
              <p:cNvSpPr/>
              <p:nvPr/>
            </p:nvSpPr>
            <p:spPr>
              <a:xfrm>
                <a:off x="0" y="0"/>
                <a:ext cx="698657" cy="112360"/>
              </a:xfrm>
              <a:custGeom>
                <a:avLst/>
                <a:gdLst/>
                <a:ahLst/>
                <a:cxnLst/>
                <a:rect l="l" t="t" r="r" b="b"/>
                <a:pathLst>
                  <a:path w="698657" h="112360">
                    <a:moveTo>
                      <a:pt x="47429" y="0"/>
                    </a:moveTo>
                    <a:lnTo>
                      <a:pt x="651228" y="0"/>
                    </a:lnTo>
                    <a:cubicBezTo>
                      <a:pt x="677422" y="0"/>
                      <a:pt x="698657" y="21235"/>
                      <a:pt x="698657" y="47429"/>
                    </a:cubicBezTo>
                    <a:lnTo>
                      <a:pt x="698657" y="64931"/>
                    </a:lnTo>
                    <a:cubicBezTo>
                      <a:pt x="698657" y="91125"/>
                      <a:pt x="677422" y="112360"/>
                      <a:pt x="651228" y="112360"/>
                    </a:cubicBezTo>
                    <a:lnTo>
                      <a:pt x="47429" y="112360"/>
                    </a:lnTo>
                    <a:cubicBezTo>
                      <a:pt x="21235" y="112360"/>
                      <a:pt x="0" y="91125"/>
                      <a:pt x="0" y="64931"/>
                    </a:cubicBezTo>
                    <a:lnTo>
                      <a:pt x="0" y="47429"/>
                    </a:lnTo>
                    <a:cubicBezTo>
                      <a:pt x="0" y="21235"/>
                      <a:pt x="21235" y="0"/>
                      <a:pt x="47429" y="0"/>
                    </a:cubicBezTo>
                    <a:close/>
                  </a:path>
                </a:pathLst>
              </a:custGeom>
              <a:solidFill>
                <a:srgbClr val="E2E8EE"/>
              </a:solidFill>
              <a:ln w="28575" cap="rnd">
                <a:solidFill>
                  <a:srgbClr val="27374D"/>
                </a:solidFill>
                <a:prstDash val="solid"/>
                <a:round/>
              </a:ln>
            </p:spPr>
            <p:txBody>
              <a:bodyPr/>
              <a:lstStyle/>
              <a:p>
                <a:endParaRPr lang="en-US" sz="1200"/>
              </a:p>
            </p:txBody>
          </p:sp>
          <p:sp>
            <p:nvSpPr>
              <p:cNvPr id="311" name="TextBox 35">
                <a:extLst>
                  <a:ext uri="{FF2B5EF4-FFF2-40B4-BE49-F238E27FC236}">
                    <a16:creationId xmlns:a16="http://schemas.microsoft.com/office/drawing/2014/main" id="{A2C5E06E-2C10-F7D0-F993-10766D91092A}"/>
                  </a:ext>
                </a:extLst>
              </p:cNvPr>
              <p:cNvSpPr txBox="1"/>
              <p:nvPr/>
            </p:nvSpPr>
            <p:spPr>
              <a:xfrm>
                <a:off x="0" y="-57150"/>
                <a:ext cx="698657" cy="169510"/>
              </a:xfrm>
              <a:prstGeom prst="rect">
                <a:avLst/>
              </a:prstGeom>
            </p:spPr>
            <p:txBody>
              <a:bodyPr lIns="50800" tIns="50800" rIns="50800" bIns="50800" rtlCol="0" anchor="ctr"/>
              <a:lstStyle/>
              <a:p>
                <a:pPr algn="ctr">
                  <a:lnSpc>
                    <a:spcPts val="4060"/>
                  </a:lnSpc>
                  <a:spcBef>
                    <a:spcPct val="0"/>
                  </a:spcBef>
                </a:pPr>
                <a:endParaRPr sz="1200"/>
              </a:p>
            </p:txBody>
          </p:sp>
        </p:grpSp>
        <p:grpSp>
          <p:nvGrpSpPr>
            <p:cNvPr id="244" name="Group 36">
              <a:extLst>
                <a:ext uri="{FF2B5EF4-FFF2-40B4-BE49-F238E27FC236}">
                  <a16:creationId xmlns:a16="http://schemas.microsoft.com/office/drawing/2014/main" id="{F5F100FE-617D-EFBC-4B04-03BEE6541B8F}"/>
                </a:ext>
              </a:extLst>
            </p:cNvPr>
            <p:cNvGrpSpPr/>
            <p:nvPr/>
          </p:nvGrpSpPr>
          <p:grpSpPr>
            <a:xfrm rot="-5400000">
              <a:off x="4622238" y="6643372"/>
              <a:ext cx="255809" cy="223251"/>
              <a:chOff x="0" y="0"/>
              <a:chExt cx="698500" cy="609600"/>
            </a:xfrm>
          </p:grpSpPr>
          <p:sp>
            <p:nvSpPr>
              <p:cNvPr id="308" name="Freeform 37">
                <a:extLst>
                  <a:ext uri="{FF2B5EF4-FFF2-40B4-BE49-F238E27FC236}">
                    <a16:creationId xmlns:a16="http://schemas.microsoft.com/office/drawing/2014/main" id="{8F5B3C23-7314-8895-77AF-865565A3AE3F}"/>
                  </a:ext>
                </a:extLst>
              </p:cNvPr>
              <p:cNvSpPr/>
              <p:nvPr/>
            </p:nvSpPr>
            <p:spPr>
              <a:xfrm>
                <a:off x="87477" y="0"/>
                <a:ext cx="523545" cy="489009"/>
              </a:xfrm>
              <a:custGeom>
                <a:avLst/>
                <a:gdLst/>
                <a:ahLst/>
                <a:cxnLst/>
                <a:rect l="l" t="t" r="r" b="b"/>
                <a:pathLst>
                  <a:path w="523545" h="489009">
                    <a:moveTo>
                      <a:pt x="158340" y="429062"/>
                    </a:moveTo>
                    <a:lnTo>
                      <a:pt x="15956" y="180538"/>
                    </a:lnTo>
                    <a:cubicBezTo>
                      <a:pt x="-5425" y="143218"/>
                      <a:pt x="-5310" y="97334"/>
                      <a:pt x="16257" y="60122"/>
                    </a:cubicBezTo>
                    <a:cubicBezTo>
                      <a:pt x="37825" y="22909"/>
                      <a:pt x="77580" y="0"/>
                      <a:pt x="120591" y="0"/>
                    </a:cubicBezTo>
                    <a:lnTo>
                      <a:pt x="402955" y="0"/>
                    </a:lnTo>
                    <a:cubicBezTo>
                      <a:pt x="445966" y="0"/>
                      <a:pt x="485721" y="22909"/>
                      <a:pt x="507289" y="60122"/>
                    </a:cubicBezTo>
                    <a:cubicBezTo>
                      <a:pt x="528857" y="97335"/>
                      <a:pt x="528971" y="143218"/>
                      <a:pt x="507590" y="180538"/>
                    </a:cubicBezTo>
                    <a:lnTo>
                      <a:pt x="365206" y="429062"/>
                    </a:lnTo>
                    <a:cubicBezTo>
                      <a:pt x="343965" y="466138"/>
                      <a:pt x="304503" y="489009"/>
                      <a:pt x="261773" y="489009"/>
                    </a:cubicBezTo>
                    <a:cubicBezTo>
                      <a:pt x="219043" y="489009"/>
                      <a:pt x="179581" y="466138"/>
                      <a:pt x="158340" y="429062"/>
                    </a:cubicBezTo>
                    <a:close/>
                  </a:path>
                </a:pathLst>
              </a:custGeom>
              <a:solidFill>
                <a:srgbClr val="27374D"/>
              </a:solidFill>
            </p:spPr>
            <p:txBody>
              <a:bodyPr/>
              <a:lstStyle/>
              <a:p>
                <a:endParaRPr lang="en-US" sz="1200"/>
              </a:p>
            </p:txBody>
          </p:sp>
          <p:sp>
            <p:nvSpPr>
              <p:cNvPr id="309" name="TextBox 38">
                <a:extLst>
                  <a:ext uri="{FF2B5EF4-FFF2-40B4-BE49-F238E27FC236}">
                    <a16:creationId xmlns:a16="http://schemas.microsoft.com/office/drawing/2014/main" id="{C330B563-55EB-B1C1-478E-60EDFB1CF8FA}"/>
                  </a:ext>
                </a:extLst>
              </p:cNvPr>
              <p:cNvSpPr txBox="1"/>
              <p:nvPr/>
            </p:nvSpPr>
            <p:spPr>
              <a:xfrm>
                <a:off x="215900" y="-57150"/>
                <a:ext cx="266700" cy="438150"/>
              </a:xfrm>
              <a:prstGeom prst="rect">
                <a:avLst/>
              </a:prstGeom>
            </p:spPr>
            <p:txBody>
              <a:bodyPr lIns="50800" tIns="50800" rIns="50800" bIns="50800" rtlCol="0" anchor="ctr"/>
              <a:lstStyle/>
              <a:p>
                <a:pPr algn="ctr">
                  <a:lnSpc>
                    <a:spcPts val="4060"/>
                  </a:lnSpc>
                </a:pPr>
                <a:endParaRPr sz="1200"/>
              </a:p>
            </p:txBody>
          </p:sp>
        </p:grpSp>
        <p:grpSp>
          <p:nvGrpSpPr>
            <p:cNvPr id="245" name="Group 39">
              <a:extLst>
                <a:ext uri="{FF2B5EF4-FFF2-40B4-BE49-F238E27FC236}">
                  <a16:creationId xmlns:a16="http://schemas.microsoft.com/office/drawing/2014/main" id="{3EFAD52C-EEA3-B016-3D31-5E0D41D9D98B}"/>
                </a:ext>
              </a:extLst>
            </p:cNvPr>
            <p:cNvGrpSpPr/>
            <p:nvPr/>
          </p:nvGrpSpPr>
          <p:grpSpPr>
            <a:xfrm>
              <a:off x="4827907" y="7193663"/>
              <a:ext cx="114774" cy="114774"/>
              <a:chOff x="0" y="0"/>
              <a:chExt cx="812800" cy="812800"/>
            </a:xfrm>
          </p:grpSpPr>
          <p:sp>
            <p:nvSpPr>
              <p:cNvPr id="306" name="Freeform 40">
                <a:extLst>
                  <a:ext uri="{FF2B5EF4-FFF2-40B4-BE49-F238E27FC236}">
                    <a16:creationId xmlns:a16="http://schemas.microsoft.com/office/drawing/2014/main" id="{60764230-A723-43D5-D258-2E49B6C89DF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374D"/>
              </a:solidFill>
            </p:spPr>
            <p:txBody>
              <a:bodyPr/>
              <a:lstStyle/>
              <a:p>
                <a:endParaRPr lang="en-US" sz="1200"/>
              </a:p>
            </p:txBody>
          </p:sp>
          <p:sp>
            <p:nvSpPr>
              <p:cNvPr id="307" name="TextBox 41">
                <a:extLst>
                  <a:ext uri="{FF2B5EF4-FFF2-40B4-BE49-F238E27FC236}">
                    <a16:creationId xmlns:a16="http://schemas.microsoft.com/office/drawing/2014/main" id="{71BB99E2-03CC-FDF2-9C30-AE62FF381293}"/>
                  </a:ext>
                </a:extLst>
              </p:cNvPr>
              <p:cNvSpPr txBox="1"/>
              <p:nvPr/>
            </p:nvSpPr>
            <p:spPr>
              <a:xfrm>
                <a:off x="76200" y="19050"/>
                <a:ext cx="660400" cy="717550"/>
              </a:xfrm>
              <a:prstGeom prst="rect">
                <a:avLst/>
              </a:prstGeom>
            </p:spPr>
            <p:txBody>
              <a:bodyPr lIns="50800" tIns="50800" rIns="50800" bIns="50800" rtlCol="0" anchor="ctr"/>
              <a:lstStyle/>
              <a:p>
                <a:pPr algn="ctr">
                  <a:lnSpc>
                    <a:spcPts val="4060"/>
                  </a:lnSpc>
                </a:pPr>
                <a:endParaRPr sz="1200"/>
              </a:p>
            </p:txBody>
          </p:sp>
        </p:grpSp>
        <p:sp>
          <p:nvSpPr>
            <p:cNvPr id="246" name="Freeform 42">
              <a:extLst>
                <a:ext uri="{FF2B5EF4-FFF2-40B4-BE49-F238E27FC236}">
                  <a16:creationId xmlns:a16="http://schemas.microsoft.com/office/drawing/2014/main" id="{EEE300F1-A666-AFF6-85CE-073DC4D71FE2}"/>
                </a:ext>
              </a:extLst>
            </p:cNvPr>
            <p:cNvSpPr/>
            <p:nvPr/>
          </p:nvSpPr>
          <p:spPr>
            <a:xfrm>
              <a:off x="4660028" y="7058320"/>
              <a:ext cx="3887503" cy="3389400"/>
            </a:xfrm>
            <a:custGeom>
              <a:avLst/>
              <a:gdLst/>
              <a:ahLst/>
              <a:cxnLst/>
              <a:rect l="l" t="t" r="r" b="b"/>
              <a:pathLst>
                <a:path w="3887503" h="3389400">
                  <a:moveTo>
                    <a:pt x="480914" y="0"/>
                  </a:moveTo>
                  <a:lnTo>
                    <a:pt x="480914" y="96365"/>
                  </a:lnTo>
                  <a:cubicBezTo>
                    <a:pt x="480914" y="121922"/>
                    <a:pt x="491066" y="146433"/>
                    <a:pt x="509138" y="164505"/>
                  </a:cubicBezTo>
                  <a:cubicBezTo>
                    <a:pt x="527210" y="182577"/>
                    <a:pt x="551721" y="192730"/>
                    <a:pt x="577279" y="192730"/>
                  </a:cubicBezTo>
                  <a:lnTo>
                    <a:pt x="3658902" y="192730"/>
                  </a:lnTo>
                  <a:cubicBezTo>
                    <a:pt x="3785154" y="192730"/>
                    <a:pt x="3887502" y="295078"/>
                    <a:pt x="3887502" y="421330"/>
                  </a:cubicBezTo>
                  <a:lnTo>
                    <a:pt x="3887502" y="3160800"/>
                  </a:lnTo>
                  <a:cubicBezTo>
                    <a:pt x="3887502" y="3287052"/>
                    <a:pt x="3785154" y="3389400"/>
                    <a:pt x="3658902" y="3389400"/>
                  </a:cubicBezTo>
                  <a:lnTo>
                    <a:pt x="228600" y="3389400"/>
                  </a:lnTo>
                  <a:cubicBezTo>
                    <a:pt x="167971" y="3389400"/>
                    <a:pt x="109826" y="3365315"/>
                    <a:pt x="66955" y="3322444"/>
                  </a:cubicBezTo>
                  <a:cubicBezTo>
                    <a:pt x="24084" y="3279574"/>
                    <a:pt x="0" y="3221429"/>
                    <a:pt x="0" y="3160800"/>
                  </a:cubicBezTo>
                  <a:lnTo>
                    <a:pt x="0" y="293600"/>
                  </a:lnTo>
                  <a:cubicBezTo>
                    <a:pt x="0" y="266848"/>
                    <a:pt x="10627" y="241191"/>
                    <a:pt x="29544" y="222274"/>
                  </a:cubicBezTo>
                  <a:cubicBezTo>
                    <a:pt x="48461" y="203357"/>
                    <a:pt x="74118" y="192730"/>
                    <a:pt x="100870" y="192730"/>
                  </a:cubicBezTo>
                  <a:lnTo>
                    <a:pt x="201740" y="192730"/>
                  </a:lnTo>
                </a:path>
              </a:pathLst>
            </a:custGeom>
            <a:ln w="28575" cap="flat">
              <a:solidFill>
                <a:srgbClr val="27374D"/>
              </a:solidFill>
              <a:prstDash val="solid"/>
              <a:headEnd type="none" w="sm" len="sm"/>
              <a:tailEnd type="none" w="sm" len="sm"/>
            </a:ln>
          </p:spPr>
          <p:txBody>
            <a:bodyPr/>
            <a:lstStyle/>
            <a:p>
              <a:endParaRPr lang="en-US" sz="1200"/>
            </a:p>
          </p:txBody>
        </p:sp>
        <p:grpSp>
          <p:nvGrpSpPr>
            <p:cNvPr id="247" name="Group 43">
              <a:extLst>
                <a:ext uri="{FF2B5EF4-FFF2-40B4-BE49-F238E27FC236}">
                  <a16:creationId xmlns:a16="http://schemas.microsoft.com/office/drawing/2014/main" id="{7693DE48-C0B3-A1C4-7CC9-E4741275C38B}"/>
                </a:ext>
              </a:extLst>
            </p:cNvPr>
            <p:cNvGrpSpPr/>
            <p:nvPr/>
          </p:nvGrpSpPr>
          <p:grpSpPr>
            <a:xfrm>
              <a:off x="8731018" y="2235919"/>
              <a:ext cx="3917595" cy="630038"/>
              <a:chOff x="0" y="0"/>
              <a:chExt cx="698657" cy="112360"/>
            </a:xfrm>
          </p:grpSpPr>
          <p:sp>
            <p:nvSpPr>
              <p:cNvPr id="304" name="Freeform 44">
                <a:extLst>
                  <a:ext uri="{FF2B5EF4-FFF2-40B4-BE49-F238E27FC236}">
                    <a16:creationId xmlns:a16="http://schemas.microsoft.com/office/drawing/2014/main" id="{B8CED2AC-D815-0656-D8C8-EF501A8005EC}"/>
                  </a:ext>
                </a:extLst>
              </p:cNvPr>
              <p:cNvSpPr/>
              <p:nvPr/>
            </p:nvSpPr>
            <p:spPr>
              <a:xfrm>
                <a:off x="0" y="0"/>
                <a:ext cx="698657" cy="112360"/>
              </a:xfrm>
              <a:custGeom>
                <a:avLst/>
                <a:gdLst/>
                <a:ahLst/>
                <a:cxnLst/>
                <a:rect l="l" t="t" r="r" b="b"/>
                <a:pathLst>
                  <a:path w="698657" h="112360">
                    <a:moveTo>
                      <a:pt x="47429" y="0"/>
                    </a:moveTo>
                    <a:lnTo>
                      <a:pt x="651228" y="0"/>
                    </a:lnTo>
                    <a:cubicBezTo>
                      <a:pt x="677422" y="0"/>
                      <a:pt x="698657" y="21235"/>
                      <a:pt x="698657" y="47429"/>
                    </a:cubicBezTo>
                    <a:lnTo>
                      <a:pt x="698657" y="64931"/>
                    </a:lnTo>
                    <a:cubicBezTo>
                      <a:pt x="698657" y="91125"/>
                      <a:pt x="677422" y="112360"/>
                      <a:pt x="651228" y="112360"/>
                    </a:cubicBezTo>
                    <a:lnTo>
                      <a:pt x="47429" y="112360"/>
                    </a:lnTo>
                    <a:cubicBezTo>
                      <a:pt x="21235" y="112360"/>
                      <a:pt x="0" y="91125"/>
                      <a:pt x="0" y="64931"/>
                    </a:cubicBezTo>
                    <a:lnTo>
                      <a:pt x="0" y="47429"/>
                    </a:lnTo>
                    <a:cubicBezTo>
                      <a:pt x="0" y="21235"/>
                      <a:pt x="21235" y="0"/>
                      <a:pt x="47429" y="0"/>
                    </a:cubicBezTo>
                    <a:close/>
                  </a:path>
                </a:pathLst>
              </a:custGeom>
              <a:solidFill>
                <a:srgbClr val="E2E8EE"/>
              </a:solidFill>
              <a:ln w="28575" cap="rnd">
                <a:solidFill>
                  <a:srgbClr val="27374D"/>
                </a:solidFill>
                <a:prstDash val="solid"/>
                <a:round/>
              </a:ln>
            </p:spPr>
            <p:txBody>
              <a:bodyPr/>
              <a:lstStyle/>
              <a:p>
                <a:endParaRPr lang="en-US" sz="1200"/>
              </a:p>
            </p:txBody>
          </p:sp>
          <p:sp>
            <p:nvSpPr>
              <p:cNvPr id="305" name="TextBox 45">
                <a:extLst>
                  <a:ext uri="{FF2B5EF4-FFF2-40B4-BE49-F238E27FC236}">
                    <a16:creationId xmlns:a16="http://schemas.microsoft.com/office/drawing/2014/main" id="{8756A4B6-0C49-12C3-8C82-D8A09545A819}"/>
                  </a:ext>
                </a:extLst>
              </p:cNvPr>
              <p:cNvSpPr txBox="1"/>
              <p:nvPr/>
            </p:nvSpPr>
            <p:spPr>
              <a:xfrm>
                <a:off x="0" y="-57150"/>
                <a:ext cx="698657" cy="169510"/>
              </a:xfrm>
              <a:prstGeom prst="rect">
                <a:avLst/>
              </a:prstGeom>
            </p:spPr>
            <p:txBody>
              <a:bodyPr lIns="50800" tIns="50800" rIns="50800" bIns="50800" rtlCol="0" anchor="ctr"/>
              <a:lstStyle/>
              <a:p>
                <a:pPr algn="ctr">
                  <a:lnSpc>
                    <a:spcPts val="4060"/>
                  </a:lnSpc>
                  <a:spcBef>
                    <a:spcPct val="0"/>
                  </a:spcBef>
                </a:pPr>
                <a:endParaRPr sz="1200"/>
              </a:p>
            </p:txBody>
          </p:sp>
        </p:grpSp>
        <p:grpSp>
          <p:nvGrpSpPr>
            <p:cNvPr id="248" name="Group 46">
              <a:extLst>
                <a:ext uri="{FF2B5EF4-FFF2-40B4-BE49-F238E27FC236}">
                  <a16:creationId xmlns:a16="http://schemas.microsoft.com/office/drawing/2014/main" id="{C2E62B4F-98ED-4DD8-BC70-DB1635AD0F44}"/>
                </a:ext>
              </a:extLst>
            </p:cNvPr>
            <p:cNvGrpSpPr/>
            <p:nvPr/>
          </p:nvGrpSpPr>
          <p:grpSpPr>
            <a:xfrm rot="-5400000">
              <a:off x="8714739" y="2439312"/>
              <a:ext cx="255809" cy="223251"/>
              <a:chOff x="0" y="0"/>
              <a:chExt cx="698500" cy="609600"/>
            </a:xfrm>
          </p:grpSpPr>
          <p:sp>
            <p:nvSpPr>
              <p:cNvPr id="302" name="Freeform 47">
                <a:extLst>
                  <a:ext uri="{FF2B5EF4-FFF2-40B4-BE49-F238E27FC236}">
                    <a16:creationId xmlns:a16="http://schemas.microsoft.com/office/drawing/2014/main" id="{22FC8E56-6199-EA31-B8E0-2C82455C172B}"/>
                  </a:ext>
                </a:extLst>
              </p:cNvPr>
              <p:cNvSpPr/>
              <p:nvPr/>
            </p:nvSpPr>
            <p:spPr>
              <a:xfrm>
                <a:off x="87477" y="0"/>
                <a:ext cx="523545" cy="489009"/>
              </a:xfrm>
              <a:custGeom>
                <a:avLst/>
                <a:gdLst/>
                <a:ahLst/>
                <a:cxnLst/>
                <a:rect l="l" t="t" r="r" b="b"/>
                <a:pathLst>
                  <a:path w="523545" h="489009">
                    <a:moveTo>
                      <a:pt x="158340" y="429062"/>
                    </a:moveTo>
                    <a:lnTo>
                      <a:pt x="15956" y="180538"/>
                    </a:lnTo>
                    <a:cubicBezTo>
                      <a:pt x="-5425" y="143218"/>
                      <a:pt x="-5310" y="97334"/>
                      <a:pt x="16257" y="60122"/>
                    </a:cubicBezTo>
                    <a:cubicBezTo>
                      <a:pt x="37825" y="22909"/>
                      <a:pt x="77580" y="0"/>
                      <a:pt x="120591" y="0"/>
                    </a:cubicBezTo>
                    <a:lnTo>
                      <a:pt x="402955" y="0"/>
                    </a:lnTo>
                    <a:cubicBezTo>
                      <a:pt x="445966" y="0"/>
                      <a:pt x="485721" y="22909"/>
                      <a:pt x="507289" y="60122"/>
                    </a:cubicBezTo>
                    <a:cubicBezTo>
                      <a:pt x="528857" y="97335"/>
                      <a:pt x="528971" y="143218"/>
                      <a:pt x="507590" y="180538"/>
                    </a:cubicBezTo>
                    <a:lnTo>
                      <a:pt x="365206" y="429062"/>
                    </a:lnTo>
                    <a:cubicBezTo>
                      <a:pt x="343965" y="466138"/>
                      <a:pt x="304503" y="489009"/>
                      <a:pt x="261773" y="489009"/>
                    </a:cubicBezTo>
                    <a:cubicBezTo>
                      <a:pt x="219043" y="489009"/>
                      <a:pt x="179581" y="466138"/>
                      <a:pt x="158340" y="429062"/>
                    </a:cubicBezTo>
                    <a:close/>
                  </a:path>
                </a:pathLst>
              </a:custGeom>
              <a:solidFill>
                <a:srgbClr val="27374D"/>
              </a:solidFill>
            </p:spPr>
            <p:txBody>
              <a:bodyPr/>
              <a:lstStyle/>
              <a:p>
                <a:endParaRPr lang="en-US" sz="1200"/>
              </a:p>
            </p:txBody>
          </p:sp>
          <p:sp>
            <p:nvSpPr>
              <p:cNvPr id="303" name="TextBox 48">
                <a:extLst>
                  <a:ext uri="{FF2B5EF4-FFF2-40B4-BE49-F238E27FC236}">
                    <a16:creationId xmlns:a16="http://schemas.microsoft.com/office/drawing/2014/main" id="{2D41C58A-810F-DC3C-C430-2EBEEF799AD0}"/>
                  </a:ext>
                </a:extLst>
              </p:cNvPr>
              <p:cNvSpPr txBox="1"/>
              <p:nvPr/>
            </p:nvSpPr>
            <p:spPr>
              <a:xfrm>
                <a:off x="215900" y="-57150"/>
                <a:ext cx="266700" cy="438150"/>
              </a:xfrm>
              <a:prstGeom prst="rect">
                <a:avLst/>
              </a:prstGeom>
            </p:spPr>
            <p:txBody>
              <a:bodyPr lIns="50800" tIns="50800" rIns="50800" bIns="50800" rtlCol="0" anchor="ctr"/>
              <a:lstStyle/>
              <a:p>
                <a:pPr algn="ctr">
                  <a:lnSpc>
                    <a:spcPts val="4060"/>
                  </a:lnSpc>
                </a:pPr>
                <a:endParaRPr sz="1200"/>
              </a:p>
            </p:txBody>
          </p:sp>
        </p:grpSp>
        <p:grpSp>
          <p:nvGrpSpPr>
            <p:cNvPr id="249" name="Group 49">
              <a:extLst>
                <a:ext uri="{FF2B5EF4-FFF2-40B4-BE49-F238E27FC236}">
                  <a16:creationId xmlns:a16="http://schemas.microsoft.com/office/drawing/2014/main" id="{44D3A95E-861F-36E4-9C6A-E9B2C3F6CC26}"/>
                </a:ext>
              </a:extLst>
            </p:cNvPr>
            <p:cNvGrpSpPr/>
            <p:nvPr/>
          </p:nvGrpSpPr>
          <p:grpSpPr>
            <a:xfrm>
              <a:off x="8920407" y="2989603"/>
              <a:ext cx="114774" cy="114774"/>
              <a:chOff x="0" y="0"/>
              <a:chExt cx="812800" cy="812800"/>
            </a:xfrm>
          </p:grpSpPr>
          <p:sp>
            <p:nvSpPr>
              <p:cNvPr id="300" name="Freeform 50">
                <a:extLst>
                  <a:ext uri="{FF2B5EF4-FFF2-40B4-BE49-F238E27FC236}">
                    <a16:creationId xmlns:a16="http://schemas.microsoft.com/office/drawing/2014/main" id="{A1160B7D-9568-3256-99EE-E3009AE7E51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374D"/>
              </a:solidFill>
            </p:spPr>
            <p:txBody>
              <a:bodyPr/>
              <a:lstStyle/>
              <a:p>
                <a:endParaRPr lang="en-US" sz="1200"/>
              </a:p>
            </p:txBody>
          </p:sp>
          <p:sp>
            <p:nvSpPr>
              <p:cNvPr id="301" name="TextBox 51">
                <a:extLst>
                  <a:ext uri="{FF2B5EF4-FFF2-40B4-BE49-F238E27FC236}">
                    <a16:creationId xmlns:a16="http://schemas.microsoft.com/office/drawing/2014/main" id="{20ABA5EE-E7B2-46F4-3F78-F20C5842F5B6}"/>
                  </a:ext>
                </a:extLst>
              </p:cNvPr>
              <p:cNvSpPr txBox="1"/>
              <p:nvPr/>
            </p:nvSpPr>
            <p:spPr>
              <a:xfrm>
                <a:off x="76200" y="19050"/>
                <a:ext cx="660400" cy="717550"/>
              </a:xfrm>
              <a:prstGeom prst="rect">
                <a:avLst/>
              </a:prstGeom>
            </p:spPr>
            <p:txBody>
              <a:bodyPr lIns="50800" tIns="50800" rIns="50800" bIns="50800" rtlCol="0" anchor="ctr"/>
              <a:lstStyle/>
              <a:p>
                <a:pPr algn="ctr">
                  <a:lnSpc>
                    <a:spcPts val="4060"/>
                  </a:lnSpc>
                </a:pPr>
                <a:endParaRPr sz="1200"/>
              </a:p>
            </p:txBody>
          </p:sp>
        </p:grpSp>
        <p:sp>
          <p:nvSpPr>
            <p:cNvPr id="250" name="Freeform 52">
              <a:extLst>
                <a:ext uri="{FF2B5EF4-FFF2-40B4-BE49-F238E27FC236}">
                  <a16:creationId xmlns:a16="http://schemas.microsoft.com/office/drawing/2014/main" id="{E042341D-F4B8-EB2D-D69E-FFA0DCC7D19C}"/>
                </a:ext>
              </a:extLst>
            </p:cNvPr>
            <p:cNvSpPr/>
            <p:nvPr/>
          </p:nvSpPr>
          <p:spPr>
            <a:xfrm>
              <a:off x="8752529" y="2854260"/>
              <a:ext cx="3887502" cy="7591791"/>
            </a:xfrm>
            <a:custGeom>
              <a:avLst/>
              <a:gdLst/>
              <a:ahLst/>
              <a:cxnLst/>
              <a:rect l="l" t="t" r="r" b="b"/>
              <a:pathLst>
                <a:path w="3887502" h="7591791">
                  <a:moveTo>
                    <a:pt x="480914" y="0"/>
                  </a:moveTo>
                  <a:lnTo>
                    <a:pt x="480914" y="96365"/>
                  </a:lnTo>
                  <a:cubicBezTo>
                    <a:pt x="480914" y="121923"/>
                    <a:pt x="491066" y="146434"/>
                    <a:pt x="509138" y="164506"/>
                  </a:cubicBezTo>
                  <a:cubicBezTo>
                    <a:pt x="527210" y="182578"/>
                    <a:pt x="551721" y="192730"/>
                    <a:pt x="577279" y="192730"/>
                  </a:cubicBezTo>
                  <a:lnTo>
                    <a:pt x="3658902" y="192730"/>
                  </a:lnTo>
                  <a:cubicBezTo>
                    <a:pt x="3719531" y="192730"/>
                    <a:pt x="3777676" y="216815"/>
                    <a:pt x="3820546" y="259686"/>
                  </a:cubicBezTo>
                  <a:cubicBezTo>
                    <a:pt x="3863417" y="302557"/>
                    <a:pt x="3887502" y="360702"/>
                    <a:pt x="3887502" y="421330"/>
                  </a:cubicBezTo>
                  <a:lnTo>
                    <a:pt x="3887502" y="7363191"/>
                  </a:lnTo>
                  <a:cubicBezTo>
                    <a:pt x="3887502" y="7489443"/>
                    <a:pt x="3785154" y="7591791"/>
                    <a:pt x="3658902" y="7591791"/>
                  </a:cubicBezTo>
                  <a:lnTo>
                    <a:pt x="228600" y="7591791"/>
                  </a:lnTo>
                  <a:cubicBezTo>
                    <a:pt x="167971" y="7591791"/>
                    <a:pt x="109825" y="7567706"/>
                    <a:pt x="66955" y="7524835"/>
                  </a:cubicBezTo>
                  <a:cubicBezTo>
                    <a:pt x="24084" y="7481965"/>
                    <a:pt x="0" y="7423820"/>
                    <a:pt x="0" y="7363191"/>
                  </a:cubicBezTo>
                  <a:lnTo>
                    <a:pt x="0" y="293601"/>
                  </a:lnTo>
                  <a:cubicBezTo>
                    <a:pt x="0" y="237892"/>
                    <a:pt x="45160" y="192730"/>
                    <a:pt x="100870" y="192730"/>
                  </a:cubicBezTo>
                  <a:lnTo>
                    <a:pt x="201740" y="192730"/>
                  </a:lnTo>
                </a:path>
              </a:pathLst>
            </a:custGeom>
            <a:ln w="28575" cap="flat">
              <a:solidFill>
                <a:srgbClr val="27374D"/>
              </a:solidFill>
              <a:prstDash val="solid"/>
              <a:headEnd type="none" w="sm" len="sm"/>
              <a:tailEnd type="none" w="sm" len="sm"/>
            </a:ln>
          </p:spPr>
          <p:txBody>
            <a:bodyPr/>
            <a:lstStyle/>
            <a:p>
              <a:endParaRPr lang="en-US" sz="1200"/>
            </a:p>
          </p:txBody>
        </p:sp>
        <p:grpSp>
          <p:nvGrpSpPr>
            <p:cNvPr id="251" name="Group 53">
              <a:extLst>
                <a:ext uri="{FF2B5EF4-FFF2-40B4-BE49-F238E27FC236}">
                  <a16:creationId xmlns:a16="http://schemas.microsoft.com/office/drawing/2014/main" id="{3A61A183-73D8-9522-0DF0-597B7D0369FB}"/>
                </a:ext>
              </a:extLst>
            </p:cNvPr>
            <p:cNvGrpSpPr/>
            <p:nvPr/>
          </p:nvGrpSpPr>
          <p:grpSpPr>
            <a:xfrm>
              <a:off x="16916517" y="2235919"/>
              <a:ext cx="3917595" cy="630038"/>
              <a:chOff x="0" y="0"/>
              <a:chExt cx="698657" cy="112360"/>
            </a:xfrm>
          </p:grpSpPr>
          <p:sp>
            <p:nvSpPr>
              <p:cNvPr id="298" name="Freeform 54">
                <a:extLst>
                  <a:ext uri="{FF2B5EF4-FFF2-40B4-BE49-F238E27FC236}">
                    <a16:creationId xmlns:a16="http://schemas.microsoft.com/office/drawing/2014/main" id="{4D04F6A1-4760-E8D7-33FE-1798CA112151}"/>
                  </a:ext>
                </a:extLst>
              </p:cNvPr>
              <p:cNvSpPr/>
              <p:nvPr/>
            </p:nvSpPr>
            <p:spPr>
              <a:xfrm>
                <a:off x="0" y="0"/>
                <a:ext cx="698657" cy="112360"/>
              </a:xfrm>
              <a:custGeom>
                <a:avLst/>
                <a:gdLst/>
                <a:ahLst/>
                <a:cxnLst/>
                <a:rect l="l" t="t" r="r" b="b"/>
                <a:pathLst>
                  <a:path w="698657" h="112360">
                    <a:moveTo>
                      <a:pt x="47429" y="0"/>
                    </a:moveTo>
                    <a:lnTo>
                      <a:pt x="651228" y="0"/>
                    </a:lnTo>
                    <a:cubicBezTo>
                      <a:pt x="677422" y="0"/>
                      <a:pt x="698657" y="21235"/>
                      <a:pt x="698657" y="47429"/>
                    </a:cubicBezTo>
                    <a:lnTo>
                      <a:pt x="698657" y="64931"/>
                    </a:lnTo>
                    <a:cubicBezTo>
                      <a:pt x="698657" y="91125"/>
                      <a:pt x="677422" y="112360"/>
                      <a:pt x="651228" y="112360"/>
                    </a:cubicBezTo>
                    <a:lnTo>
                      <a:pt x="47429" y="112360"/>
                    </a:lnTo>
                    <a:cubicBezTo>
                      <a:pt x="21235" y="112360"/>
                      <a:pt x="0" y="91125"/>
                      <a:pt x="0" y="64931"/>
                    </a:cubicBezTo>
                    <a:lnTo>
                      <a:pt x="0" y="47429"/>
                    </a:lnTo>
                    <a:cubicBezTo>
                      <a:pt x="0" y="21235"/>
                      <a:pt x="21235" y="0"/>
                      <a:pt x="47429" y="0"/>
                    </a:cubicBezTo>
                    <a:close/>
                  </a:path>
                </a:pathLst>
              </a:custGeom>
              <a:solidFill>
                <a:srgbClr val="E2E8EE"/>
              </a:solidFill>
              <a:ln w="28575" cap="rnd">
                <a:solidFill>
                  <a:srgbClr val="27374D"/>
                </a:solidFill>
                <a:prstDash val="solid"/>
                <a:round/>
              </a:ln>
            </p:spPr>
            <p:txBody>
              <a:bodyPr/>
              <a:lstStyle/>
              <a:p>
                <a:endParaRPr lang="en-US" sz="1200"/>
              </a:p>
            </p:txBody>
          </p:sp>
          <p:sp>
            <p:nvSpPr>
              <p:cNvPr id="299" name="TextBox 55">
                <a:extLst>
                  <a:ext uri="{FF2B5EF4-FFF2-40B4-BE49-F238E27FC236}">
                    <a16:creationId xmlns:a16="http://schemas.microsoft.com/office/drawing/2014/main" id="{0918C259-CC70-10F8-8075-25D1409FDA8C}"/>
                  </a:ext>
                </a:extLst>
              </p:cNvPr>
              <p:cNvSpPr txBox="1"/>
              <p:nvPr/>
            </p:nvSpPr>
            <p:spPr>
              <a:xfrm>
                <a:off x="0" y="-57150"/>
                <a:ext cx="698657" cy="169510"/>
              </a:xfrm>
              <a:prstGeom prst="rect">
                <a:avLst/>
              </a:prstGeom>
            </p:spPr>
            <p:txBody>
              <a:bodyPr lIns="50800" tIns="50800" rIns="50800" bIns="50800" rtlCol="0" anchor="ctr"/>
              <a:lstStyle/>
              <a:p>
                <a:pPr algn="ctr">
                  <a:lnSpc>
                    <a:spcPts val="4060"/>
                  </a:lnSpc>
                  <a:spcBef>
                    <a:spcPct val="0"/>
                  </a:spcBef>
                </a:pPr>
                <a:endParaRPr sz="1200"/>
              </a:p>
            </p:txBody>
          </p:sp>
        </p:grpSp>
        <p:grpSp>
          <p:nvGrpSpPr>
            <p:cNvPr id="252" name="Group 56">
              <a:extLst>
                <a:ext uri="{FF2B5EF4-FFF2-40B4-BE49-F238E27FC236}">
                  <a16:creationId xmlns:a16="http://schemas.microsoft.com/office/drawing/2014/main" id="{9431F51A-1F99-AB85-13BC-521BD6DD1A43}"/>
                </a:ext>
              </a:extLst>
            </p:cNvPr>
            <p:cNvGrpSpPr/>
            <p:nvPr/>
          </p:nvGrpSpPr>
          <p:grpSpPr>
            <a:xfrm rot="-5400000">
              <a:off x="16900238" y="2439312"/>
              <a:ext cx="255809" cy="223251"/>
              <a:chOff x="0" y="0"/>
              <a:chExt cx="698500" cy="609600"/>
            </a:xfrm>
          </p:grpSpPr>
          <p:sp>
            <p:nvSpPr>
              <p:cNvPr id="296" name="Freeform 57">
                <a:extLst>
                  <a:ext uri="{FF2B5EF4-FFF2-40B4-BE49-F238E27FC236}">
                    <a16:creationId xmlns:a16="http://schemas.microsoft.com/office/drawing/2014/main" id="{FF6DC4F1-8B34-7398-FB58-795BB45F6D16}"/>
                  </a:ext>
                </a:extLst>
              </p:cNvPr>
              <p:cNvSpPr/>
              <p:nvPr/>
            </p:nvSpPr>
            <p:spPr>
              <a:xfrm>
                <a:off x="87477" y="0"/>
                <a:ext cx="523545" cy="489009"/>
              </a:xfrm>
              <a:custGeom>
                <a:avLst/>
                <a:gdLst/>
                <a:ahLst/>
                <a:cxnLst/>
                <a:rect l="l" t="t" r="r" b="b"/>
                <a:pathLst>
                  <a:path w="523545" h="489009">
                    <a:moveTo>
                      <a:pt x="158340" y="429062"/>
                    </a:moveTo>
                    <a:lnTo>
                      <a:pt x="15956" y="180538"/>
                    </a:lnTo>
                    <a:cubicBezTo>
                      <a:pt x="-5425" y="143218"/>
                      <a:pt x="-5310" y="97334"/>
                      <a:pt x="16257" y="60122"/>
                    </a:cubicBezTo>
                    <a:cubicBezTo>
                      <a:pt x="37825" y="22909"/>
                      <a:pt x="77580" y="0"/>
                      <a:pt x="120591" y="0"/>
                    </a:cubicBezTo>
                    <a:lnTo>
                      <a:pt x="402955" y="0"/>
                    </a:lnTo>
                    <a:cubicBezTo>
                      <a:pt x="445966" y="0"/>
                      <a:pt x="485721" y="22909"/>
                      <a:pt x="507289" y="60122"/>
                    </a:cubicBezTo>
                    <a:cubicBezTo>
                      <a:pt x="528857" y="97335"/>
                      <a:pt x="528971" y="143218"/>
                      <a:pt x="507590" y="180538"/>
                    </a:cubicBezTo>
                    <a:lnTo>
                      <a:pt x="365206" y="429062"/>
                    </a:lnTo>
                    <a:cubicBezTo>
                      <a:pt x="343965" y="466138"/>
                      <a:pt x="304503" y="489009"/>
                      <a:pt x="261773" y="489009"/>
                    </a:cubicBezTo>
                    <a:cubicBezTo>
                      <a:pt x="219043" y="489009"/>
                      <a:pt x="179581" y="466138"/>
                      <a:pt x="158340" y="429062"/>
                    </a:cubicBezTo>
                    <a:close/>
                  </a:path>
                </a:pathLst>
              </a:custGeom>
              <a:solidFill>
                <a:srgbClr val="27374D"/>
              </a:solidFill>
            </p:spPr>
            <p:txBody>
              <a:bodyPr/>
              <a:lstStyle/>
              <a:p>
                <a:endParaRPr lang="en-US" sz="1200"/>
              </a:p>
            </p:txBody>
          </p:sp>
          <p:sp>
            <p:nvSpPr>
              <p:cNvPr id="297" name="TextBox 58">
                <a:extLst>
                  <a:ext uri="{FF2B5EF4-FFF2-40B4-BE49-F238E27FC236}">
                    <a16:creationId xmlns:a16="http://schemas.microsoft.com/office/drawing/2014/main" id="{D8DB798B-696B-5F0A-1733-4898A5BDCD43}"/>
                  </a:ext>
                </a:extLst>
              </p:cNvPr>
              <p:cNvSpPr txBox="1"/>
              <p:nvPr/>
            </p:nvSpPr>
            <p:spPr>
              <a:xfrm>
                <a:off x="215900" y="-57150"/>
                <a:ext cx="266700" cy="438150"/>
              </a:xfrm>
              <a:prstGeom prst="rect">
                <a:avLst/>
              </a:prstGeom>
            </p:spPr>
            <p:txBody>
              <a:bodyPr lIns="50800" tIns="50800" rIns="50800" bIns="50800" rtlCol="0" anchor="ctr"/>
              <a:lstStyle/>
              <a:p>
                <a:pPr algn="ctr">
                  <a:lnSpc>
                    <a:spcPts val="4060"/>
                  </a:lnSpc>
                </a:pPr>
                <a:endParaRPr sz="1200"/>
              </a:p>
            </p:txBody>
          </p:sp>
        </p:grpSp>
        <p:grpSp>
          <p:nvGrpSpPr>
            <p:cNvPr id="253" name="Group 59">
              <a:extLst>
                <a:ext uri="{FF2B5EF4-FFF2-40B4-BE49-F238E27FC236}">
                  <a16:creationId xmlns:a16="http://schemas.microsoft.com/office/drawing/2014/main" id="{BA9B0A97-A524-02A5-80A6-95E6256A3724}"/>
                </a:ext>
              </a:extLst>
            </p:cNvPr>
            <p:cNvGrpSpPr/>
            <p:nvPr/>
          </p:nvGrpSpPr>
          <p:grpSpPr>
            <a:xfrm>
              <a:off x="17105906" y="2989603"/>
              <a:ext cx="114774" cy="114774"/>
              <a:chOff x="0" y="0"/>
              <a:chExt cx="812800" cy="812800"/>
            </a:xfrm>
          </p:grpSpPr>
          <p:sp>
            <p:nvSpPr>
              <p:cNvPr id="294" name="Freeform 60">
                <a:extLst>
                  <a:ext uri="{FF2B5EF4-FFF2-40B4-BE49-F238E27FC236}">
                    <a16:creationId xmlns:a16="http://schemas.microsoft.com/office/drawing/2014/main" id="{284BC8D7-4741-032B-4B85-2401E8025B6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374D"/>
              </a:solidFill>
            </p:spPr>
            <p:txBody>
              <a:bodyPr/>
              <a:lstStyle/>
              <a:p>
                <a:endParaRPr lang="en-US" sz="1200"/>
              </a:p>
            </p:txBody>
          </p:sp>
          <p:sp>
            <p:nvSpPr>
              <p:cNvPr id="295" name="TextBox 61">
                <a:extLst>
                  <a:ext uri="{FF2B5EF4-FFF2-40B4-BE49-F238E27FC236}">
                    <a16:creationId xmlns:a16="http://schemas.microsoft.com/office/drawing/2014/main" id="{8F0CBA2C-5B02-D486-B480-FEC1AAD3AF8A}"/>
                  </a:ext>
                </a:extLst>
              </p:cNvPr>
              <p:cNvSpPr txBox="1"/>
              <p:nvPr/>
            </p:nvSpPr>
            <p:spPr>
              <a:xfrm>
                <a:off x="76200" y="19050"/>
                <a:ext cx="660400" cy="717550"/>
              </a:xfrm>
              <a:prstGeom prst="rect">
                <a:avLst/>
              </a:prstGeom>
            </p:spPr>
            <p:txBody>
              <a:bodyPr lIns="50800" tIns="50800" rIns="50800" bIns="50800" rtlCol="0" anchor="ctr"/>
              <a:lstStyle/>
              <a:p>
                <a:pPr algn="ctr">
                  <a:lnSpc>
                    <a:spcPts val="4060"/>
                  </a:lnSpc>
                </a:pPr>
                <a:endParaRPr sz="1200"/>
              </a:p>
            </p:txBody>
          </p:sp>
        </p:grpSp>
        <p:sp>
          <p:nvSpPr>
            <p:cNvPr id="254" name="Freeform 62">
              <a:extLst>
                <a:ext uri="{FF2B5EF4-FFF2-40B4-BE49-F238E27FC236}">
                  <a16:creationId xmlns:a16="http://schemas.microsoft.com/office/drawing/2014/main" id="{0A37CE5D-7F0D-2BC5-C3F1-62398BC63083}"/>
                </a:ext>
              </a:extLst>
            </p:cNvPr>
            <p:cNvSpPr/>
            <p:nvPr/>
          </p:nvSpPr>
          <p:spPr>
            <a:xfrm>
              <a:off x="16938027" y="2854260"/>
              <a:ext cx="3887504" cy="7591791"/>
            </a:xfrm>
            <a:custGeom>
              <a:avLst/>
              <a:gdLst/>
              <a:ahLst/>
              <a:cxnLst/>
              <a:rect l="l" t="t" r="r" b="b"/>
              <a:pathLst>
                <a:path w="3887504" h="7591791">
                  <a:moveTo>
                    <a:pt x="480914" y="0"/>
                  </a:moveTo>
                  <a:lnTo>
                    <a:pt x="480914" y="96365"/>
                  </a:lnTo>
                  <a:cubicBezTo>
                    <a:pt x="480914" y="121923"/>
                    <a:pt x="491067" y="146434"/>
                    <a:pt x="509139" y="164506"/>
                  </a:cubicBezTo>
                  <a:cubicBezTo>
                    <a:pt x="527211" y="182578"/>
                    <a:pt x="551722" y="192730"/>
                    <a:pt x="577279" y="192730"/>
                  </a:cubicBezTo>
                  <a:lnTo>
                    <a:pt x="3658903" y="192730"/>
                  </a:lnTo>
                  <a:cubicBezTo>
                    <a:pt x="3785156" y="192730"/>
                    <a:pt x="3887503" y="295078"/>
                    <a:pt x="3887503" y="421330"/>
                  </a:cubicBezTo>
                  <a:lnTo>
                    <a:pt x="3887503" y="7363191"/>
                  </a:lnTo>
                  <a:cubicBezTo>
                    <a:pt x="3887503" y="7423820"/>
                    <a:pt x="3863420" y="7481965"/>
                    <a:pt x="3820548" y="7524835"/>
                  </a:cubicBezTo>
                  <a:cubicBezTo>
                    <a:pt x="3777678" y="7567706"/>
                    <a:pt x="3719532" y="7591791"/>
                    <a:pt x="3658903" y="7591791"/>
                  </a:cubicBezTo>
                  <a:lnTo>
                    <a:pt x="228600" y="7591791"/>
                  </a:lnTo>
                  <a:cubicBezTo>
                    <a:pt x="102347" y="7591791"/>
                    <a:pt x="0" y="7489443"/>
                    <a:pt x="0" y="7363191"/>
                  </a:cubicBezTo>
                  <a:lnTo>
                    <a:pt x="0" y="293601"/>
                  </a:lnTo>
                  <a:cubicBezTo>
                    <a:pt x="0" y="237892"/>
                    <a:pt x="45161" y="192730"/>
                    <a:pt x="100871" y="192730"/>
                  </a:cubicBezTo>
                  <a:lnTo>
                    <a:pt x="201741" y="192730"/>
                  </a:lnTo>
                </a:path>
              </a:pathLst>
            </a:custGeom>
            <a:ln w="28575" cap="flat">
              <a:solidFill>
                <a:srgbClr val="27374D"/>
              </a:solidFill>
              <a:prstDash val="solid"/>
              <a:headEnd type="none" w="sm" len="sm"/>
              <a:tailEnd type="none" w="sm" len="sm"/>
            </a:ln>
          </p:spPr>
          <p:txBody>
            <a:bodyPr/>
            <a:lstStyle/>
            <a:p>
              <a:endParaRPr lang="en-US" sz="1200"/>
            </a:p>
          </p:txBody>
        </p:sp>
        <p:grpSp>
          <p:nvGrpSpPr>
            <p:cNvPr id="255" name="Group 63">
              <a:extLst>
                <a:ext uri="{FF2B5EF4-FFF2-40B4-BE49-F238E27FC236}">
                  <a16:creationId xmlns:a16="http://schemas.microsoft.com/office/drawing/2014/main" id="{6B860095-95E0-B829-CA0E-C2E9C1FD4659}"/>
                </a:ext>
              </a:extLst>
            </p:cNvPr>
            <p:cNvGrpSpPr/>
            <p:nvPr/>
          </p:nvGrpSpPr>
          <p:grpSpPr>
            <a:xfrm>
              <a:off x="544100" y="2235919"/>
              <a:ext cx="3917595" cy="630038"/>
              <a:chOff x="0" y="0"/>
              <a:chExt cx="698657" cy="112360"/>
            </a:xfrm>
          </p:grpSpPr>
          <p:sp>
            <p:nvSpPr>
              <p:cNvPr id="292" name="Freeform 64">
                <a:extLst>
                  <a:ext uri="{FF2B5EF4-FFF2-40B4-BE49-F238E27FC236}">
                    <a16:creationId xmlns:a16="http://schemas.microsoft.com/office/drawing/2014/main" id="{E7A5342A-07C7-D596-F459-DC28FD03DD04}"/>
                  </a:ext>
                </a:extLst>
              </p:cNvPr>
              <p:cNvSpPr/>
              <p:nvPr/>
            </p:nvSpPr>
            <p:spPr>
              <a:xfrm>
                <a:off x="0" y="0"/>
                <a:ext cx="698657" cy="112360"/>
              </a:xfrm>
              <a:custGeom>
                <a:avLst/>
                <a:gdLst/>
                <a:ahLst/>
                <a:cxnLst/>
                <a:rect l="l" t="t" r="r" b="b"/>
                <a:pathLst>
                  <a:path w="698657" h="112360">
                    <a:moveTo>
                      <a:pt x="47429" y="0"/>
                    </a:moveTo>
                    <a:lnTo>
                      <a:pt x="651228" y="0"/>
                    </a:lnTo>
                    <a:cubicBezTo>
                      <a:pt x="677422" y="0"/>
                      <a:pt x="698657" y="21235"/>
                      <a:pt x="698657" y="47429"/>
                    </a:cubicBezTo>
                    <a:lnTo>
                      <a:pt x="698657" y="64931"/>
                    </a:lnTo>
                    <a:cubicBezTo>
                      <a:pt x="698657" y="91125"/>
                      <a:pt x="677422" y="112360"/>
                      <a:pt x="651228" y="112360"/>
                    </a:cubicBezTo>
                    <a:lnTo>
                      <a:pt x="47429" y="112360"/>
                    </a:lnTo>
                    <a:cubicBezTo>
                      <a:pt x="21235" y="112360"/>
                      <a:pt x="0" y="91125"/>
                      <a:pt x="0" y="64931"/>
                    </a:cubicBezTo>
                    <a:lnTo>
                      <a:pt x="0" y="47429"/>
                    </a:lnTo>
                    <a:cubicBezTo>
                      <a:pt x="0" y="21235"/>
                      <a:pt x="21235" y="0"/>
                      <a:pt x="47429" y="0"/>
                    </a:cubicBezTo>
                    <a:close/>
                  </a:path>
                </a:pathLst>
              </a:custGeom>
              <a:solidFill>
                <a:srgbClr val="E2E8EE"/>
              </a:solidFill>
              <a:ln w="28575" cap="rnd">
                <a:solidFill>
                  <a:srgbClr val="27374D"/>
                </a:solidFill>
                <a:prstDash val="solid"/>
                <a:round/>
              </a:ln>
            </p:spPr>
            <p:txBody>
              <a:bodyPr/>
              <a:lstStyle/>
              <a:p>
                <a:endParaRPr lang="en-US" sz="1200"/>
              </a:p>
            </p:txBody>
          </p:sp>
          <p:sp>
            <p:nvSpPr>
              <p:cNvPr id="293" name="TextBox 292">
                <a:extLst>
                  <a:ext uri="{FF2B5EF4-FFF2-40B4-BE49-F238E27FC236}">
                    <a16:creationId xmlns:a16="http://schemas.microsoft.com/office/drawing/2014/main" id="{15E7DA86-F306-48D0-AE8B-B6EF86F4B838}"/>
                  </a:ext>
                </a:extLst>
              </p:cNvPr>
              <p:cNvSpPr txBox="1"/>
              <p:nvPr/>
            </p:nvSpPr>
            <p:spPr>
              <a:xfrm>
                <a:off x="0" y="-57150"/>
                <a:ext cx="698657" cy="169510"/>
              </a:xfrm>
              <a:prstGeom prst="rect">
                <a:avLst/>
              </a:prstGeom>
            </p:spPr>
            <p:txBody>
              <a:bodyPr lIns="50800" tIns="50800" rIns="50800" bIns="50800" rtlCol="0" anchor="ctr"/>
              <a:lstStyle/>
              <a:p>
                <a:pPr algn="ctr">
                  <a:lnSpc>
                    <a:spcPts val="4060"/>
                  </a:lnSpc>
                  <a:spcBef>
                    <a:spcPct val="0"/>
                  </a:spcBef>
                </a:pPr>
                <a:endParaRPr sz="1200"/>
              </a:p>
            </p:txBody>
          </p:sp>
        </p:grpSp>
        <p:grpSp>
          <p:nvGrpSpPr>
            <p:cNvPr id="256" name="Group 66">
              <a:extLst>
                <a:ext uri="{FF2B5EF4-FFF2-40B4-BE49-F238E27FC236}">
                  <a16:creationId xmlns:a16="http://schemas.microsoft.com/office/drawing/2014/main" id="{88052449-A98C-E5B4-6E5C-D9BA3332B2D6}"/>
                </a:ext>
              </a:extLst>
            </p:cNvPr>
            <p:cNvGrpSpPr/>
            <p:nvPr/>
          </p:nvGrpSpPr>
          <p:grpSpPr>
            <a:xfrm rot="-5400000">
              <a:off x="527821" y="2439312"/>
              <a:ext cx="255809" cy="223251"/>
              <a:chOff x="0" y="0"/>
              <a:chExt cx="698500" cy="609600"/>
            </a:xfrm>
          </p:grpSpPr>
          <p:sp>
            <p:nvSpPr>
              <p:cNvPr id="290" name="Freeform 67">
                <a:extLst>
                  <a:ext uri="{FF2B5EF4-FFF2-40B4-BE49-F238E27FC236}">
                    <a16:creationId xmlns:a16="http://schemas.microsoft.com/office/drawing/2014/main" id="{F91674D5-257B-937D-9D85-BD2C36F5412D}"/>
                  </a:ext>
                </a:extLst>
              </p:cNvPr>
              <p:cNvSpPr/>
              <p:nvPr/>
            </p:nvSpPr>
            <p:spPr>
              <a:xfrm>
                <a:off x="87477" y="0"/>
                <a:ext cx="523545" cy="489009"/>
              </a:xfrm>
              <a:custGeom>
                <a:avLst/>
                <a:gdLst/>
                <a:ahLst/>
                <a:cxnLst/>
                <a:rect l="l" t="t" r="r" b="b"/>
                <a:pathLst>
                  <a:path w="523545" h="489009">
                    <a:moveTo>
                      <a:pt x="158340" y="429062"/>
                    </a:moveTo>
                    <a:lnTo>
                      <a:pt x="15956" y="180538"/>
                    </a:lnTo>
                    <a:cubicBezTo>
                      <a:pt x="-5425" y="143218"/>
                      <a:pt x="-5310" y="97334"/>
                      <a:pt x="16257" y="60122"/>
                    </a:cubicBezTo>
                    <a:cubicBezTo>
                      <a:pt x="37825" y="22909"/>
                      <a:pt x="77580" y="0"/>
                      <a:pt x="120591" y="0"/>
                    </a:cubicBezTo>
                    <a:lnTo>
                      <a:pt x="402955" y="0"/>
                    </a:lnTo>
                    <a:cubicBezTo>
                      <a:pt x="445966" y="0"/>
                      <a:pt x="485721" y="22909"/>
                      <a:pt x="507289" y="60122"/>
                    </a:cubicBezTo>
                    <a:cubicBezTo>
                      <a:pt x="528857" y="97335"/>
                      <a:pt x="528971" y="143218"/>
                      <a:pt x="507590" y="180538"/>
                    </a:cubicBezTo>
                    <a:lnTo>
                      <a:pt x="365206" y="429062"/>
                    </a:lnTo>
                    <a:cubicBezTo>
                      <a:pt x="343965" y="466138"/>
                      <a:pt x="304503" y="489009"/>
                      <a:pt x="261773" y="489009"/>
                    </a:cubicBezTo>
                    <a:cubicBezTo>
                      <a:pt x="219043" y="489009"/>
                      <a:pt x="179581" y="466138"/>
                      <a:pt x="158340" y="429062"/>
                    </a:cubicBezTo>
                    <a:close/>
                  </a:path>
                </a:pathLst>
              </a:custGeom>
              <a:solidFill>
                <a:srgbClr val="27374D"/>
              </a:solidFill>
            </p:spPr>
            <p:txBody>
              <a:bodyPr/>
              <a:lstStyle/>
              <a:p>
                <a:endParaRPr lang="en-US" sz="1200"/>
              </a:p>
            </p:txBody>
          </p:sp>
          <p:sp>
            <p:nvSpPr>
              <p:cNvPr id="291" name="TextBox 68">
                <a:extLst>
                  <a:ext uri="{FF2B5EF4-FFF2-40B4-BE49-F238E27FC236}">
                    <a16:creationId xmlns:a16="http://schemas.microsoft.com/office/drawing/2014/main" id="{733E1635-11BC-64D5-B426-0FA9B3A72762}"/>
                  </a:ext>
                </a:extLst>
              </p:cNvPr>
              <p:cNvSpPr txBox="1"/>
              <p:nvPr/>
            </p:nvSpPr>
            <p:spPr>
              <a:xfrm>
                <a:off x="215900" y="-57150"/>
                <a:ext cx="266700" cy="438150"/>
              </a:xfrm>
              <a:prstGeom prst="rect">
                <a:avLst/>
              </a:prstGeom>
            </p:spPr>
            <p:txBody>
              <a:bodyPr lIns="50800" tIns="50800" rIns="50800" bIns="50800" rtlCol="0" anchor="ctr"/>
              <a:lstStyle/>
              <a:p>
                <a:pPr algn="ctr">
                  <a:lnSpc>
                    <a:spcPts val="4060"/>
                  </a:lnSpc>
                </a:pPr>
                <a:endParaRPr sz="1200"/>
              </a:p>
            </p:txBody>
          </p:sp>
        </p:grpSp>
        <p:grpSp>
          <p:nvGrpSpPr>
            <p:cNvPr id="257" name="Group 69">
              <a:extLst>
                <a:ext uri="{FF2B5EF4-FFF2-40B4-BE49-F238E27FC236}">
                  <a16:creationId xmlns:a16="http://schemas.microsoft.com/office/drawing/2014/main" id="{B5A12C5C-EC4F-3CFD-CB12-9F9F1E10068B}"/>
                </a:ext>
              </a:extLst>
            </p:cNvPr>
            <p:cNvGrpSpPr/>
            <p:nvPr/>
          </p:nvGrpSpPr>
          <p:grpSpPr>
            <a:xfrm>
              <a:off x="733490" y="2989603"/>
              <a:ext cx="114774" cy="114774"/>
              <a:chOff x="0" y="0"/>
              <a:chExt cx="812800" cy="812800"/>
            </a:xfrm>
          </p:grpSpPr>
          <p:sp>
            <p:nvSpPr>
              <p:cNvPr id="288" name="Freeform 70">
                <a:extLst>
                  <a:ext uri="{FF2B5EF4-FFF2-40B4-BE49-F238E27FC236}">
                    <a16:creationId xmlns:a16="http://schemas.microsoft.com/office/drawing/2014/main" id="{2A3EC86A-EB46-BE8A-2D89-F6DB26D3E64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374D"/>
              </a:solidFill>
            </p:spPr>
            <p:txBody>
              <a:bodyPr/>
              <a:lstStyle/>
              <a:p>
                <a:endParaRPr lang="en-US" sz="1200"/>
              </a:p>
            </p:txBody>
          </p:sp>
          <p:sp>
            <p:nvSpPr>
              <p:cNvPr id="289" name="TextBox 71">
                <a:extLst>
                  <a:ext uri="{FF2B5EF4-FFF2-40B4-BE49-F238E27FC236}">
                    <a16:creationId xmlns:a16="http://schemas.microsoft.com/office/drawing/2014/main" id="{2C4E9CE7-12F4-4070-BBA7-FBDD4FC27DB6}"/>
                  </a:ext>
                </a:extLst>
              </p:cNvPr>
              <p:cNvSpPr txBox="1"/>
              <p:nvPr/>
            </p:nvSpPr>
            <p:spPr>
              <a:xfrm>
                <a:off x="76200" y="19050"/>
                <a:ext cx="660400" cy="717550"/>
              </a:xfrm>
              <a:prstGeom prst="rect">
                <a:avLst/>
              </a:prstGeom>
            </p:spPr>
            <p:txBody>
              <a:bodyPr lIns="50800" tIns="50800" rIns="50800" bIns="50800" rtlCol="0" anchor="ctr"/>
              <a:lstStyle/>
              <a:p>
                <a:pPr algn="ctr">
                  <a:lnSpc>
                    <a:spcPts val="4060"/>
                  </a:lnSpc>
                </a:pPr>
                <a:endParaRPr sz="1200"/>
              </a:p>
            </p:txBody>
          </p:sp>
        </p:grpSp>
        <p:sp>
          <p:nvSpPr>
            <p:cNvPr id="258" name="Freeform 72">
              <a:extLst>
                <a:ext uri="{FF2B5EF4-FFF2-40B4-BE49-F238E27FC236}">
                  <a16:creationId xmlns:a16="http://schemas.microsoft.com/office/drawing/2014/main" id="{5D1DA664-766D-E3F2-90BA-3CE5A83FBCBA}"/>
                </a:ext>
              </a:extLst>
            </p:cNvPr>
            <p:cNvSpPr/>
            <p:nvPr/>
          </p:nvSpPr>
          <p:spPr>
            <a:xfrm>
              <a:off x="565611" y="2854260"/>
              <a:ext cx="3887503" cy="7591791"/>
            </a:xfrm>
            <a:custGeom>
              <a:avLst/>
              <a:gdLst/>
              <a:ahLst/>
              <a:cxnLst/>
              <a:rect l="l" t="t" r="r" b="b"/>
              <a:pathLst>
                <a:path w="3887503" h="7591791">
                  <a:moveTo>
                    <a:pt x="480914" y="0"/>
                  </a:moveTo>
                  <a:lnTo>
                    <a:pt x="480914" y="96365"/>
                  </a:lnTo>
                  <a:cubicBezTo>
                    <a:pt x="480914" y="121923"/>
                    <a:pt x="491067" y="146434"/>
                    <a:pt x="509139" y="164506"/>
                  </a:cubicBezTo>
                  <a:cubicBezTo>
                    <a:pt x="527210" y="182578"/>
                    <a:pt x="551721" y="192730"/>
                    <a:pt x="577279" y="192730"/>
                  </a:cubicBezTo>
                  <a:lnTo>
                    <a:pt x="3658902" y="192730"/>
                  </a:lnTo>
                  <a:cubicBezTo>
                    <a:pt x="3719531" y="192730"/>
                    <a:pt x="3777676" y="216815"/>
                    <a:pt x="3820547" y="259686"/>
                  </a:cubicBezTo>
                  <a:cubicBezTo>
                    <a:pt x="3863418" y="302557"/>
                    <a:pt x="3887502" y="360702"/>
                    <a:pt x="3887502" y="421330"/>
                  </a:cubicBezTo>
                  <a:lnTo>
                    <a:pt x="3887502" y="7363191"/>
                  </a:lnTo>
                  <a:cubicBezTo>
                    <a:pt x="3887502" y="7489443"/>
                    <a:pt x="3785155" y="7591791"/>
                    <a:pt x="3658902" y="7591791"/>
                  </a:cubicBezTo>
                  <a:lnTo>
                    <a:pt x="228600" y="7591791"/>
                  </a:lnTo>
                  <a:cubicBezTo>
                    <a:pt x="102347" y="7591791"/>
                    <a:pt x="0" y="7489443"/>
                    <a:pt x="0" y="7363191"/>
                  </a:cubicBezTo>
                  <a:lnTo>
                    <a:pt x="0" y="293601"/>
                  </a:lnTo>
                  <a:cubicBezTo>
                    <a:pt x="0" y="237892"/>
                    <a:pt x="45161" y="192730"/>
                    <a:pt x="100870" y="192730"/>
                  </a:cubicBezTo>
                  <a:lnTo>
                    <a:pt x="201741" y="192730"/>
                  </a:lnTo>
                </a:path>
              </a:pathLst>
            </a:custGeom>
            <a:ln w="28575" cap="flat">
              <a:solidFill>
                <a:srgbClr val="27374D"/>
              </a:solidFill>
              <a:prstDash val="solid"/>
              <a:headEnd type="none" w="sm" len="sm"/>
              <a:tailEnd type="none" w="sm" len="sm"/>
            </a:ln>
          </p:spPr>
          <p:txBody>
            <a:bodyPr/>
            <a:lstStyle/>
            <a:p>
              <a:endParaRPr lang="en-US" sz="1200"/>
            </a:p>
          </p:txBody>
        </p:sp>
        <p:grpSp>
          <p:nvGrpSpPr>
            <p:cNvPr id="259" name="Group 73">
              <a:extLst>
                <a:ext uri="{FF2B5EF4-FFF2-40B4-BE49-F238E27FC236}">
                  <a16:creationId xmlns:a16="http://schemas.microsoft.com/office/drawing/2014/main" id="{59A8CFB6-B81A-F7FD-FCDB-FE78905A1191}"/>
                </a:ext>
              </a:extLst>
            </p:cNvPr>
            <p:cNvGrpSpPr/>
            <p:nvPr/>
          </p:nvGrpSpPr>
          <p:grpSpPr>
            <a:xfrm>
              <a:off x="544100" y="10642982"/>
              <a:ext cx="10056508" cy="630038"/>
              <a:chOff x="0" y="0"/>
              <a:chExt cx="1793459" cy="112360"/>
            </a:xfrm>
          </p:grpSpPr>
          <p:sp>
            <p:nvSpPr>
              <p:cNvPr id="286" name="Freeform 74">
                <a:extLst>
                  <a:ext uri="{FF2B5EF4-FFF2-40B4-BE49-F238E27FC236}">
                    <a16:creationId xmlns:a16="http://schemas.microsoft.com/office/drawing/2014/main" id="{E024828D-6B0C-7F83-5001-8E14383845BD}"/>
                  </a:ext>
                </a:extLst>
              </p:cNvPr>
              <p:cNvSpPr/>
              <p:nvPr/>
            </p:nvSpPr>
            <p:spPr>
              <a:xfrm>
                <a:off x="0" y="0"/>
                <a:ext cx="1793459" cy="112360"/>
              </a:xfrm>
              <a:custGeom>
                <a:avLst/>
                <a:gdLst/>
                <a:ahLst/>
                <a:cxnLst/>
                <a:rect l="l" t="t" r="r" b="b"/>
                <a:pathLst>
                  <a:path w="1793459" h="112360">
                    <a:moveTo>
                      <a:pt x="18476" y="0"/>
                    </a:moveTo>
                    <a:lnTo>
                      <a:pt x="1774983" y="0"/>
                    </a:lnTo>
                    <a:cubicBezTo>
                      <a:pt x="1785187" y="0"/>
                      <a:pt x="1793459" y="8272"/>
                      <a:pt x="1793459" y="18476"/>
                    </a:cubicBezTo>
                    <a:lnTo>
                      <a:pt x="1793459" y="93884"/>
                    </a:lnTo>
                    <a:cubicBezTo>
                      <a:pt x="1793459" y="104088"/>
                      <a:pt x="1785187" y="112360"/>
                      <a:pt x="1774983" y="112360"/>
                    </a:cubicBezTo>
                    <a:lnTo>
                      <a:pt x="18476" y="112360"/>
                    </a:lnTo>
                    <a:cubicBezTo>
                      <a:pt x="13576" y="112360"/>
                      <a:pt x="8877" y="110413"/>
                      <a:pt x="5412" y="106948"/>
                    </a:cubicBezTo>
                    <a:cubicBezTo>
                      <a:pt x="1947" y="103483"/>
                      <a:pt x="0" y="98784"/>
                      <a:pt x="0" y="93884"/>
                    </a:cubicBezTo>
                    <a:lnTo>
                      <a:pt x="0" y="18476"/>
                    </a:lnTo>
                    <a:cubicBezTo>
                      <a:pt x="0" y="8272"/>
                      <a:pt x="8272" y="0"/>
                      <a:pt x="18476" y="0"/>
                    </a:cubicBezTo>
                    <a:close/>
                  </a:path>
                </a:pathLst>
              </a:custGeom>
              <a:solidFill>
                <a:srgbClr val="E2E8EE"/>
              </a:solidFill>
              <a:ln w="28575" cap="rnd">
                <a:solidFill>
                  <a:srgbClr val="27374D"/>
                </a:solidFill>
                <a:prstDash val="solid"/>
                <a:round/>
              </a:ln>
            </p:spPr>
            <p:txBody>
              <a:bodyPr/>
              <a:lstStyle/>
              <a:p>
                <a:endParaRPr lang="en-US" sz="1200"/>
              </a:p>
            </p:txBody>
          </p:sp>
          <p:sp>
            <p:nvSpPr>
              <p:cNvPr id="287" name="TextBox 75">
                <a:extLst>
                  <a:ext uri="{FF2B5EF4-FFF2-40B4-BE49-F238E27FC236}">
                    <a16:creationId xmlns:a16="http://schemas.microsoft.com/office/drawing/2014/main" id="{11D45416-A959-FCBA-FCBD-877933D920FD}"/>
                  </a:ext>
                </a:extLst>
              </p:cNvPr>
              <p:cNvSpPr txBox="1"/>
              <p:nvPr/>
            </p:nvSpPr>
            <p:spPr>
              <a:xfrm>
                <a:off x="0" y="-57150"/>
                <a:ext cx="1793459" cy="169510"/>
              </a:xfrm>
              <a:prstGeom prst="rect">
                <a:avLst/>
              </a:prstGeom>
            </p:spPr>
            <p:txBody>
              <a:bodyPr lIns="50800" tIns="50800" rIns="50800" bIns="50800" rtlCol="0" anchor="ctr"/>
              <a:lstStyle/>
              <a:p>
                <a:pPr algn="ctr">
                  <a:lnSpc>
                    <a:spcPts val="4060"/>
                  </a:lnSpc>
                  <a:spcBef>
                    <a:spcPct val="0"/>
                  </a:spcBef>
                </a:pPr>
                <a:endParaRPr sz="1200"/>
              </a:p>
            </p:txBody>
          </p:sp>
        </p:grpSp>
        <p:grpSp>
          <p:nvGrpSpPr>
            <p:cNvPr id="260" name="Group 76">
              <a:extLst>
                <a:ext uri="{FF2B5EF4-FFF2-40B4-BE49-F238E27FC236}">
                  <a16:creationId xmlns:a16="http://schemas.microsoft.com/office/drawing/2014/main" id="{36545F84-8804-B799-5700-BD68C9A62851}"/>
                </a:ext>
              </a:extLst>
            </p:cNvPr>
            <p:cNvGrpSpPr/>
            <p:nvPr/>
          </p:nvGrpSpPr>
          <p:grpSpPr>
            <a:xfrm rot="-5400000">
              <a:off x="527821" y="10846376"/>
              <a:ext cx="255809" cy="223251"/>
              <a:chOff x="0" y="0"/>
              <a:chExt cx="698500" cy="609600"/>
            </a:xfrm>
          </p:grpSpPr>
          <p:sp>
            <p:nvSpPr>
              <p:cNvPr id="284" name="Freeform 77">
                <a:extLst>
                  <a:ext uri="{FF2B5EF4-FFF2-40B4-BE49-F238E27FC236}">
                    <a16:creationId xmlns:a16="http://schemas.microsoft.com/office/drawing/2014/main" id="{6465A117-1CEF-B99D-3DBC-AE027CDDF3C6}"/>
                  </a:ext>
                </a:extLst>
              </p:cNvPr>
              <p:cNvSpPr/>
              <p:nvPr/>
            </p:nvSpPr>
            <p:spPr>
              <a:xfrm>
                <a:off x="87477" y="0"/>
                <a:ext cx="523545" cy="489009"/>
              </a:xfrm>
              <a:custGeom>
                <a:avLst/>
                <a:gdLst/>
                <a:ahLst/>
                <a:cxnLst/>
                <a:rect l="l" t="t" r="r" b="b"/>
                <a:pathLst>
                  <a:path w="523545" h="489009">
                    <a:moveTo>
                      <a:pt x="158340" y="429062"/>
                    </a:moveTo>
                    <a:lnTo>
                      <a:pt x="15956" y="180538"/>
                    </a:lnTo>
                    <a:cubicBezTo>
                      <a:pt x="-5425" y="143218"/>
                      <a:pt x="-5310" y="97334"/>
                      <a:pt x="16257" y="60122"/>
                    </a:cubicBezTo>
                    <a:cubicBezTo>
                      <a:pt x="37825" y="22909"/>
                      <a:pt x="77580" y="0"/>
                      <a:pt x="120591" y="0"/>
                    </a:cubicBezTo>
                    <a:lnTo>
                      <a:pt x="402955" y="0"/>
                    </a:lnTo>
                    <a:cubicBezTo>
                      <a:pt x="445966" y="0"/>
                      <a:pt x="485721" y="22909"/>
                      <a:pt x="507289" y="60122"/>
                    </a:cubicBezTo>
                    <a:cubicBezTo>
                      <a:pt x="528857" y="97335"/>
                      <a:pt x="528971" y="143218"/>
                      <a:pt x="507590" y="180538"/>
                    </a:cubicBezTo>
                    <a:lnTo>
                      <a:pt x="365206" y="429062"/>
                    </a:lnTo>
                    <a:cubicBezTo>
                      <a:pt x="343965" y="466138"/>
                      <a:pt x="304503" y="489009"/>
                      <a:pt x="261773" y="489009"/>
                    </a:cubicBezTo>
                    <a:cubicBezTo>
                      <a:pt x="219043" y="489009"/>
                      <a:pt x="179581" y="466138"/>
                      <a:pt x="158340" y="429062"/>
                    </a:cubicBezTo>
                    <a:close/>
                  </a:path>
                </a:pathLst>
              </a:custGeom>
              <a:solidFill>
                <a:srgbClr val="27374D"/>
              </a:solidFill>
            </p:spPr>
            <p:txBody>
              <a:bodyPr/>
              <a:lstStyle/>
              <a:p>
                <a:endParaRPr lang="en-US" sz="1200"/>
              </a:p>
            </p:txBody>
          </p:sp>
          <p:sp>
            <p:nvSpPr>
              <p:cNvPr id="285" name="TextBox 78">
                <a:extLst>
                  <a:ext uri="{FF2B5EF4-FFF2-40B4-BE49-F238E27FC236}">
                    <a16:creationId xmlns:a16="http://schemas.microsoft.com/office/drawing/2014/main" id="{1F296283-88F0-A947-3AC0-9E44A6971297}"/>
                  </a:ext>
                </a:extLst>
              </p:cNvPr>
              <p:cNvSpPr txBox="1"/>
              <p:nvPr/>
            </p:nvSpPr>
            <p:spPr>
              <a:xfrm>
                <a:off x="215900" y="-57150"/>
                <a:ext cx="266700" cy="438150"/>
              </a:xfrm>
              <a:prstGeom prst="rect">
                <a:avLst/>
              </a:prstGeom>
            </p:spPr>
            <p:txBody>
              <a:bodyPr lIns="50800" tIns="50800" rIns="50800" bIns="50800" rtlCol="0" anchor="ctr"/>
              <a:lstStyle/>
              <a:p>
                <a:pPr algn="ctr">
                  <a:lnSpc>
                    <a:spcPts val="4060"/>
                  </a:lnSpc>
                </a:pPr>
                <a:endParaRPr sz="1200"/>
              </a:p>
            </p:txBody>
          </p:sp>
        </p:grpSp>
        <p:grpSp>
          <p:nvGrpSpPr>
            <p:cNvPr id="261" name="Group 79">
              <a:extLst>
                <a:ext uri="{FF2B5EF4-FFF2-40B4-BE49-F238E27FC236}">
                  <a16:creationId xmlns:a16="http://schemas.microsoft.com/office/drawing/2014/main" id="{FA1C6156-8B4C-1CE8-AADC-091EB9FB9D32}"/>
                </a:ext>
              </a:extLst>
            </p:cNvPr>
            <p:cNvGrpSpPr/>
            <p:nvPr/>
          </p:nvGrpSpPr>
          <p:grpSpPr>
            <a:xfrm>
              <a:off x="733490" y="11396667"/>
              <a:ext cx="114774" cy="114774"/>
              <a:chOff x="0" y="0"/>
              <a:chExt cx="812800" cy="812800"/>
            </a:xfrm>
          </p:grpSpPr>
          <p:sp>
            <p:nvSpPr>
              <p:cNvPr id="282" name="Freeform 80">
                <a:extLst>
                  <a:ext uri="{FF2B5EF4-FFF2-40B4-BE49-F238E27FC236}">
                    <a16:creationId xmlns:a16="http://schemas.microsoft.com/office/drawing/2014/main" id="{643E0C01-9A53-7693-9652-693FA28D0EF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374D"/>
              </a:solidFill>
            </p:spPr>
            <p:txBody>
              <a:bodyPr/>
              <a:lstStyle/>
              <a:p>
                <a:endParaRPr lang="en-US" sz="1200"/>
              </a:p>
            </p:txBody>
          </p:sp>
          <p:sp>
            <p:nvSpPr>
              <p:cNvPr id="283" name="TextBox 81">
                <a:extLst>
                  <a:ext uri="{FF2B5EF4-FFF2-40B4-BE49-F238E27FC236}">
                    <a16:creationId xmlns:a16="http://schemas.microsoft.com/office/drawing/2014/main" id="{D66D04EB-EEF4-90B7-47B1-8B346BF09938}"/>
                  </a:ext>
                </a:extLst>
              </p:cNvPr>
              <p:cNvSpPr txBox="1"/>
              <p:nvPr/>
            </p:nvSpPr>
            <p:spPr>
              <a:xfrm>
                <a:off x="76200" y="19050"/>
                <a:ext cx="660400" cy="717550"/>
              </a:xfrm>
              <a:prstGeom prst="rect">
                <a:avLst/>
              </a:prstGeom>
            </p:spPr>
            <p:txBody>
              <a:bodyPr lIns="50800" tIns="50800" rIns="50800" bIns="50800" rtlCol="0" anchor="ctr"/>
              <a:lstStyle/>
              <a:p>
                <a:pPr algn="ctr">
                  <a:lnSpc>
                    <a:spcPts val="4060"/>
                  </a:lnSpc>
                </a:pPr>
                <a:endParaRPr sz="1200"/>
              </a:p>
            </p:txBody>
          </p:sp>
        </p:grpSp>
        <p:sp>
          <p:nvSpPr>
            <p:cNvPr id="262" name="Freeform 82">
              <a:extLst>
                <a:ext uri="{FF2B5EF4-FFF2-40B4-BE49-F238E27FC236}">
                  <a16:creationId xmlns:a16="http://schemas.microsoft.com/office/drawing/2014/main" id="{8EC19FFA-1F47-F6CA-3BC8-2E5667C66012}"/>
                </a:ext>
              </a:extLst>
            </p:cNvPr>
            <p:cNvSpPr/>
            <p:nvPr/>
          </p:nvSpPr>
          <p:spPr>
            <a:xfrm>
              <a:off x="565611" y="11261323"/>
              <a:ext cx="10021038" cy="3301771"/>
            </a:xfrm>
            <a:custGeom>
              <a:avLst/>
              <a:gdLst/>
              <a:ahLst/>
              <a:cxnLst/>
              <a:rect l="l" t="t" r="r" b="b"/>
              <a:pathLst>
                <a:path w="10021038" h="3301771">
                  <a:moveTo>
                    <a:pt x="480914" y="0"/>
                  </a:moveTo>
                  <a:lnTo>
                    <a:pt x="480914" y="96366"/>
                  </a:lnTo>
                  <a:cubicBezTo>
                    <a:pt x="480914" y="121923"/>
                    <a:pt x="491066" y="146434"/>
                    <a:pt x="509138" y="164506"/>
                  </a:cubicBezTo>
                  <a:cubicBezTo>
                    <a:pt x="527210" y="182578"/>
                    <a:pt x="551721" y="192731"/>
                    <a:pt x="577279" y="192731"/>
                  </a:cubicBezTo>
                  <a:lnTo>
                    <a:pt x="9792437" y="192731"/>
                  </a:lnTo>
                  <a:cubicBezTo>
                    <a:pt x="9918689" y="192731"/>
                    <a:pt x="10021037" y="295079"/>
                    <a:pt x="10021037" y="421331"/>
                  </a:cubicBezTo>
                  <a:lnTo>
                    <a:pt x="10021037" y="3073171"/>
                  </a:lnTo>
                  <a:cubicBezTo>
                    <a:pt x="10021037" y="3199424"/>
                    <a:pt x="9918689" y="3301771"/>
                    <a:pt x="9792437" y="3301771"/>
                  </a:cubicBezTo>
                  <a:lnTo>
                    <a:pt x="228600" y="3301771"/>
                  </a:lnTo>
                  <a:cubicBezTo>
                    <a:pt x="102347" y="3301771"/>
                    <a:pt x="0" y="3199424"/>
                    <a:pt x="0" y="3073171"/>
                  </a:cubicBezTo>
                  <a:lnTo>
                    <a:pt x="0" y="293601"/>
                  </a:lnTo>
                  <a:cubicBezTo>
                    <a:pt x="0" y="237892"/>
                    <a:pt x="45161" y="192731"/>
                    <a:pt x="100870" y="192731"/>
                  </a:cubicBezTo>
                  <a:lnTo>
                    <a:pt x="201741" y="192731"/>
                  </a:lnTo>
                </a:path>
              </a:pathLst>
            </a:custGeom>
            <a:ln w="28575" cap="flat">
              <a:solidFill>
                <a:srgbClr val="27374D"/>
              </a:solidFill>
              <a:prstDash val="solid"/>
              <a:headEnd type="none" w="sm" len="sm"/>
              <a:tailEnd type="none" w="sm" len="sm"/>
            </a:ln>
          </p:spPr>
          <p:txBody>
            <a:bodyPr/>
            <a:lstStyle/>
            <a:p>
              <a:endParaRPr lang="en-US" sz="1200"/>
            </a:p>
          </p:txBody>
        </p:sp>
        <p:grpSp>
          <p:nvGrpSpPr>
            <p:cNvPr id="263" name="Group 83">
              <a:extLst>
                <a:ext uri="{FF2B5EF4-FFF2-40B4-BE49-F238E27FC236}">
                  <a16:creationId xmlns:a16="http://schemas.microsoft.com/office/drawing/2014/main" id="{852D3CF8-1E3C-A64F-48B8-668B1457611E}"/>
                </a:ext>
              </a:extLst>
            </p:cNvPr>
            <p:cNvGrpSpPr/>
            <p:nvPr/>
          </p:nvGrpSpPr>
          <p:grpSpPr>
            <a:xfrm>
              <a:off x="10777276" y="10642982"/>
              <a:ext cx="10062624" cy="630038"/>
              <a:chOff x="0" y="0"/>
              <a:chExt cx="1794550" cy="112360"/>
            </a:xfrm>
          </p:grpSpPr>
          <p:sp>
            <p:nvSpPr>
              <p:cNvPr id="280" name="Freeform 84">
                <a:extLst>
                  <a:ext uri="{FF2B5EF4-FFF2-40B4-BE49-F238E27FC236}">
                    <a16:creationId xmlns:a16="http://schemas.microsoft.com/office/drawing/2014/main" id="{32D01984-4D23-0040-BBC7-6A76E8FD9CDC}"/>
                  </a:ext>
                </a:extLst>
              </p:cNvPr>
              <p:cNvSpPr/>
              <p:nvPr/>
            </p:nvSpPr>
            <p:spPr>
              <a:xfrm>
                <a:off x="0" y="0"/>
                <a:ext cx="1794550" cy="112360"/>
              </a:xfrm>
              <a:custGeom>
                <a:avLst/>
                <a:gdLst/>
                <a:ahLst/>
                <a:cxnLst/>
                <a:rect l="l" t="t" r="r" b="b"/>
                <a:pathLst>
                  <a:path w="1794550" h="112360">
                    <a:moveTo>
                      <a:pt x="18465" y="0"/>
                    </a:moveTo>
                    <a:lnTo>
                      <a:pt x="1776085" y="0"/>
                    </a:lnTo>
                    <a:cubicBezTo>
                      <a:pt x="1786283" y="0"/>
                      <a:pt x="1794550" y="8267"/>
                      <a:pt x="1794550" y="18465"/>
                    </a:cubicBezTo>
                    <a:lnTo>
                      <a:pt x="1794550" y="93895"/>
                    </a:lnTo>
                    <a:cubicBezTo>
                      <a:pt x="1794550" y="104093"/>
                      <a:pt x="1786283" y="112360"/>
                      <a:pt x="1776085" y="112360"/>
                    </a:cubicBezTo>
                    <a:lnTo>
                      <a:pt x="18465" y="112360"/>
                    </a:lnTo>
                    <a:cubicBezTo>
                      <a:pt x="13568" y="112360"/>
                      <a:pt x="8871" y="110414"/>
                      <a:pt x="5408" y="106952"/>
                    </a:cubicBezTo>
                    <a:cubicBezTo>
                      <a:pt x="1945" y="103489"/>
                      <a:pt x="0" y="98792"/>
                      <a:pt x="0" y="93895"/>
                    </a:cubicBezTo>
                    <a:lnTo>
                      <a:pt x="0" y="18465"/>
                    </a:lnTo>
                    <a:cubicBezTo>
                      <a:pt x="0" y="8267"/>
                      <a:pt x="8267" y="0"/>
                      <a:pt x="18465" y="0"/>
                    </a:cubicBezTo>
                    <a:close/>
                  </a:path>
                </a:pathLst>
              </a:custGeom>
              <a:solidFill>
                <a:srgbClr val="E2E8EE"/>
              </a:solidFill>
              <a:ln w="28575" cap="rnd">
                <a:solidFill>
                  <a:srgbClr val="27374D"/>
                </a:solidFill>
                <a:prstDash val="solid"/>
                <a:round/>
              </a:ln>
            </p:spPr>
            <p:txBody>
              <a:bodyPr/>
              <a:lstStyle/>
              <a:p>
                <a:endParaRPr lang="en-US" sz="1200"/>
              </a:p>
            </p:txBody>
          </p:sp>
          <p:sp>
            <p:nvSpPr>
              <p:cNvPr id="281" name="TextBox 85">
                <a:extLst>
                  <a:ext uri="{FF2B5EF4-FFF2-40B4-BE49-F238E27FC236}">
                    <a16:creationId xmlns:a16="http://schemas.microsoft.com/office/drawing/2014/main" id="{19C3BE04-F988-F35E-35BC-D22F59503185}"/>
                  </a:ext>
                </a:extLst>
              </p:cNvPr>
              <p:cNvSpPr txBox="1"/>
              <p:nvPr/>
            </p:nvSpPr>
            <p:spPr>
              <a:xfrm>
                <a:off x="0" y="-57150"/>
                <a:ext cx="1794550" cy="169510"/>
              </a:xfrm>
              <a:prstGeom prst="rect">
                <a:avLst/>
              </a:prstGeom>
            </p:spPr>
            <p:txBody>
              <a:bodyPr lIns="50800" tIns="50800" rIns="50800" bIns="50800" rtlCol="0" anchor="ctr"/>
              <a:lstStyle/>
              <a:p>
                <a:pPr algn="ctr">
                  <a:lnSpc>
                    <a:spcPts val="4060"/>
                  </a:lnSpc>
                  <a:spcBef>
                    <a:spcPct val="0"/>
                  </a:spcBef>
                </a:pPr>
                <a:endParaRPr sz="1200"/>
              </a:p>
            </p:txBody>
          </p:sp>
        </p:grpSp>
        <p:grpSp>
          <p:nvGrpSpPr>
            <p:cNvPr id="264" name="Group 86">
              <a:extLst>
                <a:ext uri="{FF2B5EF4-FFF2-40B4-BE49-F238E27FC236}">
                  <a16:creationId xmlns:a16="http://schemas.microsoft.com/office/drawing/2014/main" id="{156E167A-F246-CF0B-CC18-E1B7B8C13BBD}"/>
                </a:ext>
              </a:extLst>
            </p:cNvPr>
            <p:cNvGrpSpPr/>
            <p:nvPr/>
          </p:nvGrpSpPr>
          <p:grpSpPr>
            <a:xfrm rot="-5400000">
              <a:off x="10760997" y="10846376"/>
              <a:ext cx="255809" cy="223251"/>
              <a:chOff x="0" y="0"/>
              <a:chExt cx="698500" cy="609600"/>
            </a:xfrm>
          </p:grpSpPr>
          <p:sp>
            <p:nvSpPr>
              <p:cNvPr id="278" name="Freeform 87">
                <a:extLst>
                  <a:ext uri="{FF2B5EF4-FFF2-40B4-BE49-F238E27FC236}">
                    <a16:creationId xmlns:a16="http://schemas.microsoft.com/office/drawing/2014/main" id="{FF692294-EAC8-28CB-ADB5-CB14E7F13449}"/>
                  </a:ext>
                </a:extLst>
              </p:cNvPr>
              <p:cNvSpPr/>
              <p:nvPr/>
            </p:nvSpPr>
            <p:spPr>
              <a:xfrm>
                <a:off x="87477" y="0"/>
                <a:ext cx="523545" cy="489009"/>
              </a:xfrm>
              <a:custGeom>
                <a:avLst/>
                <a:gdLst/>
                <a:ahLst/>
                <a:cxnLst/>
                <a:rect l="l" t="t" r="r" b="b"/>
                <a:pathLst>
                  <a:path w="523545" h="489009">
                    <a:moveTo>
                      <a:pt x="158340" y="429062"/>
                    </a:moveTo>
                    <a:lnTo>
                      <a:pt x="15956" y="180538"/>
                    </a:lnTo>
                    <a:cubicBezTo>
                      <a:pt x="-5425" y="143218"/>
                      <a:pt x="-5310" y="97334"/>
                      <a:pt x="16257" y="60122"/>
                    </a:cubicBezTo>
                    <a:cubicBezTo>
                      <a:pt x="37825" y="22909"/>
                      <a:pt x="77580" y="0"/>
                      <a:pt x="120591" y="0"/>
                    </a:cubicBezTo>
                    <a:lnTo>
                      <a:pt x="402955" y="0"/>
                    </a:lnTo>
                    <a:cubicBezTo>
                      <a:pt x="445966" y="0"/>
                      <a:pt x="485721" y="22909"/>
                      <a:pt x="507289" y="60122"/>
                    </a:cubicBezTo>
                    <a:cubicBezTo>
                      <a:pt x="528857" y="97335"/>
                      <a:pt x="528971" y="143218"/>
                      <a:pt x="507590" y="180538"/>
                    </a:cubicBezTo>
                    <a:lnTo>
                      <a:pt x="365206" y="429062"/>
                    </a:lnTo>
                    <a:cubicBezTo>
                      <a:pt x="343965" y="466138"/>
                      <a:pt x="304503" y="489009"/>
                      <a:pt x="261773" y="489009"/>
                    </a:cubicBezTo>
                    <a:cubicBezTo>
                      <a:pt x="219043" y="489009"/>
                      <a:pt x="179581" y="466138"/>
                      <a:pt x="158340" y="429062"/>
                    </a:cubicBezTo>
                    <a:close/>
                  </a:path>
                </a:pathLst>
              </a:custGeom>
              <a:solidFill>
                <a:srgbClr val="27374D"/>
              </a:solidFill>
            </p:spPr>
            <p:txBody>
              <a:bodyPr/>
              <a:lstStyle/>
              <a:p>
                <a:endParaRPr lang="en-US" sz="1200"/>
              </a:p>
            </p:txBody>
          </p:sp>
          <p:sp>
            <p:nvSpPr>
              <p:cNvPr id="279" name="TextBox 88">
                <a:extLst>
                  <a:ext uri="{FF2B5EF4-FFF2-40B4-BE49-F238E27FC236}">
                    <a16:creationId xmlns:a16="http://schemas.microsoft.com/office/drawing/2014/main" id="{C0C93BAB-EBA1-DCA0-1096-D2FD56B3ACAA}"/>
                  </a:ext>
                </a:extLst>
              </p:cNvPr>
              <p:cNvSpPr txBox="1"/>
              <p:nvPr/>
            </p:nvSpPr>
            <p:spPr>
              <a:xfrm>
                <a:off x="215900" y="-57150"/>
                <a:ext cx="266700" cy="438150"/>
              </a:xfrm>
              <a:prstGeom prst="rect">
                <a:avLst/>
              </a:prstGeom>
            </p:spPr>
            <p:txBody>
              <a:bodyPr lIns="50800" tIns="50800" rIns="50800" bIns="50800" rtlCol="0" anchor="ctr"/>
              <a:lstStyle/>
              <a:p>
                <a:pPr algn="ctr">
                  <a:lnSpc>
                    <a:spcPts val="4060"/>
                  </a:lnSpc>
                </a:pPr>
                <a:endParaRPr sz="1200"/>
              </a:p>
            </p:txBody>
          </p:sp>
        </p:grpSp>
        <p:grpSp>
          <p:nvGrpSpPr>
            <p:cNvPr id="265" name="Group 89">
              <a:extLst>
                <a:ext uri="{FF2B5EF4-FFF2-40B4-BE49-F238E27FC236}">
                  <a16:creationId xmlns:a16="http://schemas.microsoft.com/office/drawing/2014/main" id="{22D29F18-57C9-F739-D72B-5E7BD1580231}"/>
                </a:ext>
              </a:extLst>
            </p:cNvPr>
            <p:cNvGrpSpPr/>
            <p:nvPr/>
          </p:nvGrpSpPr>
          <p:grpSpPr>
            <a:xfrm>
              <a:off x="10966665" y="11396667"/>
              <a:ext cx="114774" cy="114774"/>
              <a:chOff x="0" y="0"/>
              <a:chExt cx="812800" cy="812800"/>
            </a:xfrm>
          </p:grpSpPr>
          <p:sp>
            <p:nvSpPr>
              <p:cNvPr id="276" name="Freeform 90">
                <a:extLst>
                  <a:ext uri="{FF2B5EF4-FFF2-40B4-BE49-F238E27FC236}">
                    <a16:creationId xmlns:a16="http://schemas.microsoft.com/office/drawing/2014/main" id="{1A71607D-4EEB-6B30-86BE-F995D45C972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374D"/>
              </a:solidFill>
            </p:spPr>
            <p:txBody>
              <a:bodyPr/>
              <a:lstStyle/>
              <a:p>
                <a:endParaRPr lang="en-US" sz="1200"/>
              </a:p>
            </p:txBody>
          </p:sp>
          <p:sp>
            <p:nvSpPr>
              <p:cNvPr id="277" name="TextBox 91">
                <a:extLst>
                  <a:ext uri="{FF2B5EF4-FFF2-40B4-BE49-F238E27FC236}">
                    <a16:creationId xmlns:a16="http://schemas.microsoft.com/office/drawing/2014/main" id="{1CA3FAE7-C6CC-2D9B-7B07-6F6476A5E83B}"/>
                  </a:ext>
                </a:extLst>
              </p:cNvPr>
              <p:cNvSpPr txBox="1"/>
              <p:nvPr/>
            </p:nvSpPr>
            <p:spPr>
              <a:xfrm>
                <a:off x="76200" y="19050"/>
                <a:ext cx="660400" cy="717550"/>
              </a:xfrm>
              <a:prstGeom prst="rect">
                <a:avLst/>
              </a:prstGeom>
            </p:spPr>
            <p:txBody>
              <a:bodyPr lIns="50800" tIns="50800" rIns="50800" bIns="50800" rtlCol="0" anchor="ctr"/>
              <a:lstStyle/>
              <a:p>
                <a:pPr algn="ctr">
                  <a:lnSpc>
                    <a:spcPts val="4060"/>
                  </a:lnSpc>
                </a:pPr>
                <a:endParaRPr sz="1200"/>
              </a:p>
            </p:txBody>
          </p:sp>
        </p:grpSp>
        <p:sp>
          <p:nvSpPr>
            <p:cNvPr id="266" name="Freeform 92">
              <a:extLst>
                <a:ext uri="{FF2B5EF4-FFF2-40B4-BE49-F238E27FC236}">
                  <a16:creationId xmlns:a16="http://schemas.microsoft.com/office/drawing/2014/main" id="{F034DDCE-0EF0-E49E-BAC4-36C17873B59F}"/>
                </a:ext>
              </a:extLst>
            </p:cNvPr>
            <p:cNvSpPr/>
            <p:nvPr/>
          </p:nvSpPr>
          <p:spPr>
            <a:xfrm>
              <a:off x="10798786" y="11261323"/>
              <a:ext cx="10028658" cy="3301771"/>
            </a:xfrm>
            <a:custGeom>
              <a:avLst/>
              <a:gdLst/>
              <a:ahLst/>
              <a:cxnLst/>
              <a:rect l="l" t="t" r="r" b="b"/>
              <a:pathLst>
                <a:path w="10028658" h="3301771">
                  <a:moveTo>
                    <a:pt x="480914" y="0"/>
                  </a:moveTo>
                  <a:lnTo>
                    <a:pt x="480914" y="96366"/>
                  </a:lnTo>
                  <a:cubicBezTo>
                    <a:pt x="480914" y="121923"/>
                    <a:pt x="491067" y="146434"/>
                    <a:pt x="509139" y="164506"/>
                  </a:cubicBezTo>
                  <a:cubicBezTo>
                    <a:pt x="527210" y="182578"/>
                    <a:pt x="551721" y="192731"/>
                    <a:pt x="577279" y="192731"/>
                  </a:cubicBezTo>
                  <a:lnTo>
                    <a:pt x="9800057" y="192731"/>
                  </a:lnTo>
                  <a:cubicBezTo>
                    <a:pt x="9926310" y="192731"/>
                    <a:pt x="10028657" y="295079"/>
                    <a:pt x="10028657" y="421331"/>
                  </a:cubicBezTo>
                  <a:lnTo>
                    <a:pt x="10028657" y="3073171"/>
                  </a:lnTo>
                  <a:cubicBezTo>
                    <a:pt x="10028657" y="3199424"/>
                    <a:pt x="9926310" y="3301771"/>
                    <a:pt x="9800057" y="3301771"/>
                  </a:cubicBezTo>
                  <a:lnTo>
                    <a:pt x="228600" y="3301771"/>
                  </a:lnTo>
                  <a:cubicBezTo>
                    <a:pt x="167971" y="3301771"/>
                    <a:pt x="109826" y="3277687"/>
                    <a:pt x="66955" y="3234815"/>
                  </a:cubicBezTo>
                  <a:cubicBezTo>
                    <a:pt x="24084" y="3191945"/>
                    <a:pt x="0" y="3133800"/>
                    <a:pt x="0" y="3073171"/>
                  </a:cubicBezTo>
                  <a:lnTo>
                    <a:pt x="0" y="293601"/>
                  </a:lnTo>
                  <a:cubicBezTo>
                    <a:pt x="0" y="237892"/>
                    <a:pt x="45161" y="192731"/>
                    <a:pt x="100870" y="192731"/>
                  </a:cubicBezTo>
                  <a:lnTo>
                    <a:pt x="201741" y="192731"/>
                  </a:lnTo>
                </a:path>
              </a:pathLst>
            </a:custGeom>
            <a:ln w="28575" cap="flat">
              <a:solidFill>
                <a:srgbClr val="27374D"/>
              </a:solidFill>
              <a:prstDash val="solid"/>
              <a:headEnd type="none" w="sm" len="sm"/>
              <a:tailEnd type="none" w="sm" len="sm"/>
            </a:ln>
          </p:spPr>
          <p:txBody>
            <a:bodyPr/>
            <a:lstStyle/>
            <a:p>
              <a:endParaRPr lang="en-US" sz="1200"/>
            </a:p>
          </p:txBody>
        </p:sp>
        <p:sp>
          <p:nvSpPr>
            <p:cNvPr id="267" name="TextBox 94">
              <a:extLst>
                <a:ext uri="{FF2B5EF4-FFF2-40B4-BE49-F238E27FC236}">
                  <a16:creationId xmlns:a16="http://schemas.microsoft.com/office/drawing/2014/main" id="{C6760625-6A53-F517-8355-373459E8BC33}"/>
                </a:ext>
              </a:extLst>
            </p:cNvPr>
            <p:cNvSpPr txBox="1"/>
            <p:nvPr/>
          </p:nvSpPr>
          <p:spPr>
            <a:xfrm>
              <a:off x="13161539" y="2130652"/>
              <a:ext cx="3595477" cy="696722"/>
            </a:xfrm>
            <a:prstGeom prst="rect">
              <a:avLst/>
            </a:prstGeom>
          </p:spPr>
          <p:txBody>
            <a:bodyPr wrap="square" lIns="0" tIns="0" rIns="0" bIns="0" rtlCol="0" anchor="t">
              <a:spAutoFit/>
            </a:bodyPr>
            <a:lstStyle/>
            <a:p>
              <a:pPr algn="l">
                <a:lnSpc>
                  <a:spcPts val="3094"/>
                </a:lnSpc>
                <a:spcBef>
                  <a:spcPct val="0"/>
                </a:spcBef>
              </a:pPr>
              <a:r>
                <a:rPr lang="en-US" sz="1600" b="1" dirty="0">
                  <a:solidFill>
                    <a:srgbClr val="27374D"/>
                  </a:solidFill>
                  <a:latin typeface="Canva Sans Bold"/>
                  <a:ea typeface="Canva Sans Bold"/>
                  <a:cs typeface="Canva Sans Bold"/>
                  <a:sym typeface="Canva Sans Bold"/>
                </a:rPr>
                <a:t>Customer Relationships</a:t>
              </a:r>
            </a:p>
          </p:txBody>
        </p:sp>
        <p:sp>
          <p:nvSpPr>
            <p:cNvPr id="268" name="TextBox 95">
              <a:extLst>
                <a:ext uri="{FF2B5EF4-FFF2-40B4-BE49-F238E27FC236}">
                  <a16:creationId xmlns:a16="http://schemas.microsoft.com/office/drawing/2014/main" id="{0B13B9CA-EF27-8CF7-0972-0DEF9733C5E5}"/>
                </a:ext>
              </a:extLst>
            </p:cNvPr>
            <p:cNvSpPr txBox="1"/>
            <p:nvPr/>
          </p:nvSpPr>
          <p:spPr>
            <a:xfrm>
              <a:off x="13161539" y="6359928"/>
              <a:ext cx="2400171" cy="696722"/>
            </a:xfrm>
            <a:prstGeom prst="rect">
              <a:avLst/>
            </a:prstGeom>
          </p:spPr>
          <p:txBody>
            <a:bodyPr wrap="square" lIns="0" tIns="0" rIns="0" bIns="0" rtlCol="0" anchor="t">
              <a:spAutoFit/>
            </a:bodyPr>
            <a:lstStyle/>
            <a:p>
              <a:pPr algn="l">
                <a:lnSpc>
                  <a:spcPts val="3094"/>
                </a:lnSpc>
                <a:spcBef>
                  <a:spcPct val="0"/>
                </a:spcBef>
              </a:pPr>
              <a:r>
                <a:rPr lang="en-US" sz="1600" b="1" dirty="0">
                  <a:solidFill>
                    <a:srgbClr val="27374D"/>
                  </a:solidFill>
                  <a:latin typeface="Canva Sans Bold"/>
                  <a:ea typeface="Canva Sans Bold"/>
                  <a:cs typeface="Canva Sans Bold"/>
                  <a:sym typeface="Canva Sans Bold"/>
                </a:rPr>
                <a:t>Channels</a:t>
              </a:r>
            </a:p>
          </p:txBody>
        </p:sp>
        <p:sp>
          <p:nvSpPr>
            <p:cNvPr id="269" name="TextBox 96">
              <a:extLst>
                <a:ext uri="{FF2B5EF4-FFF2-40B4-BE49-F238E27FC236}">
                  <a16:creationId xmlns:a16="http://schemas.microsoft.com/office/drawing/2014/main" id="{D97218CD-92D2-5D36-8EBC-F2A2A01AEFC1}"/>
                </a:ext>
              </a:extLst>
            </p:cNvPr>
            <p:cNvSpPr txBox="1"/>
            <p:nvPr/>
          </p:nvSpPr>
          <p:spPr>
            <a:xfrm>
              <a:off x="4980473" y="2157538"/>
              <a:ext cx="2944667" cy="696722"/>
            </a:xfrm>
            <a:prstGeom prst="rect">
              <a:avLst/>
            </a:prstGeom>
          </p:spPr>
          <p:txBody>
            <a:bodyPr wrap="square" lIns="0" tIns="0" rIns="0" bIns="0" rtlCol="0" anchor="t">
              <a:spAutoFit/>
            </a:bodyPr>
            <a:lstStyle/>
            <a:p>
              <a:pPr algn="l">
                <a:lnSpc>
                  <a:spcPts val="3094"/>
                </a:lnSpc>
                <a:spcBef>
                  <a:spcPct val="0"/>
                </a:spcBef>
              </a:pPr>
              <a:r>
                <a:rPr lang="en-US" sz="1600" b="1" dirty="0">
                  <a:solidFill>
                    <a:srgbClr val="27374D"/>
                  </a:solidFill>
                  <a:latin typeface="Canva Sans Bold"/>
                  <a:ea typeface="Canva Sans Bold"/>
                  <a:cs typeface="Canva Sans Bold"/>
                  <a:sym typeface="Canva Sans Bold"/>
                </a:rPr>
                <a:t>Key Activities</a:t>
              </a:r>
            </a:p>
          </p:txBody>
        </p:sp>
        <p:sp>
          <p:nvSpPr>
            <p:cNvPr id="270" name="TextBox 97">
              <a:extLst>
                <a:ext uri="{FF2B5EF4-FFF2-40B4-BE49-F238E27FC236}">
                  <a16:creationId xmlns:a16="http://schemas.microsoft.com/office/drawing/2014/main" id="{2E59212A-4B9F-0112-2AE6-D13763F85B3D}"/>
                </a:ext>
              </a:extLst>
            </p:cNvPr>
            <p:cNvSpPr txBox="1"/>
            <p:nvPr/>
          </p:nvSpPr>
          <p:spPr>
            <a:xfrm>
              <a:off x="4998933" y="6326015"/>
              <a:ext cx="2944914" cy="696722"/>
            </a:xfrm>
            <a:prstGeom prst="rect">
              <a:avLst/>
            </a:prstGeom>
          </p:spPr>
          <p:txBody>
            <a:bodyPr wrap="square" lIns="0" tIns="0" rIns="0" bIns="0" rtlCol="0" anchor="t">
              <a:spAutoFit/>
            </a:bodyPr>
            <a:lstStyle/>
            <a:p>
              <a:pPr algn="l">
                <a:lnSpc>
                  <a:spcPts val="3094"/>
                </a:lnSpc>
                <a:spcBef>
                  <a:spcPct val="0"/>
                </a:spcBef>
              </a:pPr>
              <a:r>
                <a:rPr lang="en-US" sz="1600" b="1" dirty="0">
                  <a:solidFill>
                    <a:srgbClr val="27374D"/>
                  </a:solidFill>
                  <a:latin typeface="Canva Sans Bold"/>
                  <a:ea typeface="Canva Sans Bold"/>
                  <a:cs typeface="Canva Sans Bold"/>
                  <a:sym typeface="Canva Sans Bold"/>
                </a:rPr>
                <a:t>Key Resources</a:t>
              </a:r>
            </a:p>
          </p:txBody>
        </p:sp>
        <p:sp>
          <p:nvSpPr>
            <p:cNvPr id="271" name="TextBox 98">
              <a:extLst>
                <a:ext uri="{FF2B5EF4-FFF2-40B4-BE49-F238E27FC236}">
                  <a16:creationId xmlns:a16="http://schemas.microsoft.com/office/drawing/2014/main" id="{F9E50620-26E0-091E-82A7-EC61639EEA56}"/>
                </a:ext>
              </a:extLst>
            </p:cNvPr>
            <p:cNvSpPr txBox="1"/>
            <p:nvPr/>
          </p:nvSpPr>
          <p:spPr>
            <a:xfrm>
              <a:off x="9135411" y="2130652"/>
              <a:ext cx="3121737" cy="696722"/>
            </a:xfrm>
            <a:prstGeom prst="rect">
              <a:avLst/>
            </a:prstGeom>
          </p:spPr>
          <p:txBody>
            <a:bodyPr wrap="square" lIns="0" tIns="0" rIns="0" bIns="0" rtlCol="0" anchor="t">
              <a:spAutoFit/>
            </a:bodyPr>
            <a:lstStyle/>
            <a:p>
              <a:pPr algn="l">
                <a:lnSpc>
                  <a:spcPts val="3094"/>
                </a:lnSpc>
                <a:spcBef>
                  <a:spcPct val="0"/>
                </a:spcBef>
              </a:pPr>
              <a:r>
                <a:rPr lang="en-US" sz="1600" b="1" dirty="0">
                  <a:solidFill>
                    <a:srgbClr val="27374D"/>
                  </a:solidFill>
                  <a:latin typeface="Canva Sans Bold"/>
                  <a:ea typeface="Canva Sans Bold"/>
                  <a:cs typeface="Canva Sans Bold"/>
                  <a:sym typeface="Canva Sans Bold"/>
                </a:rPr>
                <a:t>Value Proposition</a:t>
              </a:r>
            </a:p>
          </p:txBody>
        </p:sp>
        <p:sp>
          <p:nvSpPr>
            <p:cNvPr id="272" name="TextBox 99">
              <a:extLst>
                <a:ext uri="{FF2B5EF4-FFF2-40B4-BE49-F238E27FC236}">
                  <a16:creationId xmlns:a16="http://schemas.microsoft.com/office/drawing/2014/main" id="{9396CE75-ED47-E695-D673-3633714EF13B}"/>
                </a:ext>
              </a:extLst>
            </p:cNvPr>
            <p:cNvSpPr txBox="1"/>
            <p:nvPr/>
          </p:nvSpPr>
          <p:spPr>
            <a:xfrm>
              <a:off x="17240833" y="2107265"/>
              <a:ext cx="3227389" cy="696722"/>
            </a:xfrm>
            <a:prstGeom prst="rect">
              <a:avLst/>
            </a:prstGeom>
          </p:spPr>
          <p:txBody>
            <a:bodyPr wrap="square" lIns="0" tIns="0" rIns="0" bIns="0" rtlCol="0" anchor="t">
              <a:spAutoFit/>
            </a:bodyPr>
            <a:lstStyle/>
            <a:p>
              <a:pPr algn="l">
                <a:lnSpc>
                  <a:spcPts val="3094"/>
                </a:lnSpc>
                <a:spcBef>
                  <a:spcPct val="0"/>
                </a:spcBef>
              </a:pPr>
              <a:r>
                <a:rPr lang="en-US" sz="1600" b="1" dirty="0">
                  <a:solidFill>
                    <a:srgbClr val="27374D"/>
                  </a:solidFill>
                  <a:latin typeface="Canva Sans Bold"/>
                  <a:ea typeface="Canva Sans Bold"/>
                  <a:cs typeface="Canva Sans Bold"/>
                  <a:sym typeface="Canva Sans Bold"/>
                </a:rPr>
                <a:t>Customer Segments</a:t>
              </a:r>
            </a:p>
          </p:txBody>
        </p:sp>
        <p:sp>
          <p:nvSpPr>
            <p:cNvPr id="273" name="TextBox 100">
              <a:extLst>
                <a:ext uri="{FF2B5EF4-FFF2-40B4-BE49-F238E27FC236}">
                  <a16:creationId xmlns:a16="http://schemas.microsoft.com/office/drawing/2014/main" id="{FACB5884-0CF1-25AD-BDF0-8F5A72DB642B}"/>
                </a:ext>
              </a:extLst>
            </p:cNvPr>
            <p:cNvSpPr txBox="1"/>
            <p:nvPr/>
          </p:nvSpPr>
          <p:spPr>
            <a:xfrm>
              <a:off x="887146" y="2150923"/>
              <a:ext cx="2604967" cy="696722"/>
            </a:xfrm>
            <a:prstGeom prst="rect">
              <a:avLst/>
            </a:prstGeom>
          </p:spPr>
          <p:txBody>
            <a:bodyPr wrap="square" lIns="0" tIns="0" rIns="0" bIns="0" rtlCol="0" anchor="t">
              <a:spAutoFit/>
            </a:bodyPr>
            <a:lstStyle/>
            <a:p>
              <a:pPr algn="l">
                <a:lnSpc>
                  <a:spcPts val="3094"/>
                </a:lnSpc>
                <a:spcBef>
                  <a:spcPct val="0"/>
                </a:spcBef>
              </a:pPr>
              <a:r>
                <a:rPr lang="en-US" sz="1600" b="1" dirty="0">
                  <a:solidFill>
                    <a:srgbClr val="27374D"/>
                  </a:solidFill>
                  <a:latin typeface="Canva Sans Bold"/>
                  <a:ea typeface="Canva Sans Bold"/>
                  <a:cs typeface="Canva Sans Bold"/>
                  <a:sym typeface="Canva Sans Bold"/>
                </a:rPr>
                <a:t>Key Partners</a:t>
              </a:r>
            </a:p>
          </p:txBody>
        </p:sp>
        <p:sp>
          <p:nvSpPr>
            <p:cNvPr id="274" name="TextBox 101">
              <a:extLst>
                <a:ext uri="{FF2B5EF4-FFF2-40B4-BE49-F238E27FC236}">
                  <a16:creationId xmlns:a16="http://schemas.microsoft.com/office/drawing/2014/main" id="{965D3315-B64C-D033-C819-7DC81AB18775}"/>
                </a:ext>
              </a:extLst>
            </p:cNvPr>
            <p:cNvSpPr txBox="1"/>
            <p:nvPr/>
          </p:nvSpPr>
          <p:spPr>
            <a:xfrm>
              <a:off x="887146" y="10562319"/>
              <a:ext cx="2896514" cy="696722"/>
            </a:xfrm>
            <a:prstGeom prst="rect">
              <a:avLst/>
            </a:prstGeom>
          </p:spPr>
          <p:txBody>
            <a:bodyPr wrap="square" lIns="0" tIns="0" rIns="0" bIns="0" rtlCol="0" anchor="t">
              <a:spAutoFit/>
            </a:bodyPr>
            <a:lstStyle/>
            <a:p>
              <a:pPr algn="l">
                <a:lnSpc>
                  <a:spcPts val="3094"/>
                </a:lnSpc>
                <a:spcBef>
                  <a:spcPct val="0"/>
                </a:spcBef>
              </a:pPr>
              <a:r>
                <a:rPr lang="en-US" sz="1600" b="1" dirty="0">
                  <a:solidFill>
                    <a:srgbClr val="27374D"/>
                  </a:solidFill>
                  <a:latin typeface="Canva Sans Bold"/>
                  <a:ea typeface="Canva Sans Bold"/>
                  <a:cs typeface="Canva Sans Bold"/>
                  <a:sym typeface="Canva Sans Bold"/>
                </a:rPr>
                <a:t>Cost Structure</a:t>
              </a:r>
            </a:p>
          </p:txBody>
        </p:sp>
        <p:sp>
          <p:nvSpPr>
            <p:cNvPr id="275" name="TextBox 102">
              <a:extLst>
                <a:ext uri="{FF2B5EF4-FFF2-40B4-BE49-F238E27FC236}">
                  <a16:creationId xmlns:a16="http://schemas.microsoft.com/office/drawing/2014/main" id="{DBEE4CE0-CEAB-5C63-B81A-58E473F82FFC}"/>
                </a:ext>
              </a:extLst>
            </p:cNvPr>
            <p:cNvSpPr txBox="1"/>
            <p:nvPr/>
          </p:nvSpPr>
          <p:spPr>
            <a:xfrm>
              <a:off x="11115678" y="10562319"/>
              <a:ext cx="3452928" cy="696722"/>
            </a:xfrm>
            <a:prstGeom prst="rect">
              <a:avLst/>
            </a:prstGeom>
          </p:spPr>
          <p:txBody>
            <a:bodyPr wrap="square" lIns="0" tIns="0" rIns="0" bIns="0" rtlCol="0" anchor="t">
              <a:spAutoFit/>
            </a:bodyPr>
            <a:lstStyle/>
            <a:p>
              <a:pPr algn="l">
                <a:lnSpc>
                  <a:spcPts val="3094"/>
                </a:lnSpc>
                <a:spcBef>
                  <a:spcPct val="0"/>
                </a:spcBef>
              </a:pPr>
              <a:r>
                <a:rPr lang="en-US" sz="1600" b="1" dirty="0">
                  <a:solidFill>
                    <a:srgbClr val="27374D"/>
                  </a:solidFill>
                  <a:latin typeface="Canva Sans Bold"/>
                  <a:ea typeface="Canva Sans Bold"/>
                  <a:cs typeface="Canva Sans Bold"/>
                  <a:sym typeface="Canva Sans Bold"/>
                </a:rPr>
                <a:t>Revenue Streams</a:t>
              </a:r>
            </a:p>
          </p:txBody>
        </p:sp>
      </p:grpSp>
      <p:sp>
        <p:nvSpPr>
          <p:cNvPr id="330" name="canvas Key Partners"/>
          <p:cNvSpPr txBox="1"/>
          <p:nvPr/>
        </p:nvSpPr>
        <p:spPr>
          <a:xfrm>
            <a:off x="2307912" y="3269598"/>
            <a:ext cx="2659084" cy="3527781"/>
          </a:xfrm>
          <a:prstGeom prst="rect">
            <a:avLst/>
          </a:prstGeom>
          <a:noFill/>
        </p:spPr>
        <p:txBody>
          <a:bodyPr wrap="square" lIns="73152" rIns="73152" tIns="36576" bIns="36576" anchor="t">
            <a:spAutoFit/>
          </a:bodyPr>
          <a:lstStyle/>
          <a:p>
            <a:pPr algn="l">
              <a:spcAft>
                <a:spcPts val="300"/>
              </a:spcAft>
            </a:pPr>
            <a:r>
              <a:rPr sz="1100">
                <a:solidFill>
                  <a:srgbClr val="FFFFFF"/>
                </a:solidFill>
                <a:latin typeface="Tahoma"/>
              </a:rPr>
              <a:t>•  Hospital informatics and quality teams</a:t>
            </a:r>
          </a:p>
          <a:p>
            <a:pPr algn="l">
              <a:spcAft>
                <a:spcPts val="300"/>
              </a:spcAft>
            </a:pPr>
            <a:r>
              <a:rPr sz="1100">
                <a:solidFill>
                  <a:srgbClr val="FFFFFF"/>
                </a:solidFill>
                <a:latin typeface="Tahoma"/>
              </a:rPr>
              <a:t>•  ICU and emergency clinicians</a:t>
            </a:r>
          </a:p>
          <a:p>
            <a:pPr algn="l">
              <a:spcAft>
                <a:spcPts val="300"/>
              </a:spcAft>
            </a:pPr>
            <a:r>
              <a:rPr sz="1100">
                <a:solidFill>
                  <a:srgbClr val="FFFFFF"/>
                </a:solidFill>
                <a:latin typeface="Tahoma"/>
              </a:rPr>
              <a:t>•  Ministry of Health digital-health programme</a:t>
            </a:r>
          </a:p>
          <a:p>
            <a:pPr algn="l">
              <a:spcAft>
                <a:spcPts val="300"/>
              </a:spcAft>
            </a:pPr>
            <a:r>
              <a:rPr sz="1100">
                <a:solidFill>
                  <a:srgbClr val="FFFFFF"/>
                </a:solidFill>
                <a:latin typeface="Tahoma"/>
              </a:rPr>
              <a:t>•  University research groups</a:t>
            </a:r>
          </a:p>
          <a:p>
            <a:pPr algn="l">
              <a:spcAft>
                <a:spcPts val="300"/>
              </a:spcAft>
            </a:pPr>
            <a:r>
              <a:rPr sz="1100">
                <a:solidFill>
                  <a:srgbClr val="FFFFFF"/>
                </a:solidFill>
                <a:latin typeface="Tahoma"/>
              </a:rPr>
              <a:t>•  Open ICU databases (PhysioNet)</a:t>
            </a:r>
          </a:p>
        </p:txBody>
      </p:sp>
      <p:sp>
        <p:nvSpPr>
          <p:cNvPr id="331" name="canvas Key Activities"/>
          <p:cNvSpPr txBox="1"/>
          <p:nvPr/>
        </p:nvSpPr>
        <p:spPr>
          <a:xfrm>
            <a:off x="5265121" y="3269598"/>
            <a:ext cx="2659084" cy="1450457"/>
          </a:xfrm>
          <a:prstGeom prst="rect">
            <a:avLst/>
          </a:prstGeom>
          <a:noFill/>
        </p:spPr>
        <p:txBody>
          <a:bodyPr wrap="square" lIns="73152" rIns="73152" tIns="36576" bIns="36576" anchor="t">
            <a:spAutoFit/>
          </a:bodyPr>
          <a:lstStyle/>
          <a:p>
            <a:pPr algn="l">
              <a:spcAft>
                <a:spcPts val="300"/>
              </a:spcAft>
            </a:pPr>
            <a:r>
              <a:rPr sz="1050">
                <a:solidFill>
                  <a:srgbClr val="FFFFFF"/>
                </a:solidFill>
                <a:latin typeface="Tahoma"/>
              </a:rPr>
              <a:t>•  Translate each hospital's records to one language</a:t>
            </a:r>
          </a:p>
          <a:p>
            <a:pPr algn="l">
              <a:spcAft>
                <a:spcPts val="300"/>
              </a:spcAft>
            </a:pPr>
            <a:r>
              <a:rPr sz="1050">
                <a:solidFill>
                  <a:srgbClr val="FFFFFF"/>
                </a:solidFill>
                <a:latin typeface="Tahoma"/>
              </a:rPr>
              <a:t>•  Train and audit the hourly model</a:t>
            </a:r>
          </a:p>
          <a:p>
            <a:pPr algn="l">
              <a:spcAft>
                <a:spcPts val="300"/>
              </a:spcAft>
            </a:pPr>
            <a:r>
              <a:rPr sz="1050">
                <a:solidFill>
                  <a:srgbClr val="FFFFFF"/>
                </a:solidFill>
                <a:latin typeface="Tahoma"/>
              </a:rPr>
              <a:t>•  Co-design the alarm policy with clinicians</a:t>
            </a:r>
          </a:p>
        </p:txBody>
      </p:sp>
      <p:sp>
        <p:nvSpPr>
          <p:cNvPr id="332" name="canvas Key Resources"/>
          <p:cNvSpPr txBox="1"/>
          <p:nvPr/>
        </p:nvSpPr>
        <p:spPr>
          <a:xfrm>
            <a:off x="5265121" y="5351449"/>
            <a:ext cx="2659084" cy="1450457"/>
          </a:xfrm>
          <a:prstGeom prst="rect">
            <a:avLst/>
          </a:prstGeom>
          <a:noFill/>
        </p:spPr>
        <p:txBody>
          <a:bodyPr wrap="square" lIns="73152" rIns="73152" tIns="36576" bIns="36576" anchor="t">
            <a:spAutoFit/>
          </a:bodyPr>
          <a:lstStyle/>
          <a:p>
            <a:pPr algn="l">
              <a:spcAft>
                <a:spcPts val="300"/>
              </a:spcAft>
            </a:pPr>
            <a:r>
              <a:rPr sz="1050">
                <a:solidFill>
                  <a:srgbClr val="FFFFFF"/>
                </a:solidFill>
                <a:latin typeface="Tahoma"/>
              </a:rPr>
              <a:t>•  Open ICU data for development</a:t>
            </a:r>
          </a:p>
          <a:p>
            <a:pPr algn="l">
              <a:spcAft>
                <a:spcPts val="300"/>
              </a:spcAft>
            </a:pPr>
            <a:r>
              <a:rPr sz="1050">
                <a:solidFill>
                  <a:srgbClr val="FFFFFF"/>
                </a:solidFill>
                <a:latin typeface="Tahoma"/>
              </a:rPr>
              <a:t>•  Hospital EHR access via FHIR</a:t>
            </a:r>
          </a:p>
          <a:p>
            <a:pPr algn="l">
              <a:spcAft>
                <a:spcPts val="300"/>
              </a:spcAft>
            </a:pPr>
            <a:r>
              <a:rPr sz="1050">
                <a:solidFill>
                  <a:srgbClr val="FFFFFF"/>
                </a:solidFill>
                <a:latin typeface="Tahoma"/>
              </a:rPr>
              <a:t>•  Clinical advisors; cloud compute</a:t>
            </a:r>
          </a:p>
        </p:txBody>
      </p:sp>
      <p:sp>
        <p:nvSpPr>
          <p:cNvPr id="333" name="canvas Value Proposition"/>
          <p:cNvSpPr txBox="1"/>
          <p:nvPr/>
        </p:nvSpPr>
        <p:spPr>
          <a:xfrm>
            <a:off x="8215729" y="3269598"/>
            <a:ext cx="2659084" cy="3527781"/>
          </a:xfrm>
          <a:prstGeom prst="rect">
            <a:avLst/>
          </a:prstGeom>
          <a:noFill/>
        </p:spPr>
        <p:txBody>
          <a:bodyPr wrap="square" lIns="73152" rIns="73152" tIns="36576" bIns="36576" anchor="t">
            <a:spAutoFit/>
          </a:bodyPr>
          <a:lstStyle/>
          <a:p>
            <a:pPr algn="l">
              <a:spcAft>
                <a:spcPts val="300"/>
              </a:spcAft>
            </a:pPr>
            <a:r>
              <a:rPr sz="1100">
                <a:solidFill>
                  <a:srgbClr val="FFFFFF"/>
                </a:solidFill>
                <a:latin typeface="Tahoma"/>
              </a:rPr>
              <a:t>•  A sepsis warning hours earlier that works in this hospital, not only the one it was built in</a:t>
            </a:r>
          </a:p>
          <a:p>
            <a:pPr algn="l">
              <a:spcAft>
                <a:spcPts val="300"/>
              </a:spcAft>
            </a:pPr>
            <a:r>
              <a:rPr sz="1100">
                <a:solidFill>
                  <a:srgbClr val="FFFFFF"/>
                </a:solidFill>
                <a:latin typeface="Tahoma"/>
              </a:rPr>
              <a:t>•  Fewer false alarms through a clinician-set budget</a:t>
            </a:r>
          </a:p>
          <a:p>
            <a:pPr algn="l">
              <a:spcAft>
                <a:spcPts val="300"/>
              </a:spcAft>
            </a:pPr>
            <a:r>
              <a:rPr sz="1100">
                <a:solidFill>
                  <a:srgbClr val="FFFFFF"/>
                </a:solidFill>
                <a:latin typeface="Tahoma"/>
              </a:rPr>
              <a:t>•  A reason per organ, so the alert is actionable</a:t>
            </a:r>
          </a:p>
          <a:p>
            <a:pPr algn="l">
              <a:spcAft>
                <a:spcPts val="300"/>
              </a:spcAft>
            </a:pPr>
            <a:r>
              <a:rPr sz="1100">
                <a:solidFill>
                  <a:srgbClr val="FFFFFF"/>
                </a:solidFill>
                <a:latin typeface="Tahoma"/>
              </a:rPr>
              <a:t>•  Transparent, auditable, hospital-owned</a:t>
            </a:r>
          </a:p>
        </p:txBody>
      </p:sp>
      <p:sp>
        <p:nvSpPr>
          <p:cNvPr id="334" name="canvas Customer Relationships"/>
          <p:cNvSpPr txBox="1"/>
          <p:nvPr/>
        </p:nvSpPr>
        <p:spPr>
          <a:xfrm>
            <a:off x="11166338" y="3269598"/>
            <a:ext cx="2659084" cy="1450457"/>
          </a:xfrm>
          <a:prstGeom prst="rect">
            <a:avLst/>
          </a:prstGeom>
          <a:noFill/>
        </p:spPr>
        <p:txBody>
          <a:bodyPr wrap="square" lIns="73152" rIns="73152" tIns="36576" bIns="36576" anchor="t">
            <a:spAutoFit/>
          </a:bodyPr>
          <a:lstStyle/>
          <a:p>
            <a:pPr algn="l">
              <a:spcAft>
                <a:spcPts val="300"/>
              </a:spcAft>
            </a:pPr>
            <a:r>
              <a:rPr sz="1050">
                <a:solidFill>
                  <a:srgbClr val="FFFFFF"/>
                </a:solidFill>
                <a:latin typeface="Tahoma"/>
              </a:rPr>
              <a:t>•  Co-design with ICU teams</a:t>
            </a:r>
          </a:p>
          <a:p>
            <a:pPr algn="l">
              <a:spcAft>
                <a:spcPts val="300"/>
              </a:spcAft>
            </a:pPr>
            <a:r>
              <a:rPr sz="1050">
                <a:solidFill>
                  <a:srgbClr val="FFFFFF"/>
                </a:solidFill>
                <a:latin typeface="Tahoma"/>
              </a:rPr>
              <a:t>•  Monthly performance reports to the quality committee</a:t>
            </a:r>
          </a:p>
          <a:p>
            <a:pPr algn="l">
              <a:spcAft>
                <a:spcPts val="300"/>
              </a:spcAft>
            </a:pPr>
            <a:r>
              <a:rPr sz="1050">
                <a:solidFill>
                  <a:srgbClr val="FFFFFF"/>
                </a:solidFill>
                <a:latin typeface="Tahoma"/>
              </a:rPr>
              <a:t>•  Clinician feedback loop in the dashboard</a:t>
            </a:r>
          </a:p>
        </p:txBody>
      </p:sp>
      <p:sp>
        <p:nvSpPr>
          <p:cNvPr id="335" name="canvas Channels"/>
          <p:cNvSpPr txBox="1"/>
          <p:nvPr/>
        </p:nvSpPr>
        <p:spPr>
          <a:xfrm>
            <a:off x="11166338" y="5351449"/>
            <a:ext cx="2659084" cy="1450457"/>
          </a:xfrm>
          <a:prstGeom prst="rect">
            <a:avLst/>
          </a:prstGeom>
          <a:noFill/>
        </p:spPr>
        <p:txBody>
          <a:bodyPr wrap="square" lIns="73152" rIns="73152" tIns="36576" bIns="36576" anchor="t">
            <a:spAutoFit/>
          </a:bodyPr>
          <a:lstStyle/>
          <a:p>
            <a:pPr algn="l">
              <a:spcAft>
                <a:spcPts val="300"/>
              </a:spcAft>
            </a:pPr>
            <a:r>
              <a:rPr sz="1050">
                <a:solidFill>
                  <a:srgbClr val="FFFFFF"/>
                </a:solidFill>
                <a:latin typeface="Tahoma"/>
              </a:rPr>
              <a:t>•  Inside the hospital EHR and nursing dashboards</a:t>
            </a:r>
          </a:p>
          <a:p>
            <a:pPr algn="l">
              <a:spcAft>
                <a:spcPts val="300"/>
              </a:spcAft>
            </a:pPr>
            <a:r>
              <a:rPr sz="1050">
                <a:solidFill>
                  <a:srgbClr val="FFFFFF"/>
                </a:solidFill>
                <a:latin typeface="Tahoma"/>
              </a:rPr>
              <a:t>•  Pilot through a university hospital</a:t>
            </a:r>
          </a:p>
          <a:p>
            <a:pPr algn="l">
              <a:spcAft>
                <a:spcPts val="300"/>
              </a:spcAft>
            </a:pPr>
            <a:r>
              <a:rPr sz="1050">
                <a:solidFill>
                  <a:srgbClr val="FFFFFF"/>
                </a:solidFill>
                <a:latin typeface="Tahoma"/>
              </a:rPr>
              <a:t>•  Ministry of Health innovation programmes</a:t>
            </a:r>
          </a:p>
        </p:txBody>
      </p:sp>
      <p:sp>
        <p:nvSpPr>
          <p:cNvPr id="336" name="canvas Customer Segments"/>
          <p:cNvSpPr txBox="1"/>
          <p:nvPr/>
        </p:nvSpPr>
        <p:spPr>
          <a:xfrm>
            <a:off x="14123547" y="3269598"/>
            <a:ext cx="2659084" cy="3527781"/>
          </a:xfrm>
          <a:prstGeom prst="rect">
            <a:avLst/>
          </a:prstGeom>
          <a:noFill/>
        </p:spPr>
        <p:txBody>
          <a:bodyPr wrap="square" lIns="73152" rIns="73152" tIns="36576" bIns="36576" anchor="t">
            <a:spAutoFit/>
          </a:bodyPr>
          <a:lstStyle/>
          <a:p>
            <a:pPr algn="l">
              <a:spcAft>
                <a:spcPts val="300"/>
              </a:spcAft>
            </a:pPr>
            <a:r>
              <a:rPr sz="1100">
                <a:solidFill>
                  <a:srgbClr val="FFFFFF"/>
                </a:solidFill>
                <a:latin typeface="Tahoma"/>
              </a:rPr>
              <a:t>•  Public and private hospitals with ICUs</a:t>
            </a:r>
          </a:p>
          <a:p>
            <a:pPr algn="l">
              <a:spcAft>
                <a:spcPts val="300"/>
              </a:spcAft>
            </a:pPr>
            <a:r>
              <a:rPr sz="1100">
                <a:solidFill>
                  <a:srgbClr val="FFFFFF"/>
                </a:solidFill>
                <a:latin typeface="Tahoma"/>
              </a:rPr>
              <a:t>•  Hospital quality and patient-safety departments</a:t>
            </a:r>
          </a:p>
          <a:p>
            <a:pPr algn="l">
              <a:spcAft>
                <a:spcPts val="300"/>
              </a:spcAft>
            </a:pPr>
            <a:r>
              <a:rPr sz="1100">
                <a:solidFill>
                  <a:srgbClr val="FFFFFF"/>
                </a:solidFill>
                <a:latin typeface="Tahoma"/>
              </a:rPr>
              <a:t>•  Regional health clusters</a:t>
            </a:r>
          </a:p>
          <a:p>
            <a:pPr algn="l">
              <a:spcAft>
                <a:spcPts val="300"/>
              </a:spcAft>
            </a:pPr>
            <a:r>
              <a:rPr sz="1100">
                <a:solidFill>
                  <a:srgbClr val="FFFFFF"/>
                </a:solidFill>
                <a:latin typeface="Tahoma"/>
              </a:rPr>
              <a:t>•  Later: wards and emergency departments</a:t>
            </a:r>
          </a:p>
        </p:txBody>
      </p:sp>
      <p:sp>
        <p:nvSpPr>
          <p:cNvPr id="337" name="canvas Cost Structure"/>
          <p:cNvSpPr txBox="1"/>
          <p:nvPr/>
        </p:nvSpPr>
        <p:spPr>
          <a:xfrm>
            <a:off x="2307912" y="7433299"/>
            <a:ext cx="7088297" cy="1405199"/>
          </a:xfrm>
          <a:prstGeom prst="rect">
            <a:avLst/>
          </a:prstGeom>
          <a:noFill/>
        </p:spPr>
        <p:txBody>
          <a:bodyPr wrap="square" lIns="73152" rIns="73152" tIns="36576" bIns="36576" anchor="t">
            <a:spAutoFit/>
          </a:bodyPr>
          <a:lstStyle/>
          <a:p>
            <a:pPr algn="l">
              <a:spcAft>
                <a:spcPts val="300"/>
              </a:spcAft>
            </a:pPr>
            <a:r>
              <a:rPr sz="1050">
                <a:solidFill>
                  <a:srgbClr val="FFFFFF"/>
                </a:solidFill>
                <a:latin typeface="Tahoma"/>
              </a:rPr>
              <a:t>Data translation per hospital (one-off)  ·  cloud compute and monitoring  ·  clinical and regulatory review  ·  team salaries</a:t>
            </a:r>
          </a:p>
        </p:txBody>
      </p:sp>
      <p:sp>
        <p:nvSpPr>
          <p:cNvPr id="338" name="canvas Revenue Streams"/>
          <p:cNvSpPr txBox="1"/>
          <p:nvPr/>
        </p:nvSpPr>
        <p:spPr>
          <a:xfrm>
            <a:off x="9694334" y="7433299"/>
            <a:ext cx="7094898" cy="1405199"/>
          </a:xfrm>
          <a:prstGeom prst="rect">
            <a:avLst/>
          </a:prstGeom>
          <a:noFill/>
        </p:spPr>
        <p:txBody>
          <a:bodyPr wrap="square" lIns="73152" rIns="73152" tIns="36576" bIns="36576" anchor="t">
            <a:spAutoFit/>
          </a:bodyPr>
          <a:lstStyle/>
          <a:p>
            <a:pPr algn="l">
              <a:spcAft>
                <a:spcPts val="300"/>
              </a:spcAft>
            </a:pPr>
            <a:r>
              <a:rPr sz="1050">
                <a:solidFill>
                  <a:srgbClr val="FFFFFF"/>
                </a:solidFill>
                <a:latin typeface="Tahoma"/>
              </a:rPr>
              <a:t>Annual licence per hospital  ·  implementation service per site  ·  research and innovation grants during development  ·  savings from shorter ICU stays fund adoption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BBDD3-BD88-543D-E589-9A1DCA165FB4}"/>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0E286E7E-775C-A8DE-CBB8-F01999B64544}"/>
              </a:ext>
            </a:extLst>
          </p:cNvPr>
          <p:cNvGrpSpPr/>
          <p:nvPr/>
        </p:nvGrpSpPr>
        <p:grpSpPr>
          <a:xfrm>
            <a:off x="0" y="0"/>
            <a:ext cx="18287999" cy="10286999"/>
            <a:chOff x="0" y="0"/>
            <a:chExt cx="18287999" cy="10286999"/>
          </a:xfrm>
        </p:grpSpPr>
        <p:pic>
          <p:nvPicPr>
            <p:cNvPr id="3" name="object 3">
              <a:extLst>
                <a:ext uri="{FF2B5EF4-FFF2-40B4-BE49-F238E27FC236}">
                  <a16:creationId xmlns:a16="http://schemas.microsoft.com/office/drawing/2014/main" id="{1C2CC7C6-A10F-CC7A-F1ED-427DA5DA7E52}"/>
                </a:ext>
              </a:extLst>
            </p:cNvPr>
            <p:cNvPicPr/>
            <p:nvPr/>
          </p:nvPicPr>
          <p:blipFill>
            <a:blip r:embed="rId2" cstate="print"/>
            <a:stretch>
              <a:fillRect/>
            </a:stretch>
          </p:blipFill>
          <p:spPr>
            <a:xfrm>
              <a:off x="0" y="0"/>
              <a:ext cx="10465974" cy="10286999"/>
            </a:xfrm>
            <a:prstGeom prst="rect">
              <a:avLst/>
            </a:prstGeom>
          </p:spPr>
        </p:pic>
        <p:pic>
          <p:nvPicPr>
            <p:cNvPr id="4" name="object 4">
              <a:extLst>
                <a:ext uri="{FF2B5EF4-FFF2-40B4-BE49-F238E27FC236}">
                  <a16:creationId xmlns:a16="http://schemas.microsoft.com/office/drawing/2014/main" id="{C075EEE3-E7E2-6354-5918-E39DC28A3FD4}"/>
                </a:ext>
              </a:extLst>
            </p:cNvPr>
            <p:cNvPicPr/>
            <p:nvPr/>
          </p:nvPicPr>
          <p:blipFill>
            <a:blip r:embed="rId3" cstate="print"/>
            <a:stretch>
              <a:fillRect/>
            </a:stretch>
          </p:blipFill>
          <p:spPr>
            <a:xfrm>
              <a:off x="7620234" y="0"/>
              <a:ext cx="10667764" cy="10286999"/>
            </a:xfrm>
            <a:prstGeom prst="rect">
              <a:avLst/>
            </a:prstGeom>
          </p:spPr>
        </p:pic>
        <p:pic>
          <p:nvPicPr>
            <p:cNvPr id="5" name="object 5">
              <a:extLst>
                <a:ext uri="{FF2B5EF4-FFF2-40B4-BE49-F238E27FC236}">
                  <a16:creationId xmlns:a16="http://schemas.microsoft.com/office/drawing/2014/main" id="{A0CADA48-4ECA-FFDD-3E6A-7D3B0E3C6C98}"/>
                </a:ext>
              </a:extLst>
            </p:cNvPr>
            <p:cNvPicPr/>
            <p:nvPr/>
          </p:nvPicPr>
          <p:blipFill>
            <a:blip r:embed="rId4" cstate="print"/>
            <a:stretch>
              <a:fillRect/>
            </a:stretch>
          </p:blipFill>
          <p:spPr>
            <a:xfrm>
              <a:off x="0" y="5294312"/>
              <a:ext cx="18287999" cy="4992687"/>
            </a:xfrm>
            <a:prstGeom prst="rect">
              <a:avLst/>
            </a:prstGeom>
          </p:spPr>
        </p:pic>
      </p:grpSp>
      <p:grpSp>
        <p:nvGrpSpPr>
          <p:cNvPr id="13" name="object 13">
            <a:extLst>
              <a:ext uri="{FF2B5EF4-FFF2-40B4-BE49-F238E27FC236}">
                <a16:creationId xmlns:a16="http://schemas.microsoft.com/office/drawing/2014/main" id="{822EB941-6AD6-B70F-2968-0ABCB42D9C2F}"/>
              </a:ext>
            </a:extLst>
          </p:cNvPr>
          <p:cNvGrpSpPr/>
          <p:nvPr/>
        </p:nvGrpSpPr>
        <p:grpSpPr>
          <a:xfrm>
            <a:off x="668170" y="413794"/>
            <a:ext cx="16778605" cy="1170305"/>
            <a:chOff x="668170" y="413794"/>
            <a:chExt cx="16778605" cy="1170305"/>
          </a:xfrm>
        </p:grpSpPr>
        <p:pic>
          <p:nvPicPr>
            <p:cNvPr id="14" name="object 14">
              <a:extLst>
                <a:ext uri="{FF2B5EF4-FFF2-40B4-BE49-F238E27FC236}">
                  <a16:creationId xmlns:a16="http://schemas.microsoft.com/office/drawing/2014/main" id="{FEFE9340-7FC5-EC0C-CC35-C70CB89210B6}"/>
                </a:ext>
              </a:extLst>
            </p:cNvPr>
            <p:cNvPicPr/>
            <p:nvPr/>
          </p:nvPicPr>
          <p:blipFill>
            <a:blip r:embed="rId5" cstate="print"/>
            <a:stretch>
              <a:fillRect/>
            </a:stretch>
          </p:blipFill>
          <p:spPr>
            <a:xfrm>
              <a:off x="15156072" y="538094"/>
              <a:ext cx="2290164" cy="1040075"/>
            </a:xfrm>
            <a:prstGeom prst="rect">
              <a:avLst/>
            </a:prstGeom>
          </p:spPr>
        </p:pic>
        <p:pic>
          <p:nvPicPr>
            <p:cNvPr id="15" name="object 15">
              <a:extLst>
                <a:ext uri="{FF2B5EF4-FFF2-40B4-BE49-F238E27FC236}">
                  <a16:creationId xmlns:a16="http://schemas.microsoft.com/office/drawing/2014/main" id="{BF1D2176-2D9B-8175-ED41-7679B6731AC0}"/>
                </a:ext>
              </a:extLst>
            </p:cNvPr>
            <p:cNvPicPr/>
            <p:nvPr/>
          </p:nvPicPr>
          <p:blipFill>
            <a:blip r:embed="rId6" cstate="print"/>
            <a:stretch>
              <a:fillRect/>
            </a:stretch>
          </p:blipFill>
          <p:spPr>
            <a:xfrm>
              <a:off x="2506745" y="654022"/>
              <a:ext cx="440031" cy="660047"/>
            </a:xfrm>
            <a:prstGeom prst="rect">
              <a:avLst/>
            </a:prstGeom>
          </p:spPr>
        </p:pic>
        <p:pic>
          <p:nvPicPr>
            <p:cNvPr id="16" name="object 16">
              <a:extLst>
                <a:ext uri="{FF2B5EF4-FFF2-40B4-BE49-F238E27FC236}">
                  <a16:creationId xmlns:a16="http://schemas.microsoft.com/office/drawing/2014/main" id="{9CD9D661-E89A-4890-2771-9491237ED3D8}"/>
                </a:ext>
              </a:extLst>
            </p:cNvPr>
            <p:cNvPicPr/>
            <p:nvPr/>
          </p:nvPicPr>
          <p:blipFill>
            <a:blip r:embed="rId7" cstate="print"/>
            <a:stretch>
              <a:fillRect/>
            </a:stretch>
          </p:blipFill>
          <p:spPr>
            <a:xfrm>
              <a:off x="3177544" y="745879"/>
              <a:ext cx="990071" cy="550039"/>
            </a:xfrm>
            <a:prstGeom prst="rect">
              <a:avLst/>
            </a:prstGeom>
          </p:spPr>
        </p:pic>
        <p:sp>
          <p:nvSpPr>
            <p:cNvPr id="17" name="object 17">
              <a:extLst>
                <a:ext uri="{FF2B5EF4-FFF2-40B4-BE49-F238E27FC236}">
                  <a16:creationId xmlns:a16="http://schemas.microsoft.com/office/drawing/2014/main" id="{25BA63A8-B1A1-1300-94B1-5333BBA584AA}"/>
                </a:ext>
              </a:extLst>
            </p:cNvPr>
            <p:cNvSpPr/>
            <p:nvPr/>
          </p:nvSpPr>
          <p:spPr>
            <a:xfrm>
              <a:off x="2359271" y="547749"/>
              <a:ext cx="6350" cy="872490"/>
            </a:xfrm>
            <a:custGeom>
              <a:avLst/>
              <a:gdLst/>
              <a:ahLst/>
              <a:cxnLst/>
              <a:rect l="l" t="t" r="r" b="b"/>
              <a:pathLst>
                <a:path w="6350" h="872490">
                  <a:moveTo>
                    <a:pt x="5864" y="0"/>
                  </a:moveTo>
                  <a:lnTo>
                    <a:pt x="0" y="872474"/>
                  </a:lnTo>
                </a:path>
              </a:pathLst>
            </a:custGeom>
            <a:ln w="20001">
              <a:solidFill>
                <a:srgbClr val="FEFFFF"/>
              </a:solidFill>
            </a:ln>
          </p:spPr>
          <p:txBody>
            <a:bodyPr wrap="square" lIns="0" tIns="0" rIns="0" bIns="0" rtlCol="0"/>
            <a:lstStyle/>
            <a:p>
              <a:endParaRPr/>
            </a:p>
          </p:txBody>
        </p:sp>
        <p:pic>
          <p:nvPicPr>
            <p:cNvPr id="18" name="object 18">
              <a:extLst>
                <a:ext uri="{FF2B5EF4-FFF2-40B4-BE49-F238E27FC236}">
                  <a16:creationId xmlns:a16="http://schemas.microsoft.com/office/drawing/2014/main" id="{A1D3C0DA-E439-2ABB-FDE8-FFB5523F9072}"/>
                </a:ext>
              </a:extLst>
            </p:cNvPr>
            <p:cNvPicPr/>
            <p:nvPr/>
          </p:nvPicPr>
          <p:blipFill>
            <a:blip r:embed="rId8" cstate="print"/>
            <a:stretch>
              <a:fillRect/>
            </a:stretch>
          </p:blipFill>
          <p:spPr>
            <a:xfrm>
              <a:off x="668170" y="413794"/>
              <a:ext cx="1550111" cy="1170084"/>
            </a:xfrm>
            <a:prstGeom prst="rect">
              <a:avLst/>
            </a:prstGeom>
          </p:spPr>
        </p:pic>
      </p:grpSp>
      <p:sp>
        <p:nvSpPr>
          <p:cNvPr id="21" name="object 10">
            <a:extLst>
              <a:ext uri="{FF2B5EF4-FFF2-40B4-BE49-F238E27FC236}">
                <a16:creationId xmlns:a16="http://schemas.microsoft.com/office/drawing/2014/main" id="{372EE99E-3F28-9FE8-8BB4-1BDACA07B901}"/>
              </a:ext>
            </a:extLst>
          </p:cNvPr>
          <p:cNvSpPr txBox="1">
            <a:spLocks noGrp="1"/>
          </p:cNvSpPr>
          <p:nvPr>
            <p:ph type="sldNum" sz="quarter" idx="7"/>
          </p:nvPr>
        </p:nvSpPr>
        <p:spPr>
          <a:xfrm>
            <a:off x="14996159" y="9079503"/>
            <a:ext cx="2560320" cy="367408"/>
          </a:xfrm>
          <a:prstGeom prst="rect">
            <a:avLst/>
          </a:prstGeom>
        </p:spPr>
        <p:txBody>
          <a:bodyPr vert="horz" wrap="square" lIns="0" tIns="5715" rIns="0" bIns="0" rtlCol="0">
            <a:spAutoFit/>
          </a:bodyPr>
          <a:lstStyle/>
          <a:p>
            <a:pPr marL="12700">
              <a:lnSpc>
                <a:spcPct val="100000"/>
              </a:lnSpc>
              <a:spcBef>
                <a:spcPts val="45"/>
              </a:spcBef>
            </a:pPr>
            <a:r>
              <a:rPr spc="-20" dirty="0"/>
              <a:t>M</a:t>
            </a:r>
            <a:r>
              <a:rPr spc="-15" dirty="0"/>
              <a:t>E</a:t>
            </a:r>
            <a:r>
              <a:rPr spc="-135" dirty="0"/>
              <a:t>D</a:t>
            </a:r>
            <a:r>
              <a:rPr spc="-220" dirty="0"/>
              <a:t>A</a:t>
            </a:r>
            <a:r>
              <a:rPr spc="-15" dirty="0"/>
              <a:t>T</a:t>
            </a:r>
            <a:r>
              <a:rPr spc="-25" dirty="0"/>
              <a:t>H</a:t>
            </a:r>
            <a:r>
              <a:rPr spc="-20" dirty="0"/>
              <a:t>O</a:t>
            </a:r>
            <a:r>
              <a:rPr spc="-830" dirty="0"/>
              <a:t>N</a:t>
            </a:r>
            <a:endParaRPr sz="3000" baseline="-25000" dirty="0">
              <a:latin typeface="Lucida Sans Unicode"/>
              <a:cs typeface="Lucida Sans Unicode"/>
            </a:endParaRPr>
          </a:p>
        </p:txBody>
      </p:sp>
      <p:sp>
        <p:nvSpPr>
          <p:cNvPr id="22" name="title"/>
          <p:cNvSpPr txBox="1"/>
          <p:nvPr/>
        </p:nvSpPr>
        <p:spPr>
          <a:xfrm>
            <a:off x="1216152" y="1600200"/>
            <a:ext cx="12801600" cy="914400"/>
          </a:xfrm>
          <a:prstGeom prst="rect">
            <a:avLst/>
          </a:prstGeom>
          <a:noFill/>
        </p:spPr>
        <p:txBody>
          <a:bodyPr wrap="square" lIns="73152" rIns="73152" tIns="36576" bIns="36576" anchor="t">
            <a:spAutoFit/>
          </a:bodyPr>
          <a:lstStyle/>
          <a:p>
            <a:pPr algn="l"/>
            <a:r>
              <a:rPr sz="4000" b="1">
                <a:solidFill>
                  <a:srgbClr val="FFFFFF"/>
                </a:solidFill>
                <a:latin typeface="Tahoma"/>
              </a:rPr>
              <a:t>Development vision and next steps</a:t>
            </a:r>
          </a:p>
        </p:txBody>
      </p:sp>
      <p:sp>
        <p:nvSpPr>
          <p:cNvPr id="23" name="phase 1"/>
          <p:cNvSpPr/>
          <p:nvPr/>
        </p:nvSpPr>
        <p:spPr>
          <a:xfrm>
            <a:off x="1216152" y="2926080"/>
            <a:ext cx="3017520" cy="5394960"/>
          </a:xfrm>
          <a:prstGeom prst="roundRect">
            <a:avLst>
              <a:gd name="adj" fmla="val 6000"/>
            </a:avLst>
          </a:prstGeom>
          <a:solidFill>
            <a:srgbClr val="0E2B33"/>
          </a:solidFill>
          <a:ln w="12700">
            <a:solidFill>
              <a:srgbClr val="00E4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phase head 1"/>
          <p:cNvSpPr txBox="1"/>
          <p:nvPr/>
        </p:nvSpPr>
        <p:spPr>
          <a:xfrm>
            <a:off x="1325880" y="3017520"/>
            <a:ext cx="2798063" cy="548640"/>
          </a:xfrm>
          <a:prstGeom prst="rect">
            <a:avLst/>
          </a:prstGeom>
          <a:noFill/>
        </p:spPr>
        <p:txBody>
          <a:bodyPr wrap="square" lIns="73152" rIns="73152" tIns="36576" bIns="36576" anchor="t">
            <a:spAutoFit/>
          </a:bodyPr>
          <a:lstStyle/>
          <a:p>
            <a:pPr algn="l"/>
            <a:r>
              <a:rPr sz="1600" b="1">
                <a:solidFill>
                  <a:srgbClr val="00E4FF"/>
                </a:solidFill>
                <a:latin typeface="Tahoma"/>
              </a:rPr>
              <a:t>Now · Sprint</a:t>
            </a:r>
          </a:p>
        </p:txBody>
      </p:sp>
      <p:sp>
        <p:nvSpPr>
          <p:cNvPr id="25" name="phase sub 1"/>
          <p:cNvSpPr txBox="1"/>
          <p:nvPr/>
        </p:nvSpPr>
        <p:spPr>
          <a:xfrm>
            <a:off x="1325880" y="3520440"/>
            <a:ext cx="2798063" cy="411480"/>
          </a:xfrm>
          <a:prstGeom prst="rect">
            <a:avLst/>
          </a:prstGeom>
          <a:noFill/>
        </p:spPr>
        <p:txBody>
          <a:bodyPr wrap="square" lIns="73152" rIns="73152" tIns="36576" bIns="36576" anchor="t">
            <a:spAutoFit/>
          </a:bodyPr>
          <a:lstStyle/>
          <a:p>
            <a:pPr algn="l"/>
            <a:r>
              <a:rPr sz="1200">
                <a:solidFill>
                  <a:srgbClr val="C9D6DF"/>
                </a:solidFill>
                <a:latin typeface="Tahoma"/>
              </a:rPr>
              <a:t>Oct 26 to Nov 10</a:t>
            </a:r>
          </a:p>
        </p:txBody>
      </p:sp>
      <p:sp>
        <p:nvSpPr>
          <p:cNvPr id="26" name="phase items 1"/>
          <p:cNvSpPr txBox="1"/>
          <p:nvPr/>
        </p:nvSpPr>
        <p:spPr>
          <a:xfrm>
            <a:off x="1325880" y="4023360"/>
            <a:ext cx="2798063" cy="4206240"/>
          </a:xfrm>
          <a:prstGeom prst="rect">
            <a:avLst/>
          </a:prstGeom>
          <a:noFill/>
        </p:spPr>
        <p:txBody>
          <a:bodyPr wrap="square" lIns="73152" rIns="73152" tIns="36576" bIns="36576" anchor="t">
            <a:spAutoFit/>
          </a:bodyPr>
          <a:lstStyle/>
          <a:p>
            <a:pPr algn="l">
              <a:spcAft>
                <a:spcPts val="600"/>
              </a:spcAft>
            </a:pPr>
            <a:r>
              <a:rPr sz="1250">
                <a:solidFill>
                  <a:srgbClr val="FFFFFF"/>
                </a:solidFill>
                <a:latin typeface="Tahoma"/>
              </a:rPr>
              <a:t>•  Prototype on open PhysioNet data in Colab</a:t>
            </a:r>
          </a:p>
          <a:p>
            <a:pPr algn="l">
              <a:spcAft>
                <a:spcPts val="600"/>
              </a:spcAft>
            </a:pPr>
            <a:r>
              <a:rPr sz="1250">
                <a:solidFill>
                  <a:srgbClr val="FFFFFF"/>
                </a:solidFill>
                <a:latin typeface="Tahoma"/>
              </a:rPr>
              <a:t>•  Figma dashboard</a:t>
            </a:r>
          </a:p>
          <a:p>
            <a:pPr algn="l">
              <a:spcAft>
                <a:spcPts val="600"/>
              </a:spcAft>
            </a:pPr>
            <a:r>
              <a:rPr sz="1250">
                <a:solidFill>
                  <a:srgbClr val="FFFFFF"/>
                </a:solidFill>
                <a:latin typeface="Tahoma"/>
              </a:rPr>
              <a:t>•  Feedback from five clinicians</a:t>
            </a:r>
          </a:p>
        </p:txBody>
      </p:sp>
      <p:sp>
        <p:nvSpPr>
          <p:cNvPr id="27" name="phase 2"/>
          <p:cNvSpPr/>
          <p:nvPr/>
        </p:nvSpPr>
        <p:spPr>
          <a:xfrm>
            <a:off x="4416552" y="2926080"/>
            <a:ext cx="3017520" cy="5394960"/>
          </a:xfrm>
          <a:prstGeom prst="roundRect">
            <a:avLst>
              <a:gd name="adj" fmla="val 6000"/>
            </a:avLst>
          </a:prstGeom>
          <a:solidFill>
            <a:srgbClr val="123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phase head 2"/>
          <p:cNvSpPr txBox="1"/>
          <p:nvPr/>
        </p:nvSpPr>
        <p:spPr>
          <a:xfrm>
            <a:off x="4526280" y="3017520"/>
            <a:ext cx="2798063" cy="548640"/>
          </a:xfrm>
          <a:prstGeom prst="rect">
            <a:avLst/>
          </a:prstGeom>
          <a:noFill/>
        </p:spPr>
        <p:txBody>
          <a:bodyPr wrap="square" lIns="73152" rIns="73152" tIns="36576" bIns="36576" anchor="t">
            <a:spAutoFit/>
          </a:bodyPr>
          <a:lstStyle/>
          <a:p>
            <a:pPr algn="l"/>
            <a:r>
              <a:rPr sz="1600" b="1">
                <a:solidFill>
                  <a:srgbClr val="00E4FF"/>
                </a:solidFill>
                <a:latin typeface="Tahoma"/>
              </a:rPr>
              <a:t>Finals · Nov 27–28</a:t>
            </a:r>
          </a:p>
        </p:txBody>
      </p:sp>
      <p:sp>
        <p:nvSpPr>
          <p:cNvPr id="29" name="phase sub 2"/>
          <p:cNvSpPr txBox="1"/>
          <p:nvPr/>
        </p:nvSpPr>
        <p:spPr>
          <a:xfrm>
            <a:off x="4526280" y="3520440"/>
            <a:ext cx="2798063" cy="411480"/>
          </a:xfrm>
          <a:prstGeom prst="rect">
            <a:avLst/>
          </a:prstGeom>
          <a:noFill/>
        </p:spPr>
        <p:txBody>
          <a:bodyPr wrap="square" lIns="73152" rIns="73152" tIns="36576" bIns="36576" anchor="t">
            <a:spAutoFit/>
          </a:bodyPr>
          <a:lstStyle/>
          <a:p>
            <a:pPr algn="l"/>
            <a:r>
              <a:rPr sz="1200">
                <a:solidFill>
                  <a:srgbClr val="C9D6DF"/>
                </a:solidFill>
                <a:latin typeface="Tahoma"/>
              </a:rPr>
              <a:t>first test</a:t>
            </a:r>
          </a:p>
        </p:txBody>
      </p:sp>
      <p:sp>
        <p:nvSpPr>
          <p:cNvPr id="30" name="phase items 2"/>
          <p:cNvSpPr txBox="1"/>
          <p:nvPr/>
        </p:nvSpPr>
        <p:spPr>
          <a:xfrm>
            <a:off x="4526280" y="4023360"/>
            <a:ext cx="2798063" cy="4206240"/>
          </a:xfrm>
          <a:prstGeom prst="rect">
            <a:avLst/>
          </a:prstGeom>
          <a:noFill/>
        </p:spPr>
        <p:txBody>
          <a:bodyPr wrap="square" lIns="73152" rIns="73152" tIns="36576" bIns="36576" anchor="t">
            <a:spAutoFit/>
          </a:bodyPr>
          <a:lstStyle/>
          <a:p>
            <a:pPr algn="l">
              <a:spcAft>
                <a:spcPts val="600"/>
              </a:spcAft>
            </a:pPr>
            <a:r>
              <a:rPr sz="1250">
                <a:solidFill>
                  <a:srgbClr val="FFFFFF"/>
                </a:solidFill>
                <a:latin typeface="Tahoma"/>
              </a:rPr>
              <a:t>•  Train on hospital A, test on hospital B of the open set</a:t>
            </a:r>
          </a:p>
          <a:p>
            <a:pPr algn="l">
              <a:spcAft>
                <a:spcPts val="600"/>
              </a:spcAft>
            </a:pPr>
            <a:r>
              <a:rPr sz="1250">
                <a:solidFill>
                  <a:srgbClr val="FFFFFF"/>
                </a:solidFill>
                <a:latin typeface="Tahoma"/>
              </a:rPr>
              <a:t>•  Report utility, false alarms per day, warning time</a:t>
            </a:r>
          </a:p>
          <a:p>
            <a:pPr algn="l">
              <a:spcAft>
                <a:spcPts val="600"/>
              </a:spcAft>
            </a:pPr>
            <a:r>
              <a:rPr sz="1250">
                <a:solidFill>
                  <a:srgbClr val="FFFFFF"/>
                </a:solidFill>
                <a:latin typeface="Tahoma"/>
              </a:rPr>
              <a:t>•  Show the dashboard live</a:t>
            </a:r>
          </a:p>
        </p:txBody>
      </p:sp>
      <p:sp>
        <p:nvSpPr>
          <p:cNvPr id="31" name="phase 3"/>
          <p:cNvSpPr/>
          <p:nvPr/>
        </p:nvSpPr>
        <p:spPr>
          <a:xfrm>
            <a:off x="7616952" y="2926080"/>
            <a:ext cx="3017520" cy="5394960"/>
          </a:xfrm>
          <a:prstGeom prst="roundRect">
            <a:avLst>
              <a:gd name="adj" fmla="val 6000"/>
            </a:avLst>
          </a:prstGeom>
          <a:solidFill>
            <a:srgbClr val="123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phase head 3"/>
          <p:cNvSpPr txBox="1"/>
          <p:nvPr/>
        </p:nvSpPr>
        <p:spPr>
          <a:xfrm>
            <a:off x="7726679" y="3017520"/>
            <a:ext cx="2798063" cy="548640"/>
          </a:xfrm>
          <a:prstGeom prst="rect">
            <a:avLst/>
          </a:prstGeom>
          <a:noFill/>
        </p:spPr>
        <p:txBody>
          <a:bodyPr wrap="square" lIns="73152" rIns="73152" tIns="36576" bIns="36576" anchor="t">
            <a:spAutoFit/>
          </a:bodyPr>
          <a:lstStyle/>
          <a:p>
            <a:pPr algn="l"/>
            <a:r>
              <a:rPr sz="1600" b="1">
                <a:solidFill>
                  <a:srgbClr val="00E4FF"/>
                </a:solidFill>
                <a:latin typeface="Tahoma"/>
              </a:rPr>
              <a:t>Phase 2 · 6 months</a:t>
            </a:r>
          </a:p>
        </p:txBody>
      </p:sp>
      <p:sp>
        <p:nvSpPr>
          <p:cNvPr id="33" name="phase sub 3"/>
          <p:cNvSpPr txBox="1"/>
          <p:nvPr/>
        </p:nvSpPr>
        <p:spPr>
          <a:xfrm>
            <a:off x="7726679" y="3520440"/>
            <a:ext cx="2798063" cy="411480"/>
          </a:xfrm>
          <a:prstGeom prst="rect">
            <a:avLst/>
          </a:prstGeom>
          <a:noFill/>
        </p:spPr>
        <p:txBody>
          <a:bodyPr wrap="square" lIns="73152" rIns="73152" tIns="36576" bIns="36576" anchor="t">
            <a:spAutoFit/>
          </a:bodyPr>
          <a:lstStyle/>
          <a:p>
            <a:pPr algn="l"/>
            <a:r>
              <a:rPr sz="1200">
                <a:solidFill>
                  <a:srgbClr val="C9D6DF"/>
                </a:solidFill>
                <a:latin typeface="Tahoma"/>
              </a:rPr>
              <a:t>one hospital, silent</a:t>
            </a:r>
          </a:p>
        </p:txBody>
      </p:sp>
      <p:sp>
        <p:nvSpPr>
          <p:cNvPr id="34" name="phase items 3"/>
          <p:cNvSpPr txBox="1"/>
          <p:nvPr/>
        </p:nvSpPr>
        <p:spPr>
          <a:xfrm>
            <a:off x="7726679" y="4023360"/>
            <a:ext cx="2798063" cy="4206240"/>
          </a:xfrm>
          <a:prstGeom prst="rect">
            <a:avLst/>
          </a:prstGeom>
          <a:noFill/>
        </p:spPr>
        <p:txBody>
          <a:bodyPr wrap="square" lIns="73152" rIns="73152" tIns="36576" bIns="36576" anchor="t">
            <a:spAutoFit/>
          </a:bodyPr>
          <a:lstStyle/>
          <a:p>
            <a:pPr algn="l">
              <a:spcAft>
                <a:spcPts val="600"/>
              </a:spcAft>
            </a:pPr>
            <a:r>
              <a:rPr sz="1250">
                <a:solidFill>
                  <a:srgbClr val="FFFFFF"/>
                </a:solidFill>
                <a:latin typeface="Tahoma"/>
              </a:rPr>
              <a:t>•  Translate one Saudi hospital's records with its informatics team</a:t>
            </a:r>
          </a:p>
          <a:p>
            <a:pPr algn="l">
              <a:spcAft>
                <a:spcPts val="600"/>
              </a:spcAft>
            </a:pPr>
            <a:r>
              <a:rPr sz="1250">
                <a:solidFill>
                  <a:srgbClr val="FFFFFF"/>
                </a:solidFill>
                <a:latin typeface="Tahoma"/>
              </a:rPr>
              <a:t>•  Run silently: alerts logged, not shown</a:t>
            </a:r>
          </a:p>
          <a:p>
            <a:pPr algn="l">
              <a:spcAft>
                <a:spcPts val="600"/>
              </a:spcAft>
            </a:pPr>
            <a:r>
              <a:rPr sz="1250">
                <a:solidFill>
                  <a:srgbClr val="FFFFFF"/>
                </a:solidFill>
                <a:latin typeface="Tahoma"/>
              </a:rPr>
              <a:t>•  Compare with what happened</a:t>
            </a:r>
          </a:p>
        </p:txBody>
      </p:sp>
      <p:sp>
        <p:nvSpPr>
          <p:cNvPr id="35" name="phase 4"/>
          <p:cNvSpPr/>
          <p:nvPr/>
        </p:nvSpPr>
        <p:spPr>
          <a:xfrm>
            <a:off x="10817352" y="2926080"/>
            <a:ext cx="3017520" cy="5394960"/>
          </a:xfrm>
          <a:prstGeom prst="roundRect">
            <a:avLst>
              <a:gd name="adj" fmla="val 6000"/>
            </a:avLst>
          </a:prstGeom>
          <a:solidFill>
            <a:srgbClr val="123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phase head 4"/>
          <p:cNvSpPr txBox="1"/>
          <p:nvPr/>
        </p:nvSpPr>
        <p:spPr>
          <a:xfrm>
            <a:off x="10927080" y="3017520"/>
            <a:ext cx="2798063" cy="548640"/>
          </a:xfrm>
          <a:prstGeom prst="rect">
            <a:avLst/>
          </a:prstGeom>
          <a:noFill/>
        </p:spPr>
        <p:txBody>
          <a:bodyPr wrap="square" lIns="73152" rIns="73152" tIns="36576" bIns="36576" anchor="t">
            <a:spAutoFit/>
          </a:bodyPr>
          <a:lstStyle/>
          <a:p>
            <a:pPr algn="l"/>
            <a:r>
              <a:rPr sz="1600" b="1">
                <a:solidFill>
                  <a:srgbClr val="00E4FF"/>
                </a:solidFill>
                <a:latin typeface="Tahoma"/>
              </a:rPr>
              <a:t>Phase 3 · 12 months</a:t>
            </a:r>
          </a:p>
        </p:txBody>
      </p:sp>
      <p:sp>
        <p:nvSpPr>
          <p:cNvPr id="37" name="phase sub 4"/>
          <p:cNvSpPr txBox="1"/>
          <p:nvPr/>
        </p:nvSpPr>
        <p:spPr>
          <a:xfrm>
            <a:off x="10927080" y="3520440"/>
            <a:ext cx="2798063" cy="411480"/>
          </a:xfrm>
          <a:prstGeom prst="rect">
            <a:avLst/>
          </a:prstGeom>
          <a:noFill/>
        </p:spPr>
        <p:txBody>
          <a:bodyPr wrap="square" lIns="73152" rIns="73152" tIns="36576" bIns="36576" anchor="t">
            <a:spAutoFit/>
          </a:bodyPr>
          <a:lstStyle/>
          <a:p>
            <a:pPr algn="l"/>
            <a:r>
              <a:rPr sz="1200">
                <a:solidFill>
                  <a:srgbClr val="C9D6DF"/>
                </a:solidFill>
                <a:latin typeface="Tahoma"/>
              </a:rPr>
              <a:t>clinician pilot</a:t>
            </a:r>
          </a:p>
        </p:txBody>
      </p:sp>
      <p:sp>
        <p:nvSpPr>
          <p:cNvPr id="38" name="phase items 4"/>
          <p:cNvSpPr txBox="1"/>
          <p:nvPr/>
        </p:nvSpPr>
        <p:spPr>
          <a:xfrm>
            <a:off x="10927080" y="4023360"/>
            <a:ext cx="2798063" cy="4206240"/>
          </a:xfrm>
          <a:prstGeom prst="rect">
            <a:avLst/>
          </a:prstGeom>
          <a:noFill/>
        </p:spPr>
        <p:txBody>
          <a:bodyPr wrap="square" lIns="73152" rIns="73152" tIns="36576" bIns="36576" anchor="t">
            <a:spAutoFit/>
          </a:bodyPr>
          <a:lstStyle/>
          <a:p>
            <a:pPr algn="l">
              <a:spcAft>
                <a:spcPts val="600"/>
              </a:spcAft>
            </a:pPr>
            <a:r>
              <a:rPr sz="1250">
                <a:solidFill>
                  <a:srgbClr val="FFFFFF"/>
                </a:solidFill>
                <a:latin typeface="Tahoma"/>
              </a:rPr>
              <a:t>•  Alarm budget set with the ICU team</a:t>
            </a:r>
          </a:p>
          <a:p>
            <a:pPr algn="l">
              <a:spcAft>
                <a:spcPts val="600"/>
              </a:spcAft>
            </a:pPr>
            <a:r>
              <a:rPr sz="1250">
                <a:solidFill>
                  <a:srgbClr val="FFFFFF"/>
                </a:solidFill>
                <a:latin typeface="Tahoma"/>
              </a:rPr>
              <a:t>•  Pilot on one unit with before-and-after measures</a:t>
            </a:r>
          </a:p>
          <a:p>
            <a:pPr algn="l">
              <a:spcAft>
                <a:spcPts val="600"/>
              </a:spcAft>
            </a:pPr>
            <a:r>
              <a:rPr sz="1250">
                <a:solidFill>
                  <a:srgbClr val="FFFFFF"/>
                </a:solidFill>
                <a:latin typeface="Tahoma"/>
              </a:rPr>
              <a:t>•  SFDA pathway and ethics approval</a:t>
            </a:r>
          </a:p>
        </p:txBody>
      </p:sp>
      <p:sp>
        <p:nvSpPr>
          <p:cNvPr id="39" name="phase 5"/>
          <p:cNvSpPr/>
          <p:nvPr/>
        </p:nvSpPr>
        <p:spPr>
          <a:xfrm>
            <a:off x="14017752" y="2926080"/>
            <a:ext cx="3017520" cy="5394960"/>
          </a:xfrm>
          <a:prstGeom prst="roundRect">
            <a:avLst>
              <a:gd name="adj" fmla="val 6000"/>
            </a:avLst>
          </a:prstGeom>
          <a:solidFill>
            <a:srgbClr val="123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phase head 5"/>
          <p:cNvSpPr txBox="1"/>
          <p:nvPr/>
        </p:nvSpPr>
        <p:spPr>
          <a:xfrm>
            <a:off x="14127480" y="3017520"/>
            <a:ext cx="2798063" cy="548640"/>
          </a:xfrm>
          <a:prstGeom prst="rect">
            <a:avLst/>
          </a:prstGeom>
          <a:noFill/>
        </p:spPr>
        <p:txBody>
          <a:bodyPr wrap="square" lIns="73152" rIns="73152" tIns="36576" bIns="36576" anchor="t">
            <a:spAutoFit/>
          </a:bodyPr>
          <a:lstStyle/>
          <a:p>
            <a:pPr algn="l"/>
            <a:r>
              <a:rPr sz="1600" b="1">
                <a:solidFill>
                  <a:srgbClr val="00E4FF"/>
                </a:solidFill>
                <a:latin typeface="Tahoma"/>
              </a:rPr>
              <a:t>Phase 4 · beyond</a:t>
            </a:r>
          </a:p>
        </p:txBody>
      </p:sp>
      <p:sp>
        <p:nvSpPr>
          <p:cNvPr id="41" name="phase sub 5"/>
          <p:cNvSpPr txBox="1"/>
          <p:nvPr/>
        </p:nvSpPr>
        <p:spPr>
          <a:xfrm>
            <a:off x="14127480" y="3520440"/>
            <a:ext cx="2798063" cy="411480"/>
          </a:xfrm>
          <a:prstGeom prst="rect">
            <a:avLst/>
          </a:prstGeom>
          <a:noFill/>
        </p:spPr>
        <p:txBody>
          <a:bodyPr wrap="square" lIns="73152" rIns="73152" tIns="36576" bIns="36576" anchor="t">
            <a:spAutoFit/>
          </a:bodyPr>
          <a:lstStyle/>
          <a:p>
            <a:pPr algn="l"/>
            <a:r>
              <a:rPr sz="1200">
                <a:solidFill>
                  <a:srgbClr val="C9D6DF"/>
                </a:solidFill>
                <a:latin typeface="Tahoma"/>
              </a:rPr>
              <a:t>scale</a:t>
            </a:r>
          </a:p>
        </p:txBody>
      </p:sp>
      <p:sp>
        <p:nvSpPr>
          <p:cNvPr id="42" name="phase items 5"/>
          <p:cNvSpPr txBox="1"/>
          <p:nvPr/>
        </p:nvSpPr>
        <p:spPr>
          <a:xfrm>
            <a:off x="14127480" y="4023360"/>
            <a:ext cx="2798063" cy="4206240"/>
          </a:xfrm>
          <a:prstGeom prst="rect">
            <a:avLst/>
          </a:prstGeom>
          <a:noFill/>
        </p:spPr>
        <p:txBody>
          <a:bodyPr wrap="square" lIns="73152" rIns="73152" tIns="36576" bIns="36576" anchor="t">
            <a:spAutoFit/>
          </a:bodyPr>
          <a:lstStyle/>
          <a:p>
            <a:pPr algn="l">
              <a:spcAft>
                <a:spcPts val="600"/>
              </a:spcAft>
            </a:pPr>
            <a:r>
              <a:rPr sz="1250">
                <a:solidFill>
                  <a:srgbClr val="FFFFFF"/>
                </a:solidFill>
                <a:latin typeface="Tahoma"/>
              </a:rPr>
              <a:t>•  Second hospital with a different record system</a:t>
            </a:r>
          </a:p>
          <a:p>
            <a:pPr algn="l">
              <a:spcAft>
                <a:spcPts val="600"/>
              </a:spcAft>
            </a:pPr>
            <a:r>
              <a:rPr sz="1250">
                <a:solidFill>
                  <a:srgbClr val="FFFFFF"/>
                </a:solidFill>
                <a:latin typeface="Tahoma"/>
              </a:rPr>
              <a:t>•  Wards and emergency department</a:t>
            </a:r>
          </a:p>
          <a:p>
            <a:pPr algn="l">
              <a:spcAft>
                <a:spcPts val="600"/>
              </a:spcAft>
            </a:pPr>
            <a:r>
              <a:rPr sz="1250">
                <a:solidFill>
                  <a:srgbClr val="FFFFFF"/>
                </a:solidFill>
                <a:latin typeface="Tahoma"/>
              </a:rPr>
              <a:t>•  Regional cluster licence</a:t>
            </a:r>
          </a:p>
        </p:txBody>
      </p:sp>
      <p:sp>
        <p:nvSpPr>
          <p:cNvPr id="43" name="success"/>
          <p:cNvSpPr txBox="1"/>
          <p:nvPr/>
        </p:nvSpPr>
        <p:spPr>
          <a:xfrm>
            <a:off x="1216152" y="8549640"/>
            <a:ext cx="15819120" cy="548640"/>
          </a:xfrm>
          <a:prstGeom prst="rect">
            <a:avLst/>
          </a:prstGeom>
          <a:noFill/>
        </p:spPr>
        <p:txBody>
          <a:bodyPr wrap="square" lIns="73152" rIns="73152" tIns="36576" bIns="36576" anchor="t">
            <a:spAutoFit/>
          </a:bodyPr>
          <a:lstStyle/>
          <a:p>
            <a:pPr algn="l"/>
            <a:r>
              <a:rPr sz="1250">
                <a:solidFill>
                  <a:srgbClr val="C9D6DF"/>
                </a:solidFill>
                <a:latin typeface="Tahoma"/>
              </a:rPr>
              <a:t>Success at each phase is defined before the phase starts: a utility score above zero on the unseen hospital, a false-alarm rate inside the budget the clinicians set, and a warning that arrives before the first antibiotic order.</a:t>
            </a:r>
          </a:p>
        </p:txBody>
      </p:sp>
    </p:spTree>
    <p:extLst>
      <p:ext uri="{BB962C8B-B14F-4D97-AF65-F5344CB8AC3E}">
        <p14:creationId xmlns:p14="http://schemas.microsoft.com/office/powerpoint/2010/main" val="8611423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BBDD3-BD88-543D-E589-9A1DCA165FB4}"/>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0E286E7E-775C-A8DE-CBB8-F01999B64544}"/>
              </a:ext>
            </a:extLst>
          </p:cNvPr>
          <p:cNvGrpSpPr/>
          <p:nvPr/>
        </p:nvGrpSpPr>
        <p:grpSpPr>
          <a:xfrm>
            <a:off x="0" y="0"/>
            <a:ext cx="18287999" cy="10286999"/>
            <a:chOff x="0" y="0"/>
            <a:chExt cx="18287999" cy="10286999"/>
          </a:xfrm>
        </p:grpSpPr>
        <p:pic>
          <p:nvPicPr>
            <p:cNvPr id="3" name="object 3">
              <a:extLst>
                <a:ext uri="{FF2B5EF4-FFF2-40B4-BE49-F238E27FC236}">
                  <a16:creationId xmlns:a16="http://schemas.microsoft.com/office/drawing/2014/main" id="{1C2CC7C6-A10F-CC7A-F1ED-427DA5DA7E52}"/>
                </a:ext>
              </a:extLst>
            </p:cNvPr>
            <p:cNvPicPr/>
            <p:nvPr/>
          </p:nvPicPr>
          <p:blipFill>
            <a:blip r:embed="rId2" cstate="print"/>
            <a:stretch>
              <a:fillRect/>
            </a:stretch>
          </p:blipFill>
          <p:spPr>
            <a:xfrm>
              <a:off x="0" y="0"/>
              <a:ext cx="10465974" cy="10286999"/>
            </a:xfrm>
            <a:prstGeom prst="rect">
              <a:avLst/>
            </a:prstGeom>
          </p:spPr>
        </p:pic>
        <p:pic>
          <p:nvPicPr>
            <p:cNvPr id="4" name="object 4">
              <a:extLst>
                <a:ext uri="{FF2B5EF4-FFF2-40B4-BE49-F238E27FC236}">
                  <a16:creationId xmlns:a16="http://schemas.microsoft.com/office/drawing/2014/main" id="{C075EEE3-E7E2-6354-5918-E39DC28A3FD4}"/>
                </a:ext>
              </a:extLst>
            </p:cNvPr>
            <p:cNvPicPr/>
            <p:nvPr/>
          </p:nvPicPr>
          <p:blipFill>
            <a:blip r:embed="rId3" cstate="print"/>
            <a:stretch>
              <a:fillRect/>
            </a:stretch>
          </p:blipFill>
          <p:spPr>
            <a:xfrm>
              <a:off x="7620234" y="0"/>
              <a:ext cx="10667764" cy="10286999"/>
            </a:xfrm>
            <a:prstGeom prst="rect">
              <a:avLst/>
            </a:prstGeom>
          </p:spPr>
        </p:pic>
        <p:pic>
          <p:nvPicPr>
            <p:cNvPr id="5" name="object 5">
              <a:extLst>
                <a:ext uri="{FF2B5EF4-FFF2-40B4-BE49-F238E27FC236}">
                  <a16:creationId xmlns:a16="http://schemas.microsoft.com/office/drawing/2014/main" id="{A0CADA48-4ECA-FFDD-3E6A-7D3B0E3C6C98}"/>
                </a:ext>
              </a:extLst>
            </p:cNvPr>
            <p:cNvPicPr/>
            <p:nvPr/>
          </p:nvPicPr>
          <p:blipFill>
            <a:blip r:embed="rId4" cstate="print"/>
            <a:stretch>
              <a:fillRect/>
            </a:stretch>
          </p:blipFill>
          <p:spPr>
            <a:xfrm>
              <a:off x="0" y="5294312"/>
              <a:ext cx="18287999" cy="4992687"/>
            </a:xfrm>
            <a:prstGeom prst="rect">
              <a:avLst/>
            </a:prstGeom>
          </p:spPr>
        </p:pic>
      </p:grpSp>
      <p:grpSp>
        <p:nvGrpSpPr>
          <p:cNvPr id="13" name="object 13">
            <a:extLst>
              <a:ext uri="{FF2B5EF4-FFF2-40B4-BE49-F238E27FC236}">
                <a16:creationId xmlns:a16="http://schemas.microsoft.com/office/drawing/2014/main" id="{822EB941-6AD6-B70F-2968-0ABCB42D9C2F}"/>
              </a:ext>
            </a:extLst>
          </p:cNvPr>
          <p:cNvGrpSpPr/>
          <p:nvPr/>
        </p:nvGrpSpPr>
        <p:grpSpPr>
          <a:xfrm>
            <a:off x="668170" y="413794"/>
            <a:ext cx="16778605" cy="1170305"/>
            <a:chOff x="668170" y="413794"/>
            <a:chExt cx="16778605" cy="1170305"/>
          </a:xfrm>
        </p:grpSpPr>
        <p:pic>
          <p:nvPicPr>
            <p:cNvPr id="14" name="object 14">
              <a:extLst>
                <a:ext uri="{FF2B5EF4-FFF2-40B4-BE49-F238E27FC236}">
                  <a16:creationId xmlns:a16="http://schemas.microsoft.com/office/drawing/2014/main" id="{FEFE9340-7FC5-EC0C-CC35-C70CB89210B6}"/>
                </a:ext>
              </a:extLst>
            </p:cNvPr>
            <p:cNvPicPr/>
            <p:nvPr/>
          </p:nvPicPr>
          <p:blipFill>
            <a:blip r:embed="rId5" cstate="print"/>
            <a:stretch>
              <a:fillRect/>
            </a:stretch>
          </p:blipFill>
          <p:spPr>
            <a:xfrm>
              <a:off x="15156072" y="538094"/>
              <a:ext cx="2290164" cy="1040075"/>
            </a:xfrm>
            <a:prstGeom prst="rect">
              <a:avLst/>
            </a:prstGeom>
          </p:spPr>
        </p:pic>
        <p:pic>
          <p:nvPicPr>
            <p:cNvPr id="15" name="object 15">
              <a:extLst>
                <a:ext uri="{FF2B5EF4-FFF2-40B4-BE49-F238E27FC236}">
                  <a16:creationId xmlns:a16="http://schemas.microsoft.com/office/drawing/2014/main" id="{BF1D2176-2D9B-8175-ED41-7679B6731AC0}"/>
                </a:ext>
              </a:extLst>
            </p:cNvPr>
            <p:cNvPicPr/>
            <p:nvPr/>
          </p:nvPicPr>
          <p:blipFill>
            <a:blip r:embed="rId6" cstate="print"/>
            <a:stretch>
              <a:fillRect/>
            </a:stretch>
          </p:blipFill>
          <p:spPr>
            <a:xfrm>
              <a:off x="2506745" y="654022"/>
              <a:ext cx="440031" cy="660047"/>
            </a:xfrm>
            <a:prstGeom prst="rect">
              <a:avLst/>
            </a:prstGeom>
          </p:spPr>
        </p:pic>
        <p:pic>
          <p:nvPicPr>
            <p:cNvPr id="16" name="object 16">
              <a:extLst>
                <a:ext uri="{FF2B5EF4-FFF2-40B4-BE49-F238E27FC236}">
                  <a16:creationId xmlns:a16="http://schemas.microsoft.com/office/drawing/2014/main" id="{9CD9D661-E89A-4890-2771-9491237ED3D8}"/>
                </a:ext>
              </a:extLst>
            </p:cNvPr>
            <p:cNvPicPr/>
            <p:nvPr/>
          </p:nvPicPr>
          <p:blipFill>
            <a:blip r:embed="rId7" cstate="print"/>
            <a:stretch>
              <a:fillRect/>
            </a:stretch>
          </p:blipFill>
          <p:spPr>
            <a:xfrm>
              <a:off x="3177544" y="745879"/>
              <a:ext cx="990071" cy="550039"/>
            </a:xfrm>
            <a:prstGeom prst="rect">
              <a:avLst/>
            </a:prstGeom>
          </p:spPr>
        </p:pic>
        <p:sp>
          <p:nvSpPr>
            <p:cNvPr id="17" name="object 17">
              <a:extLst>
                <a:ext uri="{FF2B5EF4-FFF2-40B4-BE49-F238E27FC236}">
                  <a16:creationId xmlns:a16="http://schemas.microsoft.com/office/drawing/2014/main" id="{25BA63A8-B1A1-1300-94B1-5333BBA584AA}"/>
                </a:ext>
              </a:extLst>
            </p:cNvPr>
            <p:cNvSpPr/>
            <p:nvPr/>
          </p:nvSpPr>
          <p:spPr>
            <a:xfrm>
              <a:off x="2359271" y="547749"/>
              <a:ext cx="6350" cy="872490"/>
            </a:xfrm>
            <a:custGeom>
              <a:avLst/>
              <a:gdLst/>
              <a:ahLst/>
              <a:cxnLst/>
              <a:rect l="l" t="t" r="r" b="b"/>
              <a:pathLst>
                <a:path w="6350" h="872490">
                  <a:moveTo>
                    <a:pt x="5864" y="0"/>
                  </a:moveTo>
                  <a:lnTo>
                    <a:pt x="0" y="872474"/>
                  </a:lnTo>
                </a:path>
              </a:pathLst>
            </a:custGeom>
            <a:ln w="20001">
              <a:solidFill>
                <a:srgbClr val="FEFFFF"/>
              </a:solidFill>
            </a:ln>
          </p:spPr>
          <p:txBody>
            <a:bodyPr wrap="square" lIns="0" tIns="0" rIns="0" bIns="0" rtlCol="0"/>
            <a:lstStyle/>
            <a:p>
              <a:endParaRPr/>
            </a:p>
          </p:txBody>
        </p:sp>
        <p:pic>
          <p:nvPicPr>
            <p:cNvPr id="18" name="object 18">
              <a:extLst>
                <a:ext uri="{FF2B5EF4-FFF2-40B4-BE49-F238E27FC236}">
                  <a16:creationId xmlns:a16="http://schemas.microsoft.com/office/drawing/2014/main" id="{A1D3C0DA-E439-2ABB-FDE8-FFB5523F9072}"/>
                </a:ext>
              </a:extLst>
            </p:cNvPr>
            <p:cNvPicPr/>
            <p:nvPr/>
          </p:nvPicPr>
          <p:blipFill>
            <a:blip r:embed="rId8" cstate="print"/>
            <a:stretch>
              <a:fillRect/>
            </a:stretch>
          </p:blipFill>
          <p:spPr>
            <a:xfrm>
              <a:off x="668170" y="413794"/>
              <a:ext cx="1550111" cy="1170084"/>
            </a:xfrm>
            <a:prstGeom prst="rect">
              <a:avLst/>
            </a:prstGeom>
          </p:spPr>
        </p:pic>
      </p:grpSp>
      <p:sp>
        <p:nvSpPr>
          <p:cNvPr id="21" name="object 10">
            <a:extLst>
              <a:ext uri="{FF2B5EF4-FFF2-40B4-BE49-F238E27FC236}">
                <a16:creationId xmlns:a16="http://schemas.microsoft.com/office/drawing/2014/main" id="{372EE99E-3F28-9FE8-8BB4-1BDACA07B901}"/>
              </a:ext>
            </a:extLst>
          </p:cNvPr>
          <p:cNvSpPr txBox="1">
            <a:spLocks noGrp="1"/>
          </p:cNvSpPr>
          <p:nvPr>
            <p:ph type="sldNum" sz="quarter" idx="7"/>
          </p:nvPr>
        </p:nvSpPr>
        <p:spPr>
          <a:xfrm>
            <a:off x="14996159" y="9079503"/>
            <a:ext cx="2560320" cy="367408"/>
          </a:xfrm>
          <a:prstGeom prst="rect">
            <a:avLst/>
          </a:prstGeom>
        </p:spPr>
        <p:txBody>
          <a:bodyPr vert="horz" wrap="square" lIns="0" tIns="5715" rIns="0" bIns="0" rtlCol="0">
            <a:spAutoFit/>
          </a:bodyPr>
          <a:lstStyle/>
          <a:p>
            <a:pPr marL="12700">
              <a:lnSpc>
                <a:spcPct val="100000"/>
              </a:lnSpc>
              <a:spcBef>
                <a:spcPts val="45"/>
              </a:spcBef>
            </a:pPr>
            <a:r>
              <a:rPr spc="-20" dirty="0"/>
              <a:t>M</a:t>
            </a:r>
            <a:r>
              <a:rPr spc="-15" dirty="0"/>
              <a:t>E</a:t>
            </a:r>
            <a:r>
              <a:rPr spc="-135" dirty="0"/>
              <a:t>D</a:t>
            </a:r>
            <a:r>
              <a:rPr spc="-220" dirty="0"/>
              <a:t>A</a:t>
            </a:r>
            <a:r>
              <a:rPr spc="-15" dirty="0"/>
              <a:t>T</a:t>
            </a:r>
            <a:r>
              <a:rPr spc="-25" dirty="0"/>
              <a:t>H</a:t>
            </a:r>
            <a:r>
              <a:rPr spc="-20" dirty="0"/>
              <a:t>O</a:t>
            </a:r>
            <a:r>
              <a:rPr spc="-830" dirty="0"/>
              <a:t>N</a:t>
            </a:r>
            <a:endParaRPr sz="3000" baseline="-25000" dirty="0">
              <a:latin typeface="Lucida Sans Unicode"/>
              <a:cs typeface="Lucida Sans Unicode"/>
            </a:endParaRPr>
          </a:p>
        </p:txBody>
      </p:sp>
      <p:sp>
        <p:nvSpPr>
          <p:cNvPr id="6" name="object 2" descr="$PPTXTitle">
            <a:extLst>
              <a:ext uri="{FF2B5EF4-FFF2-40B4-BE49-F238E27FC236}">
                <a16:creationId xmlns:a16="http://schemas.microsoft.com/office/drawing/2014/main" id="{1C2ADDFB-D6D0-2A0D-8311-D1A91D4DA64C}"/>
              </a:ext>
            </a:extLst>
          </p:cNvPr>
          <p:cNvSpPr txBox="1">
            <a:spLocks noGrp="1"/>
          </p:cNvSpPr>
          <p:nvPr>
            <p:ph type="title"/>
          </p:nvPr>
        </p:nvSpPr>
        <p:spPr>
          <a:xfrm>
            <a:off x="1216152" y="1600200"/>
            <a:ext cx="9144000" cy="822960"/>
          </a:xfrm>
          <a:prstGeom prst="rect">
            <a:avLst/>
          </a:prstGeom>
        </p:spPr>
        <p:txBody>
          <a:bodyPr vert="horz" wrap="square" lIns="0" tIns="29209" rIns="0" bIns="0" rtlCol="0">
            <a:spAutoFit/>
          </a:bodyPr>
          <a:lstStyle/>
          <a:p>
            <a:r>
              <a:rPr sz="3600" b="1">
                <a:latin typeface="Tahoma"/>
              </a:rPr>
              <a:t>References</a:t>
            </a:r>
          </a:p>
        </p:txBody>
      </p:sp>
      <p:sp>
        <p:nvSpPr>
          <p:cNvPr id="22" name="references"/>
          <p:cNvSpPr txBox="1"/>
          <p:nvPr/>
        </p:nvSpPr>
        <p:spPr>
          <a:xfrm>
            <a:off x="1216152" y="2651760"/>
            <a:ext cx="15819120" cy="6400800"/>
          </a:xfrm>
          <a:prstGeom prst="rect">
            <a:avLst/>
          </a:prstGeom>
          <a:noFill/>
        </p:spPr>
        <p:txBody>
          <a:bodyPr wrap="square" lIns="73152" rIns="73152" tIns="36576" bIns="36576" anchor="t">
            <a:spAutoFit/>
          </a:bodyPr>
          <a:lstStyle/>
          <a:p>
            <a:pPr algn="l">
              <a:spcAft>
                <a:spcPts val="500"/>
              </a:spcAft>
            </a:pPr>
            <a:r>
              <a:rPr sz="1300">
                <a:solidFill>
                  <a:srgbClr val="FFFFFF"/>
                </a:solidFill>
                <a:latin typeface="Tahoma"/>
              </a:rPr>
              <a:t>1.  Rudd KE, et al. Global, regional, and national sepsis incidence and mortality, 1990–2017. Lancet. 2020;395:200–211.</a:t>
            </a:r>
          </a:p>
          <a:p>
            <a:pPr algn="l">
              <a:spcAft>
                <a:spcPts val="500"/>
              </a:spcAft>
            </a:pPr>
            <a:r>
              <a:rPr sz="1300">
                <a:solidFill>
                  <a:srgbClr val="FFFFFF"/>
                </a:solidFill>
                <a:latin typeface="Tahoma"/>
              </a:rPr>
              <a:t>2.  Liu V, et al. Hospital deaths in patients with sepsis from 2 independent cohorts. JAMA. 2014;312:90–92.</a:t>
            </a:r>
          </a:p>
          <a:p>
            <a:pPr algn="l">
              <a:spcAft>
                <a:spcPts val="500"/>
              </a:spcAft>
            </a:pPr>
            <a:r>
              <a:rPr sz="1300">
                <a:solidFill>
                  <a:srgbClr val="FFFFFF"/>
                </a:solidFill>
                <a:latin typeface="Tahoma"/>
              </a:rPr>
              <a:t>3.  Seymour CW, et al. Time to treatment and mortality during mandated emergency care for sepsis. N Engl J Med. 2017;376:2235–2244.</a:t>
            </a:r>
          </a:p>
          <a:p>
            <a:pPr algn="l">
              <a:spcAft>
                <a:spcPts val="500"/>
              </a:spcAft>
            </a:pPr>
            <a:r>
              <a:rPr sz="1300">
                <a:solidFill>
                  <a:srgbClr val="FFFFFF"/>
                </a:solidFill>
                <a:latin typeface="Tahoma"/>
              </a:rPr>
              <a:t>4.  Singer M, et al. The Third International Consensus Definitions for Sepsis and Septic Shock (Sepsis-3). JAMA. 2016;315:801–810.</a:t>
            </a:r>
          </a:p>
          <a:p>
            <a:pPr algn="l">
              <a:spcAft>
                <a:spcPts val="500"/>
              </a:spcAft>
            </a:pPr>
            <a:r>
              <a:rPr sz="1300">
                <a:solidFill>
                  <a:srgbClr val="FFFFFF"/>
                </a:solidFill>
                <a:latin typeface="Tahoma"/>
              </a:rPr>
              <a:t>5.  Wong A, et al. External validation of a widely implemented proprietary sepsis prediction model in hospitalized patients. JAMA Intern Med. 2021;181:1065–1070.</a:t>
            </a:r>
          </a:p>
          <a:p>
            <a:pPr algn="l">
              <a:spcAft>
                <a:spcPts val="500"/>
              </a:spcAft>
            </a:pPr>
            <a:r>
              <a:rPr sz="1300">
                <a:solidFill>
                  <a:srgbClr val="FFFFFF"/>
                </a:solidFill>
                <a:latin typeface="Tahoma"/>
              </a:rPr>
              <a:t>6.  Reyna MA, et al. Early prediction of sepsis from clinical data: the PhysioNet/Computing in Cardiology Challenge 2019. Crit Care Med. 2020;48:210–217.</a:t>
            </a:r>
          </a:p>
          <a:p>
            <a:pPr algn="l">
              <a:spcAft>
                <a:spcPts val="500"/>
              </a:spcAft>
            </a:pPr>
            <a:r>
              <a:rPr sz="1300">
                <a:solidFill>
                  <a:srgbClr val="FFFFFF"/>
                </a:solidFill>
                <a:latin typeface="Tahoma"/>
              </a:rPr>
              <a:t>7.  Yu AC, Mohajer B, Eng J. External validation of deep learning algorithms for radiologic diagnosis: a systematic review. Radiol Artif Intell. 2022;4:e210064.</a:t>
            </a:r>
          </a:p>
          <a:p>
            <a:pPr algn="l">
              <a:spcAft>
                <a:spcPts val="500"/>
              </a:spcAft>
            </a:pPr>
            <a:r>
              <a:rPr sz="1300">
                <a:solidFill>
                  <a:srgbClr val="FFFFFF"/>
                </a:solidFill>
                <a:latin typeface="Tahoma"/>
              </a:rPr>
              <a:t>8.  Kapoor S, Narayanan A. Leakage and the reproducibility crisis in machine-learning-based science. Patterns. 2023;4:100804.</a:t>
            </a:r>
          </a:p>
          <a:p>
            <a:pPr algn="l">
              <a:spcAft>
                <a:spcPts val="500"/>
              </a:spcAft>
            </a:pPr>
            <a:r>
              <a:rPr sz="1300">
                <a:solidFill>
                  <a:srgbClr val="FFFFFF"/>
                </a:solidFill>
                <a:latin typeface="Tahoma"/>
              </a:rPr>
              <a:t>9.  Alamri A, et al. Sepsis in Buraidah Central Hospital, Qassim, Kingdom of Saudi Arabia. Int J Health Sci (Qassim). 2015;9:393–400 (single centre, 2012).</a:t>
            </a:r>
          </a:p>
          <a:p>
            <a:pPr algn="l">
              <a:spcAft>
                <a:spcPts val="500"/>
              </a:spcAft>
            </a:pPr>
            <a:r>
              <a:rPr sz="1300">
                <a:solidFill>
                  <a:srgbClr val="FFFFFF"/>
                </a:solidFill>
                <a:latin typeface="Tahoma"/>
              </a:rPr>
              <a:t>10.  PhysioNet 2019 Challenge data: physionet.org/content/challenge-2019 (open access).</a:t>
            </a:r>
          </a:p>
        </p:txBody>
      </p:sp>
    </p:spTree>
    <p:extLst>
      <p:ext uri="{BB962C8B-B14F-4D97-AF65-F5344CB8AC3E}">
        <p14:creationId xmlns:p14="http://schemas.microsoft.com/office/powerpoint/2010/main" val="8611423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8288000" cy="10287000"/>
            <a:chOff x="0" y="0"/>
            <a:chExt cx="18288000" cy="10287000"/>
          </a:xfrm>
        </p:grpSpPr>
        <p:pic>
          <p:nvPicPr>
            <p:cNvPr id="3" name="object 3"/>
            <p:cNvPicPr/>
            <p:nvPr/>
          </p:nvPicPr>
          <p:blipFill>
            <a:blip r:embed="rId2" cstate="print"/>
            <a:stretch>
              <a:fillRect/>
            </a:stretch>
          </p:blipFill>
          <p:spPr>
            <a:xfrm>
              <a:off x="0" y="0"/>
              <a:ext cx="18287998" cy="10286999"/>
            </a:xfrm>
            <a:prstGeom prst="rect">
              <a:avLst/>
            </a:prstGeom>
          </p:spPr>
        </p:pic>
        <p:pic>
          <p:nvPicPr>
            <p:cNvPr id="4" name="object 4"/>
            <p:cNvPicPr/>
            <p:nvPr/>
          </p:nvPicPr>
          <p:blipFill>
            <a:blip r:embed="rId3" cstate="print"/>
            <a:stretch>
              <a:fillRect/>
            </a:stretch>
          </p:blipFill>
          <p:spPr>
            <a:xfrm>
              <a:off x="0" y="0"/>
              <a:ext cx="8717774" cy="10286999"/>
            </a:xfrm>
            <a:prstGeom prst="rect">
              <a:avLst/>
            </a:prstGeom>
          </p:spPr>
        </p:pic>
        <p:pic>
          <p:nvPicPr>
            <p:cNvPr id="5" name="object 5"/>
            <p:cNvPicPr/>
            <p:nvPr/>
          </p:nvPicPr>
          <p:blipFill>
            <a:blip r:embed="rId4" cstate="print"/>
            <a:stretch>
              <a:fillRect/>
            </a:stretch>
          </p:blipFill>
          <p:spPr>
            <a:xfrm>
              <a:off x="6945022" y="7858843"/>
              <a:ext cx="10258424" cy="2428156"/>
            </a:xfrm>
            <a:prstGeom prst="rect">
              <a:avLst/>
            </a:prstGeom>
          </p:spPr>
        </p:pic>
      </p:grpSp>
      <p:grpSp>
        <p:nvGrpSpPr>
          <p:cNvPr id="7" name="object 7"/>
          <p:cNvGrpSpPr/>
          <p:nvPr/>
        </p:nvGrpSpPr>
        <p:grpSpPr>
          <a:xfrm>
            <a:off x="668170" y="413794"/>
            <a:ext cx="16778605" cy="1170305"/>
            <a:chOff x="668170" y="413794"/>
            <a:chExt cx="16778605" cy="1170305"/>
          </a:xfrm>
        </p:grpSpPr>
        <p:pic>
          <p:nvPicPr>
            <p:cNvPr id="8" name="object 8"/>
            <p:cNvPicPr/>
            <p:nvPr/>
          </p:nvPicPr>
          <p:blipFill>
            <a:blip r:embed="rId5" cstate="print"/>
            <a:stretch>
              <a:fillRect/>
            </a:stretch>
          </p:blipFill>
          <p:spPr>
            <a:xfrm>
              <a:off x="15156072" y="538094"/>
              <a:ext cx="2290164" cy="1040075"/>
            </a:xfrm>
            <a:prstGeom prst="rect">
              <a:avLst/>
            </a:prstGeom>
          </p:spPr>
        </p:pic>
        <p:pic>
          <p:nvPicPr>
            <p:cNvPr id="9" name="object 9"/>
            <p:cNvPicPr/>
            <p:nvPr/>
          </p:nvPicPr>
          <p:blipFill>
            <a:blip r:embed="rId6" cstate="print"/>
            <a:stretch>
              <a:fillRect/>
            </a:stretch>
          </p:blipFill>
          <p:spPr>
            <a:xfrm>
              <a:off x="2506745" y="654022"/>
              <a:ext cx="425721" cy="660047"/>
            </a:xfrm>
            <a:prstGeom prst="rect">
              <a:avLst/>
            </a:prstGeom>
          </p:spPr>
        </p:pic>
        <p:pic>
          <p:nvPicPr>
            <p:cNvPr id="10" name="object 10"/>
            <p:cNvPicPr/>
            <p:nvPr/>
          </p:nvPicPr>
          <p:blipFill>
            <a:blip r:embed="rId7" cstate="print"/>
            <a:stretch>
              <a:fillRect/>
            </a:stretch>
          </p:blipFill>
          <p:spPr>
            <a:xfrm>
              <a:off x="3177544" y="745879"/>
              <a:ext cx="990071" cy="550039"/>
            </a:xfrm>
            <a:prstGeom prst="rect">
              <a:avLst/>
            </a:prstGeom>
          </p:spPr>
        </p:pic>
        <p:sp>
          <p:nvSpPr>
            <p:cNvPr id="11" name="object 11"/>
            <p:cNvSpPr/>
            <p:nvPr/>
          </p:nvSpPr>
          <p:spPr>
            <a:xfrm>
              <a:off x="2359271" y="547749"/>
              <a:ext cx="6350" cy="872490"/>
            </a:xfrm>
            <a:custGeom>
              <a:avLst/>
              <a:gdLst/>
              <a:ahLst/>
              <a:cxnLst/>
              <a:rect l="l" t="t" r="r" b="b"/>
              <a:pathLst>
                <a:path w="6350" h="872490">
                  <a:moveTo>
                    <a:pt x="5864" y="0"/>
                  </a:moveTo>
                  <a:lnTo>
                    <a:pt x="0" y="872474"/>
                  </a:lnTo>
                </a:path>
              </a:pathLst>
            </a:custGeom>
            <a:ln w="20001">
              <a:solidFill>
                <a:srgbClr val="FEFFFF"/>
              </a:solidFill>
            </a:ln>
          </p:spPr>
          <p:txBody>
            <a:bodyPr wrap="square" lIns="0" tIns="0" rIns="0" bIns="0" rtlCol="0"/>
            <a:lstStyle/>
            <a:p>
              <a:endParaRPr/>
            </a:p>
          </p:txBody>
        </p:sp>
        <p:pic>
          <p:nvPicPr>
            <p:cNvPr id="12" name="object 12"/>
            <p:cNvPicPr/>
            <p:nvPr/>
          </p:nvPicPr>
          <p:blipFill>
            <a:blip r:embed="rId8" cstate="print"/>
            <a:stretch>
              <a:fillRect/>
            </a:stretch>
          </p:blipFill>
          <p:spPr>
            <a:xfrm>
              <a:off x="668170" y="413794"/>
              <a:ext cx="1550111" cy="1170084"/>
            </a:xfrm>
            <a:prstGeom prst="rect">
              <a:avLst/>
            </a:prstGeom>
          </p:spPr>
        </p:pic>
      </p:grpSp>
      <p:sp>
        <p:nvSpPr>
          <p:cNvPr id="6" name="object 6" descr="$PPTXTitle"/>
          <p:cNvSpPr txBox="1">
            <a:spLocks noGrp="1"/>
          </p:cNvSpPr>
          <p:nvPr>
            <p:ph type="title"/>
          </p:nvPr>
        </p:nvSpPr>
        <p:spPr>
          <a:xfrm>
            <a:off x="5029200" y="3657600"/>
            <a:ext cx="8229600" cy="1645920"/>
          </a:xfrm>
          <a:prstGeom prst="rect">
            <a:avLst/>
          </a:prstGeom>
        </p:spPr>
        <p:txBody>
          <a:bodyPr vert="horz" wrap="square" lIns="0" tIns="494664" rIns="0" bIns="0" rtlCol="0">
            <a:spAutoFit/>
          </a:bodyPr>
          <a:lstStyle/>
          <a:p>
            <a:r>
              <a:rPr sz="8800" b="1">
                <a:solidFill>
                  <a:srgbClr val="FFFFFF"/>
                </a:solidFill>
                <a:latin typeface="Tahoma"/>
              </a:rPr>
              <a:t>Thank you</a:t>
            </a:r>
          </a:p>
        </p:txBody>
      </p:sp>
      <p:sp>
        <p:nvSpPr>
          <p:cNvPr id="14" name="object 10">
            <a:extLst>
              <a:ext uri="{FF2B5EF4-FFF2-40B4-BE49-F238E27FC236}">
                <a16:creationId xmlns:a16="http://schemas.microsoft.com/office/drawing/2014/main" id="{421BFE80-94BD-3C37-603C-CB0001845F22}"/>
              </a:ext>
            </a:extLst>
          </p:cNvPr>
          <p:cNvSpPr txBox="1">
            <a:spLocks noGrp="1"/>
          </p:cNvSpPr>
          <p:nvPr>
            <p:ph type="sldNum" sz="quarter" idx="7"/>
          </p:nvPr>
        </p:nvSpPr>
        <p:spPr>
          <a:xfrm>
            <a:off x="14996159" y="9079503"/>
            <a:ext cx="2560320" cy="367408"/>
          </a:xfrm>
          <a:prstGeom prst="rect">
            <a:avLst/>
          </a:prstGeom>
        </p:spPr>
        <p:txBody>
          <a:bodyPr vert="horz" wrap="square" lIns="0" tIns="5715" rIns="0" bIns="0" rtlCol="0">
            <a:spAutoFit/>
          </a:bodyPr>
          <a:lstStyle/>
          <a:p>
            <a:pPr marL="12700">
              <a:lnSpc>
                <a:spcPct val="100000"/>
              </a:lnSpc>
              <a:spcBef>
                <a:spcPts val="45"/>
              </a:spcBef>
            </a:pPr>
            <a:r>
              <a:rPr spc="-20" dirty="0"/>
              <a:t>M</a:t>
            </a:r>
            <a:r>
              <a:rPr spc="-15" dirty="0"/>
              <a:t>E</a:t>
            </a:r>
            <a:r>
              <a:rPr spc="-135" dirty="0"/>
              <a:t>D</a:t>
            </a:r>
            <a:r>
              <a:rPr spc="-220" dirty="0"/>
              <a:t>A</a:t>
            </a:r>
            <a:r>
              <a:rPr spc="-15" dirty="0"/>
              <a:t>T</a:t>
            </a:r>
            <a:r>
              <a:rPr spc="-25" dirty="0"/>
              <a:t>H</a:t>
            </a:r>
            <a:r>
              <a:rPr spc="-20" dirty="0"/>
              <a:t>O</a:t>
            </a:r>
            <a:r>
              <a:rPr spc="-830" dirty="0"/>
              <a:t>N</a:t>
            </a:r>
            <a:endParaRPr sz="3000" baseline="-25000" dirty="0">
              <a:latin typeface="Lucida Sans Unicode"/>
              <a:cs typeface="Lucida Sans Unicode"/>
            </a:endParaRPr>
          </a:p>
        </p:txBody>
      </p:sp>
      <p:sp>
        <p:nvSpPr>
          <p:cNvPr id="15" name="closing contact"/>
          <p:cNvSpPr txBox="1"/>
          <p:nvPr/>
        </p:nvSpPr>
        <p:spPr>
          <a:xfrm>
            <a:off x="5029200" y="5577840"/>
            <a:ext cx="8229600" cy="1280160"/>
          </a:xfrm>
          <a:prstGeom prst="rect">
            <a:avLst/>
          </a:prstGeom>
          <a:noFill/>
        </p:spPr>
        <p:txBody>
          <a:bodyPr wrap="square" lIns="73152" rIns="73152" tIns="36576" bIns="36576" anchor="t">
            <a:spAutoFit/>
          </a:bodyPr>
          <a:lstStyle/>
          <a:p>
            <a:pPr algn="l"/>
            <a:r>
              <a:rPr sz="1800">
                <a:solidFill>
                  <a:srgbClr val="00E4FF"/>
                </a:solidFill>
                <a:latin typeface="Tahoma"/>
              </a:rPr>
              <a:t>SIREN  ·  Sepsis Infection Risk Early Notification</a:t>
            </a:r>
          </a:p>
          <a:p>
            <a:pPr algn="l"/>
            <a:r>
              <a:rPr sz="1800">
                <a:solidFill>
                  <a:srgbClr val="00E4FF"/>
                </a:solidFill>
                <a:latin typeface="Tahoma"/>
              </a:rPr>
              <a:t>[Team name]  ·  [contact email]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39</TotalTime>
  <Words>195</Words>
  <Application>Microsoft Office PowerPoint</Application>
  <PresentationFormat>Custom</PresentationFormat>
  <Paragraphs>37</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Calibri</vt:lpstr>
      <vt:lpstr>Canva Sans Bold</vt:lpstr>
      <vt:lpstr>Lucida Sans Unicode</vt:lpstr>
      <vt:lpstr>Tahoma</vt:lpstr>
      <vt:lpstr>Office Theme</vt:lpstr>
      <vt:lpstr>PowerPoint Presentation</vt:lpstr>
      <vt:lpstr>PowerPoint Presentation</vt:lpstr>
      <vt:lpstr>Team members</vt:lpstr>
      <vt:lpstr>Problem Statement</vt:lpstr>
      <vt:lpstr>Innovation Overview</vt:lpstr>
      <vt:lpstr>Sustainability</vt:lpstr>
      <vt:lpstr>Business Model</vt:lpstr>
      <vt:lpstr>This slide can be used to add any information, data, images, or references that support the idea and clarify it further</vt:lpstr>
      <vt:lpstr>Thank you Thankyou Thankyou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MEDATHON template ~</dc:title>
  <dc:creator>Ma3</dc:creator>
  <cp:keywords>DAHW24BKli8,BAGnitFe2Tg</cp:keywords>
  <cp:lastModifiedBy>عبدالله الحربي</cp:lastModifiedBy>
  <cp:revision>7</cp:revision>
  <dcterms:created xsi:type="dcterms:W3CDTF">2026-10-02T11:43:23Z</dcterms:created>
  <dcterms:modified xsi:type="dcterms:W3CDTF">2026-10-03T12:41:34Z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v10.0.20290.1</vt:lpwstr>
  </property>
  <property fmtid="{D5CDD505-2E9C-101B-9397-08002B2CF9AE}" pid="3" name="Created">
    <vt:filetime>2026-10-02T00:00:00Z</vt:filetime>
  </property>
  <property fmtid="{D5CDD505-2E9C-101B-9397-08002B2CF9AE}" pid="4" name="Creator">
    <vt:lpwstr>Canva</vt:lpwstr>
  </property>
  <property fmtid="{D5CDD505-2E9C-101B-9397-08002B2CF9AE}" pid="5" name="LastSaved">
    <vt:filetime>2026-10-02T00:00:00Z</vt:filetime>
  </property>
  <property fmtid="{D5CDD505-2E9C-101B-9397-08002B2CF9AE}" pid="6" name="Producer">
    <vt:lpwstr>Canva</vt:lpwstr>
  </property>
</Properties>
</file>