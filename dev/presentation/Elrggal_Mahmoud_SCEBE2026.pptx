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94884aa3-261f-4bbe-c77b-2be97a35b419}">
          <p14:sldIdLst>
            <p14:sldId id="256"/>
            <p14:sldId id="257"/>
            <p14:sldId id="258"/>
            <p14:sldId id="259"/>
            <p14:sldId id="260"/>
          </p14:sldIdLst>
        </p14:section>
        <p14:section name="Question and approach" id="{e3da23a0-d364-c07b-69ef-002d57a2e0db}">
          <p14:sldIdLst>
            <p14:sldId id="261"/>
            <p14:sldId id="262"/>
            <p14:sldId id="263"/>
            <p14:sldId id="264"/>
            <p14:sldId id="265"/>
          </p14:sldIdLst>
        </p14:section>
        <p14:section name="Preliminary results" id="{eba2f41c-3064-c8c0-0dcb-9a71f13b2df7}">
          <p14:sldIdLst>
            <p14:sldId id="266"/>
            <p14:sldId id="267"/>
            <p14:sldId id="268"/>
          </p14:sldIdLst>
        </p14:section>
        <p14:section name="Contribution and next steps" id="{a2e33362-9618-3c47-82f4-a3f118374bea}">
          <p14:sldIdLst>
            <p14:sldId id="269"/>
          </p14:sldIdLst>
        </p14:section>
        <p14:section name="Input" id="{e06b4947-75fc-9a7c-6c92-cdefc12ffefb}">
          <p14:sldIdLst>
            <p14:sldId id="270"/>
          </p14:sldIdLst>
        </p14:section>
        <p14:section name="Backup" id="{bb76348b-caea-ab76-0e20-ee0bf2f8accf}">
          <p14:sldIdLst>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C8102E"/>
              </a:solidFill>
              <a:effectLst/>
            </c:spPr>
          </c:dPt>
          <c:dPt>
            <c:idx val="3"/>
            <c:invertIfNegative val="0"/>
            <c:bubble3D val="0"/>
            <c:spPr>
              <a:solidFill>
                <a:srgbClr val="C8102E"/>
              </a:solidFill>
              <a:effectLst/>
            </c:spPr>
          </c:dPt>
          <c:cat>
            <c:multiLvlStrRef>
              <c:f>Sheet1!$A$2:$A$5</c:f>
              <c:multiLvlStrCache>
                <c:ptCount val="4"/>
                <c:lvl>
                  <c:pt idx="0">
                    <c:v>Winner, new patients, its 2 hospitals</c:v>
                  </c:pt>
                  <c:pt idx="1">
                    <c:v>Winner, unseen third hospital</c:v>
                  </c:pt>
                  <c:pt idx="2">
                    <c:v>Our causal OSTA, PhysioNet test</c:v>
                  </c:pt>
                  <c:pt idx="3">
                    <c:v>Our best model, MIMIC-IV development test</c:v>
                  </c:pt>
                </c:lvl>
              </c:multiLvlStrCache>
            </c:multiLvlStrRef>
          </c:cat>
          <c:val>
            <c:numRef>
              <c:f>Sheet1!$B$2:$B$5</c:f>
              <c:numCache>
                <c:formatCode>General</c:formatCode>
                <c:ptCount val="4"/>
                <c:pt idx="0">
                  <c:v>0.43</c:v>
                </c:pt>
                <c:pt idx="1">
                  <c:v>-0.12</c:v>
                </c:pt>
                <c:pt idx="2">
                  <c:v>0.22</c:v>
                </c:pt>
                <c:pt idx="3">
                  <c:v>0.18</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new patients from the hospitals it trained on, minus 0.12 on a hospital it had never seen. Red is this project. The point is not that 0.18 is high; it is positive, with its confidence interval above zero, on raw data scored causally. Say the caveats: preliminary, development split, holdout sealed.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655,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method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positive utility on MIMIC-IV, where the challenge winner fell below zero on an unseen hospital</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82296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1115568" y="5486400"/>
            <a:ext cx="301752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challenge winner [15, 21]</a:t>
            </a:r>
            <a:endParaRPr lang="en-US" sz="1200" dirty="0"/>
          </a:p>
        </p:txBody>
      </p:sp>
      <p:sp>
        <p:nvSpPr>
          <p:cNvPr id="9" name="legend swatch"/>
          <p:cNvSpPr/>
          <p:nvPr/>
        </p:nvSpPr>
        <p:spPr>
          <a:xfrm>
            <a:off x="4206240" y="5532120"/>
            <a:ext cx="228600" cy="182880"/>
          </a:xfrm>
          <a:prstGeom prst="rect">
            <a:avLst/>
          </a:prstGeom>
          <a:solidFill>
            <a:srgbClr val="C8102E"/>
          </a:solidFill>
          <a:ln w="12700">
            <a:solidFill>
              <a:srgbClr val="C8102E"/>
            </a:solidFill>
            <a:prstDash val="solid"/>
          </a:ln>
        </p:spPr>
      </p:sp>
      <p:sp>
        <p:nvSpPr>
          <p:cNvPr id="10" name="text"/>
          <p:cNvSpPr txBox="1"/>
          <p:nvPr/>
        </p:nvSpPr>
        <p:spPr>
          <a:xfrm>
            <a:off x="4498848" y="5486400"/>
            <a:ext cx="283464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causal evaluation [41]</a:t>
            </a:r>
            <a:endParaRPr lang="en-US" sz="1200" dirty="0"/>
          </a:p>
        </p:txBody>
      </p:sp>
      <p:sp>
        <p:nvSpPr>
          <p:cNvPr id="11"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2"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3"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63,488 hours, 71 sepsis events</a:t>
            </a:r>
            <a:endParaRPr lang="en-US" sz="1200" dirty="0"/>
          </a:p>
        </p:txBody>
      </p:sp>
      <p:sp>
        <p:nvSpPr>
          <p:cNvPr id="14" name="text"/>
          <p:cNvSpPr txBox="1"/>
          <p:nvPr/>
        </p:nvSpPr>
        <p:spPr>
          <a:xfrm>
            <a:off x="7726680" y="2331720"/>
            <a:ext cx="1821028" cy="548640"/>
          </a:xfrm>
          <a:prstGeom prst="rect">
            <a:avLst/>
          </a:prstGeom>
          <a:noFill/>
          <a:ln/>
        </p:spPr>
        <p:txBody>
          <a:bodyPr wrap="square" lIns="0" tIns="0" rIns="0" bIns="0" rtlCol="0" anchor="t"/>
          <a:lstStyle/>
          <a:p>
            <a:pPr algn="l" indent="0" marL="0">
              <a:buNone/>
            </a:pPr>
            <a:r>
              <a:rPr lang="en-US" sz="2800" b="1" dirty="0">
                <a:solidFill>
                  <a:srgbClr val="C8102E"/>
                </a:solidFill>
              </a:rPr>
              <a:t>0.81</a:t>
            </a:r>
            <a:endParaRPr lang="en-US" sz="2800" dirty="0"/>
          </a:p>
        </p:txBody>
      </p:sp>
      <p:sp>
        <p:nvSpPr>
          <p:cNvPr id="15" name="text"/>
          <p:cNvSpPr txBox="1"/>
          <p:nvPr/>
        </p:nvSpPr>
        <p:spPr>
          <a:xfrm>
            <a:off x="7726680" y="288036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hourly AUROC, 3 seeds</a:t>
            </a:r>
            <a:endParaRPr lang="en-US" sz="1200" dirty="0"/>
          </a:p>
        </p:txBody>
      </p:sp>
      <p:sp>
        <p:nvSpPr>
          <p:cNvPr id="16" name="text"/>
          <p:cNvSpPr txBox="1"/>
          <p:nvPr/>
        </p:nvSpPr>
        <p:spPr>
          <a:xfrm>
            <a:off x="9593428" y="2331720"/>
            <a:ext cx="1821028" cy="548640"/>
          </a:xfrm>
          <a:prstGeom prst="rect">
            <a:avLst/>
          </a:prstGeom>
          <a:noFill/>
          <a:ln/>
        </p:spPr>
        <p:txBody>
          <a:bodyPr wrap="square" lIns="0" tIns="0" rIns="0" bIns="0" rtlCol="0" anchor="t"/>
          <a:lstStyle/>
          <a:p>
            <a:pPr algn="l" indent="0" marL="0">
              <a:buNone/>
            </a:pPr>
            <a:r>
              <a:rPr lang="en-US" sz="2800" b="1" dirty="0">
                <a:solidFill>
                  <a:srgbClr val="C8102E"/>
                </a:solidFill>
              </a:rPr>
              <a:t>5 h</a:t>
            </a:r>
            <a:endParaRPr lang="en-US" sz="2800" dirty="0"/>
          </a:p>
        </p:txBody>
      </p:sp>
      <p:sp>
        <p:nvSpPr>
          <p:cNvPr id="17" name="text"/>
          <p:cNvSpPr txBox="1"/>
          <p:nvPr/>
        </p:nvSpPr>
        <p:spPr>
          <a:xfrm>
            <a:off x="9593428" y="288036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median warning before onset</a:t>
            </a:r>
            <a:endParaRPr lang="en-US" sz="1200" dirty="0"/>
          </a:p>
        </p:txBody>
      </p:sp>
      <p:sp>
        <p:nvSpPr>
          <p:cNvPr id="18" name="text"/>
          <p:cNvSpPr txBox="1"/>
          <p:nvPr/>
        </p:nvSpPr>
        <p:spPr>
          <a:xfrm>
            <a:off x="7726680" y="3566160"/>
            <a:ext cx="1821028" cy="548640"/>
          </a:xfrm>
          <a:prstGeom prst="rect">
            <a:avLst/>
          </a:prstGeom>
          <a:noFill/>
          <a:ln/>
        </p:spPr>
        <p:txBody>
          <a:bodyPr wrap="square" lIns="0" tIns="0" rIns="0" bIns="0" rtlCol="0" anchor="t"/>
          <a:lstStyle/>
          <a:p>
            <a:pPr algn="l" indent="0" marL="0">
              <a:buNone/>
            </a:pPr>
            <a:r>
              <a:rPr lang="en-US" sz="2800" b="1" dirty="0">
                <a:solidFill>
                  <a:srgbClr val="C8102E"/>
                </a:solidFill>
              </a:rPr>
              <a:t>1 in 2</a:t>
            </a:r>
            <a:endParaRPr lang="en-US" sz="2800" dirty="0"/>
          </a:p>
        </p:txBody>
      </p:sp>
      <p:sp>
        <p:nvSpPr>
          <p:cNvPr id="19" name="text"/>
          <p:cNvSpPr txBox="1"/>
          <p:nvPr/>
        </p:nvSpPr>
        <p:spPr>
          <a:xfrm>
            <a:off x="7726680" y="411480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sepsis events caught at 0.5 false alarms a day</a:t>
            </a:r>
            <a:endParaRPr lang="en-US" sz="1200" dirty="0"/>
          </a:p>
        </p:txBody>
      </p:sp>
      <p:sp>
        <p:nvSpPr>
          <p:cNvPr id="20" name="text"/>
          <p:cNvSpPr txBox="1"/>
          <p:nvPr/>
        </p:nvSpPr>
        <p:spPr>
          <a:xfrm>
            <a:off x="9593428" y="3566160"/>
            <a:ext cx="1821028" cy="548640"/>
          </a:xfrm>
          <a:prstGeom prst="rect">
            <a:avLst/>
          </a:prstGeom>
          <a:noFill/>
          <a:ln/>
        </p:spPr>
        <p:txBody>
          <a:bodyPr wrap="square" lIns="0" tIns="0" rIns="0" bIns="0" rtlCol="0" anchor="t"/>
          <a:lstStyle/>
          <a:p>
            <a:pPr algn="l" indent="0" marL="0">
              <a:buNone/>
            </a:pPr>
            <a:r>
              <a:rPr lang="en-US" sz="2200" b="1" dirty="0">
                <a:solidFill>
                  <a:srgbClr val="C8102E"/>
                </a:solidFill>
              </a:rPr>
              <a:t>0.08-0.27</a:t>
            </a:r>
            <a:endParaRPr lang="en-US" sz="2200" dirty="0"/>
          </a:p>
        </p:txBody>
      </p:sp>
      <p:sp>
        <p:nvSpPr>
          <p:cNvPr id="21" name="text"/>
          <p:cNvSpPr txBox="1"/>
          <p:nvPr/>
        </p:nvSpPr>
        <p:spPr>
          <a:xfrm>
            <a:off x="9593428" y="411480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95 % CI of utility 0.18</a:t>
            </a:r>
            <a:endParaRPr lang="en-US" sz="1200" dirty="0"/>
          </a:p>
        </p:txBody>
      </p:sp>
      <p:sp>
        <p:nvSpPr>
          <p:cNvPr id="22" name="text"/>
          <p:cNvSpPr txBox="1"/>
          <p:nvPr/>
        </p:nvSpPr>
        <p:spPr>
          <a:xfrm>
            <a:off x="7726680" y="4800600"/>
            <a:ext cx="3733495" cy="914400"/>
          </a:xfrm>
          <a:prstGeom prst="rect">
            <a:avLst/>
          </a:prstGeom>
          <a:noFill/>
          <a:ln/>
        </p:spPr>
        <p:txBody>
          <a:bodyPr wrap="square" lIns="0" tIns="0" rIns="0" bIns="0" rtlCol="0" anchor="t"/>
          <a:lstStyle/>
          <a:p>
            <a:pPr algn="l" indent="0" marL="0">
              <a:buNone/>
            </a:pPr>
            <a:r>
              <a:rPr lang="en-US" sz="1200" dirty="0">
                <a:solidFill>
                  <a:srgbClr val="5E5E5E"/>
                </a:solidFill>
              </a:rPr>
              <a:t>On 10,000-stay samples all neural models reach AUROC 0.80 to 0.81: the full cohort will separate them. The winner's method is being replicated on MIMIC-IV now.</a:t>
            </a:r>
            <a:endParaRPr lang="en-US" sz="120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655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was recorded, with a measured flag and its age; no hour after onset used</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recorded, expires after 24 h; post-onset hours excluded</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655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655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(fairness analysis only);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1"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every model overfits within three epochs</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655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0.80 to 0.81</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AUROC of OSTA, CNN-Transformer, output fusion: differences below seed noise (SD 0.012)</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3"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2026-10-19T06:29:21Z</dcterms:created>
  <dcterms:modified xsi:type="dcterms:W3CDTF">2026-10-19T06:29:21Z</dcterms:modified>
</cp:coreProperties>
</file>