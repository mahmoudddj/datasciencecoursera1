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65761b91-fd18-9147-f466-5be96fbf8367}">
          <p14:sldIdLst>
            <p14:sldId id="256"/>
            <p14:sldId id="257"/>
            <p14:sldId id="258"/>
            <p14:sldId id="259"/>
            <p14:sldId id="260"/>
          </p14:sldIdLst>
        </p14:section>
        <p14:section name="Question and approach" id="{885e5baf-3d98-0595-fae8-6c77fe57e6b1}">
          <p14:sldIdLst>
            <p14:sldId id="261"/>
            <p14:sldId id="262"/>
            <p14:sldId id="263"/>
            <p14:sldId id="264"/>
            <p14:sldId id="265"/>
          </p14:sldIdLst>
        </p14:section>
        <p14:section name="Preliminary results" id="{1efb7e9c-16d2-1a6e-97d2-fec677007659}">
          <p14:sldIdLst>
            <p14:sldId id="266"/>
            <p14:sldId id="267"/>
            <p14:sldId id="268"/>
          </p14:sldIdLst>
        </p14:section>
        <p14:section name="Contribution and next steps" id="{d30e2750-ff7b-76a0-4a7b-bc9516c457fb}">
          <p14:sldIdLst>
            <p14:sldId id="269"/>
          </p14:sldIdLst>
        </p14:section>
        <p14:section name="Input" id="{7bb0c6c2-753b-10e6-dfa0-b98e1642e902}">
          <p14:sldIdLst>
            <p14:sldId id="270"/>
          </p14:sldIdLst>
        </p14:section>
        <p14:section name="Backup" id="{03065c7a-640d-3cb2-8513-87ba0efd6609}">
          <p14:sldIdLst>
            <p14:sldId id="271"/>
            <p14:sldId id="272"/>
            <p14:sldId id="273"/>
            <p14:sldId id="274"/>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Normalised utility: 1 = perfect, 0 = never alarming, below 0 = worse than silence</a:t>
            </a:r>
          </a:p>
        </c:rich>
      </c:tx>
      <c:layout/>
      <c:overlay val="0"/>
    </c:title>
    <c:autoTitleDeleted val="0"/>
    <c:plotArea>
      <c:layout/>
      <c:barChart>
        <c:barDir val="bar"/>
        <c:grouping val="clustered"/>
        <c:varyColors val="0"/>
        <c:ser>
          <c:idx val="0"/>
          <c:order val="0"/>
          <c:tx>
            <c:strRef>
              <c:f>Sheet1!$B$1</c:f>
              <c:strCache>
                <c:ptCount val="1"/>
                <c:pt idx="0">
                  <c:v>Normalised utility</c:v>
                </c:pt>
              </c:strCache>
            </c:strRef>
          </c:tx>
          <c:spPr>
            <a:solidFill>
              <a:srgbClr val="8C8C8C"/>
            </a:solidFill>
            <a:effectLst/>
          </c:spPr>
          <c:invertIfNegative val="0"/>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3A3A3A"/>
              </a:solidFill>
              <a:effectLst/>
            </c:spPr>
          </c:dPt>
          <c:dPt>
            <c:idx val="3"/>
            <c:invertIfNegative val="0"/>
            <c:bubble3D val="0"/>
            <c:spPr>
              <a:solidFill>
                <a:srgbClr val="C8102E"/>
              </a:solidFill>
              <a:effectLst/>
            </c:spPr>
          </c:dPt>
          <c:dPt>
            <c:idx val="4"/>
            <c:invertIfNegative val="0"/>
            <c:bubble3D val="0"/>
            <c:spPr>
              <a:solidFill>
                <a:srgbClr val="C8102E"/>
              </a:solidFill>
              <a:effectLst/>
            </c:spPr>
          </c:dPt>
          <c:cat>
            <c:multiLvlStrRef>
              <c:f>Sheet1!$A$2:$A$6</c:f>
              <c:multiLvlStrCache>
                <c:ptCount val="5"/>
                <c:lvl>
                  <c:pt idx="0">
                    <c:v>Winner, published: its 2 hospitals</c:v>
                  </c:pt>
                  <c:pt idx="1">
                    <c:v>Winner, published: unseen hospital</c:v>
                  </c:pt>
                  <c:pt idx="2">
                    <c:v>Winner's method, rebuilt here</c:v>
                  </c:pt>
                  <c:pt idx="3">
                    <c:v>OSTA (this project)</c:v>
                  </c:pt>
                  <c:pt idx="4">
                    <c:v>GRU-D (chosen on validation)</c:v>
                  </c:pt>
                </c:lvl>
              </c:multiLvlStrCache>
            </c:multiLvlStrRef>
          </c:cat>
          <c:val>
            <c:numRef>
              <c:f>Sheet1!$B$2:$B$6</c:f>
              <c:numCache>
                <c:formatCode>General</c:formatCode>
                <c:ptCount val="5"/>
                <c:pt idx="0">
                  <c:v>0.43</c:v>
                </c:pt>
                <c:pt idx="1">
                  <c:v>-0.12</c:v>
                </c:pt>
                <c:pt idx="2">
                  <c:v>0.15</c:v>
                </c:pt>
                <c:pt idx="3">
                  <c:v>0.23</c:v>
                </c:pt>
                <c:pt idx="4">
                  <c:v>0.19</c:v>
                </c:pt>
              </c:numCache>
            </c:numRef>
          </c:val>
        </c:ser>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6"/>
          <c:min val="-0.4"/>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numbers: the burden of sepsis, the burden of resistance, and two pieces of evidence that acting earlier helps: rapid diagnostics with stewardship, and a sepsis AI alert that clinicians acted on.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sepsis alerts save lives when clinicians engage with them,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OSTA groups the predictors by organ, reads each organ over time, lets the organs inform each other, and outputs a sepsis risk plus a risk per organ. Because I believe in it, I test it against the same model without the organ grouping, and against the published alternatives including the winner's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Grey is the published winner: 0.43 on its own hospitals, minus 0.12 on an unseen one. Dark grey is the winner's own method rebuilt in our causal pipeline on MIMIC-IV: 0.15. Red is this project: OSTA 0.23, and GRU-D, the model the prespecified rule chose on validation, 0.19. All 21 models have positive utility with confidence intervals above zero. The organ grouping did not beat the same model without it at this sample size; that is reported as found. Say: preliminary, one run, development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questions: which score decides, and how to define sepsis across hospital systems. Then thank the audience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Development of Novel AI Models for Early Detection and Prediction of Infectious Diseases, with a Focus on Sepsis</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Dr Kia Dashtipour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Detecting infection early saves lives and saves antibiotics</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11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sepsis deaths a year: 1 in 5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-18.7 %</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relative in-hospital mortality when a sepsis AI alert was confirmed by clinicians within 3 h [4]</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[5]</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Rudd et al., Lancet 2020   [2] AMR Collaborators, Lancet 2022   [3] Timbrook et al., Clin Infect Dis 2017   [4] Adams et al., Nat Med 2022   [5]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is an infection that makes the body's own organs fail</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[6]</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[7]</a:t>
            </a:r>
            <a:endParaRPr lang="en-US" sz="1300" dirty="0"/>
          </a:p>
        </p:txBody>
      </p:sp>
      <p:sp>
        <p:nvSpPr>
          <p:cNvPr id="6" name="icon tile"/>
          <p:cNvSpPr/>
          <p:nvPr/>
        </p:nvSpPr>
        <p:spPr>
          <a:xfrm>
            <a:off x="548640" y="278892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916936"/>
            <a:ext cx="384048" cy="384048"/>
          </a:xfrm>
          <a:prstGeom prst="rect">
            <a:avLst/>
          </a:prstGeom>
        </p:spPr>
      </p:pic>
      <p:sp>
        <p:nvSpPr>
          <p:cNvPr id="8" name="text"/>
          <p:cNvSpPr txBox="1"/>
          <p:nvPr/>
        </p:nvSpPr>
        <p:spPr>
          <a:xfrm>
            <a:off x="1280160"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78892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916936"/>
            <a:ext cx="384048" cy="384048"/>
          </a:xfrm>
          <a:prstGeom prst="rect">
            <a:avLst/>
          </a:prstGeom>
        </p:spPr>
      </p:pic>
      <p:sp>
        <p:nvSpPr>
          <p:cNvPr id="12" name="text"/>
          <p:cNvSpPr txBox="1"/>
          <p:nvPr/>
        </p:nvSpPr>
        <p:spPr>
          <a:xfrm>
            <a:off x="3218688"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78892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916936"/>
            <a:ext cx="384048" cy="384048"/>
          </a:xfrm>
          <a:prstGeom prst="rect">
            <a:avLst/>
          </a:prstGeom>
        </p:spPr>
      </p:pic>
      <p:sp>
        <p:nvSpPr>
          <p:cNvPr id="16" name="text"/>
          <p:cNvSpPr txBox="1"/>
          <p:nvPr/>
        </p:nvSpPr>
        <p:spPr>
          <a:xfrm>
            <a:off x="5157216"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25196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379976"/>
            <a:ext cx="384048" cy="384048"/>
          </a:xfrm>
          <a:prstGeom prst="rect">
            <a:avLst/>
          </a:prstGeom>
        </p:spPr>
      </p:pic>
      <p:sp>
        <p:nvSpPr>
          <p:cNvPr id="20" name="text"/>
          <p:cNvSpPr txBox="1"/>
          <p:nvPr/>
        </p:nvSpPr>
        <p:spPr>
          <a:xfrm>
            <a:off x="1280160"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25196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379976"/>
            <a:ext cx="384048" cy="384048"/>
          </a:xfrm>
          <a:prstGeom prst="rect">
            <a:avLst/>
          </a:prstGeom>
        </p:spPr>
      </p:pic>
      <p:sp>
        <p:nvSpPr>
          <p:cNvPr id="24" name="text"/>
          <p:cNvSpPr txBox="1"/>
          <p:nvPr/>
        </p:nvSpPr>
        <p:spPr>
          <a:xfrm>
            <a:off x="3218688"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25196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379976"/>
            <a:ext cx="384048" cy="384048"/>
          </a:xfrm>
          <a:prstGeom prst="rect">
            <a:avLst/>
          </a:prstGeom>
        </p:spPr>
      </p:pic>
      <p:sp>
        <p:nvSpPr>
          <p:cNvPr id="28" name="text"/>
          <p:cNvSpPr txBox="1"/>
          <p:nvPr/>
        </p:nvSpPr>
        <p:spPr>
          <a:xfrm>
            <a:off x="5157216"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list"/>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1B1B1B"/>
                </a:solidFill>
              </a:rPr>
              <a:t>Sepsis contributes to between one in two and one in three hospital deaths [8].</a:t>
            </a:r>
            <a:endParaRPr lang="en-US" sz="1400" dirty="0"/>
          </a:p>
          <a:p>
            <a:pPr marL="203200" indent="-203200">
              <a:spcAft>
                <a:spcPts val="1000"/>
              </a:spcAft>
              <a:buSzPct val="100000"/>
              <a:buChar char="•"/>
            </a:pPr>
            <a:r>
              <a:rPr lang="en-US" sz="1400" dirty="0">
                <a:solidFill>
                  <a:srgbClr val="1B1B1B"/>
                </a:solidFill>
              </a:rPr>
              <a:t>Each hour of delay to antibiotics raises the odds of death by about 4 % [9]; in septic shock survival falls by 7.6 % per hour [10].</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[11].</a:t>
            </a:r>
            <a:endParaRPr lang="en-US" sz="1400" dirty="0"/>
          </a:p>
        </p:txBody>
      </p:sp>
      <p:sp>
        <p:nvSpPr>
          <p:cNvPr id="3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[8] Liu et al., JAMA 2014   [9] Seymour et al., N Engl J Med 2017   [10] Kumar et al., Crit Care Med 2006   [11] Churpek et al., Am J Respir Crit Care Med 2017</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often excels in development and fails in practice</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81 % of 86 deep-learning algorithms performed worse on external data [12]. A model fell from AUC 0.90 to 0.50 when run silently on new patients [13]. Of 81 deep-learning studies, 9 were prospective and 6 tested in real clinical settings [14].</a:t>
            </a:r>
            <a:endParaRPr lang="en-US" sz="130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The most used sepsis benchmark gives models 40 hourly variables [15]; treatments, devices and history are usually left out.</a:t>
            </a:r>
            <a:endParaRPr lang="en-US" sz="130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Whether a laboratory test was ordered predicted survival for 86 % of 272 tests; the timing of the order beat the result itself for 68 % [16]. A pneumonia model learned which hospital took the X-ray [17].</a:t>
            </a:r>
            <a:endParaRPr lang="en-US" sz="130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Data leakage inflates results in at least 17 scientific fields [18]. Usefulness depends on the action a prediction triggers, not on AUROC alone [19, 20].</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[12] Yu et al., Radiol Artif Intell 2022   [13] Kwong et al., Front Digit Health 2022   [14] Nagendran et al., BMJ 2020   [15] Reyna et al., Crit Care Med 2020   [16] Agniel et al., BMJ 2018   [17] Zech et al., PLoS Med 2018   [18] Kapoor et al., Patterns 2023   [19] Shah et al., JAMA 2019   [20]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follows the same pattern</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[15]</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19456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[21]</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[22]</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82296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8"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[23]. </a:t>
            </a:r>
            <a:pPr indent="0" marL="0">
              <a:spcAft>
                <a:spcPts val="400"/>
              </a:spcAft>
              <a:buNone/>
            </a:pPr>
            <a:r>
              <a:rPr lang="en-US" sz="1400" dirty="0">
                <a:solidFill>
                  <a:srgbClr val="1B1B1B"/>
                </a:solidFill>
              </a:rPr>
              <a:t>Studies use different definitions and implementations of sepsis, so results cannot be compared [24].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1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[22] Wong et al., JAMA Intern Med 2021   [23]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question this research asks</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[23, 24]?</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 make clinical AI safer and more useful</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[25]</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Engaged clinicians save lives</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Sepsis alerts confirmed by clinicians within 3 h: 18.7 % lower relative mortality [4]</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[26]</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[27]; health records encode care decisions [16]</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every antibiotic order is an input, so the model predicts sepsis from the treatment that defines it, or antibiotics are dropped entirely.</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cefazolin at induction of anaesthesia, stopped within 24 h, with no culture sent, is surgical prophylaxis [28]. Prophylaxis is kept as a predictor by guideline rule; empirical and culture-directed antibiotics are excluded [29].</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stress-dose hydrocortisone order or a chest X-ray request is treated as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these show that the team already suspects sepsis. They are declared as proxies and every result is reported with and without them, separating the patient's signal from the team's.</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 Adams et al., Nat Med 2022   [16] Agniel et al., BMJ 2018   [25] Tschandl et al., Nat Med 2020   [26] Henry et al., NPJ Digit Med 2022   [27] Wiens et al., Nat Med 2019   [28] Bratzler et al., Am J Health Syst Pharm 2013   [29]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Three open intensive-care databases, all accessed through PhysioNet</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[30]</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[31]</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[15]</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[32]. No patient-level data leave the analysis environment. One sepsis definition is applied to both raw databases with published benchmark code [33, 34].</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[30] Johnson et al., Sci Data 2023   [31] Pollard et al., Sci Data 2018   [32] Goldberger et al., Circulation 2000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 built like the models it trains</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[35]</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655, each used only from the hour recorded</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16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00" dirty="0">
                <a:solidFill>
                  <a:srgbClr val="1B1B1B"/>
                </a:solidFill>
              </a:rPr>
              <a:t>Online interviews and round-table discussions with 20 infectious disease and critical care consultants from different hospitals: would they trust and act on the alert, what explanation do they need, what alarm burden is acceptable [26].</a:t>
            </a:r>
            <a:endParaRPr lang="en-US" sz="120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[13].</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[13] Kwong et al., Front Digit Health 2022   [26] Henry et al., NPJ Digit Med 2022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Organ-structured attention is a hypothesis we test, not an assumption</a:t>
            </a:r>
            <a:endParaRPr lang="en-US" sz="2600" dirty="0"/>
          </a:p>
        </p:txBody>
      </p:sp>
      <p:sp>
        <p:nvSpPr>
          <p:cNvPr id="4" name="text"/>
          <p:cNvSpPr txBox="1"/>
          <p:nvPr/>
        </p:nvSpPr>
        <p:spPr>
          <a:xfrm>
            <a:off x="548640" y="1463040"/>
            <a:ext cx="6035040" cy="320040"/>
          </a:xfrm>
          <a:prstGeom prst="rect">
            <a:avLst/>
          </a:prstGeom>
          <a:noFill/>
          <a:ln/>
        </p:spPr>
        <p:txBody>
          <a:bodyPr wrap="square" lIns="0" tIns="0" rIns="0" bIns="0" rtlCol="0" anchor="t"/>
          <a:lstStyle/>
          <a:p>
            <a:pPr algn="l" indent="0" marL="0">
              <a:buNone/>
            </a:pPr>
            <a:r>
              <a:rPr lang="en-US" sz="1400" b="1" dirty="0">
                <a:solidFill>
                  <a:srgbClr val="C8102E"/>
                </a:solidFill>
              </a:rPr>
              <a:t>OSTA: organ-system-aware temporal attention (this project)</a:t>
            </a:r>
            <a:endParaRPr lang="en-US" sz="1400" dirty="0"/>
          </a:p>
        </p:txBody>
      </p:sp>
      <p:sp>
        <p:nvSpPr>
          <p:cNvPr id="5" name="box"/>
          <p:cNvSpPr/>
          <p:nvPr/>
        </p:nvSpPr>
        <p:spPr>
          <a:xfrm>
            <a:off x="548640" y="1874520"/>
            <a:ext cx="2103120" cy="365760"/>
          </a:xfrm>
          <a:prstGeom prst="rect">
            <a:avLst/>
          </a:prstGeom>
          <a:solidFill>
            <a:srgbClr val="F2F2F2"/>
          </a:solidFill>
          <a:ln w="12700">
            <a:solidFill>
              <a:srgbClr val="F2F2F2"/>
            </a:solidFill>
            <a:prstDash val="solid"/>
          </a:ln>
        </p:spPr>
      </p:sp>
      <p:sp>
        <p:nvSpPr>
          <p:cNvPr id="6" name="text"/>
          <p:cNvSpPr txBox="1"/>
          <p:nvPr/>
        </p:nvSpPr>
        <p:spPr>
          <a:xfrm>
            <a:off x="621792" y="1874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Respiratory</a:t>
            </a:r>
            <a:endParaRPr lang="en-US" sz="1200" dirty="0"/>
          </a:p>
        </p:txBody>
      </p:sp>
      <p:sp>
        <p:nvSpPr>
          <p:cNvPr id="7" name="arrow"/>
          <p:cNvSpPr/>
          <p:nvPr/>
        </p:nvSpPr>
        <p:spPr>
          <a:xfrm>
            <a:off x="2651760" y="2057400"/>
            <a:ext cx="274320" cy="914"/>
          </a:xfrm>
          <a:prstGeom prst="line">
            <a:avLst/>
          </a:prstGeom>
          <a:noFill/>
          <a:ln w="12700">
            <a:solidFill>
              <a:srgbClr val="1B1B1B"/>
            </a:solidFill>
            <a:prstDash val="solid"/>
            <a:tailEnd type="triangle"/>
          </a:ln>
        </p:spPr>
      </p:sp>
      <p:sp>
        <p:nvSpPr>
          <p:cNvPr id="8" name="box"/>
          <p:cNvSpPr/>
          <p:nvPr/>
        </p:nvSpPr>
        <p:spPr>
          <a:xfrm>
            <a:off x="2926080" y="1874520"/>
            <a:ext cx="1234440" cy="365760"/>
          </a:xfrm>
          <a:prstGeom prst="rect">
            <a:avLst/>
          </a:prstGeom>
          <a:solidFill>
            <a:srgbClr val="FFFFFF"/>
          </a:solidFill>
          <a:ln w="12700">
            <a:solidFill>
              <a:srgbClr val="C8102E"/>
            </a:solidFill>
            <a:prstDash val="solid"/>
          </a:ln>
        </p:spPr>
      </p:sp>
      <p:sp>
        <p:nvSpPr>
          <p:cNvPr id="9" name="text"/>
          <p:cNvSpPr txBox="1"/>
          <p:nvPr/>
        </p:nvSpPr>
        <p:spPr>
          <a:xfrm>
            <a:off x="2944368" y="1874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0" name="box"/>
          <p:cNvSpPr/>
          <p:nvPr/>
        </p:nvSpPr>
        <p:spPr>
          <a:xfrm>
            <a:off x="548640" y="2331720"/>
            <a:ext cx="2103120" cy="365760"/>
          </a:xfrm>
          <a:prstGeom prst="rect">
            <a:avLst/>
          </a:prstGeom>
          <a:solidFill>
            <a:srgbClr val="F2F2F2"/>
          </a:solidFill>
          <a:ln w="12700">
            <a:solidFill>
              <a:srgbClr val="F2F2F2"/>
            </a:solidFill>
            <a:prstDash val="solid"/>
          </a:ln>
        </p:spPr>
      </p:sp>
      <p:sp>
        <p:nvSpPr>
          <p:cNvPr id="11" name="text"/>
          <p:cNvSpPr txBox="1"/>
          <p:nvPr/>
        </p:nvSpPr>
        <p:spPr>
          <a:xfrm>
            <a:off x="621792" y="2331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Circulation</a:t>
            </a:r>
            <a:endParaRPr lang="en-US" sz="1200" dirty="0"/>
          </a:p>
        </p:txBody>
      </p:sp>
      <p:sp>
        <p:nvSpPr>
          <p:cNvPr id="12" name="arrow"/>
          <p:cNvSpPr/>
          <p:nvPr/>
        </p:nvSpPr>
        <p:spPr>
          <a:xfrm>
            <a:off x="2651760" y="2514600"/>
            <a:ext cx="274320" cy="914"/>
          </a:xfrm>
          <a:prstGeom prst="line">
            <a:avLst/>
          </a:prstGeom>
          <a:noFill/>
          <a:ln w="12700">
            <a:solidFill>
              <a:srgbClr val="1B1B1B"/>
            </a:solidFill>
            <a:prstDash val="solid"/>
            <a:tailEnd type="triangle"/>
          </a:ln>
        </p:spPr>
      </p:sp>
      <p:sp>
        <p:nvSpPr>
          <p:cNvPr id="13" name="box"/>
          <p:cNvSpPr/>
          <p:nvPr/>
        </p:nvSpPr>
        <p:spPr>
          <a:xfrm>
            <a:off x="2926080" y="2331720"/>
            <a:ext cx="1234440" cy="365760"/>
          </a:xfrm>
          <a:prstGeom prst="rect">
            <a:avLst/>
          </a:prstGeom>
          <a:solidFill>
            <a:srgbClr val="FFFFFF"/>
          </a:solidFill>
          <a:ln w="12700">
            <a:solidFill>
              <a:srgbClr val="C8102E"/>
            </a:solidFill>
            <a:prstDash val="solid"/>
          </a:ln>
        </p:spPr>
      </p:sp>
      <p:sp>
        <p:nvSpPr>
          <p:cNvPr id="14" name="text"/>
          <p:cNvSpPr txBox="1"/>
          <p:nvPr/>
        </p:nvSpPr>
        <p:spPr>
          <a:xfrm>
            <a:off x="2944368" y="2331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5" name="box"/>
          <p:cNvSpPr/>
          <p:nvPr/>
        </p:nvSpPr>
        <p:spPr>
          <a:xfrm>
            <a:off x="548640" y="2788920"/>
            <a:ext cx="2103120" cy="365760"/>
          </a:xfrm>
          <a:prstGeom prst="rect">
            <a:avLst/>
          </a:prstGeom>
          <a:solidFill>
            <a:srgbClr val="F2F2F2"/>
          </a:solidFill>
          <a:ln w="12700">
            <a:solidFill>
              <a:srgbClr val="F2F2F2"/>
            </a:solidFill>
            <a:prstDash val="solid"/>
          </a:ln>
        </p:spPr>
      </p:sp>
      <p:sp>
        <p:nvSpPr>
          <p:cNvPr id="16" name="text"/>
          <p:cNvSpPr txBox="1"/>
          <p:nvPr/>
        </p:nvSpPr>
        <p:spPr>
          <a:xfrm>
            <a:off x="621792" y="27889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Kidney</a:t>
            </a:r>
            <a:endParaRPr lang="en-US" sz="1200" dirty="0"/>
          </a:p>
        </p:txBody>
      </p:sp>
      <p:sp>
        <p:nvSpPr>
          <p:cNvPr id="17" name="arrow"/>
          <p:cNvSpPr/>
          <p:nvPr/>
        </p:nvSpPr>
        <p:spPr>
          <a:xfrm>
            <a:off x="2651760" y="2971800"/>
            <a:ext cx="274320" cy="914"/>
          </a:xfrm>
          <a:prstGeom prst="line">
            <a:avLst/>
          </a:prstGeom>
          <a:noFill/>
          <a:ln w="12700">
            <a:solidFill>
              <a:srgbClr val="1B1B1B"/>
            </a:solidFill>
            <a:prstDash val="solid"/>
            <a:tailEnd type="triangle"/>
          </a:ln>
        </p:spPr>
      </p:sp>
      <p:sp>
        <p:nvSpPr>
          <p:cNvPr id="18" name="box"/>
          <p:cNvSpPr/>
          <p:nvPr/>
        </p:nvSpPr>
        <p:spPr>
          <a:xfrm>
            <a:off x="2926080" y="2788920"/>
            <a:ext cx="1234440" cy="365760"/>
          </a:xfrm>
          <a:prstGeom prst="rect">
            <a:avLst/>
          </a:prstGeom>
          <a:solidFill>
            <a:srgbClr val="FFFFFF"/>
          </a:solidFill>
          <a:ln w="12700">
            <a:solidFill>
              <a:srgbClr val="C8102E"/>
            </a:solidFill>
            <a:prstDash val="solid"/>
          </a:ln>
        </p:spPr>
      </p:sp>
      <p:sp>
        <p:nvSpPr>
          <p:cNvPr id="19" name="text"/>
          <p:cNvSpPr txBox="1"/>
          <p:nvPr/>
        </p:nvSpPr>
        <p:spPr>
          <a:xfrm>
            <a:off x="2944368" y="27889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0" name="box"/>
          <p:cNvSpPr/>
          <p:nvPr/>
        </p:nvSpPr>
        <p:spPr>
          <a:xfrm>
            <a:off x="548640" y="3246120"/>
            <a:ext cx="2103120" cy="365760"/>
          </a:xfrm>
          <a:prstGeom prst="rect">
            <a:avLst/>
          </a:prstGeom>
          <a:solidFill>
            <a:srgbClr val="F2F2F2"/>
          </a:solidFill>
          <a:ln w="12700">
            <a:solidFill>
              <a:srgbClr val="F2F2F2"/>
            </a:solidFill>
            <a:prstDash val="solid"/>
          </a:ln>
        </p:spPr>
      </p:sp>
      <p:sp>
        <p:nvSpPr>
          <p:cNvPr id="21" name="text"/>
          <p:cNvSpPr txBox="1"/>
          <p:nvPr/>
        </p:nvSpPr>
        <p:spPr>
          <a:xfrm>
            <a:off x="621792" y="32461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Liver</a:t>
            </a:r>
            <a:endParaRPr lang="en-US" sz="1200" dirty="0"/>
          </a:p>
        </p:txBody>
      </p:sp>
      <p:sp>
        <p:nvSpPr>
          <p:cNvPr id="22" name="arrow"/>
          <p:cNvSpPr/>
          <p:nvPr/>
        </p:nvSpPr>
        <p:spPr>
          <a:xfrm>
            <a:off x="2651760" y="3429000"/>
            <a:ext cx="274320" cy="914"/>
          </a:xfrm>
          <a:prstGeom prst="line">
            <a:avLst/>
          </a:prstGeom>
          <a:noFill/>
          <a:ln w="12700">
            <a:solidFill>
              <a:srgbClr val="1B1B1B"/>
            </a:solidFill>
            <a:prstDash val="solid"/>
            <a:tailEnd type="triangle"/>
          </a:ln>
        </p:spPr>
      </p:sp>
      <p:sp>
        <p:nvSpPr>
          <p:cNvPr id="23" name="box"/>
          <p:cNvSpPr/>
          <p:nvPr/>
        </p:nvSpPr>
        <p:spPr>
          <a:xfrm>
            <a:off x="2926080" y="3246120"/>
            <a:ext cx="1234440" cy="365760"/>
          </a:xfrm>
          <a:prstGeom prst="rect">
            <a:avLst/>
          </a:prstGeom>
          <a:solidFill>
            <a:srgbClr val="FFFFFF"/>
          </a:solidFill>
          <a:ln w="12700">
            <a:solidFill>
              <a:srgbClr val="C8102E"/>
            </a:solidFill>
            <a:prstDash val="solid"/>
          </a:ln>
        </p:spPr>
      </p:sp>
      <p:sp>
        <p:nvSpPr>
          <p:cNvPr id="24" name="text"/>
          <p:cNvSpPr txBox="1"/>
          <p:nvPr/>
        </p:nvSpPr>
        <p:spPr>
          <a:xfrm>
            <a:off x="2944368" y="32461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5" name="box"/>
          <p:cNvSpPr/>
          <p:nvPr/>
        </p:nvSpPr>
        <p:spPr>
          <a:xfrm>
            <a:off x="548640" y="3703320"/>
            <a:ext cx="2103120" cy="365760"/>
          </a:xfrm>
          <a:prstGeom prst="rect">
            <a:avLst/>
          </a:prstGeom>
          <a:solidFill>
            <a:srgbClr val="F2F2F2"/>
          </a:solidFill>
          <a:ln w="12700">
            <a:solidFill>
              <a:srgbClr val="F2F2F2"/>
            </a:solidFill>
            <a:prstDash val="solid"/>
          </a:ln>
        </p:spPr>
      </p:sp>
      <p:sp>
        <p:nvSpPr>
          <p:cNvPr id="26" name="text"/>
          <p:cNvSpPr txBox="1"/>
          <p:nvPr/>
        </p:nvSpPr>
        <p:spPr>
          <a:xfrm>
            <a:off x="621792" y="37033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Clotting</a:t>
            </a:r>
            <a:endParaRPr lang="en-US" sz="1200" dirty="0"/>
          </a:p>
        </p:txBody>
      </p:sp>
      <p:sp>
        <p:nvSpPr>
          <p:cNvPr id="27" name="arrow"/>
          <p:cNvSpPr/>
          <p:nvPr/>
        </p:nvSpPr>
        <p:spPr>
          <a:xfrm>
            <a:off x="2651760" y="3886200"/>
            <a:ext cx="274320" cy="914"/>
          </a:xfrm>
          <a:prstGeom prst="line">
            <a:avLst/>
          </a:prstGeom>
          <a:noFill/>
          <a:ln w="12700">
            <a:solidFill>
              <a:srgbClr val="1B1B1B"/>
            </a:solidFill>
            <a:prstDash val="solid"/>
            <a:tailEnd type="triangle"/>
          </a:ln>
        </p:spPr>
      </p:sp>
      <p:sp>
        <p:nvSpPr>
          <p:cNvPr id="28" name="box"/>
          <p:cNvSpPr/>
          <p:nvPr/>
        </p:nvSpPr>
        <p:spPr>
          <a:xfrm>
            <a:off x="2926080" y="3703320"/>
            <a:ext cx="1234440" cy="365760"/>
          </a:xfrm>
          <a:prstGeom prst="rect">
            <a:avLst/>
          </a:prstGeom>
          <a:solidFill>
            <a:srgbClr val="FFFFFF"/>
          </a:solidFill>
          <a:ln w="12700">
            <a:solidFill>
              <a:srgbClr val="C8102E"/>
            </a:solidFill>
            <a:prstDash val="solid"/>
          </a:ln>
        </p:spPr>
      </p:sp>
      <p:sp>
        <p:nvSpPr>
          <p:cNvPr id="29" name="text"/>
          <p:cNvSpPr txBox="1"/>
          <p:nvPr/>
        </p:nvSpPr>
        <p:spPr>
          <a:xfrm>
            <a:off x="2944368" y="37033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0" name="box"/>
          <p:cNvSpPr/>
          <p:nvPr/>
        </p:nvSpPr>
        <p:spPr>
          <a:xfrm>
            <a:off x="548640" y="4160520"/>
            <a:ext cx="2103120" cy="365760"/>
          </a:xfrm>
          <a:prstGeom prst="rect">
            <a:avLst/>
          </a:prstGeom>
          <a:solidFill>
            <a:srgbClr val="F2F2F2"/>
          </a:solidFill>
          <a:ln w="12700">
            <a:solidFill>
              <a:srgbClr val="F2F2F2"/>
            </a:solidFill>
            <a:prstDash val="solid"/>
          </a:ln>
        </p:spPr>
      </p:sp>
      <p:sp>
        <p:nvSpPr>
          <p:cNvPr id="31" name="text"/>
          <p:cNvSpPr txBox="1"/>
          <p:nvPr/>
        </p:nvSpPr>
        <p:spPr>
          <a:xfrm>
            <a:off x="621792" y="4160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Brain</a:t>
            </a:r>
            <a:endParaRPr lang="en-US" sz="1200" dirty="0"/>
          </a:p>
        </p:txBody>
      </p:sp>
      <p:sp>
        <p:nvSpPr>
          <p:cNvPr id="32" name="arrow"/>
          <p:cNvSpPr/>
          <p:nvPr/>
        </p:nvSpPr>
        <p:spPr>
          <a:xfrm>
            <a:off x="2651760" y="4343400"/>
            <a:ext cx="274320" cy="914"/>
          </a:xfrm>
          <a:prstGeom prst="line">
            <a:avLst/>
          </a:prstGeom>
          <a:noFill/>
          <a:ln w="12700">
            <a:solidFill>
              <a:srgbClr val="1B1B1B"/>
            </a:solidFill>
            <a:prstDash val="solid"/>
            <a:tailEnd type="triangle"/>
          </a:ln>
        </p:spPr>
      </p:sp>
      <p:sp>
        <p:nvSpPr>
          <p:cNvPr id="33" name="box"/>
          <p:cNvSpPr/>
          <p:nvPr/>
        </p:nvSpPr>
        <p:spPr>
          <a:xfrm>
            <a:off x="2926080" y="4160520"/>
            <a:ext cx="1234440" cy="365760"/>
          </a:xfrm>
          <a:prstGeom prst="rect">
            <a:avLst/>
          </a:prstGeom>
          <a:solidFill>
            <a:srgbClr val="FFFFFF"/>
          </a:solidFill>
          <a:ln w="12700">
            <a:solidFill>
              <a:srgbClr val="C8102E"/>
            </a:solidFill>
            <a:prstDash val="solid"/>
          </a:ln>
        </p:spPr>
      </p:sp>
      <p:sp>
        <p:nvSpPr>
          <p:cNvPr id="34" name="text"/>
          <p:cNvSpPr txBox="1"/>
          <p:nvPr/>
        </p:nvSpPr>
        <p:spPr>
          <a:xfrm>
            <a:off x="2944368" y="4160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5" name="box"/>
          <p:cNvSpPr/>
          <p:nvPr/>
        </p:nvSpPr>
        <p:spPr>
          <a:xfrm>
            <a:off x="548640" y="4617720"/>
            <a:ext cx="2103120" cy="365760"/>
          </a:xfrm>
          <a:prstGeom prst="rect">
            <a:avLst/>
          </a:prstGeom>
          <a:solidFill>
            <a:srgbClr val="F2F2F2"/>
          </a:solidFill>
          <a:ln w="12700">
            <a:solidFill>
              <a:srgbClr val="F2F2F2"/>
            </a:solidFill>
            <a:prstDash val="solid"/>
          </a:ln>
        </p:spPr>
      </p:sp>
      <p:sp>
        <p:nvSpPr>
          <p:cNvPr id="36" name="text"/>
          <p:cNvSpPr txBox="1"/>
          <p:nvPr/>
        </p:nvSpPr>
        <p:spPr>
          <a:xfrm>
            <a:off x="621792" y="4617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Infection, treatment, context</a:t>
            </a:r>
            <a:endParaRPr lang="en-US" sz="1200" dirty="0"/>
          </a:p>
        </p:txBody>
      </p:sp>
      <p:sp>
        <p:nvSpPr>
          <p:cNvPr id="37" name="arrow"/>
          <p:cNvSpPr/>
          <p:nvPr/>
        </p:nvSpPr>
        <p:spPr>
          <a:xfrm>
            <a:off x="2651760" y="4800600"/>
            <a:ext cx="274320" cy="914"/>
          </a:xfrm>
          <a:prstGeom prst="line">
            <a:avLst/>
          </a:prstGeom>
          <a:noFill/>
          <a:ln w="12700">
            <a:solidFill>
              <a:srgbClr val="1B1B1B"/>
            </a:solidFill>
            <a:prstDash val="solid"/>
            <a:tailEnd type="triangle"/>
          </a:ln>
        </p:spPr>
      </p:sp>
      <p:sp>
        <p:nvSpPr>
          <p:cNvPr id="38" name="box"/>
          <p:cNvSpPr/>
          <p:nvPr/>
        </p:nvSpPr>
        <p:spPr>
          <a:xfrm>
            <a:off x="2926080" y="4617720"/>
            <a:ext cx="1234440" cy="365760"/>
          </a:xfrm>
          <a:prstGeom prst="rect">
            <a:avLst/>
          </a:prstGeom>
          <a:solidFill>
            <a:srgbClr val="FFFFFF"/>
          </a:solidFill>
          <a:ln w="12700">
            <a:solidFill>
              <a:srgbClr val="C8102E"/>
            </a:solidFill>
            <a:prstDash val="solid"/>
          </a:ln>
        </p:spPr>
      </p:sp>
      <p:sp>
        <p:nvSpPr>
          <p:cNvPr id="39" name="text"/>
          <p:cNvSpPr txBox="1"/>
          <p:nvPr/>
        </p:nvSpPr>
        <p:spPr>
          <a:xfrm>
            <a:off x="2944368" y="4617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40" name="arrow"/>
          <p:cNvSpPr/>
          <p:nvPr/>
        </p:nvSpPr>
        <p:spPr>
          <a:xfrm>
            <a:off x="4160520" y="3429000"/>
            <a:ext cx="274320" cy="914"/>
          </a:xfrm>
          <a:prstGeom prst="line">
            <a:avLst/>
          </a:prstGeom>
          <a:noFill/>
          <a:ln w="19050">
            <a:solidFill>
              <a:srgbClr val="1B1B1B"/>
            </a:solidFill>
            <a:prstDash val="solid"/>
            <a:tailEnd type="triangle"/>
          </a:ln>
        </p:spPr>
      </p:sp>
      <p:sp>
        <p:nvSpPr>
          <p:cNvPr id="41" name="box"/>
          <p:cNvSpPr/>
          <p:nvPr/>
        </p:nvSpPr>
        <p:spPr>
          <a:xfrm>
            <a:off x="4434840" y="2697480"/>
            <a:ext cx="1005840" cy="1463040"/>
          </a:xfrm>
          <a:prstGeom prst="rect">
            <a:avLst/>
          </a:prstGeom>
          <a:solidFill>
            <a:srgbClr val="C8102E"/>
          </a:solidFill>
          <a:ln w="12700">
            <a:solidFill>
              <a:srgbClr val="C8102E"/>
            </a:solidFill>
            <a:prstDash val="solid"/>
          </a:ln>
        </p:spPr>
      </p:sp>
      <p:sp>
        <p:nvSpPr>
          <p:cNvPr id="42" name="text"/>
          <p:cNvSpPr txBox="1"/>
          <p:nvPr/>
        </p:nvSpPr>
        <p:spPr>
          <a:xfrm>
            <a:off x="4462272" y="2697480"/>
            <a:ext cx="950976" cy="1463040"/>
          </a:xfrm>
          <a:prstGeom prst="rect">
            <a:avLst/>
          </a:prstGeom>
          <a:noFill/>
          <a:ln/>
        </p:spPr>
        <p:txBody>
          <a:bodyPr wrap="square" lIns="0" tIns="0" rIns="0" bIns="0" rtlCol="0" anchor="ctr"/>
          <a:lstStyle/>
          <a:p>
            <a:pPr algn="ctr" indent="0" marL="0">
              <a:buNone/>
            </a:pPr>
            <a:r>
              <a:rPr lang="en-US" sz="1200" b="1" dirty="0">
                <a:solidFill>
                  <a:srgbClr val="FFFFFF"/>
                </a:solidFill>
              </a:rPr>
              <a:t>cross-organ attention</a:t>
            </a:r>
            <a:endParaRPr lang="en-US" sz="1200" dirty="0"/>
          </a:p>
        </p:txBody>
      </p:sp>
      <p:sp>
        <p:nvSpPr>
          <p:cNvPr id="43" name="arrow"/>
          <p:cNvSpPr/>
          <p:nvPr/>
        </p:nvSpPr>
        <p:spPr>
          <a:xfrm>
            <a:off x="5440680" y="3429000"/>
            <a:ext cx="274320" cy="914"/>
          </a:xfrm>
          <a:prstGeom prst="line">
            <a:avLst/>
          </a:prstGeom>
          <a:noFill/>
          <a:ln w="19050">
            <a:solidFill>
              <a:srgbClr val="1B1B1B"/>
            </a:solidFill>
            <a:prstDash val="solid"/>
            <a:tailEnd type="triangle"/>
          </a:ln>
        </p:spPr>
      </p:sp>
      <p:sp>
        <p:nvSpPr>
          <p:cNvPr id="44" name="box"/>
          <p:cNvSpPr/>
          <p:nvPr/>
        </p:nvSpPr>
        <p:spPr>
          <a:xfrm>
            <a:off x="5715000" y="2697480"/>
            <a:ext cx="960120" cy="1463040"/>
          </a:xfrm>
          <a:prstGeom prst="rect">
            <a:avLst/>
          </a:prstGeom>
          <a:solidFill>
            <a:srgbClr val="1B1B1B"/>
          </a:solidFill>
          <a:ln w="12700">
            <a:solidFill>
              <a:srgbClr val="1B1B1B"/>
            </a:solidFill>
            <a:prstDash val="solid"/>
          </a:ln>
        </p:spPr>
      </p:sp>
      <p:sp>
        <p:nvSpPr>
          <p:cNvPr id="45" name="text"/>
          <p:cNvSpPr txBox="1"/>
          <p:nvPr/>
        </p:nvSpPr>
        <p:spPr>
          <a:xfrm>
            <a:off x="5742432" y="2697480"/>
            <a:ext cx="905256" cy="1463040"/>
          </a:xfrm>
          <a:prstGeom prst="rect">
            <a:avLst/>
          </a:prstGeom>
          <a:noFill/>
          <a:ln/>
        </p:spPr>
        <p:txBody>
          <a:bodyPr wrap="square" lIns="0" tIns="0" rIns="0" bIns="0" rtlCol="0" anchor="ctr"/>
          <a:lstStyle/>
          <a:p>
            <a:pPr algn="ctr" indent="0" marL="0">
              <a:buNone/>
            </a:pPr>
            <a:r>
              <a:rPr lang="en-US" sz="1200" b="1" dirty="0">
                <a:solidFill>
                  <a:srgbClr val="FFFFFF"/>
                </a:solidFill>
              </a:rPr>
              <a:t>sepsis risk + risk per organ</a:t>
            </a:r>
            <a:endParaRPr lang="en-US" sz="1200" dirty="0"/>
          </a:p>
        </p:txBody>
      </p:sp>
      <p:sp>
        <p:nvSpPr>
          <p:cNvPr id="46" name="text"/>
          <p:cNvSpPr txBox="1"/>
          <p:nvPr/>
        </p:nvSpPr>
        <p:spPr>
          <a:xfrm>
            <a:off x="548640" y="5120640"/>
            <a:ext cx="6035040" cy="685800"/>
          </a:xfrm>
          <a:prstGeom prst="rect">
            <a:avLst/>
          </a:prstGeom>
          <a:noFill/>
          <a:ln/>
        </p:spPr>
        <p:txBody>
          <a:bodyPr wrap="square" lIns="0" tIns="0" rIns="0" bIns="0" rtlCol="0" anchor="t"/>
          <a:lstStyle/>
          <a:p>
            <a:pPr algn="l" indent="0" marL="0">
              <a:buNone/>
            </a:pPr>
            <a:r>
              <a:rPr lang="en-US" sz="1250" dirty="0">
                <a:solidFill>
                  <a:srgbClr val="5E5E5E"/>
                </a:solidFill>
              </a:rPr>
              <a:t>Mirrors how an ICU team reasons: each organ, then how organs affect each other. Built on transformer attention [36].</a:t>
            </a:r>
            <a:endParaRPr lang="en-US" sz="1250" dirty="0"/>
          </a:p>
        </p:txBody>
      </p:sp>
      <p:sp>
        <p:nvSpPr>
          <p:cNvPr id="47" name="text"/>
          <p:cNvSpPr txBox="1"/>
          <p:nvPr/>
        </p:nvSpPr>
        <p:spPr>
          <a:xfrm>
            <a:off x="7132320" y="1463040"/>
            <a:ext cx="4510735" cy="320040"/>
          </a:xfrm>
          <a:prstGeom prst="rect">
            <a:avLst/>
          </a:prstGeom>
          <a:noFill/>
          <a:ln/>
        </p:spPr>
        <p:txBody>
          <a:bodyPr wrap="square" lIns="0" tIns="0" rIns="0" bIns="0" rtlCol="0" anchor="t"/>
          <a:lstStyle/>
          <a:p>
            <a:pPr algn="l" indent="0" marL="0">
              <a:buNone/>
            </a:pPr>
            <a:r>
              <a:rPr lang="en-US" sz="1400" b="1" dirty="0">
                <a:solidFill>
                  <a:srgbClr val="1B1B1B"/>
                </a:solidFill>
              </a:rPr>
              <a:t>Compared on identical hours, rules fixed in advance</a:t>
            </a:r>
            <a:endParaRPr lang="en-US" sz="1400" dirty="0"/>
          </a:p>
        </p:txBody>
      </p:sp>
      <p:sp>
        <p:nvSpPr>
          <p:cNvPr id="48" name="marker"/>
          <p:cNvSpPr/>
          <p:nvPr/>
        </p:nvSpPr>
        <p:spPr>
          <a:xfrm>
            <a:off x="7132320" y="1947672"/>
            <a:ext cx="128016" cy="128016"/>
          </a:xfrm>
          <a:prstGeom prst="rect">
            <a:avLst/>
          </a:prstGeom>
          <a:solidFill>
            <a:srgbClr val="C8102E"/>
          </a:solidFill>
          <a:ln w="12700">
            <a:solidFill>
              <a:srgbClr val="C8102E"/>
            </a:solidFill>
            <a:prstDash val="solid"/>
          </a:ln>
        </p:spPr>
      </p:sp>
      <p:sp>
        <p:nvSpPr>
          <p:cNvPr id="49" name="text"/>
          <p:cNvSpPr txBox="1"/>
          <p:nvPr/>
        </p:nvSpPr>
        <p:spPr>
          <a:xfrm>
            <a:off x="7406640" y="187452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OSTA without organ grouping</a:t>
            </a:r>
            <a:endParaRPr lang="en-US" sz="1350" dirty="0"/>
          </a:p>
        </p:txBody>
      </p:sp>
      <p:sp>
        <p:nvSpPr>
          <p:cNvPr id="50" name="text"/>
          <p:cNvSpPr txBox="1"/>
          <p:nvPr/>
        </p:nvSpPr>
        <p:spPr>
          <a:xfrm>
            <a:off x="7406640" y="214884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ablation that decides whether organ structure stays</a:t>
            </a:r>
            <a:endParaRPr lang="en-US" sz="1200" dirty="0"/>
          </a:p>
        </p:txBody>
      </p:sp>
      <p:sp>
        <p:nvSpPr>
          <p:cNvPr id="51" name="marker"/>
          <p:cNvSpPr/>
          <p:nvPr/>
        </p:nvSpPr>
        <p:spPr>
          <a:xfrm>
            <a:off x="7132320" y="2551176"/>
            <a:ext cx="128016" cy="128016"/>
          </a:xfrm>
          <a:prstGeom prst="rect">
            <a:avLst/>
          </a:prstGeom>
          <a:solidFill>
            <a:srgbClr val="C8102E"/>
          </a:solidFill>
          <a:ln w="12700">
            <a:solidFill>
              <a:srgbClr val="C8102E"/>
            </a:solidFill>
            <a:prstDash val="solid"/>
          </a:ln>
        </p:spPr>
      </p:sp>
      <p:sp>
        <p:nvSpPr>
          <p:cNvPr id="52" name="text"/>
          <p:cNvSpPr txBox="1"/>
          <p:nvPr/>
        </p:nvSpPr>
        <p:spPr>
          <a:xfrm>
            <a:off x="7406640" y="2478024"/>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CNN-Transformer (earlier work)</a:t>
            </a:r>
            <a:endParaRPr lang="en-US" sz="1350" dirty="0"/>
          </a:p>
        </p:txBody>
      </p:sp>
      <p:sp>
        <p:nvSpPr>
          <p:cNvPr id="53" name="text"/>
          <p:cNvSpPr txBox="1"/>
          <p:nvPr/>
        </p:nvSpPr>
        <p:spPr>
          <a:xfrm>
            <a:off x="7406640" y="2752344"/>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local patterns over 1 to 12 h, then attention</a:t>
            </a:r>
            <a:endParaRPr lang="en-US" sz="1200" dirty="0"/>
          </a:p>
        </p:txBody>
      </p:sp>
      <p:sp>
        <p:nvSpPr>
          <p:cNvPr id="54" name="marker"/>
          <p:cNvSpPr/>
          <p:nvPr/>
        </p:nvSpPr>
        <p:spPr>
          <a:xfrm>
            <a:off x="7132320" y="3154680"/>
            <a:ext cx="128016" cy="128016"/>
          </a:xfrm>
          <a:prstGeom prst="rect">
            <a:avLst/>
          </a:prstGeom>
          <a:solidFill>
            <a:srgbClr val="C8102E"/>
          </a:solidFill>
          <a:ln w="12700">
            <a:solidFill>
              <a:srgbClr val="C8102E"/>
            </a:solidFill>
            <a:prstDash val="solid"/>
          </a:ln>
        </p:spPr>
      </p:sp>
      <p:sp>
        <p:nvSpPr>
          <p:cNvPr id="55" name="text"/>
          <p:cNvSpPr txBox="1"/>
          <p:nvPr/>
        </p:nvSpPr>
        <p:spPr>
          <a:xfrm>
            <a:off x="7406640" y="3081528"/>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GRU-D, temporal CNN</a:t>
            </a:r>
            <a:endParaRPr lang="en-US" sz="1350" dirty="0"/>
          </a:p>
        </p:txBody>
      </p:sp>
      <p:sp>
        <p:nvSpPr>
          <p:cNvPr id="56" name="text"/>
          <p:cNvSpPr txBox="1"/>
          <p:nvPr/>
        </p:nvSpPr>
        <p:spPr>
          <a:xfrm>
            <a:off x="7406640" y="3355848"/>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models built for irregular ICU data [37, 38]</a:t>
            </a:r>
            <a:endParaRPr lang="en-US" sz="1200" dirty="0"/>
          </a:p>
        </p:txBody>
      </p:sp>
      <p:sp>
        <p:nvSpPr>
          <p:cNvPr id="57" name="marker"/>
          <p:cNvSpPr/>
          <p:nvPr/>
        </p:nvSpPr>
        <p:spPr>
          <a:xfrm>
            <a:off x="7132320" y="3758184"/>
            <a:ext cx="128016" cy="128016"/>
          </a:xfrm>
          <a:prstGeom prst="rect">
            <a:avLst/>
          </a:prstGeom>
          <a:solidFill>
            <a:srgbClr val="C8102E"/>
          </a:solidFill>
          <a:ln w="12700">
            <a:solidFill>
              <a:srgbClr val="C8102E"/>
            </a:solidFill>
            <a:prstDash val="solid"/>
          </a:ln>
        </p:spPr>
      </p:sp>
      <p:sp>
        <p:nvSpPr>
          <p:cNvPr id="58" name="text"/>
          <p:cNvSpPr txBox="1"/>
          <p:nvPr/>
        </p:nvSpPr>
        <p:spPr>
          <a:xfrm>
            <a:off x="7406640" y="3685032"/>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Signatures + boosted trees</a:t>
            </a:r>
            <a:endParaRPr lang="en-US" sz="1350" dirty="0"/>
          </a:p>
        </p:txBody>
      </p:sp>
      <p:sp>
        <p:nvSpPr>
          <p:cNvPr id="59" name="text"/>
          <p:cNvSpPr txBox="1"/>
          <p:nvPr/>
        </p:nvSpPr>
        <p:spPr>
          <a:xfrm>
            <a:off x="7406640" y="3959352"/>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PhysioNet 2019 winner's method [21]</a:t>
            </a:r>
            <a:endParaRPr lang="en-US" sz="1200" dirty="0"/>
          </a:p>
        </p:txBody>
      </p:sp>
      <p:sp>
        <p:nvSpPr>
          <p:cNvPr id="60" name="marker"/>
          <p:cNvSpPr/>
          <p:nvPr/>
        </p:nvSpPr>
        <p:spPr>
          <a:xfrm>
            <a:off x="7132320" y="4361688"/>
            <a:ext cx="128016" cy="128016"/>
          </a:xfrm>
          <a:prstGeom prst="rect">
            <a:avLst/>
          </a:prstGeom>
          <a:solidFill>
            <a:srgbClr val="C8102E"/>
          </a:solidFill>
          <a:ln w="12700">
            <a:solidFill>
              <a:srgbClr val="C8102E"/>
            </a:solidFill>
            <a:prstDash val="solid"/>
          </a:ln>
        </p:spPr>
      </p:sp>
      <p:sp>
        <p:nvSpPr>
          <p:cNvPr id="61" name="text"/>
          <p:cNvSpPr txBox="1"/>
          <p:nvPr/>
        </p:nvSpPr>
        <p:spPr>
          <a:xfrm>
            <a:off x="7406640" y="4288536"/>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Self-supervised pretraining</a:t>
            </a:r>
            <a:endParaRPr lang="en-US" sz="1350" dirty="0"/>
          </a:p>
        </p:txBody>
      </p:sp>
      <p:sp>
        <p:nvSpPr>
          <p:cNvPr id="62" name="text"/>
          <p:cNvSpPr txBox="1"/>
          <p:nvPr/>
        </p:nvSpPr>
        <p:spPr>
          <a:xfrm>
            <a:off x="7406640" y="4562856"/>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learn from unlabelled stays first [39]</a:t>
            </a:r>
            <a:endParaRPr lang="en-US" sz="1200" dirty="0"/>
          </a:p>
        </p:txBody>
      </p:sp>
      <p:sp>
        <p:nvSpPr>
          <p:cNvPr id="63" name="marker"/>
          <p:cNvSpPr/>
          <p:nvPr/>
        </p:nvSpPr>
        <p:spPr>
          <a:xfrm>
            <a:off x="7132320" y="4965192"/>
            <a:ext cx="128016" cy="128016"/>
          </a:xfrm>
          <a:prstGeom prst="rect">
            <a:avLst/>
          </a:prstGeom>
          <a:solidFill>
            <a:srgbClr val="C8102E"/>
          </a:solidFill>
          <a:ln w="12700">
            <a:solidFill>
              <a:srgbClr val="C8102E"/>
            </a:solidFill>
            <a:prstDash val="solid"/>
          </a:ln>
        </p:spPr>
      </p:sp>
      <p:sp>
        <p:nvSpPr>
          <p:cNvPr id="64" name="text"/>
          <p:cNvSpPr txBox="1"/>
          <p:nvPr/>
        </p:nvSpPr>
        <p:spPr>
          <a:xfrm>
            <a:off x="7406640" y="489204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Logistic regression, boosted trees</a:t>
            </a:r>
            <a:endParaRPr lang="en-US" sz="1350" dirty="0"/>
          </a:p>
        </p:txBody>
      </p:sp>
      <p:sp>
        <p:nvSpPr>
          <p:cNvPr id="65" name="text"/>
          <p:cNvSpPr txBox="1"/>
          <p:nvPr/>
        </p:nvSpPr>
        <p:spPr>
          <a:xfrm>
            <a:off x="7406640" y="516636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simple baselines</a:t>
            </a:r>
            <a:endParaRPr lang="en-US" sz="1200" dirty="0"/>
          </a:p>
        </p:txBody>
      </p:sp>
      <p:sp>
        <p:nvSpPr>
          <p:cNvPr id="66" name="text"/>
          <p:cNvSpPr txBox="1"/>
          <p:nvPr/>
        </p:nvSpPr>
        <p:spPr>
          <a:xfrm>
            <a:off x="7132320" y="5486400"/>
            <a:ext cx="4510735" cy="365760"/>
          </a:xfrm>
          <a:prstGeom prst="rect">
            <a:avLst/>
          </a:prstGeom>
          <a:noFill/>
          <a:ln/>
        </p:spPr>
        <p:txBody>
          <a:bodyPr wrap="square" lIns="0" tIns="0" rIns="0" bIns="0" rtlCol="0" anchor="t"/>
          <a:lstStyle/>
          <a:p>
            <a:pPr algn="l" indent="0" marL="0">
              <a:buNone/>
            </a:pPr>
            <a:r>
              <a:rPr lang="en-US" sz="1200" dirty="0">
                <a:solidFill>
                  <a:srgbClr val="5E5E5E"/>
                </a:solidFill>
              </a:rPr>
              <a:t>Training loss chosen by clinical utility, against plain and time-smoothed losses [40].</a:t>
            </a:r>
            <a:endParaRPr lang="en-US" sz="1200" dirty="0"/>
          </a:p>
        </p:txBody>
      </p:sp>
      <p:sp>
        <p:nvSpPr>
          <p:cNvPr id="6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[39] Yeche et al., ICML 2021   [40]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1: making two hospital systems speak the same language</a:t>
            </a:r>
            <a:endParaRPr lang="en-US" sz="2600" dirty="0"/>
          </a:p>
        </p:txBody>
      </p:sp>
      <p:sp>
        <p:nvSpPr>
          <p:cNvPr id="6"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400" b="1" dirty="0">
                <a:solidFill>
                  <a:srgbClr val="C8102E"/>
                </a:solidFill>
              </a:rPr>
              <a:t>Example: body temperature</a:t>
            </a:r>
            <a:endParaRPr lang="en-US" sz="1400" dirty="0"/>
          </a:p>
        </p:txBody>
      </p:sp>
      <p:sp>
        <p:nvSpPr>
          <p:cNvPr id="7" name="box"/>
          <p:cNvSpPr/>
          <p:nvPr/>
        </p:nvSpPr>
        <p:spPr>
          <a:xfrm>
            <a:off x="548640" y="1828800"/>
            <a:ext cx="3246120" cy="1600200"/>
          </a:xfrm>
          <a:prstGeom prst="rect">
            <a:avLst/>
          </a:prstGeom>
          <a:solidFill>
            <a:srgbClr val="FFFFFF"/>
          </a:solidFill>
          <a:ln w="12700">
            <a:solidFill>
              <a:srgbClr val="BDBDBD"/>
            </a:solidFill>
            <a:prstDash val="solid"/>
          </a:ln>
        </p:spPr>
      </p:sp>
      <p:sp>
        <p:nvSpPr>
          <p:cNvPr id="8" name="rich text"/>
          <p:cNvSpPr txBox="1"/>
          <p:nvPr/>
        </p:nvSpPr>
        <p:spPr>
          <a:xfrm>
            <a:off x="685800" y="190195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MIMIC-IV [30]</a:t>
            </a:r>
            <a:endParaRPr lang="en-US" sz="1350" dirty="0"/>
          </a:p>
          <a:p>
            <a:pPr indent="0" marL="0">
              <a:spcAft>
                <a:spcPts val="400"/>
              </a:spcAft>
              <a:buNone/>
            </a:pPr>
            <a:r>
              <a:rPr lang="en-US" sz="1200" dirty="0">
                <a:solidFill>
                  <a:srgbClr val="1B1B1B"/>
                </a:solidFill>
              </a:rPr>
              <a:t>item 223761: Temperature, Fahrenheit</a:t>
            </a:r>
            <a:endParaRPr lang="en-US" sz="1350" dirty="0"/>
          </a:p>
          <a:p>
            <a:pPr indent="0" marL="0">
              <a:spcAft>
                <a:spcPts val="400"/>
              </a:spcAft>
              <a:buNone/>
            </a:pPr>
            <a:r>
              <a:rPr lang="en-US" sz="1200" dirty="0">
                <a:solidFill>
                  <a:srgbClr val="1B1B1B"/>
                </a:solidFill>
              </a:rPr>
              <a:t>item 223762: Temperature, Celsius</a:t>
            </a:r>
            <a:endParaRPr lang="en-US" sz="1350" dirty="0"/>
          </a:p>
          <a:p>
            <a:pPr indent="0" marL="0">
              <a:spcAft>
                <a:spcPts val="400"/>
              </a:spcAft>
              <a:buNone/>
            </a:pPr>
            <a:r>
              <a:rPr lang="en-US" sz="1200" dirty="0">
                <a:solidFill>
                  <a:srgbClr val="5E5E5E"/>
                </a:solidFill>
              </a:rPr>
              <a:t>clock: date-shifted date and time</a:t>
            </a:r>
            <a:endParaRPr lang="en-US" sz="1350" dirty="0"/>
          </a:p>
        </p:txBody>
      </p:sp>
      <p:sp>
        <p:nvSpPr>
          <p:cNvPr id="9" name="box"/>
          <p:cNvSpPr/>
          <p:nvPr/>
        </p:nvSpPr>
        <p:spPr>
          <a:xfrm>
            <a:off x="548640" y="3611880"/>
            <a:ext cx="3246120" cy="1600200"/>
          </a:xfrm>
          <a:prstGeom prst="rect">
            <a:avLst/>
          </a:prstGeom>
          <a:solidFill>
            <a:srgbClr val="FFFFFF"/>
          </a:solidFill>
          <a:ln w="12700">
            <a:solidFill>
              <a:srgbClr val="BDBDBD"/>
            </a:solidFill>
            <a:prstDash val="solid"/>
          </a:ln>
        </p:spPr>
      </p:sp>
      <p:sp>
        <p:nvSpPr>
          <p:cNvPr id="10" name="rich text"/>
          <p:cNvSpPr txBox="1"/>
          <p:nvPr/>
        </p:nvSpPr>
        <p:spPr>
          <a:xfrm>
            <a:off x="685800" y="368503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eICU [31]</a:t>
            </a:r>
            <a:endParaRPr lang="en-US" sz="1350" dirty="0"/>
          </a:p>
          <a:p>
            <a:pPr indent="0" marL="0">
              <a:spcAft>
                <a:spcPts val="400"/>
              </a:spcAft>
              <a:buNone/>
            </a:pPr>
            <a:r>
              <a:rPr lang="en-US" sz="1200" dirty="0">
                <a:solidFill>
                  <a:srgbClr val="1B1B1B"/>
                </a:solidFill>
              </a:rPr>
              <a:t>vital-sign table: temperature (often empty)</a:t>
            </a:r>
            <a:endParaRPr lang="en-US" sz="1350" dirty="0"/>
          </a:p>
          <a:p>
            <a:pPr indent="0" marL="0">
              <a:spcAft>
                <a:spcPts val="400"/>
              </a:spcAft>
              <a:buNone/>
            </a:pPr>
            <a:r>
              <a:rPr lang="en-US" sz="1200" dirty="0">
                <a:solidFill>
                  <a:srgbClr val="1B1B1B"/>
                </a:solidFill>
              </a:rPr>
              <a:t>nurse charting: "Temperature (C)", "(F)"</a:t>
            </a:r>
            <a:endParaRPr lang="en-US" sz="1350" dirty="0"/>
          </a:p>
          <a:p>
            <a:pPr indent="0" marL="0">
              <a:spcAft>
                <a:spcPts val="400"/>
              </a:spcAft>
              <a:buNone/>
            </a:pPr>
            <a:r>
              <a:rPr lang="en-US" sz="1200" dirty="0">
                <a:solidFill>
                  <a:srgbClr val="5E5E5E"/>
                </a:solidFill>
              </a:rPr>
              <a:t>clock: minutes from ICU admission</a:t>
            </a:r>
            <a:endParaRPr lang="en-US" sz="1350" dirty="0"/>
          </a:p>
        </p:txBody>
      </p:sp>
      <p:sp>
        <p:nvSpPr>
          <p:cNvPr id="11" name="arrow"/>
          <p:cNvSpPr/>
          <p:nvPr/>
        </p:nvSpPr>
        <p:spPr>
          <a:xfrm>
            <a:off x="3794760" y="2633472"/>
            <a:ext cx="502920" cy="704088"/>
          </a:xfrm>
          <a:prstGeom prst="line">
            <a:avLst/>
          </a:prstGeom>
          <a:noFill/>
          <a:ln w="25400">
            <a:solidFill>
              <a:srgbClr val="C8102E"/>
            </a:solidFill>
            <a:prstDash val="solid"/>
            <a:tailEnd type="triangle"/>
          </a:ln>
        </p:spPr>
      </p:sp>
      <p:sp>
        <p:nvSpPr>
          <p:cNvPr id="12" name="arrow"/>
          <p:cNvSpPr/>
          <p:nvPr/>
        </p:nvSpPr>
        <p:spPr>
          <a:xfrm flipV="1">
            <a:off x="3794760" y="3703320"/>
            <a:ext cx="502920" cy="713232"/>
          </a:xfrm>
          <a:prstGeom prst="line">
            <a:avLst/>
          </a:prstGeom>
          <a:noFill/>
          <a:ln w="25400">
            <a:solidFill>
              <a:srgbClr val="C8102E"/>
            </a:solidFill>
            <a:prstDash val="solid"/>
            <a:tailEnd type="triangle"/>
          </a:ln>
        </p:spPr>
      </p:sp>
      <p:sp>
        <p:nvSpPr>
          <p:cNvPr id="13" name="box"/>
          <p:cNvSpPr/>
          <p:nvPr/>
        </p:nvSpPr>
        <p:spPr>
          <a:xfrm>
            <a:off x="4297680" y="2743200"/>
            <a:ext cx="2057400" cy="1600200"/>
          </a:xfrm>
          <a:prstGeom prst="rect">
            <a:avLst/>
          </a:prstGeom>
          <a:solidFill>
            <a:srgbClr val="C8102E"/>
          </a:solidFill>
          <a:ln w="12700">
            <a:solidFill>
              <a:srgbClr val="C8102E"/>
            </a:solidFill>
            <a:prstDash val="solid"/>
          </a:ln>
        </p:spPr>
      </p:sp>
      <p:sp>
        <p:nvSpPr>
          <p:cNvPr id="14" name="rich text"/>
          <p:cNvSpPr txBox="1"/>
          <p:nvPr/>
        </p:nvSpPr>
        <p:spPr>
          <a:xfrm>
            <a:off x="4389120" y="2816352"/>
            <a:ext cx="1874520" cy="1463040"/>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One concept</a:t>
            </a:r>
            <a:endParaRPr lang="en-US" sz="1400" dirty="0"/>
          </a:p>
          <a:p>
            <a:pPr indent="0" marL="0">
              <a:spcAft>
                <a:spcPts val="400"/>
              </a:spcAft>
              <a:buNone/>
            </a:pPr>
            <a:r>
              <a:rPr lang="en-US" sz="1200" dirty="0">
                <a:solidFill>
                  <a:srgbClr val="FFFFFF"/>
                </a:solidFill>
              </a:rPr>
              <a:t>Temperature in °C, hours from ICU admission, usable from the hour it was charted</a:t>
            </a:r>
            <a:endParaRPr lang="en-US" sz="1400" dirty="0"/>
          </a:p>
        </p:txBody>
      </p:sp>
      <p:sp>
        <p:nvSpPr>
          <p:cNvPr id="15" name="text"/>
          <p:cNvSpPr txBox="1"/>
          <p:nvPr/>
        </p:nvSpPr>
        <p:spPr>
          <a:xfrm>
            <a:off x="548640" y="5349240"/>
            <a:ext cx="5852160" cy="457200"/>
          </a:xfrm>
          <a:prstGeom prst="rect">
            <a:avLst/>
          </a:prstGeom>
          <a:noFill/>
          <a:ln/>
        </p:spPr>
        <p:txBody>
          <a:bodyPr wrap="square" lIns="0" tIns="0" rIns="0" bIns="0" rtlCol="0" anchor="t"/>
          <a:lstStyle/>
          <a:p>
            <a:pPr algn="l" indent="0" marL="0">
              <a:buNone/>
            </a:pPr>
            <a:r>
              <a:rPr lang="en-US" sz="1250" dirty="0">
                <a:solidFill>
                  <a:srgbClr val="5E5E5E"/>
                </a:solidFill>
              </a:rPr>
              <a:t>Repeated for 76 measurement channels plus drugs, devices, fluids and diagnoses [41].</a:t>
            </a:r>
            <a:endParaRPr lang="en-US" sz="1250" dirty="0"/>
          </a:p>
        </p:txBody>
      </p:sp>
      <p:graphicFrame>
        <p:nvGraphicFramePr>
          <p:cNvPr id="16"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2: removing information from the future is the biggest single correction</a:t>
            </a:r>
            <a:endParaRPr lang="en-US" sz="2600" dirty="0"/>
          </a:p>
        </p:txBody>
      </p:sp>
      <p:sp>
        <p:nvSpPr>
          <p:cNvPr id="6"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7"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8"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9"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10"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sepsis onset labelled positive: the model learnt sepsis that had already started.</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11"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[18].</a:t>
            </a:r>
            <a:endParaRPr lang="en-US" sz="1300" dirty="0"/>
          </a:p>
        </p:txBody>
      </p:sp>
      <p:sp>
        <p:nvSpPr>
          <p:cNvPr id="12"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[15, 41]</a:t>
            </a:r>
            <a:endParaRPr lang="en-US" sz="1400" dirty="0"/>
          </a:p>
        </p:txBody>
      </p:sp>
      <p:sp>
        <p:nvSpPr>
          <p:cNvPr id="13"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4"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5"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6"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7"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8"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9"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20"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21"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2"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the alarms are worth about a fifth of perfect alarms after paying for false alarms.</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3: on identical MIMIC-IV hours, all 21 models have positive utility, including the winner's method</a:t>
            </a:r>
            <a:endParaRPr lang="en-US" sz="2600" dirty="0"/>
          </a:p>
        </p:txBody>
      </p:sp>
      <p:graphicFrame>
        <p:nvGraphicFramePr>
          <p:cNvPr id="6" name="utility chart" descr=""/>
          <p:cNvGraphicFramePr/>
          <p:nvPr/>
        </p:nvGraphicFramePr>
        <p:xfrm>
          <a:off x="548640" y="150876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7" name="legend swatch"/>
          <p:cNvSpPr/>
          <p:nvPr/>
        </p:nvSpPr>
        <p:spPr>
          <a:xfrm>
            <a:off x="640080" y="5532120"/>
            <a:ext cx="228600" cy="182880"/>
          </a:xfrm>
          <a:prstGeom prst="rect">
            <a:avLst/>
          </a:prstGeom>
          <a:solidFill>
            <a:srgbClr val="8C8C8C"/>
          </a:solidFill>
          <a:ln w="12700">
            <a:solidFill>
              <a:srgbClr val="8C8C8C"/>
            </a:solidFill>
            <a:prstDash val="solid"/>
          </a:ln>
        </p:spPr>
      </p:sp>
      <p:sp>
        <p:nvSpPr>
          <p:cNvPr id="8" name="text"/>
          <p:cNvSpPr txBox="1"/>
          <p:nvPr/>
        </p:nvSpPr>
        <p:spPr>
          <a:xfrm>
            <a:off x="932688" y="5486400"/>
            <a:ext cx="1737360" cy="274320"/>
          </a:xfrm>
          <a:prstGeom prst="rect">
            <a:avLst/>
          </a:prstGeom>
          <a:noFill/>
          <a:ln/>
        </p:spPr>
        <p:txBody>
          <a:bodyPr wrap="square" lIns="0" tIns="0" rIns="0" bIns="0" rtlCol="0" anchor="ctr"/>
          <a:lstStyle/>
          <a:p>
            <a:pPr algn="l" indent="0" marL="0">
              <a:buNone/>
            </a:pPr>
            <a:r>
              <a:rPr lang="en-US" sz="1200" dirty="0">
                <a:solidFill>
                  <a:srgbClr val="1B1B1B"/>
                </a:solidFill>
              </a:rPr>
              <a:t>Published [15, 21]</a:t>
            </a:r>
            <a:endParaRPr lang="en-US" sz="1200" dirty="0"/>
          </a:p>
        </p:txBody>
      </p:sp>
      <p:sp>
        <p:nvSpPr>
          <p:cNvPr id="9" name="legend swatch"/>
          <p:cNvSpPr/>
          <p:nvPr/>
        </p:nvSpPr>
        <p:spPr>
          <a:xfrm>
            <a:off x="2651760" y="5532120"/>
            <a:ext cx="228600" cy="182880"/>
          </a:xfrm>
          <a:prstGeom prst="rect">
            <a:avLst/>
          </a:prstGeom>
          <a:solidFill>
            <a:srgbClr val="3A3A3A"/>
          </a:solidFill>
          <a:ln w="12700">
            <a:solidFill>
              <a:srgbClr val="3A3A3A"/>
            </a:solidFill>
            <a:prstDash val="solid"/>
          </a:ln>
        </p:spPr>
      </p:sp>
      <p:sp>
        <p:nvSpPr>
          <p:cNvPr id="10" name="text"/>
          <p:cNvSpPr txBox="1"/>
          <p:nvPr/>
        </p:nvSpPr>
        <p:spPr>
          <a:xfrm>
            <a:off x="2944368" y="5486400"/>
            <a:ext cx="2286000" cy="274320"/>
          </a:xfrm>
          <a:prstGeom prst="rect">
            <a:avLst/>
          </a:prstGeom>
          <a:noFill/>
          <a:ln/>
        </p:spPr>
        <p:txBody>
          <a:bodyPr wrap="square" lIns="0" tIns="0" rIns="0" bIns="0" rtlCol="0" anchor="ctr"/>
          <a:lstStyle/>
          <a:p>
            <a:pPr algn="l" indent="0" marL="0">
              <a:buNone/>
            </a:pPr>
            <a:r>
              <a:rPr lang="en-US" sz="1200" dirty="0">
                <a:solidFill>
                  <a:srgbClr val="1B1B1B"/>
                </a:solidFill>
              </a:rPr>
              <a:t>Winner's method, our pipeline</a:t>
            </a:r>
            <a:endParaRPr lang="en-US" sz="1200" dirty="0"/>
          </a:p>
        </p:txBody>
      </p:sp>
      <p:sp>
        <p:nvSpPr>
          <p:cNvPr id="11" name="legend swatch"/>
          <p:cNvSpPr/>
          <p:nvPr/>
        </p:nvSpPr>
        <p:spPr>
          <a:xfrm>
            <a:off x="5212080" y="5532120"/>
            <a:ext cx="228600" cy="182880"/>
          </a:xfrm>
          <a:prstGeom prst="rect">
            <a:avLst/>
          </a:prstGeom>
          <a:solidFill>
            <a:srgbClr val="C8102E"/>
          </a:solidFill>
          <a:ln w="12700">
            <a:solidFill>
              <a:srgbClr val="C8102E"/>
            </a:solidFill>
            <a:prstDash val="solid"/>
          </a:ln>
        </p:spPr>
      </p:sp>
      <p:sp>
        <p:nvSpPr>
          <p:cNvPr id="12" name="text"/>
          <p:cNvSpPr txBox="1"/>
          <p:nvPr/>
        </p:nvSpPr>
        <p:spPr>
          <a:xfrm>
            <a:off x="5504688" y="5486400"/>
            <a:ext cx="1828800" cy="274320"/>
          </a:xfrm>
          <a:prstGeom prst="rect">
            <a:avLst/>
          </a:prstGeom>
          <a:noFill/>
          <a:ln/>
        </p:spPr>
        <p:txBody>
          <a:bodyPr wrap="square" lIns="0" tIns="0" rIns="0" bIns="0" rtlCol="0" anchor="ctr"/>
          <a:lstStyle/>
          <a:p>
            <a:pPr algn="l" indent="0" marL="0">
              <a:buNone/>
            </a:pPr>
            <a:r>
              <a:rPr lang="en-US" sz="1200" dirty="0">
                <a:solidFill>
                  <a:srgbClr val="1B1B1B"/>
                </a:solidFill>
              </a:rPr>
              <a:t>This project [41]</a:t>
            </a:r>
            <a:endParaRPr lang="en-US" sz="1200" dirty="0"/>
          </a:p>
        </p:txBody>
      </p:sp>
      <p:sp>
        <p:nvSpPr>
          <p:cNvPr id="13" name="box"/>
          <p:cNvSpPr/>
          <p:nvPr/>
        </p:nvSpPr>
        <p:spPr>
          <a:xfrm>
            <a:off x="7543800" y="1508760"/>
            <a:ext cx="4099255" cy="4251960"/>
          </a:xfrm>
          <a:prstGeom prst="rect">
            <a:avLst/>
          </a:prstGeom>
          <a:solidFill>
            <a:srgbClr val="F2F2F2"/>
          </a:solidFill>
          <a:ln w="12700">
            <a:solidFill>
              <a:srgbClr val="F2F2F2"/>
            </a:solidFill>
            <a:prstDash val="solid"/>
          </a:ln>
        </p:spPr>
      </p:sp>
      <p:sp>
        <p:nvSpPr>
          <p:cNvPr id="14" name="text"/>
          <p:cNvSpPr txBox="1"/>
          <p:nvPr/>
        </p:nvSpPr>
        <p:spPr>
          <a:xfrm>
            <a:off x="7726680" y="1600200"/>
            <a:ext cx="3733495" cy="320040"/>
          </a:xfrm>
          <a:prstGeom prst="rect">
            <a:avLst/>
          </a:prstGeom>
          <a:noFill/>
          <a:ln/>
        </p:spPr>
        <p:txBody>
          <a:bodyPr wrap="square" lIns="0" tIns="0" rIns="0" bIns="0" rtlCol="0" anchor="t"/>
          <a:lstStyle/>
          <a:p>
            <a:pPr algn="l" indent="0" marL="0">
              <a:buNone/>
            </a:pPr>
            <a:r>
              <a:rPr lang="en-US" sz="1400" b="1" dirty="0">
                <a:solidFill>
                  <a:srgbClr val="1B1B1B"/>
                </a:solidFill>
              </a:rPr>
              <a:t>MIMIC-IV development test split</a:t>
            </a:r>
            <a:endParaRPr lang="en-US" sz="1400" dirty="0"/>
          </a:p>
        </p:txBody>
      </p:sp>
      <p:sp>
        <p:nvSpPr>
          <p:cNvPr id="15" name="text"/>
          <p:cNvSpPr txBox="1"/>
          <p:nvPr/>
        </p:nvSpPr>
        <p:spPr>
          <a:xfrm>
            <a:off x="7726680" y="1920240"/>
            <a:ext cx="3733495" cy="274320"/>
          </a:xfrm>
          <a:prstGeom prst="rect">
            <a:avLst/>
          </a:prstGeom>
          <a:noFill/>
          <a:ln/>
        </p:spPr>
        <p:txBody>
          <a:bodyPr wrap="square" lIns="0" tIns="0" rIns="0" bIns="0" rtlCol="0" anchor="t"/>
          <a:lstStyle/>
          <a:p>
            <a:pPr algn="l" indent="0" marL="0">
              <a:buNone/>
            </a:pPr>
            <a:r>
              <a:rPr lang="en-US" sz="1200" dirty="0">
                <a:solidFill>
                  <a:srgbClr val="5E5E5E"/>
                </a:solidFill>
              </a:rPr>
              <a:t>1,422 stays, 71 sepsis events, identical hours</a:t>
            </a:r>
            <a:endParaRPr lang="en-US" sz="1200" dirty="0"/>
          </a:p>
        </p:txBody>
      </p:sp>
      <p:sp>
        <p:nvSpPr>
          <p:cNvPr id="16" name="text"/>
          <p:cNvSpPr txBox="1"/>
          <p:nvPr/>
        </p:nvSpPr>
        <p:spPr>
          <a:xfrm>
            <a:off x="7726680"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21 / 21</a:t>
            </a:r>
            <a:endParaRPr lang="en-US" sz="2200" dirty="0"/>
          </a:p>
        </p:txBody>
      </p:sp>
      <p:sp>
        <p:nvSpPr>
          <p:cNvPr id="17" name="text"/>
          <p:cNvSpPr txBox="1"/>
          <p:nvPr/>
        </p:nvSpPr>
        <p:spPr>
          <a:xfrm>
            <a:off x="7726680"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models with utility above zero, every 95 % CI above zero</a:t>
            </a:r>
            <a:endParaRPr lang="en-US" sz="1150" dirty="0"/>
          </a:p>
        </p:txBody>
      </p:sp>
      <p:sp>
        <p:nvSpPr>
          <p:cNvPr id="18" name="text"/>
          <p:cNvSpPr txBox="1"/>
          <p:nvPr/>
        </p:nvSpPr>
        <p:spPr>
          <a:xfrm>
            <a:off x="9593428"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0.08-0.29</a:t>
            </a:r>
            <a:endParaRPr lang="en-US" sz="2200" dirty="0"/>
          </a:p>
        </p:txBody>
      </p:sp>
      <p:sp>
        <p:nvSpPr>
          <p:cNvPr id="19" name="text"/>
          <p:cNvSpPr txBox="1"/>
          <p:nvPr/>
        </p:nvSpPr>
        <p:spPr>
          <a:xfrm>
            <a:off x="9593428"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utility range across all models</a:t>
            </a:r>
            <a:endParaRPr lang="en-US" sz="1150" dirty="0"/>
          </a:p>
        </p:txBody>
      </p:sp>
      <p:sp>
        <p:nvSpPr>
          <p:cNvPr id="20" name="text"/>
          <p:cNvSpPr txBox="1"/>
          <p:nvPr/>
        </p:nvSpPr>
        <p:spPr>
          <a:xfrm>
            <a:off x="7726680"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0.23</a:t>
            </a:r>
            <a:endParaRPr lang="en-US" sz="2800" dirty="0"/>
          </a:p>
        </p:txBody>
      </p:sp>
      <p:sp>
        <p:nvSpPr>
          <p:cNvPr id="21" name="text"/>
          <p:cNvSpPr txBox="1"/>
          <p:nvPr/>
        </p:nvSpPr>
        <p:spPr>
          <a:xfrm>
            <a:off x="7726680"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OSTA, 95 % CI 0.13 to 0.34</a:t>
            </a:r>
            <a:endParaRPr lang="en-US" sz="1150" dirty="0"/>
          </a:p>
        </p:txBody>
      </p:sp>
      <p:sp>
        <p:nvSpPr>
          <p:cNvPr id="22" name="text"/>
          <p:cNvSpPr txBox="1"/>
          <p:nvPr/>
        </p:nvSpPr>
        <p:spPr>
          <a:xfrm>
            <a:off x="9593428"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0.15</a:t>
            </a:r>
            <a:endParaRPr lang="en-US" sz="2800" dirty="0"/>
          </a:p>
        </p:txBody>
      </p:sp>
      <p:sp>
        <p:nvSpPr>
          <p:cNvPr id="23" name="text"/>
          <p:cNvSpPr txBox="1"/>
          <p:nvPr/>
        </p:nvSpPr>
        <p:spPr>
          <a:xfrm>
            <a:off x="9593428"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winner's method, 95 % CI 0.06 to 0.22</a:t>
            </a:r>
            <a:endParaRPr lang="en-US" sz="1150" dirty="0"/>
          </a:p>
        </p:txBody>
      </p:sp>
      <p:sp>
        <p:nvSpPr>
          <p:cNvPr id="24" name="text"/>
          <p:cNvSpPr txBox="1"/>
          <p:nvPr/>
        </p:nvSpPr>
        <p:spPr>
          <a:xfrm>
            <a:off x="7726680" y="4709160"/>
            <a:ext cx="3733495" cy="1005840"/>
          </a:xfrm>
          <a:prstGeom prst="rect">
            <a:avLst/>
          </a:prstGeom>
          <a:noFill/>
          <a:ln/>
        </p:spPr>
        <p:txBody>
          <a:bodyPr wrap="square" lIns="0" tIns="0" rIns="0" bIns="0" rtlCol="0" anchor="t"/>
          <a:lstStyle/>
          <a:p>
            <a:pPr algn="l" indent="0" marL="0">
              <a:buNone/>
            </a:pPr>
            <a:r>
              <a:rPr lang="en-US" sz="1150" dirty="0">
                <a:solidFill>
                  <a:srgbClr val="5E5E5E"/>
                </a:solidFill>
              </a:rPr>
              <a:t>Rules fixed in advance, applied on validation: organ grouping did not beat the same model without it; GRU-D, TCN and flat OSTA shortlisted. Validation and test rankings disagree, so the full cohort decides.</a:t>
            </a:r>
            <a:endParaRPr lang="en-US" sz="1150" dirty="0"/>
          </a:p>
        </p:txBody>
      </p:sp>
      <p:sp>
        <p:nvSpPr>
          <p:cNvPr id="2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An honest, transferable test of sepsis warnings, and the path to hospital patients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655 clinically defined predictors [41]</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[15]</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a:t>
            </a:r>
            <a:endParaRPr lang="en-US" sz="1400" dirty="0"/>
          </a:p>
        </p:txBody>
      </p:sp>
      <p:sp>
        <p:nvSpPr>
          <p:cNvPr id="16" name="text"/>
          <p:cNvSpPr txBox="1"/>
          <p:nvPr/>
        </p:nvSpPr>
        <p:spPr>
          <a:xfrm>
            <a:off x="1143000" y="3968496"/>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leakage inflates scores; data harmonisation drives transfer; small samples overfit</a:t>
            </a:r>
            <a:endParaRPr lang="en-US" sz="12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[5]; sepsis-onset cohort study [42]; thermography meta-analysis [43]</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(20 infectious disease and critical care consultants); finish the 16-model comparison</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[13]</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[5] Elrggal et al., submitted 2026   [13] Kwong et al., Front Digit Health 2022   [15] Reyna et al., Crit Care Med 2020   [41] This work, preliminary, unpublished   [42] Elrggal et al., submitted 2026   [43]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WHERE I WOULD LIKE YOUR INPUT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Where I would like your input</a:t>
            </a:r>
            <a:endParaRPr lang="en-US" sz="30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[15, 19].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[35, 31].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[15] Reyna et al., Crit Care Med 2020   [19] Shah et al., JAMA 2019   [31] Pollard et al., Sci Data 2018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[6]</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[7]</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[35];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[35, 44];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[45]</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[15]</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was recorded, with a measured flag and its age; no hour after onset used</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[15] Reyna et al., Crit Care Med 2020   [35] Seymour et al., JAMA 2016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[15]</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[33,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recorded, expires after 24 h; post-onset hours excluded</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655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[28]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[19]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[19] Shah et al., JAMA 2019   [24] Moor et al., Front Med 2021   [28] Bratzler et al., Am J Health Syst Pharm 2013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655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[7], qSOFA, NEWS2 [44],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[45]</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[28];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(fairness analysis only);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[28] Bratzler et al., Am J Health Syst Pharm 2013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How the models evolved: each stage was triggered by a finding from the one before</a:t>
            </a:r>
            <a:endParaRPr lang="en-US" sz="2400" dirty="0"/>
          </a:p>
        </p:txBody>
      </p:sp>
      <p:sp>
        <p:nvSpPr>
          <p:cNvPr id="4" name="box"/>
          <p:cNvSpPr/>
          <p:nvPr/>
        </p:nvSpPr>
        <p:spPr>
          <a:xfrm>
            <a:off x="548640" y="1463040"/>
            <a:ext cx="3429000" cy="457200"/>
          </a:xfrm>
          <a:prstGeom prst="rect">
            <a:avLst/>
          </a:prstGeom>
          <a:solidFill>
            <a:srgbClr val="1B1B1B"/>
          </a:solidFill>
          <a:ln w="12700">
            <a:solidFill>
              <a:srgbClr val="1B1B1B"/>
            </a:solidFill>
            <a:prstDash val="solid"/>
          </a:ln>
        </p:spPr>
      </p:sp>
      <p:sp>
        <p:nvSpPr>
          <p:cNvPr id="5" name="text"/>
          <p:cNvSpPr txBox="1"/>
          <p:nvPr/>
        </p:nvSpPr>
        <p:spPr>
          <a:xfrm>
            <a:off x="658368"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Earlier work: PhysioNet 2019</a:t>
            </a:r>
            <a:endParaRPr lang="en-US" sz="1350" dirty="0"/>
          </a:p>
        </p:txBody>
      </p:sp>
      <p:sp>
        <p:nvSpPr>
          <p:cNvPr id="6" name="box"/>
          <p:cNvSpPr/>
          <p:nvPr/>
        </p:nvSpPr>
        <p:spPr>
          <a:xfrm>
            <a:off x="548640" y="2029968"/>
            <a:ext cx="3429000" cy="886968"/>
          </a:xfrm>
          <a:prstGeom prst="rect">
            <a:avLst/>
          </a:prstGeom>
          <a:solidFill>
            <a:srgbClr val="F2F2F2"/>
          </a:solidFill>
          <a:ln w="12700">
            <a:solidFill>
              <a:srgbClr val="F2F2F2"/>
            </a:solidFill>
            <a:prstDash val="solid"/>
          </a:ln>
        </p:spPr>
      </p:sp>
      <p:sp>
        <p:nvSpPr>
          <p:cNvPr id="7" name="text"/>
          <p:cNvSpPr txBox="1"/>
          <p:nvPr/>
        </p:nvSpPr>
        <p:spPr>
          <a:xfrm>
            <a:off x="658368"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CNN-Transformer</a:t>
            </a:r>
            <a:endParaRPr lang="en-US" sz="1300" dirty="0"/>
          </a:p>
        </p:txBody>
      </p:sp>
      <p:sp>
        <p:nvSpPr>
          <p:cNvPr id="8" name="text"/>
          <p:cNvSpPr txBox="1"/>
          <p:nvPr/>
        </p:nvSpPr>
        <p:spPr>
          <a:xfrm>
            <a:off x="658368"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Convolution for local patterns, then attention; no clinical structure [36]</a:t>
            </a:r>
            <a:endParaRPr lang="en-US" sz="1150" dirty="0"/>
          </a:p>
        </p:txBody>
      </p:sp>
      <p:sp>
        <p:nvSpPr>
          <p:cNvPr id="9" name="box"/>
          <p:cNvSpPr/>
          <p:nvPr/>
        </p:nvSpPr>
        <p:spPr>
          <a:xfrm>
            <a:off x="548640" y="3008376"/>
            <a:ext cx="3429000" cy="886968"/>
          </a:xfrm>
          <a:prstGeom prst="rect">
            <a:avLst/>
          </a:prstGeom>
          <a:solidFill>
            <a:srgbClr val="F2F2F2"/>
          </a:solidFill>
          <a:ln w="12700">
            <a:solidFill>
              <a:srgbClr val="F2F2F2"/>
            </a:solidFill>
            <a:prstDash val="solid"/>
          </a:ln>
        </p:spPr>
      </p:sp>
      <p:sp>
        <p:nvSpPr>
          <p:cNvPr id="10" name="text"/>
          <p:cNvSpPr txBox="1"/>
          <p:nvPr/>
        </p:nvSpPr>
        <p:spPr>
          <a:xfrm>
            <a:off x="658368"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a:t>
            </a:r>
            <a:endParaRPr lang="en-US" sz="1300" dirty="0"/>
          </a:p>
        </p:txBody>
      </p:sp>
      <p:sp>
        <p:nvSpPr>
          <p:cNvPr id="11" name="text"/>
          <p:cNvSpPr txBox="1"/>
          <p:nvPr/>
        </p:nvSpPr>
        <p:spPr>
          <a:xfrm>
            <a:off x="658368"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Predictors grouped by organ, as SOFA does, with a risk per organ [7]</a:t>
            </a:r>
            <a:endParaRPr lang="en-US" sz="1150" dirty="0"/>
          </a:p>
        </p:txBody>
      </p:sp>
      <p:sp>
        <p:nvSpPr>
          <p:cNvPr id="12" name="box"/>
          <p:cNvSpPr/>
          <p:nvPr/>
        </p:nvSpPr>
        <p:spPr>
          <a:xfrm>
            <a:off x="548640" y="3986784"/>
            <a:ext cx="3429000" cy="886968"/>
          </a:xfrm>
          <a:prstGeom prst="rect">
            <a:avLst/>
          </a:prstGeom>
          <a:solidFill>
            <a:srgbClr val="F2F2F2"/>
          </a:solidFill>
          <a:ln w="12700">
            <a:solidFill>
              <a:srgbClr val="F2F2F2"/>
            </a:solidFill>
            <a:prstDash val="solid"/>
          </a:ln>
        </p:spPr>
      </p:sp>
      <p:sp>
        <p:nvSpPr>
          <p:cNvPr id="13" name="text"/>
          <p:cNvSpPr txBox="1"/>
          <p:nvPr/>
        </p:nvSpPr>
        <p:spPr>
          <a:xfrm>
            <a:off x="658368"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Leakage audit</a:t>
            </a:r>
            <a:endParaRPr lang="en-US" sz="1300" dirty="0"/>
          </a:p>
        </p:txBody>
      </p:sp>
      <p:sp>
        <p:nvSpPr>
          <p:cNvPr id="14" name="text"/>
          <p:cNvSpPr txBox="1"/>
          <p:nvPr/>
        </p:nvSpPr>
        <p:spPr>
          <a:xfrm>
            <a:off x="658368"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Future information found; both retired, OSTA rebuilt causally [18]</a:t>
            </a:r>
            <a:endParaRPr lang="en-US" sz="1150" dirty="0"/>
          </a:p>
        </p:txBody>
      </p:sp>
      <p:sp>
        <p:nvSpPr>
          <p:cNvPr id="15" name="box"/>
          <p:cNvSpPr/>
          <p:nvPr/>
        </p:nvSpPr>
        <p:spPr>
          <a:xfrm>
            <a:off x="548640" y="5029200"/>
            <a:ext cx="3429000" cy="731520"/>
          </a:xfrm>
          <a:prstGeom prst="rect">
            <a:avLst/>
          </a:prstGeom>
          <a:solidFill>
            <a:srgbClr val="FBE3E6"/>
          </a:solidFill>
          <a:ln w="12700">
            <a:solidFill>
              <a:srgbClr val="FBE3E6"/>
            </a:solidFill>
            <a:prstDash val="solid"/>
          </a:ln>
        </p:spPr>
      </p:sp>
      <p:sp>
        <p:nvSpPr>
          <p:cNvPr id="16" name="text"/>
          <p:cNvSpPr txBox="1"/>
          <p:nvPr/>
        </p:nvSpPr>
        <p:spPr>
          <a:xfrm>
            <a:off x="658368"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the honest baseline is modest (utility 0.22) [41]</a:t>
            </a:r>
            <a:endParaRPr lang="en-US" sz="1200" dirty="0"/>
          </a:p>
        </p:txBody>
      </p:sp>
      <p:sp>
        <p:nvSpPr>
          <p:cNvPr id="17" name="arrow"/>
          <p:cNvSpPr/>
          <p:nvPr/>
        </p:nvSpPr>
        <p:spPr>
          <a:xfrm>
            <a:off x="4014216" y="5394960"/>
            <a:ext cx="330556" cy="914"/>
          </a:xfrm>
          <a:prstGeom prst="line">
            <a:avLst/>
          </a:prstGeom>
          <a:noFill/>
          <a:ln w="25400">
            <a:solidFill>
              <a:srgbClr val="C8102E"/>
            </a:solidFill>
            <a:prstDash val="solid"/>
            <a:tailEnd type="triangle"/>
          </a:ln>
        </p:spPr>
      </p:sp>
      <p:sp>
        <p:nvSpPr>
          <p:cNvPr id="18" name="box"/>
          <p:cNvSpPr/>
          <p:nvPr/>
        </p:nvSpPr>
        <p:spPr>
          <a:xfrm>
            <a:off x="4381348" y="1463040"/>
            <a:ext cx="3429000" cy="457200"/>
          </a:xfrm>
          <a:prstGeom prst="rect">
            <a:avLst/>
          </a:prstGeom>
          <a:solidFill>
            <a:srgbClr val="1B1B1B"/>
          </a:solidFill>
          <a:ln w="12700">
            <a:solidFill>
              <a:srgbClr val="1B1B1B"/>
            </a:solidFill>
            <a:prstDash val="solid"/>
          </a:ln>
        </p:spPr>
      </p:sp>
      <p:sp>
        <p:nvSpPr>
          <p:cNvPr id="19" name="text"/>
          <p:cNvSpPr txBox="1"/>
          <p:nvPr/>
        </p:nvSpPr>
        <p:spPr>
          <a:xfrm>
            <a:off x="4491076"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V10: MIMIC-IV and eICU</a:t>
            </a:r>
            <a:endParaRPr lang="en-US" sz="1350" dirty="0"/>
          </a:p>
        </p:txBody>
      </p:sp>
      <p:sp>
        <p:nvSpPr>
          <p:cNvPr id="20" name="box"/>
          <p:cNvSpPr/>
          <p:nvPr/>
        </p:nvSpPr>
        <p:spPr>
          <a:xfrm>
            <a:off x="4381348" y="2029968"/>
            <a:ext cx="3429000" cy="886968"/>
          </a:xfrm>
          <a:prstGeom prst="rect">
            <a:avLst/>
          </a:prstGeom>
          <a:solidFill>
            <a:srgbClr val="F2F2F2"/>
          </a:solidFill>
          <a:ln w="12700">
            <a:solidFill>
              <a:srgbClr val="F2F2F2"/>
            </a:solidFill>
            <a:prstDash val="solid"/>
          </a:ln>
        </p:spPr>
      </p:sp>
      <p:sp>
        <p:nvSpPr>
          <p:cNvPr id="21" name="text"/>
          <p:cNvSpPr txBox="1"/>
          <p:nvPr/>
        </p:nvSpPr>
        <p:spPr>
          <a:xfrm>
            <a:off x="4491076"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 + per-organ observers</a:t>
            </a:r>
            <a:endParaRPr lang="en-US" sz="1300" dirty="0"/>
          </a:p>
        </p:txBody>
      </p:sp>
      <p:sp>
        <p:nvSpPr>
          <p:cNvPr id="22" name="text"/>
          <p:cNvSpPr txBox="1"/>
          <p:nvPr/>
        </p:nvSpPr>
        <p:spPr>
          <a:xfrm>
            <a:off x="4491076"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Small organ models trained on separate patients, like specialty consults</a:t>
            </a:r>
            <a:endParaRPr lang="en-US" sz="1150" dirty="0"/>
          </a:p>
        </p:txBody>
      </p:sp>
      <p:sp>
        <p:nvSpPr>
          <p:cNvPr id="23" name="box"/>
          <p:cNvSpPr/>
          <p:nvPr/>
        </p:nvSpPr>
        <p:spPr>
          <a:xfrm>
            <a:off x="4381348" y="3008376"/>
            <a:ext cx="3429000" cy="886968"/>
          </a:xfrm>
          <a:prstGeom prst="rect">
            <a:avLst/>
          </a:prstGeom>
          <a:solidFill>
            <a:srgbClr val="F2F2F2"/>
          </a:solidFill>
          <a:ln w="12700">
            <a:solidFill>
              <a:srgbClr val="F2F2F2"/>
            </a:solidFill>
            <a:prstDash val="solid"/>
          </a:ln>
        </p:spPr>
      </p:sp>
      <p:sp>
        <p:nvSpPr>
          <p:cNvPr id="24" name="text"/>
          <p:cNvSpPr txBox="1"/>
          <p:nvPr/>
        </p:nvSpPr>
        <p:spPr>
          <a:xfrm>
            <a:off x="4491076"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Four ways to use them</a:t>
            </a:r>
            <a:endParaRPr lang="en-US" sz="1300" dirty="0"/>
          </a:p>
        </p:txBody>
      </p:sp>
      <p:sp>
        <p:nvSpPr>
          <p:cNvPr id="25" name="text"/>
          <p:cNvSpPr txBox="1"/>
          <p:nvPr/>
        </p:nvSpPr>
        <p:spPr>
          <a:xfrm>
            <a:off x="4491076"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As inputs; added at the output (fusion); steering cross-organ attention, gated or ungated</a:t>
            </a:r>
            <a:endParaRPr lang="en-US" sz="1150" dirty="0"/>
          </a:p>
        </p:txBody>
      </p:sp>
      <p:sp>
        <p:nvSpPr>
          <p:cNvPr id="26" name="box"/>
          <p:cNvSpPr/>
          <p:nvPr/>
        </p:nvSpPr>
        <p:spPr>
          <a:xfrm>
            <a:off x="4381348" y="3986784"/>
            <a:ext cx="3429000" cy="886968"/>
          </a:xfrm>
          <a:prstGeom prst="rect">
            <a:avLst/>
          </a:prstGeom>
          <a:solidFill>
            <a:srgbClr val="F2F2F2"/>
          </a:solidFill>
          <a:ln w="12700">
            <a:solidFill>
              <a:srgbClr val="F2F2F2"/>
            </a:solidFill>
            <a:prstDash val="solid"/>
          </a:ln>
        </p:spPr>
      </p:sp>
      <p:sp>
        <p:nvSpPr>
          <p:cNvPr id="27" name="text"/>
          <p:cNvSpPr txBox="1"/>
          <p:nvPr/>
        </p:nvSpPr>
        <p:spPr>
          <a:xfrm>
            <a:off x="4491076"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Controls</a:t>
            </a:r>
            <a:endParaRPr lang="en-US" sz="1300" dirty="0"/>
          </a:p>
        </p:txBody>
      </p:sp>
      <p:sp>
        <p:nvSpPr>
          <p:cNvPr id="28" name="text"/>
          <p:cNvSpPr txBox="1"/>
          <p:nvPr/>
        </p:nvSpPr>
        <p:spPr>
          <a:xfrm>
            <a:off x="4491076"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Raw values only; extra labelled patients; the original OSTA loss restored</a:t>
            </a:r>
            <a:endParaRPr lang="en-US" sz="1150" dirty="0"/>
          </a:p>
        </p:txBody>
      </p:sp>
      <p:sp>
        <p:nvSpPr>
          <p:cNvPr id="29" name="box"/>
          <p:cNvSpPr/>
          <p:nvPr/>
        </p:nvSpPr>
        <p:spPr>
          <a:xfrm>
            <a:off x="4381348" y="5029200"/>
            <a:ext cx="3429000" cy="731520"/>
          </a:xfrm>
          <a:prstGeom prst="rect">
            <a:avLst/>
          </a:prstGeom>
          <a:solidFill>
            <a:srgbClr val="FBE3E6"/>
          </a:solidFill>
          <a:ln w="12700">
            <a:solidFill>
              <a:srgbClr val="FBE3E6"/>
            </a:solidFill>
            <a:prstDash val="solid"/>
          </a:ln>
        </p:spPr>
      </p:sp>
      <p:sp>
        <p:nvSpPr>
          <p:cNvPr id="30" name="text"/>
          <p:cNvSpPr txBox="1"/>
          <p:nvPr/>
        </p:nvSpPr>
        <p:spPr>
          <a:xfrm>
            <a:off x="4491076"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no variant beat OSTA; models peaked within 1 to 3 epochs [41]</a:t>
            </a:r>
            <a:endParaRPr lang="en-US" sz="1200" dirty="0"/>
          </a:p>
        </p:txBody>
      </p:sp>
      <p:sp>
        <p:nvSpPr>
          <p:cNvPr id="31" name="arrow"/>
          <p:cNvSpPr/>
          <p:nvPr/>
        </p:nvSpPr>
        <p:spPr>
          <a:xfrm>
            <a:off x="7846924" y="5394960"/>
            <a:ext cx="330556" cy="914"/>
          </a:xfrm>
          <a:prstGeom prst="line">
            <a:avLst/>
          </a:prstGeom>
          <a:noFill/>
          <a:ln w="25400">
            <a:solidFill>
              <a:srgbClr val="C8102E"/>
            </a:solidFill>
            <a:prstDash val="solid"/>
            <a:tailEnd type="triangle"/>
          </a:ln>
        </p:spPr>
      </p:sp>
      <p:sp>
        <p:nvSpPr>
          <p:cNvPr id="32" name="box"/>
          <p:cNvSpPr/>
          <p:nvPr/>
        </p:nvSpPr>
        <p:spPr>
          <a:xfrm>
            <a:off x="8214055" y="1463040"/>
            <a:ext cx="3429000" cy="457200"/>
          </a:xfrm>
          <a:prstGeom prst="rect">
            <a:avLst/>
          </a:prstGeom>
          <a:solidFill>
            <a:srgbClr val="1B1B1B"/>
          </a:solidFill>
          <a:ln w="12700">
            <a:solidFill>
              <a:srgbClr val="1B1B1B"/>
            </a:solidFill>
            <a:prstDash val="solid"/>
          </a:ln>
        </p:spPr>
      </p:sp>
      <p:sp>
        <p:nvSpPr>
          <p:cNvPr id="33" name="text"/>
          <p:cNvSpPr txBox="1"/>
          <p:nvPr/>
        </p:nvSpPr>
        <p:spPr>
          <a:xfrm>
            <a:off x="8323783"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V11: prespecified comparison</a:t>
            </a:r>
            <a:endParaRPr lang="en-US" sz="1350" dirty="0"/>
          </a:p>
        </p:txBody>
      </p:sp>
      <p:sp>
        <p:nvSpPr>
          <p:cNvPr id="34" name="box"/>
          <p:cNvSpPr/>
          <p:nvPr/>
        </p:nvSpPr>
        <p:spPr>
          <a:xfrm>
            <a:off x="8214055" y="2029968"/>
            <a:ext cx="3429000" cy="886968"/>
          </a:xfrm>
          <a:prstGeom prst="rect">
            <a:avLst/>
          </a:prstGeom>
          <a:solidFill>
            <a:srgbClr val="F2F2F2"/>
          </a:solidFill>
          <a:ln w="12700">
            <a:solidFill>
              <a:srgbClr val="F2F2F2"/>
            </a:solidFill>
            <a:prstDash val="solid"/>
          </a:ln>
        </p:spPr>
      </p:sp>
      <p:sp>
        <p:nvSpPr>
          <p:cNvPr id="35" name="text"/>
          <p:cNvSpPr txBox="1"/>
          <p:nvPr/>
        </p:nvSpPr>
        <p:spPr>
          <a:xfrm>
            <a:off x="8323783"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Test the organ idea</a:t>
            </a:r>
            <a:endParaRPr lang="en-US" sz="1300" dirty="0"/>
          </a:p>
        </p:txBody>
      </p:sp>
      <p:sp>
        <p:nvSpPr>
          <p:cNvPr id="36" name="text"/>
          <p:cNvSpPr txBox="1"/>
          <p:nvPr/>
        </p:nvSpPr>
        <p:spPr>
          <a:xfrm>
            <a:off x="8323783"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Flat OSTA: the same model without organ grouping</a:t>
            </a:r>
            <a:endParaRPr lang="en-US" sz="1150" dirty="0"/>
          </a:p>
        </p:txBody>
      </p:sp>
      <p:sp>
        <p:nvSpPr>
          <p:cNvPr id="37" name="box"/>
          <p:cNvSpPr/>
          <p:nvPr/>
        </p:nvSpPr>
        <p:spPr>
          <a:xfrm>
            <a:off x="8214055" y="3008376"/>
            <a:ext cx="3429000" cy="886968"/>
          </a:xfrm>
          <a:prstGeom prst="rect">
            <a:avLst/>
          </a:prstGeom>
          <a:solidFill>
            <a:srgbClr val="F2F2F2"/>
          </a:solidFill>
          <a:ln w="12700">
            <a:solidFill>
              <a:srgbClr val="F2F2F2"/>
            </a:solidFill>
            <a:prstDash val="solid"/>
          </a:ln>
        </p:spPr>
      </p:sp>
      <p:sp>
        <p:nvSpPr>
          <p:cNvPr id="38" name="text"/>
          <p:cNvSpPr txBox="1"/>
          <p:nvPr/>
        </p:nvSpPr>
        <p:spPr>
          <a:xfrm>
            <a:off x="8323783"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Learn from the literature</a:t>
            </a:r>
            <a:endParaRPr lang="en-US" sz="1300" dirty="0"/>
          </a:p>
        </p:txBody>
      </p:sp>
      <p:sp>
        <p:nvSpPr>
          <p:cNvPr id="39" name="text"/>
          <p:cNvSpPr txBox="1"/>
          <p:nvPr/>
        </p:nvSpPr>
        <p:spPr>
          <a:xfrm>
            <a:off x="8323783"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GRU-D, temporal CNN, the winner's method [37, 38, 21]</a:t>
            </a:r>
            <a:endParaRPr lang="en-US" sz="1150" dirty="0"/>
          </a:p>
        </p:txBody>
      </p:sp>
      <p:sp>
        <p:nvSpPr>
          <p:cNvPr id="40" name="box"/>
          <p:cNvSpPr/>
          <p:nvPr/>
        </p:nvSpPr>
        <p:spPr>
          <a:xfrm>
            <a:off x="8214055" y="3986784"/>
            <a:ext cx="3429000" cy="886968"/>
          </a:xfrm>
          <a:prstGeom prst="rect">
            <a:avLst/>
          </a:prstGeom>
          <a:solidFill>
            <a:srgbClr val="F2F2F2"/>
          </a:solidFill>
          <a:ln w="12700">
            <a:solidFill>
              <a:srgbClr val="F2F2F2"/>
            </a:solidFill>
            <a:prstDash val="solid"/>
          </a:ln>
        </p:spPr>
      </p:sp>
      <p:sp>
        <p:nvSpPr>
          <p:cNvPr id="41" name="text"/>
          <p:cNvSpPr txBox="1"/>
          <p:nvPr/>
        </p:nvSpPr>
        <p:spPr>
          <a:xfrm>
            <a:off x="8323783"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Use scarce labels better</a:t>
            </a:r>
            <a:endParaRPr lang="en-US" sz="1300" dirty="0"/>
          </a:p>
        </p:txBody>
      </p:sp>
      <p:sp>
        <p:nvSpPr>
          <p:cNvPr id="42" name="text"/>
          <p:cNvSpPr txBox="1"/>
          <p:nvPr/>
        </p:nvSpPr>
        <p:spPr>
          <a:xfrm>
            <a:off x="8323783"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Self-supervised pretraining, per-channel encoders, hazard head, utility-weighted loss [39]</a:t>
            </a:r>
            <a:endParaRPr lang="en-US" sz="1150" dirty="0"/>
          </a:p>
        </p:txBody>
      </p:sp>
      <p:sp>
        <p:nvSpPr>
          <p:cNvPr id="43" name="box"/>
          <p:cNvSpPr/>
          <p:nvPr/>
        </p:nvSpPr>
        <p:spPr>
          <a:xfrm>
            <a:off x="8214055" y="5029200"/>
            <a:ext cx="3429000" cy="731520"/>
          </a:xfrm>
          <a:prstGeom prst="rect">
            <a:avLst/>
          </a:prstGeom>
          <a:solidFill>
            <a:srgbClr val="FBE3E6"/>
          </a:solidFill>
          <a:ln w="12700">
            <a:solidFill>
              <a:srgbClr val="FBE3E6"/>
            </a:solidFill>
            <a:prstDash val="solid"/>
          </a:ln>
        </p:spPr>
      </p:sp>
      <p:sp>
        <p:nvSpPr>
          <p:cNvPr id="44" name="text"/>
          <p:cNvSpPr txBox="1"/>
          <p:nvPr/>
        </p:nvSpPr>
        <p:spPr>
          <a:xfrm>
            <a:off x="8323783"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all 21 models above zero; organ grouping not supported; scale decides [41]</a:t>
            </a:r>
            <a:endParaRPr lang="en-US" sz="1200" dirty="0"/>
          </a:p>
        </p:txBody>
      </p:sp>
      <p:sp>
        <p:nvSpPr>
          <p:cNvPr id="4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[18] Kapoor et al., Patterns 2023   [21] Morrill et al., Crit Care Med 2020   [36] Vaswani et al., NeurIPS 2017   [37] Che et al., Sci Rep 2018   [38] Bai et al., arXiv 2018   [39] Yeche et al., ICML 2021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(1 of 2): baselines, the winner's method and sequence models</a:t>
            </a:r>
            <a:endParaRPr lang="en-US" sz="2400" dirty="0"/>
          </a:p>
        </p:txBody>
      </p:sp>
      <p:graphicFrame>
        <p:nvGraphicFramePr>
          <p:cNvPr id="22"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Logistic regression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One weighted sum of the current hour's predictors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time modelling: the floor every model must beat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0.08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Boosted trees [46]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Many small decision trees, each correcting the last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Non-linear thresholds, but sees one hour at a time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Signatures + boosted trees [21]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Recent trajectories summarised as path signatures, then boosted trees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PhysioNet 2019 winner's method; time enters through fixed summaries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OSTA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Predictors grouped by organ, attention over time per organ, then across organs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reference model; risk per organ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Output fusion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plus small per-organ models trained on separate patients, added at the output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Independent per-organ second opinions fused at the end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CNN-Transformer (earlier work) [36]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Convolution finds 1 to 12 h patterns, then attention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0.24</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Flat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with every predictor in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Removes only the organ grouping: the decisive test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GRU-D [37]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Recurrent memory; values fade towards normal as they age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Models missing and stale data explicitly</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TCN [38]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Stacked causal convolutions with a widening reach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attention; fixed look-back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760720"/>
            <a:ext cx="11094415" cy="365760"/>
          </a:xfrm>
          <a:prstGeom prst="rect">
            <a:avLst/>
          </a:prstGeom>
          <a:noFill/>
          <a:ln/>
        </p:spPr>
        <p:txBody>
          <a:bodyPr wrap="square" lIns="0" tIns="0" rIns="0" bIns="0" rtlCol="0" anchor="t"/>
          <a:lstStyle/>
          <a:p>
            <a:pPr algn="l" indent="0" marL="0">
              <a:buNone/>
            </a:pPr>
            <a:r>
              <a:rPr lang="en-US" sz="1100" dirty="0">
                <a:solidFill>
                  <a:srgbClr val="5E5E5E"/>
                </a:solidFill>
              </a:rPr>
              <a:t>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[46] Friedman, Ann Stat 2001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(2 of 2): channel encoders, self-supervised pretraining, ensemble</a:t>
            </a:r>
            <a:endParaRPr lang="en-US" sz="2400" dirty="0"/>
          </a:p>
        </p:txBody>
      </p:sp>
      <p:graphicFrame>
        <p:nvGraphicFramePr>
          <p:cNvPr id="23"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 small convolution per channel over value, measured flag and age, then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each signal's own pattern before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Event OSTA [47]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Each hour attends to fresh vital-sign measurements of the last 24 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new measurements only, not carried-forward values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to OSTA [39]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encoder first trained on unlabelled stays to forecast values and organ scores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physiology before it sees a sepsis label</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flat head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pretrained encoder with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Its organ ablation; added as a declared exploratory pair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Pooled encoder twins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Encoder pretrained on both databases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Adaptation across hospital systems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 / 0.20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Hazard head [48]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Risk at 1, 3, 6, 12 and 24 h as a survival curve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when onset happens, not only whether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Mean ensemble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Average of OSTA, CNN-Transformer and self-supervised 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learned weights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257800"/>
            <a:ext cx="11094415" cy="640080"/>
          </a:xfrm>
          <a:prstGeom prst="rect">
            <a:avLst/>
          </a:prstGeom>
          <a:noFill/>
          <a:ln/>
        </p:spPr>
        <p:txBody>
          <a:bodyPr wrap="square" lIns="0" tIns="0" rIns="0" bIns="0" rtlCol="0" anchor="t"/>
          <a:lstStyle/>
          <a:p>
            <a:pPr algn="l" indent="0" marL="0">
              <a:buNone/>
            </a:pPr>
            <a:r>
              <a:rPr lang="en-US" sz="1100" dirty="0">
                <a:solidFill>
                  <a:srgbClr val="5E5E5E"/>
                </a:solidFill>
              </a:rPr>
              <a:t>Retired in earlier versions: gated and ungated attention and observer features, which did not differ from OSTA. 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[47] Horn et al., ICML 2020   [48] Gensheimer and Narasimhan, PeerJ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4"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8,795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5,710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[33, 34]; onset within the next 6 h; post-onset hours excluded;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67,455 MIMIC-IV and 75,000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On 10,000 stays models overfit fast and the validation split is too small to rank them</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655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0.12 vs 0.28</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validation utility of OSTA and flat OSTA, which tie on test (0.23): validation and test rankings disagree</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[39], loss chosen by utility [40], three seeds.</a:t>
            </a:r>
            <a:endParaRPr lang="en-US" sz="1400" dirty="0"/>
          </a:p>
          <a:p>
            <a:pPr marL="203200" indent="-203200">
              <a:spcAft>
                <a:spcPts val="800"/>
              </a:spcAft>
              <a:buSzPct val="100000"/>
              <a:buChar char="•"/>
            </a:pPr>
            <a:r>
              <a:rPr lang="en-US" sz="1400" dirty="0">
                <a:solidFill>
                  <a:srgbClr val="1B1B1B"/>
                </a:solidFill>
              </a:rPr>
              <a:t>All figures: this work, preliminary [41].</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[40] Yeche et al., ICML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6"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(20 consultants), nearly complete.</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Rudd KE, Johnson SC, Agesa KM, et al. Global, regional, and national sepsis incidence and mortality, 1990-2017: analysis for the Global Burden of Disease Study. Lancet. 2020;395:200-211.</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Adams R, Henry KE, Sridharan A, et al. Prospective, multi-site study of patient outcomes after implementation of the TREWS machine learning-based early warning system for sepsis. Nat Med. 2022;28:1455-1460.</a:t>
            </a:r>
            <a:endParaRPr lang="en-US" sz="1000" dirty="0"/>
          </a:p>
          <a:p>
            <a:pPr indent="0" marL="0">
              <a:spcAft>
                <a:spcPts val="400"/>
              </a:spcAft>
              <a:buNone/>
            </a:pPr>
            <a:r>
              <a:rPr lang="en-US" sz="1000" dirty="0">
                <a:solidFill>
                  <a:srgbClr val="1B1B1B"/>
                </a:solidFill>
              </a:rPr>
              <a:t>[5]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[6]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[7]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[8]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[9]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[10]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[11]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[12] Yu AC, Mohajer B, Eng J. External validation of deep learning algorithms for radiologic diagnosis: a systematic review. Radiol Artif Intell. 2022;4:e210064.</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[13]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[14]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[15]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[16]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[17]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[18]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[19]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[20]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[21]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[22]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[23] Fleuren LM, Klausch TLT, Zwager CL, et al. Machine learning for the prediction of sepsis: a systematic review and meta-analysis of diagnostic test accuracy. Intensive Care Med. 2020;46:383-400.</a:t>
            </a:r>
            <a:endParaRPr lang="en-US" sz="1000" dirty="0"/>
          </a:p>
          <a:p>
            <a:pPr indent="0" marL="0">
              <a:spcAft>
                <a:spcPts val="400"/>
              </a:spcAft>
              <a:buNone/>
            </a:pPr>
            <a:r>
              <a:rPr lang="en-US" sz="1000" dirty="0">
                <a:solidFill>
                  <a:srgbClr val="1B1B1B"/>
                </a:solidFill>
              </a:rPr>
              <a:t>[24] Moor M, Rieck B, Horn M, Jutzeler CR, Borgwardt K. Early prediction of sepsis in the ICU using machine learning: a systematic review. Front Med. 2021;8:607952.</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[25]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[26]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[27]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[28]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[29]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[30]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[31]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[32]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[33]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[34] Bennett N, Plecko D, Ukor IF, Meinshausen N, Buhlmann P. ricu: R's interface to intensive care data. GigaScience. 2023;12.</a:t>
            </a:r>
            <a:endParaRPr lang="en-US" sz="1000" dirty="0"/>
          </a:p>
          <a:p>
            <a:pPr indent="0" marL="0">
              <a:spcAft>
                <a:spcPts val="400"/>
              </a:spcAft>
              <a:buNone/>
            </a:pPr>
            <a:r>
              <a:rPr lang="en-US" sz="1000" dirty="0">
                <a:solidFill>
                  <a:srgbClr val="1B1B1B"/>
                </a:solidFill>
              </a:rPr>
              <a:t>[35]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[36] Vaswani A, Shazeer N, Parmar N, et al. Attention is all you need. Advances in Neural Information Processing Systems (NeurIPS). 2017.</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[37]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[38]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[39]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[40]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[41]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[42]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[43]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[44]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[45] Kidney Disease: Improving Global Outcomes (KDIGO) AKI Work Group. KDIGO clinical practice guideline for acute kidney injury. Kidney Int Suppl. 2012;2:1-138.</a:t>
            </a:r>
            <a:endParaRPr lang="en-US" sz="1000" dirty="0"/>
          </a:p>
          <a:p>
            <a:pPr indent="0" marL="0">
              <a:spcAft>
                <a:spcPts val="400"/>
              </a:spcAft>
              <a:buNone/>
            </a:pPr>
            <a:r>
              <a:rPr lang="en-US" sz="1000" dirty="0">
                <a:solidFill>
                  <a:srgbClr val="1B1B1B"/>
                </a:solidFill>
              </a:rPr>
              <a:t>[46] Friedman JH. Greedy function approximation: a gradient boosting machine. Ann Stat. 2001;29:1189-1232.</a:t>
            </a:r>
            <a:endParaRPr lang="en-US" sz="1000" dirty="0"/>
          </a:p>
          <a:p>
            <a:pPr indent="0" marL="0">
              <a:spcAft>
                <a:spcPts val="400"/>
              </a:spcAft>
              <a:buNone/>
            </a:pPr>
            <a:r>
              <a:rPr lang="en-US" sz="1000" dirty="0">
                <a:solidFill>
                  <a:srgbClr val="1B1B1B"/>
                </a:solidFill>
              </a:rPr>
              <a:t>[47] Horn M, Moor M, Bock C, Rieck B, Borgwardt K. Set functions for time series. International Conference on Machine Learning (ICML). 2020.</a:t>
            </a:r>
            <a:endParaRPr lang="en-US" sz="1000" dirty="0"/>
          </a:p>
          <a:p>
            <a:pPr indent="0" marL="0">
              <a:spcAft>
                <a:spcPts val="400"/>
              </a:spcAft>
              <a:buNone/>
            </a:pPr>
            <a:r>
              <a:rPr lang="en-US" sz="1000" dirty="0">
                <a:solidFill>
                  <a:srgbClr val="1B1B1B"/>
                </a:solidFill>
              </a:rPr>
              <a:t>[48] Gensheimer MF, Narasimhan B. A scalable discrete-time survival model for neural networks. PeerJ. 2019;7:e6257.</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28</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2026-10-19T08:22:30Z</dcterms:created>
  <dcterms:modified xsi:type="dcterms:W3CDTF">2026-10-19T08:22:30Z</dcterms:modified>
</cp:coreProperties>
</file>