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8e09e19a-7ac4-187b-faab-f00c6243c650}">
          <p14:sldIdLst>
            <p14:sldId id="256"/>
            <p14:sldId id="257"/>
            <p14:sldId id="258"/>
            <p14:sldId id="259"/>
            <p14:sldId id="260"/>
          </p14:sldIdLst>
        </p14:section>
        <p14:section name="Question and approach" id="{62371bae-b35a-0aee-de8b-d9180943dfc5}">
          <p14:sldIdLst>
            <p14:sldId id="261"/>
            <p14:sldId id="262"/>
            <p14:sldId id="263"/>
            <p14:sldId id="264"/>
            <p14:sldId id="265"/>
          </p14:sldIdLst>
        </p14:section>
        <p14:section name="Results" id="{896bec22-fbc0-5ae7-4d0e-006d2c8dbbdf}">
          <p14:sldIdLst>
            <p14:sldId id="266"/>
          </p14:sldIdLst>
        </p14:section>
        <p14:section name="Preliminary results" id="{ef19e13d-ecd0-d329-e69b-ab2d8555b664}">
          <p14:sldIdLst>
            <p14:sldId id="267"/>
            <p14:sldId id="268"/>
          </p14:sldIdLst>
        </p14:section>
        <p14:section name="Contribution and next steps" id="{bd5a7cf2-fee2-d859-06e1-490e0b56d80a}">
          <p14:sldIdLst>
            <p14:sldId id="269"/>
          </p14:sldIdLst>
        </p14:section>
        <p14:section name="Take-home" id="{85ce6b96-7b24-ca47-d504-2590f3a5dd26}">
          <p14:sldIdLst>
            <p14:sldId id="270"/>
          </p14:sldIdLst>
        </p14:section>
        <p14:section name="Backup" id="{d05c25ce-81dd-788d-86ba-5531e665e40e}">
          <p14:sldIdLst>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Normalised utility</c:v>
                </c:pt>
              </c:strCache>
            </c:strRef>
          </c:tx>
          <c:spPr>
            <a:solidFill>
              <a:srgbClr val="D0D0D0"/>
            </a:solidFill>
            <a:effectLst/>
          </c:spPr>
          <c:invertIfNegative val="0"/>
          <c:dLbls>
            <c:numFmt formatCode="0.00" sourceLinked="0"/>
            <c:txPr>
              <a:bodyPr/>
              <a:lstStyle/>
              <a:p>
                <a:pPr>
                  <a:defRPr b="1" i="0" strike="noStrike" sz="105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D0D0D0"/>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3A3A3A"/>
              </a:solidFill>
              <a:effectLst/>
            </c:spPr>
          </c:dPt>
          <c:dPt>
            <c:idx val="4"/>
            <c:invertIfNegative val="0"/>
            <c:bubble3D val="0"/>
            <c:spPr>
              <a:solidFill>
                <a:srgbClr val="C8102E"/>
              </a:solidFill>
              <a:effectLst/>
            </c:spPr>
          </c:dPt>
          <c:dPt>
            <c:idx val="5"/>
            <c:invertIfNegative val="0"/>
            <c:bubble3D val="0"/>
            <c:spPr>
              <a:solidFill>
                <a:srgbClr val="C8102E"/>
              </a:solidFill>
              <a:effectLst/>
            </c:spPr>
          </c:dPt>
          <c:dPt>
            <c:idx val="6"/>
            <c:invertIfNegative val="0"/>
            <c:bubble3D val="0"/>
            <c:spPr>
              <a:solidFill>
                <a:srgbClr val="C8102E"/>
              </a:solidFill>
              <a:effectLst/>
            </c:spPr>
          </c:dPt>
          <c:dPt>
            <c:idx val="7"/>
            <c:invertIfNegative val="0"/>
            <c:bubble3D val="0"/>
            <c:spPr>
              <a:solidFill>
                <a:srgbClr val="C8102E"/>
              </a:solidFill>
              <a:effectLst/>
            </c:spPr>
          </c:dPt>
          <c:dPt>
            <c:idx val="8"/>
            <c:invertIfNegative val="0"/>
            <c:bubble3D val="0"/>
            <c:spPr>
              <a:solidFill>
                <a:srgbClr val="C8102E"/>
              </a:solidFill>
              <a:effectLst/>
            </c:spPr>
          </c:dPt>
          <c:cat>
            <c:multiLvlStrRef>
              <c:f>Sheet1!$A$2:$A$10</c:f>
              <c:multiLvlStrCache>
                <c:ptCount val="9"/>
                <c:lvl>
                  <c:pt idx="0">
                    <c:v>Winner, published (official 0.36; 0.43 own hospitals)</c:v>
                  </c:pt>
                  <c:pt idx="1">
                    <c:v>Logistic regression</c:v>
                  </c:pt>
                  <c:pt idx="2">
                    <c:v>Boosted trees</c:v>
                  </c:pt>
                  <c:pt idx="3">
                    <c:v>Winner's approach, rebuilt here</c:v>
                  </c:pt>
                  <c:pt idx="4">
                    <c:v>Temporal CNN</c:v>
                  </c:pt>
                  <c:pt idx="5">
                    <c:v>GRU-D (chosen on validation)</c:v>
                  </c:pt>
                  <c:pt idx="6">
                    <c:v>Flat OSTA (no organ grouping)</c:v>
                  </c:pt>
                  <c:pt idx="7">
                    <c:v>OSTA</c:v>
                  </c:pt>
                  <c:pt idx="8">
                    <c:v>Self-supervised CNN to OSTA</c:v>
                  </c:pt>
                </c:lvl>
              </c:multiLvlStrCache>
            </c:multiLvlStrRef>
          </c:cat>
          <c:val>
            <c:numRef>
              <c:f>Sheet1!$B$2:$B$10</c:f>
              <c:numCache>
                <c:formatCode>General</c:formatCode>
                <c:ptCount val="9"/>
                <c:pt idx="0">
                  <c:v>0.36</c:v>
                </c:pt>
                <c:pt idx="1">
                  <c:v>0.08</c:v>
                </c:pt>
                <c:pt idx="2">
                  <c:v>0.1</c:v>
                </c:pt>
                <c:pt idx="3">
                  <c:v>0.15</c:v>
                </c:pt>
                <c:pt idx="4">
                  <c:v>0.17</c:v>
                </c:pt>
                <c:pt idx="5">
                  <c:v>0.19</c:v>
                </c:pt>
                <c:pt idx="6">
                  <c:v>0.23</c:v>
                </c:pt>
                <c:pt idx="7">
                  <c:v>0.23</c:v>
                </c:pt>
                <c:pt idx="8">
                  <c:v>0.29</c:v>
                </c:pt>
              </c:numCache>
            </c:numRef>
          </c:val>
        </c:ser>
        <c:dLbls>
          <c:numFmt formatCode="0.00" sourceLinked="0"/>
          <c:txPr>
            <a:bodyPr/>
            <a:lstStyle/>
            <a:p>
              <a:pPr>
                <a:defRPr b="1" i="0" strike="noStrike" sz="1050" u="none">
                  <a:solidFill>
                    <a:srgbClr val="1B1B1B"/>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E5E5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No sepsis yet. Four numbers: the burden of infection, the burden of resistance, and two pieces of evidence that earlier detection helps: rapid diagnostics with stewardship, and AI reading of chest X-rays for TB, now WHO-recommended.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clinicians acting on an AI detector find more disease,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five stages left to right, then the inset: for the current hour the kidney encoder weights the past hours, high where creatinine rose and urine output fell, zero for the future. Then cross-organ attention and the per-organ risk. Why different in one breath. Then the right column: OSTA is a hypothesis tested against the same model without organ grouping and against the published alternatives, with the rules fixed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submitted cohort paper, on the PhysioNet 2019 patients. Descriptive first: 27,101 patients, 8 per cent septic, median onset at 100 hours, later ICU arrival and longer stays; the standard scores higher and rising. Then the Cox model with the label moved six hours earlier: SIRS, APACHE II, male sex, heart rate, respiratory rate and potassium are independent early predictors, each weak on its own. That is the argument for hourly models that read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Left, own hospital system: the winner at 0.36 official (0.43 on its own hospitals) and this project on MIMIC-IV, 0.08 to 0.29, all above zero, none shown best. Right, unseen hospital system: the winner at minus 0.12; this project, MIMIC-IV models on eICU patients, about zero with intervals including zero. Say it plainly: at home every model keeps a positive utility; away, we are not below silence but not above it either, and the sealed holdout decides. Organ grouping not supported on validation; rule-chosen shortlist GRU-D, TCN, flat 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One sentence of take-home, then the six things done differently, read as pairs, then what is known so far in three honest lines. Thank the audience and stop; the chair opens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open questions, for the chair or the RD6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Using AI for Sepsis Prediction: A Data-Driven, Mixed-Method Approach</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INFECTIOUS DISEASE</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Early detection of infection: lives and antibiotics saved</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13.7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infection-related deaths in 2019, 7.7 M of them linked to 33 common bacteria: 13.6 % of all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WHO 2021</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recommended AI reading of chest X-rays for tuberculosis screening, after independent testing matched expert readers [4, 5]</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[6]</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GBD 2019 AMR Collaborators, Lancet 2022   [2] AMR Collaborators, Lancet 2022   [3] Timbrook et al., Clin Infect Dis 2017   [4] WHO 2021   [5] Qin et al., Lancet Digit Health 2021   [6]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SEPSIS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infection with organ failure</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[7]</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[8]</a:t>
            </a:r>
            <a:endParaRPr lang="en-US" sz="1300" dirty="0"/>
          </a:p>
        </p:txBody>
      </p:sp>
      <p:sp>
        <p:nvSpPr>
          <p:cNvPr id="6" name="icon tile"/>
          <p:cNvSpPr/>
          <p:nvPr/>
        </p:nvSpPr>
        <p:spPr>
          <a:xfrm>
            <a:off x="548640" y="269748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825496"/>
            <a:ext cx="384048" cy="384048"/>
          </a:xfrm>
          <a:prstGeom prst="rect">
            <a:avLst/>
          </a:prstGeom>
        </p:spPr>
      </p:pic>
      <p:sp>
        <p:nvSpPr>
          <p:cNvPr id="8" name="text"/>
          <p:cNvSpPr txBox="1"/>
          <p:nvPr/>
        </p:nvSpPr>
        <p:spPr>
          <a:xfrm>
            <a:off x="1280160" y="26974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0175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69748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825496"/>
            <a:ext cx="384048" cy="384048"/>
          </a:xfrm>
          <a:prstGeom prst="rect">
            <a:avLst/>
          </a:prstGeom>
        </p:spPr>
      </p:pic>
      <p:sp>
        <p:nvSpPr>
          <p:cNvPr id="12" name="text"/>
          <p:cNvSpPr txBox="1"/>
          <p:nvPr/>
        </p:nvSpPr>
        <p:spPr>
          <a:xfrm>
            <a:off x="3218688" y="26974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0175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69748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825496"/>
            <a:ext cx="384048" cy="384048"/>
          </a:xfrm>
          <a:prstGeom prst="rect">
            <a:avLst/>
          </a:prstGeom>
        </p:spPr>
      </p:pic>
      <p:sp>
        <p:nvSpPr>
          <p:cNvPr id="16" name="text"/>
          <p:cNvSpPr txBox="1"/>
          <p:nvPr/>
        </p:nvSpPr>
        <p:spPr>
          <a:xfrm>
            <a:off x="5157216" y="26974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0175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06908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197096"/>
            <a:ext cx="384048" cy="384048"/>
          </a:xfrm>
          <a:prstGeom prst="rect">
            <a:avLst/>
          </a:prstGeom>
        </p:spPr>
      </p:pic>
      <p:sp>
        <p:nvSpPr>
          <p:cNvPr id="20" name="text"/>
          <p:cNvSpPr txBox="1"/>
          <p:nvPr/>
        </p:nvSpPr>
        <p:spPr>
          <a:xfrm>
            <a:off x="1280160" y="40690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3891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06908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197096"/>
            <a:ext cx="384048" cy="384048"/>
          </a:xfrm>
          <a:prstGeom prst="rect">
            <a:avLst/>
          </a:prstGeom>
        </p:spPr>
      </p:pic>
      <p:sp>
        <p:nvSpPr>
          <p:cNvPr id="24" name="text"/>
          <p:cNvSpPr txBox="1"/>
          <p:nvPr/>
        </p:nvSpPr>
        <p:spPr>
          <a:xfrm>
            <a:off x="3218688" y="40690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3891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06908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197096"/>
            <a:ext cx="384048" cy="384048"/>
          </a:xfrm>
          <a:prstGeom prst="rect">
            <a:avLst/>
          </a:prstGeom>
        </p:spPr>
      </p:pic>
      <p:sp>
        <p:nvSpPr>
          <p:cNvPr id="28" name="text"/>
          <p:cNvSpPr txBox="1"/>
          <p:nvPr/>
        </p:nvSpPr>
        <p:spPr>
          <a:xfrm>
            <a:off x="5157216" y="40690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3891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why it is hard"/>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b="1" dirty="0">
                <a:solidFill>
                  <a:srgbClr val="C8102E"/>
                </a:solidFill>
              </a:rPr>
              <a:t>Sepsis contributes to between one in two and one in three hospital deaths [9].</a:t>
            </a:r>
            <a:endParaRPr lang="en-US" sz="1400" dirty="0"/>
          </a:p>
          <a:p>
            <a:pPr marL="203200" indent="-203200">
              <a:spcAft>
                <a:spcPts val="1000"/>
              </a:spcAft>
              <a:buSzPct val="100000"/>
              <a:buChar char="•"/>
            </a:pPr>
            <a:r>
              <a:rPr lang="en-US" sz="1400" b="1" dirty="0">
                <a:solidFill>
                  <a:srgbClr val="C8102E"/>
                </a:solidFill>
              </a:rPr>
              <a:t>Each hour of delay to antibiotics raises the odds of death by about 4 % [10]; in septic shock survival falls by 7.6 % per hour [11].</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[12].</a:t>
            </a:r>
            <a:endParaRPr lang="en-US" sz="1400" dirty="0"/>
          </a:p>
        </p:txBody>
      </p:sp>
      <p:sp>
        <p:nvSpPr>
          <p:cNvPr id="33" name="text"/>
          <p:cNvSpPr txBox="1"/>
          <p:nvPr/>
        </p:nvSpPr>
        <p:spPr>
          <a:xfrm>
            <a:off x="548640" y="5486400"/>
            <a:ext cx="6035040" cy="457200"/>
          </a:xfrm>
          <a:prstGeom prst="rect">
            <a:avLst/>
          </a:prstGeom>
          <a:noFill/>
          <a:ln/>
        </p:spPr>
        <p:txBody>
          <a:bodyPr wrap="square" lIns="0" tIns="0" rIns="0" bIns="0" rtlCol="0" anchor="t"/>
          <a:lstStyle/>
          <a:p>
            <a:pPr algn="l" indent="0" marL="0">
              <a:buNone/>
            </a:pPr>
            <a:r>
              <a:rPr lang="en-US" sz="950" dirty="0">
                <a:solidFill>
                  <a:srgbClr val="5E5E5E"/>
                </a:solidFill>
              </a:rPr>
              <a:t>Sepsis-3: the Third International Consensus Definition (2016) [7].  SOFA: Sequential (Sepsis-related) Organ Failure Assessment [8].  SIRS: Systemic Inflammatory Response Syndrome, the 1992 criteria (temperature, heart rate, respiratory rate, white cells) [13].  qSOFA: quick SOFA [14].</a:t>
            </a:r>
            <a:endParaRPr lang="en-US" sz="950" dirty="0"/>
          </a:p>
        </p:txBody>
      </p:sp>
      <p:sp>
        <p:nvSpPr>
          <p:cNvPr id="3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Singer et al., JAMA 2016   [8] Vincent et al., Intensive Care Med 1996   [9] Liu et al., JAMA 2014   [10] Seymour et al., N Engl J Med 2017   [11] Kumar et al., Crit Care Med 2006   [12] Churpek et al., Am J Respir Crit Care Med 2017   [13] Bone et al., Chest 1992   [14]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CLINICAL AI</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strong in development, weak on external validation</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3172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81 % of 86 deep-learning algorithms for medical imaging performed worse on external data [15]. A model fell from AUC 0.90 to 0.50 when run silently on new patients [16]. Of 81 deep-learning studies, 9 were prospective and 6 tested in real clinical settings [17].</a:t>
            </a:r>
            <a:endParaRPr lang="en-US" sz="125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3172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The most used sepsis benchmark gives models 40 hourly variables [18]; treatments, devices and history are usually left out.</a:t>
            </a:r>
            <a:endParaRPr lang="en-US" sz="125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2628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Across 272 common laboratory tests, the fact that a test was ordered predicted survival in 86 % of them; for 68 %, the time of day it was ordered predicted survival better than the result [19]. The record carries the clinicians' decisions, and a model learns them. A pneumonia model learned which hospital took the X-ray [20].</a:t>
            </a:r>
            <a:endParaRPr lang="en-US" sz="125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2628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Data leakage: the model is given information from after the prediction time, or from the answer itself; it inflated results in at least 17 fields of science [21]. Usefulness depends on the action a prediction triggers, not on AUROC alone [22, 23].</a:t>
            </a:r>
            <a:endParaRPr lang="en-US" sz="125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Yu et al., Radiol Artif Intell 2022   [16] Kwong et al., Front Digit Health 2022   [17] Nagendran et al., BMJ 2020   [18] Reyna et al., Crit Care Med 2020   [19] Agniel et al., BMJ 2018   [20] Zech et al., PLoS Med 2018   [21] Kapoor et al., Patterns 2023   [22] Shah et al., JAMA 2019   [23]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SEPSIS AI</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the same gap, and what AUROC hides</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[18]</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 (official overall score 0.36)</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[24]</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[25]</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64008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text"/>
          <p:cNvSpPr txBox="1"/>
          <p:nvPr/>
        </p:nvSpPr>
        <p:spPr>
          <a:xfrm>
            <a:off x="6355080" y="3456432"/>
            <a:ext cx="5074920" cy="475488"/>
          </a:xfrm>
          <a:prstGeom prst="rect">
            <a:avLst/>
          </a:prstGeom>
          <a:noFill/>
          <a:ln/>
        </p:spPr>
        <p:txBody>
          <a:bodyPr wrap="square" lIns="0" tIns="0" rIns="0" bIns="0" rtlCol="0" anchor="t"/>
          <a:lstStyle/>
          <a:p>
            <a:pPr algn="l" indent="0" marL="0">
              <a:buNone/>
            </a:pPr>
            <a:r>
              <a:rPr lang="en-US" sz="1200" b="1" dirty="0">
                <a:solidFill>
                  <a:srgbClr val="C8102E"/>
                </a:solidFill>
              </a:rPr>
              <a:t>An AUROC cannot show this. A utility score counts every missed patient, every false alarm and the hours gained.</a:t>
            </a:r>
            <a:endParaRPr lang="en-US" sz="1200" dirty="0"/>
          </a:p>
        </p:txBody>
      </p:sp>
      <p:sp>
        <p:nvSpPr>
          <p:cNvPr id="18"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9"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[26]. </a:t>
            </a:r>
            <a:pPr indent="0" marL="0">
              <a:spcAft>
                <a:spcPts val="400"/>
              </a:spcAft>
              <a:buNone/>
            </a:pPr>
            <a:r>
              <a:rPr lang="en-US" sz="1400" dirty="0">
                <a:solidFill>
                  <a:srgbClr val="1B1B1B"/>
                </a:solidFill>
              </a:rPr>
              <a:t>Studies use different definitions and implementations of sepsis, so results cannot be compared [27].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[24] Morrill et al., Crit Care Med 2020   [25] Wong et al., JAMA Intern Med 2021   [26] Fleuren et al., Intensive Care Med 2020   [27]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question</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[26, 27]?</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[26] Fleuren et al., Intensive Care Med 2020   [27]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[28]</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Clinician plus AI finds more disease</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In randomised trials, endoscopists working with an AI detector found more pre-cancerous polyps: 37 % against 25 % [29]</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[30]</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[31]; health records encode care decisions [19]</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antibiotics are either fed to the model, which then "predicts" sepsis from the treatment given for sepsis, or thrown out altogether.</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a clinician can tell two kinds apart. One dose as the anaesthetic starts, stopped within a day, no culture sent: routine surgical prevention [32], which tells the model the patient has just had an operation. Antibiotics started because infection is suspected are part of the sepsis definition [33], so they are never an input.</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chest X-ray request or a stress-dose steroid order looks like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they mostly mean the team already suspects sepsis. Every result is reported with and without them, so we can tell how much of the signal comes from the patient and how much from the team.</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[19] Agniel et al., BMJ 2018   [28] Tschandl et al., Nat Med 2020   [29] Hassan et al., Gastrointest Endosc 2021   [30] Henry et al., NPJ Digit Med 2022   [31] Wiens et al., Nat Med 2019   [32] Bratzler et al., Am J Health Syst Pharm 2013   [33]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Chosen databases</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[34]</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[35]</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[18]</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[36]. No patient-level data leave the analysis environment. One sepsis definition is applied to both raw databases with published benchmark code [37, 38].</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[34] Johnson et al., Sci Data 2023   [35] Pollard et al., Sci Data 2018   [36] Goldberger et al., Circulation 2000   [37] van de Water et al., ICLR 2024   [38]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[14]</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659, each used only from the hour it became available</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21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[30].</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[16].</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[14] Seymour et al., JAMA 2016   [16] Kwong et al., Front Digit Health 2022   [30] Henry et al., NPJ Digit Med 2022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Models compared</a:t>
            </a:r>
            <a:endParaRPr lang="en-US" sz="2600" dirty="0"/>
          </a:p>
        </p:txBody>
      </p:sp>
      <p:sp>
        <p:nvSpPr>
          <p:cNvPr id="4" name="text"/>
          <p:cNvSpPr txBox="1"/>
          <p:nvPr/>
        </p:nvSpPr>
        <p:spPr>
          <a:xfrm>
            <a:off x="548640" y="1417320"/>
            <a:ext cx="6400800" cy="274320"/>
          </a:xfrm>
          <a:prstGeom prst="rect">
            <a:avLst/>
          </a:prstGeom>
          <a:noFill/>
          <a:ln/>
        </p:spPr>
        <p:txBody>
          <a:bodyPr wrap="square" lIns="0" tIns="0" rIns="0" bIns="0" rtlCol="0" anchor="t"/>
          <a:lstStyle/>
          <a:p>
            <a:pPr algn="l" indent="0" marL="0">
              <a:buNone/>
            </a:pPr>
            <a:r>
              <a:rPr lang="en-US" sz="1300" b="1" dirty="0">
                <a:solidFill>
                  <a:srgbClr val="C8102E"/>
                </a:solidFill>
              </a:rPr>
              <a:t>OSTA: organ-system-aware temporal attention, as built [39, 8]</a:t>
            </a:r>
            <a:endParaRPr lang="en-US" sz="1300" dirty="0"/>
          </a:p>
        </p:txBody>
      </p:sp>
      <p:sp>
        <p:nvSpPr>
          <p:cNvPr id="5" name="box"/>
          <p:cNvSpPr/>
          <p:nvPr/>
        </p:nvSpPr>
        <p:spPr>
          <a:xfrm>
            <a:off x="548640" y="1737360"/>
            <a:ext cx="1188720" cy="1600200"/>
          </a:xfrm>
          <a:prstGeom prst="rect">
            <a:avLst/>
          </a:prstGeom>
          <a:solidFill>
            <a:srgbClr val="F2F2F2"/>
          </a:solidFill>
          <a:ln w="12700">
            <a:solidFill>
              <a:srgbClr val="F2F2F2"/>
            </a:solidFill>
            <a:prstDash val="solid"/>
          </a:ln>
        </p:spPr>
      </p:sp>
      <p:sp>
        <p:nvSpPr>
          <p:cNvPr id="6" name="text"/>
          <p:cNvSpPr txBox="1"/>
          <p:nvPr/>
        </p:nvSpPr>
        <p:spPr>
          <a:xfrm>
            <a:off x="62179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1  Input, hour by hour</a:t>
            </a:r>
            <a:endParaRPr lang="en-US" sz="1050" dirty="0"/>
          </a:p>
        </p:txBody>
      </p:sp>
      <p:sp>
        <p:nvSpPr>
          <p:cNvPr id="7" name="text"/>
          <p:cNvSpPr txBox="1"/>
          <p:nvPr/>
        </p:nvSpPr>
        <p:spPr>
          <a:xfrm>
            <a:off x="62179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659 predictors, each as value, measured? and age; grouped by organ system: the 6 SOFA organs and 8 other groups</a:t>
            </a:r>
            <a:endParaRPr lang="en-US" sz="900" dirty="0"/>
          </a:p>
        </p:txBody>
      </p:sp>
      <p:sp>
        <p:nvSpPr>
          <p:cNvPr id="8" name="arrow"/>
          <p:cNvSpPr/>
          <p:nvPr/>
        </p:nvSpPr>
        <p:spPr>
          <a:xfrm>
            <a:off x="1737360" y="2532888"/>
            <a:ext cx="114300" cy="914"/>
          </a:xfrm>
          <a:prstGeom prst="line">
            <a:avLst/>
          </a:prstGeom>
          <a:noFill/>
          <a:ln w="12700">
            <a:solidFill>
              <a:srgbClr val="1B1B1B"/>
            </a:solidFill>
            <a:prstDash val="solid"/>
            <a:tailEnd type="triangle"/>
          </a:ln>
        </p:spPr>
      </p:sp>
      <p:sp>
        <p:nvSpPr>
          <p:cNvPr id="9" name="box"/>
          <p:cNvSpPr/>
          <p:nvPr/>
        </p:nvSpPr>
        <p:spPr>
          <a:xfrm>
            <a:off x="1851660" y="1737360"/>
            <a:ext cx="1188720" cy="1600200"/>
          </a:xfrm>
          <a:prstGeom prst="rect">
            <a:avLst/>
          </a:prstGeom>
          <a:solidFill>
            <a:srgbClr val="C8102E"/>
          </a:solidFill>
          <a:ln w="12700">
            <a:solidFill>
              <a:srgbClr val="C8102E"/>
            </a:solidFill>
            <a:prstDash val="solid"/>
          </a:ln>
        </p:spPr>
      </p:sp>
      <p:sp>
        <p:nvSpPr>
          <p:cNvPr id="10" name="text"/>
          <p:cNvSpPr txBox="1"/>
          <p:nvPr/>
        </p:nvSpPr>
        <p:spPr>
          <a:xfrm>
            <a:off x="1924812" y="1783080"/>
            <a:ext cx="1042416" cy="411480"/>
          </a:xfrm>
          <a:prstGeom prst="rect">
            <a:avLst/>
          </a:prstGeom>
          <a:noFill/>
          <a:ln/>
        </p:spPr>
        <p:txBody>
          <a:bodyPr wrap="square" lIns="0" tIns="0" rIns="0" bIns="0" rtlCol="0" anchor="t"/>
          <a:lstStyle/>
          <a:p>
            <a:pPr algn="l" indent="0" marL="0">
              <a:buNone/>
            </a:pPr>
            <a:r>
              <a:rPr lang="en-US" sz="1050" b="1" dirty="0">
                <a:solidFill>
                  <a:srgbClr val="FFFFFF"/>
                </a:solidFill>
              </a:rPr>
              <a:t>2  Attention over time</a:t>
            </a:r>
            <a:endParaRPr lang="en-US" sz="1050" dirty="0"/>
          </a:p>
        </p:txBody>
      </p:sp>
      <p:sp>
        <p:nvSpPr>
          <p:cNvPr id="11" name="text"/>
          <p:cNvSpPr txBox="1"/>
          <p:nvPr/>
        </p:nvSpPr>
        <p:spPr>
          <a:xfrm>
            <a:off x="1924812" y="2212848"/>
            <a:ext cx="1042416" cy="1097280"/>
          </a:xfrm>
          <a:prstGeom prst="rect">
            <a:avLst/>
          </a:prstGeom>
          <a:noFill/>
          <a:ln/>
        </p:spPr>
        <p:txBody>
          <a:bodyPr wrap="square" lIns="0" tIns="0" rIns="0" bIns="0" rtlCol="0" anchor="t"/>
          <a:lstStyle/>
          <a:p>
            <a:pPr algn="l" indent="0" marL="0">
              <a:buNone/>
            </a:pPr>
            <a:r>
              <a:rPr lang="en-US" sz="900" dirty="0">
                <a:solidFill>
                  <a:srgbClr val="FFFFFF"/>
                </a:solidFill>
              </a:rPr>
              <a:t>one small transformer per group reads that organ's past hours and weights them; causal: no future hour is visible</a:t>
            </a:r>
            <a:endParaRPr lang="en-US" sz="900" dirty="0"/>
          </a:p>
        </p:txBody>
      </p:sp>
      <p:sp>
        <p:nvSpPr>
          <p:cNvPr id="12" name="arrow"/>
          <p:cNvSpPr/>
          <p:nvPr/>
        </p:nvSpPr>
        <p:spPr>
          <a:xfrm>
            <a:off x="3040380" y="2532888"/>
            <a:ext cx="114300" cy="914"/>
          </a:xfrm>
          <a:prstGeom prst="line">
            <a:avLst/>
          </a:prstGeom>
          <a:noFill/>
          <a:ln w="12700">
            <a:solidFill>
              <a:srgbClr val="1B1B1B"/>
            </a:solidFill>
            <a:prstDash val="solid"/>
            <a:tailEnd type="triangle"/>
          </a:ln>
        </p:spPr>
      </p:sp>
      <p:sp>
        <p:nvSpPr>
          <p:cNvPr id="13" name="box"/>
          <p:cNvSpPr/>
          <p:nvPr/>
        </p:nvSpPr>
        <p:spPr>
          <a:xfrm>
            <a:off x="3154680" y="1737360"/>
            <a:ext cx="1188720" cy="1600200"/>
          </a:xfrm>
          <a:prstGeom prst="rect">
            <a:avLst/>
          </a:prstGeom>
          <a:solidFill>
            <a:srgbClr val="F2F2F2"/>
          </a:solidFill>
          <a:ln w="12700">
            <a:solidFill>
              <a:srgbClr val="F2F2F2"/>
            </a:solidFill>
            <a:prstDash val="solid"/>
          </a:ln>
        </p:spPr>
      </p:sp>
      <p:sp>
        <p:nvSpPr>
          <p:cNvPr id="14" name="text"/>
          <p:cNvSpPr txBox="1"/>
          <p:nvPr/>
        </p:nvSpPr>
        <p:spPr>
          <a:xfrm>
            <a:off x="322783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3  Cross-organ attention</a:t>
            </a:r>
            <a:endParaRPr lang="en-US" sz="1050" dirty="0"/>
          </a:p>
        </p:txBody>
      </p:sp>
      <p:sp>
        <p:nvSpPr>
          <p:cNvPr id="15" name="text"/>
          <p:cNvSpPr txBox="1"/>
          <p:nvPr/>
        </p:nvSpPr>
        <p:spPr>
          <a:xfrm>
            <a:off x="322783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at each hour the organ summaries exchange information: the kidney picture adjusts the reading of circulation</a:t>
            </a:r>
            <a:endParaRPr lang="en-US" sz="900" dirty="0"/>
          </a:p>
        </p:txBody>
      </p:sp>
      <p:sp>
        <p:nvSpPr>
          <p:cNvPr id="16" name="arrow"/>
          <p:cNvSpPr/>
          <p:nvPr/>
        </p:nvSpPr>
        <p:spPr>
          <a:xfrm>
            <a:off x="4343400" y="2532888"/>
            <a:ext cx="114300" cy="914"/>
          </a:xfrm>
          <a:prstGeom prst="line">
            <a:avLst/>
          </a:prstGeom>
          <a:noFill/>
          <a:ln w="12700">
            <a:solidFill>
              <a:srgbClr val="1B1B1B"/>
            </a:solidFill>
            <a:prstDash val="solid"/>
            <a:tailEnd type="triangle"/>
          </a:ln>
        </p:spPr>
      </p:sp>
      <p:sp>
        <p:nvSpPr>
          <p:cNvPr id="17" name="box"/>
          <p:cNvSpPr/>
          <p:nvPr/>
        </p:nvSpPr>
        <p:spPr>
          <a:xfrm>
            <a:off x="4457700" y="1737360"/>
            <a:ext cx="1188720" cy="1600200"/>
          </a:xfrm>
          <a:prstGeom prst="rect">
            <a:avLst/>
          </a:prstGeom>
          <a:solidFill>
            <a:srgbClr val="F2F2F2"/>
          </a:solidFill>
          <a:ln w="12700">
            <a:solidFill>
              <a:srgbClr val="F2F2F2"/>
            </a:solidFill>
            <a:prstDash val="solid"/>
          </a:ln>
        </p:spPr>
      </p:sp>
      <p:sp>
        <p:nvSpPr>
          <p:cNvPr id="18" name="text"/>
          <p:cNvSpPr txBox="1"/>
          <p:nvPr/>
        </p:nvSpPr>
        <p:spPr>
          <a:xfrm>
            <a:off x="453085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4  Global integration</a:t>
            </a:r>
            <a:endParaRPr lang="en-US" sz="1050" dirty="0"/>
          </a:p>
        </p:txBody>
      </p:sp>
      <p:sp>
        <p:nvSpPr>
          <p:cNvPr id="19" name="text"/>
          <p:cNvSpPr txBox="1"/>
          <p:nvPr/>
        </p:nvSpPr>
        <p:spPr>
          <a:xfrm>
            <a:off x="453085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a second transformer reads the whole stay (width 128, 4 heads)</a:t>
            </a:r>
            <a:endParaRPr lang="en-US" sz="900" dirty="0"/>
          </a:p>
        </p:txBody>
      </p:sp>
      <p:sp>
        <p:nvSpPr>
          <p:cNvPr id="20" name="arrow"/>
          <p:cNvSpPr/>
          <p:nvPr/>
        </p:nvSpPr>
        <p:spPr>
          <a:xfrm>
            <a:off x="5646420" y="2532888"/>
            <a:ext cx="114300" cy="914"/>
          </a:xfrm>
          <a:prstGeom prst="line">
            <a:avLst/>
          </a:prstGeom>
          <a:noFill/>
          <a:ln w="12700">
            <a:solidFill>
              <a:srgbClr val="1B1B1B"/>
            </a:solidFill>
            <a:prstDash val="solid"/>
            <a:tailEnd type="triangle"/>
          </a:ln>
        </p:spPr>
      </p:sp>
      <p:sp>
        <p:nvSpPr>
          <p:cNvPr id="21" name="box"/>
          <p:cNvSpPr/>
          <p:nvPr/>
        </p:nvSpPr>
        <p:spPr>
          <a:xfrm>
            <a:off x="5760720" y="1737360"/>
            <a:ext cx="1188720" cy="1600200"/>
          </a:xfrm>
          <a:prstGeom prst="rect">
            <a:avLst/>
          </a:prstGeom>
          <a:solidFill>
            <a:srgbClr val="F2F2F2"/>
          </a:solidFill>
          <a:ln w="12700">
            <a:solidFill>
              <a:srgbClr val="F2F2F2"/>
            </a:solidFill>
            <a:prstDash val="solid"/>
          </a:ln>
        </p:spPr>
      </p:sp>
      <p:sp>
        <p:nvSpPr>
          <p:cNvPr id="22" name="text"/>
          <p:cNvSpPr txBox="1"/>
          <p:nvPr/>
        </p:nvSpPr>
        <p:spPr>
          <a:xfrm>
            <a:off x="583387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5  Outputs</a:t>
            </a:r>
            <a:endParaRPr lang="en-US" sz="1050" dirty="0"/>
          </a:p>
        </p:txBody>
      </p:sp>
      <p:sp>
        <p:nvSpPr>
          <p:cNvPr id="23" name="text"/>
          <p:cNvSpPr txBox="1"/>
          <p:nvPr/>
        </p:nvSpPr>
        <p:spPr>
          <a:xfrm>
            <a:off x="583387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sepsis risk in the next 6 h, plus a risk per organ: which organ is driving it</a:t>
            </a:r>
            <a:endParaRPr lang="en-US" sz="900" dirty="0"/>
          </a:p>
        </p:txBody>
      </p:sp>
      <p:sp>
        <p:nvSpPr>
          <p:cNvPr id="24" name="text"/>
          <p:cNvSpPr txBox="1"/>
          <p:nvPr/>
        </p:nvSpPr>
        <p:spPr>
          <a:xfrm>
            <a:off x="548640" y="3429000"/>
            <a:ext cx="6400800" cy="256032"/>
          </a:xfrm>
          <a:prstGeom prst="rect">
            <a:avLst/>
          </a:prstGeom>
          <a:noFill/>
          <a:ln/>
        </p:spPr>
        <p:txBody>
          <a:bodyPr wrap="square" lIns="0" tIns="0" rIns="0" bIns="0" rtlCol="0" anchor="t"/>
          <a:lstStyle/>
          <a:p>
            <a:pPr algn="l" indent="0" marL="0">
              <a:buNone/>
            </a:pPr>
            <a:r>
              <a:rPr lang="en-US" sz="1050" b="1" dirty="0">
                <a:solidFill>
                  <a:srgbClr val="1B1B1B"/>
                </a:solidFill>
              </a:rPr>
              <a:t>Attention over time, one organ (kidneys): which past hours count for the current hour; illustrative weights</a:t>
            </a:r>
            <a:endParaRPr lang="en-US" sz="1050" dirty="0"/>
          </a:p>
        </p:txBody>
      </p:sp>
      <p:sp>
        <p:nvSpPr>
          <p:cNvPr id="25" name="weight bar"/>
          <p:cNvSpPr/>
          <p:nvPr/>
        </p:nvSpPr>
        <p:spPr>
          <a:xfrm>
            <a:off x="1453896" y="4514393"/>
            <a:ext cx="292608" cy="11887"/>
          </a:xfrm>
          <a:prstGeom prst="rect">
            <a:avLst/>
          </a:prstGeom>
          <a:solidFill>
            <a:srgbClr val="C8102E"/>
          </a:solidFill>
          <a:ln w="12700">
            <a:solidFill>
              <a:srgbClr val="FFFFFF"/>
            </a:solidFill>
            <a:prstDash val="solid"/>
          </a:ln>
        </p:spPr>
      </p:sp>
      <p:sp>
        <p:nvSpPr>
          <p:cNvPr id="26" name="box"/>
          <p:cNvSpPr/>
          <p:nvPr/>
        </p:nvSpPr>
        <p:spPr>
          <a:xfrm>
            <a:off x="1435608" y="4544568"/>
            <a:ext cx="329184" cy="256032"/>
          </a:xfrm>
          <a:prstGeom prst="rect">
            <a:avLst/>
          </a:prstGeom>
          <a:solidFill>
            <a:srgbClr val="F2F2F2"/>
          </a:solidFill>
          <a:ln w="6350">
            <a:solidFill>
              <a:srgbClr val="BDBDBD"/>
            </a:solidFill>
            <a:prstDash val="solid"/>
          </a:ln>
        </p:spPr>
      </p:sp>
      <p:sp>
        <p:nvSpPr>
          <p:cNvPr id="27" name="text"/>
          <p:cNvSpPr txBox="1"/>
          <p:nvPr/>
        </p:nvSpPr>
        <p:spPr>
          <a:xfrm>
            <a:off x="143560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-11 h</a:t>
            </a:r>
            <a:endParaRPr lang="en-US" sz="750" dirty="0"/>
          </a:p>
        </p:txBody>
      </p:sp>
      <p:sp>
        <p:nvSpPr>
          <p:cNvPr id="28" name="weight bar"/>
          <p:cNvSpPr/>
          <p:nvPr/>
        </p:nvSpPr>
        <p:spPr>
          <a:xfrm>
            <a:off x="1819656" y="4502506"/>
            <a:ext cx="292608" cy="23774"/>
          </a:xfrm>
          <a:prstGeom prst="rect">
            <a:avLst/>
          </a:prstGeom>
          <a:solidFill>
            <a:srgbClr val="C8102E"/>
          </a:solidFill>
          <a:ln w="12700">
            <a:solidFill>
              <a:srgbClr val="FFFFFF"/>
            </a:solidFill>
            <a:prstDash val="solid"/>
          </a:ln>
        </p:spPr>
      </p:sp>
      <p:sp>
        <p:nvSpPr>
          <p:cNvPr id="29" name="box"/>
          <p:cNvSpPr/>
          <p:nvPr/>
        </p:nvSpPr>
        <p:spPr>
          <a:xfrm>
            <a:off x="1801368" y="4544568"/>
            <a:ext cx="329184" cy="256032"/>
          </a:xfrm>
          <a:prstGeom prst="rect">
            <a:avLst/>
          </a:prstGeom>
          <a:solidFill>
            <a:srgbClr val="F2F2F2"/>
          </a:solidFill>
          <a:ln w="6350">
            <a:solidFill>
              <a:srgbClr val="BDBDBD"/>
            </a:solidFill>
            <a:prstDash val="solid"/>
          </a:ln>
        </p:spPr>
      </p:sp>
      <p:sp>
        <p:nvSpPr>
          <p:cNvPr id="30" name="text"/>
          <p:cNvSpPr txBox="1"/>
          <p:nvPr/>
        </p:nvSpPr>
        <p:spPr>
          <a:xfrm>
            <a:off x="180136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-10 h</a:t>
            </a:r>
            <a:endParaRPr lang="en-US" sz="750" dirty="0"/>
          </a:p>
        </p:txBody>
      </p:sp>
      <p:sp>
        <p:nvSpPr>
          <p:cNvPr id="31" name="weight bar"/>
          <p:cNvSpPr/>
          <p:nvPr/>
        </p:nvSpPr>
        <p:spPr>
          <a:xfrm>
            <a:off x="2185416" y="4318254"/>
            <a:ext cx="292608" cy="208026"/>
          </a:xfrm>
          <a:prstGeom prst="rect">
            <a:avLst/>
          </a:prstGeom>
          <a:solidFill>
            <a:srgbClr val="C8102E"/>
          </a:solidFill>
          <a:ln w="12700">
            <a:solidFill>
              <a:srgbClr val="FFFFFF"/>
            </a:solidFill>
            <a:prstDash val="solid"/>
          </a:ln>
        </p:spPr>
      </p:sp>
      <p:sp>
        <p:nvSpPr>
          <p:cNvPr id="32" name="box"/>
          <p:cNvSpPr/>
          <p:nvPr/>
        </p:nvSpPr>
        <p:spPr>
          <a:xfrm>
            <a:off x="2167128" y="4544568"/>
            <a:ext cx="329184" cy="256032"/>
          </a:xfrm>
          <a:prstGeom prst="rect">
            <a:avLst/>
          </a:prstGeom>
          <a:solidFill>
            <a:srgbClr val="F2F2F2"/>
          </a:solidFill>
          <a:ln w="6350">
            <a:solidFill>
              <a:srgbClr val="BDBDBD"/>
            </a:solidFill>
            <a:prstDash val="solid"/>
          </a:ln>
        </p:spPr>
      </p:sp>
      <p:sp>
        <p:nvSpPr>
          <p:cNvPr id="33" name="text"/>
          <p:cNvSpPr txBox="1"/>
          <p:nvPr/>
        </p:nvSpPr>
        <p:spPr>
          <a:xfrm>
            <a:off x="216712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-9 h</a:t>
            </a:r>
            <a:endParaRPr lang="en-US" sz="750" dirty="0"/>
          </a:p>
        </p:txBody>
      </p:sp>
      <p:sp>
        <p:nvSpPr>
          <p:cNvPr id="34" name="weight bar"/>
          <p:cNvSpPr/>
          <p:nvPr/>
        </p:nvSpPr>
        <p:spPr>
          <a:xfrm>
            <a:off x="2551176" y="4454957"/>
            <a:ext cx="292608" cy="71323"/>
          </a:xfrm>
          <a:prstGeom prst="rect">
            <a:avLst/>
          </a:prstGeom>
          <a:solidFill>
            <a:srgbClr val="C8102E"/>
          </a:solidFill>
          <a:ln w="12700">
            <a:solidFill>
              <a:srgbClr val="FFFFFF"/>
            </a:solidFill>
            <a:prstDash val="solid"/>
          </a:ln>
        </p:spPr>
      </p:sp>
      <p:sp>
        <p:nvSpPr>
          <p:cNvPr id="35" name="box"/>
          <p:cNvSpPr/>
          <p:nvPr/>
        </p:nvSpPr>
        <p:spPr>
          <a:xfrm>
            <a:off x="2532888" y="4544568"/>
            <a:ext cx="329184" cy="256032"/>
          </a:xfrm>
          <a:prstGeom prst="rect">
            <a:avLst/>
          </a:prstGeom>
          <a:solidFill>
            <a:srgbClr val="F2F2F2"/>
          </a:solidFill>
          <a:ln w="6350">
            <a:solidFill>
              <a:srgbClr val="BDBDBD"/>
            </a:solidFill>
            <a:prstDash val="solid"/>
          </a:ln>
        </p:spPr>
      </p:sp>
      <p:sp>
        <p:nvSpPr>
          <p:cNvPr id="36" name="text"/>
          <p:cNvSpPr txBox="1"/>
          <p:nvPr/>
        </p:nvSpPr>
        <p:spPr>
          <a:xfrm>
            <a:off x="253288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-8 h</a:t>
            </a:r>
            <a:endParaRPr lang="en-US" sz="750" dirty="0"/>
          </a:p>
        </p:txBody>
      </p:sp>
      <p:sp>
        <p:nvSpPr>
          <p:cNvPr id="37" name="weight bar"/>
          <p:cNvSpPr/>
          <p:nvPr/>
        </p:nvSpPr>
        <p:spPr>
          <a:xfrm>
            <a:off x="2916936" y="4502506"/>
            <a:ext cx="292608" cy="23774"/>
          </a:xfrm>
          <a:prstGeom prst="rect">
            <a:avLst/>
          </a:prstGeom>
          <a:solidFill>
            <a:srgbClr val="C8102E"/>
          </a:solidFill>
          <a:ln w="12700">
            <a:solidFill>
              <a:srgbClr val="FFFFFF"/>
            </a:solidFill>
            <a:prstDash val="solid"/>
          </a:ln>
        </p:spPr>
      </p:sp>
      <p:sp>
        <p:nvSpPr>
          <p:cNvPr id="38" name="box"/>
          <p:cNvSpPr/>
          <p:nvPr/>
        </p:nvSpPr>
        <p:spPr>
          <a:xfrm>
            <a:off x="2898648" y="4544568"/>
            <a:ext cx="329184" cy="256032"/>
          </a:xfrm>
          <a:prstGeom prst="rect">
            <a:avLst/>
          </a:prstGeom>
          <a:solidFill>
            <a:srgbClr val="F2F2F2"/>
          </a:solidFill>
          <a:ln w="6350">
            <a:solidFill>
              <a:srgbClr val="BDBDBD"/>
            </a:solidFill>
            <a:prstDash val="solid"/>
          </a:ln>
        </p:spPr>
      </p:sp>
      <p:sp>
        <p:nvSpPr>
          <p:cNvPr id="39" name="text"/>
          <p:cNvSpPr txBox="1"/>
          <p:nvPr/>
        </p:nvSpPr>
        <p:spPr>
          <a:xfrm>
            <a:off x="289864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-7 h</a:t>
            </a:r>
            <a:endParaRPr lang="en-US" sz="750" dirty="0"/>
          </a:p>
        </p:txBody>
      </p:sp>
      <p:sp>
        <p:nvSpPr>
          <p:cNvPr id="40" name="weight bar"/>
          <p:cNvSpPr/>
          <p:nvPr/>
        </p:nvSpPr>
        <p:spPr>
          <a:xfrm>
            <a:off x="3282696" y="4508449"/>
            <a:ext cx="292608" cy="17831"/>
          </a:xfrm>
          <a:prstGeom prst="rect">
            <a:avLst/>
          </a:prstGeom>
          <a:solidFill>
            <a:srgbClr val="C8102E"/>
          </a:solidFill>
          <a:ln w="12700">
            <a:solidFill>
              <a:srgbClr val="FFFFFF"/>
            </a:solidFill>
            <a:prstDash val="solid"/>
          </a:ln>
        </p:spPr>
      </p:sp>
      <p:sp>
        <p:nvSpPr>
          <p:cNvPr id="41" name="box"/>
          <p:cNvSpPr/>
          <p:nvPr/>
        </p:nvSpPr>
        <p:spPr>
          <a:xfrm>
            <a:off x="3264408" y="4544568"/>
            <a:ext cx="329184" cy="256032"/>
          </a:xfrm>
          <a:prstGeom prst="rect">
            <a:avLst/>
          </a:prstGeom>
          <a:solidFill>
            <a:srgbClr val="F2F2F2"/>
          </a:solidFill>
          <a:ln w="6350">
            <a:solidFill>
              <a:srgbClr val="BDBDBD"/>
            </a:solidFill>
            <a:prstDash val="solid"/>
          </a:ln>
        </p:spPr>
      </p:sp>
      <p:sp>
        <p:nvSpPr>
          <p:cNvPr id="42" name="text"/>
          <p:cNvSpPr txBox="1"/>
          <p:nvPr/>
        </p:nvSpPr>
        <p:spPr>
          <a:xfrm>
            <a:off x="326440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-6 h</a:t>
            </a:r>
            <a:endParaRPr lang="en-US" sz="750" dirty="0"/>
          </a:p>
        </p:txBody>
      </p:sp>
      <p:sp>
        <p:nvSpPr>
          <p:cNvPr id="43" name="weight bar"/>
          <p:cNvSpPr/>
          <p:nvPr/>
        </p:nvSpPr>
        <p:spPr>
          <a:xfrm>
            <a:off x="3648456" y="4478731"/>
            <a:ext cx="292608" cy="47549"/>
          </a:xfrm>
          <a:prstGeom prst="rect">
            <a:avLst/>
          </a:prstGeom>
          <a:solidFill>
            <a:srgbClr val="C8102E"/>
          </a:solidFill>
          <a:ln w="12700">
            <a:solidFill>
              <a:srgbClr val="FFFFFF"/>
            </a:solidFill>
            <a:prstDash val="solid"/>
          </a:ln>
        </p:spPr>
      </p:sp>
      <p:sp>
        <p:nvSpPr>
          <p:cNvPr id="44" name="box"/>
          <p:cNvSpPr/>
          <p:nvPr/>
        </p:nvSpPr>
        <p:spPr>
          <a:xfrm>
            <a:off x="3630168" y="4544568"/>
            <a:ext cx="329184" cy="256032"/>
          </a:xfrm>
          <a:prstGeom prst="rect">
            <a:avLst/>
          </a:prstGeom>
          <a:solidFill>
            <a:srgbClr val="F2F2F2"/>
          </a:solidFill>
          <a:ln w="6350">
            <a:solidFill>
              <a:srgbClr val="BDBDBD"/>
            </a:solidFill>
            <a:prstDash val="solid"/>
          </a:ln>
        </p:spPr>
      </p:sp>
      <p:sp>
        <p:nvSpPr>
          <p:cNvPr id="45" name="text"/>
          <p:cNvSpPr txBox="1"/>
          <p:nvPr/>
        </p:nvSpPr>
        <p:spPr>
          <a:xfrm>
            <a:off x="363016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-5 h</a:t>
            </a:r>
            <a:endParaRPr lang="en-US" sz="750" dirty="0"/>
          </a:p>
        </p:txBody>
      </p:sp>
      <p:sp>
        <p:nvSpPr>
          <p:cNvPr id="46" name="weight bar"/>
          <p:cNvSpPr/>
          <p:nvPr/>
        </p:nvSpPr>
        <p:spPr>
          <a:xfrm>
            <a:off x="4014216" y="4377690"/>
            <a:ext cx="292608" cy="148590"/>
          </a:xfrm>
          <a:prstGeom prst="rect">
            <a:avLst/>
          </a:prstGeom>
          <a:solidFill>
            <a:srgbClr val="C8102E"/>
          </a:solidFill>
          <a:ln w="12700">
            <a:solidFill>
              <a:srgbClr val="FFFFFF"/>
            </a:solidFill>
            <a:prstDash val="solid"/>
          </a:ln>
        </p:spPr>
      </p:sp>
      <p:sp>
        <p:nvSpPr>
          <p:cNvPr id="47" name="box"/>
          <p:cNvSpPr/>
          <p:nvPr/>
        </p:nvSpPr>
        <p:spPr>
          <a:xfrm>
            <a:off x="3995928" y="4544568"/>
            <a:ext cx="329184" cy="256032"/>
          </a:xfrm>
          <a:prstGeom prst="rect">
            <a:avLst/>
          </a:prstGeom>
          <a:solidFill>
            <a:srgbClr val="F2F2F2"/>
          </a:solidFill>
          <a:ln w="6350">
            <a:solidFill>
              <a:srgbClr val="BDBDBD"/>
            </a:solidFill>
            <a:prstDash val="solid"/>
          </a:ln>
        </p:spPr>
      </p:sp>
      <p:sp>
        <p:nvSpPr>
          <p:cNvPr id="48" name="text"/>
          <p:cNvSpPr txBox="1"/>
          <p:nvPr/>
        </p:nvSpPr>
        <p:spPr>
          <a:xfrm>
            <a:off x="399592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-4 h</a:t>
            </a:r>
            <a:endParaRPr lang="en-US" sz="750" dirty="0"/>
          </a:p>
        </p:txBody>
      </p:sp>
      <p:sp>
        <p:nvSpPr>
          <p:cNvPr id="49" name="weight bar"/>
          <p:cNvSpPr/>
          <p:nvPr/>
        </p:nvSpPr>
        <p:spPr>
          <a:xfrm>
            <a:off x="4379976" y="4258818"/>
            <a:ext cx="292608" cy="267462"/>
          </a:xfrm>
          <a:prstGeom prst="rect">
            <a:avLst/>
          </a:prstGeom>
          <a:solidFill>
            <a:srgbClr val="C8102E"/>
          </a:solidFill>
          <a:ln w="12700">
            <a:solidFill>
              <a:srgbClr val="FFFFFF"/>
            </a:solidFill>
            <a:prstDash val="solid"/>
          </a:ln>
        </p:spPr>
      </p:sp>
      <p:sp>
        <p:nvSpPr>
          <p:cNvPr id="50" name="box"/>
          <p:cNvSpPr/>
          <p:nvPr/>
        </p:nvSpPr>
        <p:spPr>
          <a:xfrm>
            <a:off x="4361688" y="4544568"/>
            <a:ext cx="329184" cy="256032"/>
          </a:xfrm>
          <a:prstGeom prst="rect">
            <a:avLst/>
          </a:prstGeom>
          <a:solidFill>
            <a:srgbClr val="F2F2F2"/>
          </a:solidFill>
          <a:ln w="6350">
            <a:solidFill>
              <a:srgbClr val="BDBDBD"/>
            </a:solidFill>
            <a:prstDash val="solid"/>
          </a:ln>
        </p:spPr>
      </p:sp>
      <p:sp>
        <p:nvSpPr>
          <p:cNvPr id="51" name="text"/>
          <p:cNvSpPr txBox="1"/>
          <p:nvPr/>
        </p:nvSpPr>
        <p:spPr>
          <a:xfrm>
            <a:off x="436168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-3 h</a:t>
            </a:r>
            <a:endParaRPr lang="en-US" sz="750" dirty="0"/>
          </a:p>
        </p:txBody>
      </p:sp>
      <p:sp>
        <p:nvSpPr>
          <p:cNvPr id="52" name="weight bar"/>
          <p:cNvSpPr/>
          <p:nvPr/>
        </p:nvSpPr>
        <p:spPr>
          <a:xfrm>
            <a:off x="4745736" y="4169664"/>
            <a:ext cx="292608" cy="356616"/>
          </a:xfrm>
          <a:prstGeom prst="rect">
            <a:avLst/>
          </a:prstGeom>
          <a:solidFill>
            <a:srgbClr val="C8102E"/>
          </a:solidFill>
          <a:ln w="12700">
            <a:solidFill>
              <a:srgbClr val="FFFFFF"/>
            </a:solidFill>
            <a:prstDash val="solid"/>
          </a:ln>
        </p:spPr>
      </p:sp>
      <p:sp>
        <p:nvSpPr>
          <p:cNvPr id="53" name="box"/>
          <p:cNvSpPr/>
          <p:nvPr/>
        </p:nvSpPr>
        <p:spPr>
          <a:xfrm>
            <a:off x="4727448" y="4544568"/>
            <a:ext cx="329184" cy="256032"/>
          </a:xfrm>
          <a:prstGeom prst="rect">
            <a:avLst/>
          </a:prstGeom>
          <a:solidFill>
            <a:srgbClr val="F2F2F2"/>
          </a:solidFill>
          <a:ln w="6350">
            <a:solidFill>
              <a:srgbClr val="BDBDBD"/>
            </a:solidFill>
            <a:prstDash val="solid"/>
          </a:ln>
        </p:spPr>
      </p:sp>
      <p:sp>
        <p:nvSpPr>
          <p:cNvPr id="54" name="text"/>
          <p:cNvSpPr txBox="1"/>
          <p:nvPr/>
        </p:nvSpPr>
        <p:spPr>
          <a:xfrm>
            <a:off x="472744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-2 h</a:t>
            </a:r>
            <a:endParaRPr lang="en-US" sz="750" dirty="0"/>
          </a:p>
        </p:txBody>
      </p:sp>
      <p:sp>
        <p:nvSpPr>
          <p:cNvPr id="55" name="weight bar"/>
          <p:cNvSpPr/>
          <p:nvPr/>
        </p:nvSpPr>
        <p:spPr>
          <a:xfrm>
            <a:off x="5111496" y="4318254"/>
            <a:ext cx="292608" cy="208026"/>
          </a:xfrm>
          <a:prstGeom prst="rect">
            <a:avLst/>
          </a:prstGeom>
          <a:solidFill>
            <a:srgbClr val="C8102E"/>
          </a:solidFill>
          <a:ln w="12700">
            <a:solidFill>
              <a:srgbClr val="FFFFFF"/>
            </a:solidFill>
            <a:prstDash val="solid"/>
          </a:ln>
        </p:spPr>
      </p:sp>
      <p:sp>
        <p:nvSpPr>
          <p:cNvPr id="56" name="box"/>
          <p:cNvSpPr/>
          <p:nvPr/>
        </p:nvSpPr>
        <p:spPr>
          <a:xfrm>
            <a:off x="5093208" y="4544568"/>
            <a:ext cx="329184" cy="256032"/>
          </a:xfrm>
          <a:prstGeom prst="rect">
            <a:avLst/>
          </a:prstGeom>
          <a:solidFill>
            <a:srgbClr val="F2F2F2"/>
          </a:solidFill>
          <a:ln w="6350">
            <a:solidFill>
              <a:srgbClr val="BDBDBD"/>
            </a:solidFill>
            <a:prstDash val="solid"/>
          </a:ln>
        </p:spPr>
      </p:sp>
      <p:sp>
        <p:nvSpPr>
          <p:cNvPr id="57" name="text"/>
          <p:cNvSpPr txBox="1"/>
          <p:nvPr/>
        </p:nvSpPr>
        <p:spPr>
          <a:xfrm>
            <a:off x="509320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-1 h</a:t>
            </a:r>
            <a:endParaRPr lang="en-US" sz="750" dirty="0"/>
          </a:p>
        </p:txBody>
      </p:sp>
      <p:sp>
        <p:nvSpPr>
          <p:cNvPr id="58" name="weight bar"/>
          <p:cNvSpPr/>
          <p:nvPr/>
        </p:nvSpPr>
        <p:spPr>
          <a:xfrm>
            <a:off x="5477256" y="3931920"/>
            <a:ext cx="292608" cy="594360"/>
          </a:xfrm>
          <a:prstGeom prst="rect">
            <a:avLst/>
          </a:prstGeom>
          <a:solidFill>
            <a:srgbClr val="1B1B1B"/>
          </a:solidFill>
          <a:ln w="12700">
            <a:solidFill>
              <a:srgbClr val="FFFFFF"/>
            </a:solidFill>
            <a:prstDash val="solid"/>
          </a:ln>
        </p:spPr>
      </p:sp>
      <p:sp>
        <p:nvSpPr>
          <p:cNvPr id="59" name="box"/>
          <p:cNvSpPr/>
          <p:nvPr/>
        </p:nvSpPr>
        <p:spPr>
          <a:xfrm>
            <a:off x="5458968" y="4544568"/>
            <a:ext cx="329184" cy="256032"/>
          </a:xfrm>
          <a:prstGeom prst="rect">
            <a:avLst/>
          </a:prstGeom>
          <a:solidFill>
            <a:srgbClr val="1B1B1B"/>
          </a:solidFill>
          <a:ln w="6350">
            <a:solidFill>
              <a:srgbClr val="1B1B1B"/>
            </a:solidFill>
            <a:prstDash val="solid"/>
          </a:ln>
        </p:spPr>
      </p:sp>
      <p:sp>
        <p:nvSpPr>
          <p:cNvPr id="60" name="text"/>
          <p:cNvSpPr txBox="1"/>
          <p:nvPr/>
        </p:nvSpPr>
        <p:spPr>
          <a:xfrm>
            <a:off x="5458968" y="4544568"/>
            <a:ext cx="329184" cy="256032"/>
          </a:xfrm>
          <a:prstGeom prst="rect">
            <a:avLst/>
          </a:prstGeom>
          <a:noFill/>
          <a:ln/>
        </p:spPr>
        <p:txBody>
          <a:bodyPr wrap="square" lIns="0" tIns="0" rIns="0" bIns="0" rtlCol="0" anchor="ctr"/>
          <a:lstStyle/>
          <a:p>
            <a:pPr algn="ctr" indent="0" marL="0">
              <a:buNone/>
            </a:pPr>
            <a:r>
              <a:rPr lang="en-US" sz="750" dirty="0">
                <a:solidFill>
                  <a:srgbClr val="FFFFFF"/>
                </a:solidFill>
              </a:rPr>
              <a:t>now</a:t>
            </a:r>
            <a:endParaRPr lang="en-US" sz="750" dirty="0"/>
          </a:p>
        </p:txBody>
      </p:sp>
      <p:sp>
        <p:nvSpPr>
          <p:cNvPr id="61" name="text"/>
          <p:cNvSpPr txBox="1"/>
          <p:nvPr/>
        </p:nvSpPr>
        <p:spPr>
          <a:xfrm>
            <a:off x="548640" y="4544568"/>
            <a:ext cx="822960" cy="256032"/>
          </a:xfrm>
          <a:prstGeom prst="rect">
            <a:avLst/>
          </a:prstGeom>
          <a:noFill/>
          <a:ln/>
        </p:spPr>
        <p:txBody>
          <a:bodyPr wrap="square" lIns="0" tIns="0" rIns="0" bIns="0" rtlCol="0" anchor="ctr"/>
          <a:lstStyle/>
          <a:p>
            <a:pPr algn="l" indent="0" marL="0">
              <a:buNone/>
            </a:pPr>
            <a:r>
              <a:rPr lang="en-US" sz="950" dirty="0">
                <a:solidFill>
                  <a:srgbClr val="5E5E5E"/>
                </a:solidFill>
              </a:rPr>
              <a:t>hours</a:t>
            </a:r>
            <a:endParaRPr lang="en-US" sz="950" dirty="0"/>
          </a:p>
        </p:txBody>
      </p:sp>
      <p:sp>
        <p:nvSpPr>
          <p:cNvPr id="62" name="text"/>
          <p:cNvSpPr txBox="1"/>
          <p:nvPr/>
        </p:nvSpPr>
        <p:spPr>
          <a:xfrm>
            <a:off x="548640" y="4023360"/>
            <a:ext cx="822960" cy="256032"/>
          </a:xfrm>
          <a:prstGeom prst="rect">
            <a:avLst/>
          </a:prstGeom>
          <a:noFill/>
          <a:ln/>
        </p:spPr>
        <p:txBody>
          <a:bodyPr wrap="square" lIns="0" tIns="0" rIns="0" bIns="0" rtlCol="0" anchor="t"/>
          <a:lstStyle/>
          <a:p>
            <a:pPr algn="l" indent="0" marL="0">
              <a:buNone/>
            </a:pPr>
            <a:r>
              <a:rPr lang="en-US" sz="950" dirty="0">
                <a:solidFill>
                  <a:srgbClr val="5E5E5E"/>
                </a:solidFill>
              </a:rPr>
              <a:t>weight</a:t>
            </a:r>
            <a:endParaRPr lang="en-US" sz="950" dirty="0"/>
          </a:p>
        </p:txBody>
      </p:sp>
      <p:sp>
        <p:nvSpPr>
          <p:cNvPr id="63" name="text"/>
          <p:cNvSpPr txBox="1"/>
          <p:nvPr/>
        </p:nvSpPr>
        <p:spPr>
          <a:xfrm>
            <a:off x="1892808" y="3730752"/>
            <a:ext cx="1371600" cy="201168"/>
          </a:xfrm>
          <a:prstGeom prst="rect">
            <a:avLst/>
          </a:prstGeom>
          <a:noFill/>
          <a:ln/>
        </p:spPr>
        <p:txBody>
          <a:bodyPr wrap="square" lIns="0" tIns="0" rIns="0" bIns="0" rtlCol="0" anchor="t"/>
          <a:lstStyle/>
          <a:p>
            <a:pPr algn="ctr" indent="0" marL="0">
              <a:buNone/>
            </a:pPr>
            <a:r>
              <a:rPr lang="en-US" sz="850" dirty="0">
                <a:solidFill>
                  <a:srgbClr val="C8102E"/>
                </a:solidFill>
              </a:rPr>
              <a:t>creatinine rose</a:t>
            </a:r>
            <a:endParaRPr lang="en-US" sz="850" dirty="0"/>
          </a:p>
        </p:txBody>
      </p:sp>
      <p:sp>
        <p:nvSpPr>
          <p:cNvPr id="64" name="text"/>
          <p:cNvSpPr txBox="1"/>
          <p:nvPr/>
        </p:nvSpPr>
        <p:spPr>
          <a:xfrm>
            <a:off x="4197096" y="3730752"/>
            <a:ext cx="1737360" cy="201168"/>
          </a:xfrm>
          <a:prstGeom prst="rect">
            <a:avLst/>
          </a:prstGeom>
          <a:noFill/>
          <a:ln/>
        </p:spPr>
        <p:txBody>
          <a:bodyPr wrap="square" lIns="0" tIns="0" rIns="0" bIns="0" rtlCol="0" anchor="t"/>
          <a:lstStyle/>
          <a:p>
            <a:pPr algn="ctr" indent="0" marL="0">
              <a:buNone/>
            </a:pPr>
            <a:r>
              <a:rPr lang="en-US" sz="850" dirty="0">
                <a:solidFill>
                  <a:srgbClr val="C8102E"/>
                </a:solidFill>
              </a:rPr>
              <a:t>urine output falling</a:t>
            </a:r>
            <a:endParaRPr lang="en-US" sz="850" dirty="0"/>
          </a:p>
        </p:txBody>
      </p:sp>
      <p:sp>
        <p:nvSpPr>
          <p:cNvPr id="65" name="future mask"/>
          <p:cNvSpPr/>
          <p:nvPr/>
        </p:nvSpPr>
        <p:spPr>
          <a:xfrm>
            <a:off x="5897880" y="3977640"/>
            <a:ext cx="960120" cy="822960"/>
          </a:xfrm>
          <a:prstGeom prst="rect">
            <a:avLst/>
          </a:prstGeom>
          <a:solidFill>
            <a:srgbClr val="FFFFFF"/>
          </a:solidFill>
          <a:ln w="9525">
            <a:solidFill>
              <a:srgbClr val="BDBDBD"/>
            </a:solidFill>
            <a:prstDash val="dash"/>
          </a:ln>
        </p:spPr>
      </p:sp>
      <p:sp>
        <p:nvSpPr>
          <p:cNvPr id="66" name="text"/>
          <p:cNvSpPr txBox="1"/>
          <p:nvPr/>
        </p:nvSpPr>
        <p:spPr>
          <a:xfrm>
            <a:off x="5916168" y="3977640"/>
            <a:ext cx="914400" cy="822960"/>
          </a:xfrm>
          <a:prstGeom prst="rect">
            <a:avLst/>
          </a:prstGeom>
          <a:noFill/>
          <a:ln/>
        </p:spPr>
        <p:txBody>
          <a:bodyPr wrap="square" lIns="0" tIns="0" rIns="0" bIns="0" rtlCol="0" anchor="ctr"/>
          <a:lstStyle/>
          <a:p>
            <a:pPr algn="ctr" indent="0" marL="0">
              <a:buNone/>
            </a:pPr>
            <a:r>
              <a:rPr lang="en-US" sz="850" dirty="0">
                <a:solidFill>
                  <a:srgbClr val="5E5E5E"/>
                </a:solidFill>
              </a:rPr>
              <a:t>future hours: masked</a:t>
            </a:r>
            <a:endParaRPr lang="en-US" sz="850" dirty="0"/>
          </a:p>
        </p:txBody>
      </p:sp>
      <p:sp>
        <p:nvSpPr>
          <p:cNvPr id="67" name="text"/>
          <p:cNvSpPr txBox="1"/>
          <p:nvPr/>
        </p:nvSpPr>
        <p:spPr>
          <a:xfrm>
            <a:off x="548640" y="4892040"/>
            <a:ext cx="6400800" cy="457200"/>
          </a:xfrm>
          <a:prstGeom prst="rect">
            <a:avLst/>
          </a:prstGeom>
          <a:noFill/>
          <a:ln/>
        </p:spPr>
        <p:txBody>
          <a:bodyPr wrap="square" lIns="0" tIns="0" rIns="0" bIns="0" rtlCol="0" anchor="t"/>
          <a:lstStyle/>
          <a:p>
            <a:pPr algn="l" indent="0" marL="0">
              <a:buNone/>
            </a:pPr>
            <a:r>
              <a:rPr lang="en-US" sz="1000" dirty="0">
                <a:solidFill>
                  <a:srgbClr val="1B1B1B"/>
                </a:solidFill>
              </a:rPr>
              <a:t>Why different: a flat model sees 659 numbers with no time; a recurrent model keeps one running summary; OSTA reads each organ's history, lets organs inform each other, and says which organ drives the risk.</a:t>
            </a:r>
            <a:endParaRPr lang="en-US" sz="1000" dirty="0"/>
          </a:p>
        </p:txBody>
      </p:sp>
      <p:sp>
        <p:nvSpPr>
          <p:cNvPr id="68" name="text"/>
          <p:cNvSpPr txBox="1"/>
          <p:nvPr/>
        </p:nvSpPr>
        <p:spPr>
          <a:xfrm>
            <a:off x="548640" y="5349240"/>
            <a:ext cx="6400800" cy="457200"/>
          </a:xfrm>
          <a:prstGeom prst="rect">
            <a:avLst/>
          </a:prstGeom>
          <a:noFill/>
          <a:ln/>
        </p:spPr>
        <p:txBody>
          <a:bodyPr wrap="square" lIns="0" tIns="0" rIns="0" bIns="0" rtlCol="0" anchor="t"/>
          <a:lstStyle/>
          <a:p>
            <a:pPr algn="l" indent="0" marL="0">
              <a:buNone/>
            </a:pPr>
            <a:r>
              <a:rPr lang="en-US" sz="1000" dirty="0">
                <a:solidFill>
                  <a:srgbClr val="5E5E5E"/>
                </a:solidFill>
              </a:rPr>
              <a:t>How built: per-organ encoders of width 32, global width 128, 4 heads, 2 + 2 layers, causal masks throughout, time as hours since ICU admission; every output passes a future-perturbation test [40].</a:t>
            </a:r>
            <a:endParaRPr lang="en-US" sz="1000" dirty="0"/>
          </a:p>
        </p:txBody>
      </p:sp>
      <p:sp>
        <p:nvSpPr>
          <p:cNvPr id="69" name="text"/>
          <p:cNvSpPr txBox="1"/>
          <p:nvPr/>
        </p:nvSpPr>
        <p:spPr>
          <a:xfrm>
            <a:off x="7223760" y="1417320"/>
            <a:ext cx="4419295" cy="274320"/>
          </a:xfrm>
          <a:prstGeom prst="rect">
            <a:avLst/>
          </a:prstGeom>
          <a:noFill/>
          <a:ln/>
        </p:spPr>
        <p:txBody>
          <a:bodyPr wrap="square" lIns="0" tIns="0" rIns="0" bIns="0" rtlCol="0" anchor="t"/>
          <a:lstStyle/>
          <a:p>
            <a:pPr algn="l" indent="0" marL="0">
              <a:buNone/>
            </a:pPr>
            <a:r>
              <a:rPr lang="en-US" sz="1250" b="1" dirty="0">
                <a:solidFill>
                  <a:srgbClr val="1B1B1B"/>
                </a:solidFill>
              </a:rPr>
              <a:t>Compared on identical hours, rules fixed in advance</a:t>
            </a:r>
            <a:endParaRPr lang="en-US" sz="1250" dirty="0"/>
          </a:p>
        </p:txBody>
      </p:sp>
      <p:sp>
        <p:nvSpPr>
          <p:cNvPr id="70" name="marker"/>
          <p:cNvSpPr/>
          <p:nvPr/>
        </p:nvSpPr>
        <p:spPr>
          <a:xfrm>
            <a:off x="7223760" y="1847088"/>
            <a:ext cx="109728" cy="109728"/>
          </a:xfrm>
          <a:prstGeom prst="rect">
            <a:avLst/>
          </a:prstGeom>
          <a:solidFill>
            <a:srgbClr val="C8102E"/>
          </a:solidFill>
          <a:ln w="12700">
            <a:solidFill>
              <a:srgbClr val="C8102E"/>
            </a:solidFill>
            <a:prstDash val="solid"/>
          </a:ln>
        </p:spPr>
      </p:sp>
      <p:sp>
        <p:nvSpPr>
          <p:cNvPr id="71" name="text"/>
          <p:cNvSpPr txBox="1"/>
          <p:nvPr/>
        </p:nvSpPr>
        <p:spPr>
          <a:xfrm>
            <a:off x="7452360" y="1783080"/>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OSTA without organ grouping</a:t>
            </a:r>
            <a:endParaRPr lang="en-US" sz="1200" dirty="0"/>
          </a:p>
        </p:txBody>
      </p:sp>
      <p:sp>
        <p:nvSpPr>
          <p:cNvPr id="72" name="text"/>
          <p:cNvSpPr txBox="1"/>
          <p:nvPr/>
        </p:nvSpPr>
        <p:spPr>
          <a:xfrm>
            <a:off x="7452360" y="2029968"/>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the ablation that decides whether organ structure stays</a:t>
            </a:r>
            <a:endParaRPr lang="en-US" sz="1050" dirty="0"/>
          </a:p>
        </p:txBody>
      </p:sp>
      <p:sp>
        <p:nvSpPr>
          <p:cNvPr id="73" name="marker"/>
          <p:cNvSpPr/>
          <p:nvPr/>
        </p:nvSpPr>
        <p:spPr>
          <a:xfrm>
            <a:off x="7223760" y="2414016"/>
            <a:ext cx="109728" cy="109728"/>
          </a:xfrm>
          <a:prstGeom prst="rect">
            <a:avLst/>
          </a:prstGeom>
          <a:solidFill>
            <a:srgbClr val="C8102E"/>
          </a:solidFill>
          <a:ln w="12700">
            <a:solidFill>
              <a:srgbClr val="C8102E"/>
            </a:solidFill>
            <a:prstDash val="solid"/>
          </a:ln>
        </p:spPr>
      </p:sp>
      <p:sp>
        <p:nvSpPr>
          <p:cNvPr id="74" name="text"/>
          <p:cNvSpPr txBox="1"/>
          <p:nvPr/>
        </p:nvSpPr>
        <p:spPr>
          <a:xfrm>
            <a:off x="7452360" y="2350008"/>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CNN-Transformer (earlier work)</a:t>
            </a:r>
            <a:endParaRPr lang="en-US" sz="1200" dirty="0"/>
          </a:p>
        </p:txBody>
      </p:sp>
      <p:sp>
        <p:nvSpPr>
          <p:cNvPr id="75" name="text"/>
          <p:cNvSpPr txBox="1"/>
          <p:nvPr/>
        </p:nvSpPr>
        <p:spPr>
          <a:xfrm>
            <a:off x="7452360" y="2596896"/>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local patterns over 1 to 12 h, then attention</a:t>
            </a:r>
            <a:endParaRPr lang="en-US" sz="1050" dirty="0"/>
          </a:p>
        </p:txBody>
      </p:sp>
      <p:sp>
        <p:nvSpPr>
          <p:cNvPr id="76" name="marker"/>
          <p:cNvSpPr/>
          <p:nvPr/>
        </p:nvSpPr>
        <p:spPr>
          <a:xfrm>
            <a:off x="7223760" y="2980944"/>
            <a:ext cx="109728" cy="109728"/>
          </a:xfrm>
          <a:prstGeom prst="rect">
            <a:avLst/>
          </a:prstGeom>
          <a:solidFill>
            <a:srgbClr val="C8102E"/>
          </a:solidFill>
          <a:ln w="12700">
            <a:solidFill>
              <a:srgbClr val="C8102E"/>
            </a:solidFill>
            <a:prstDash val="solid"/>
          </a:ln>
        </p:spPr>
      </p:sp>
      <p:sp>
        <p:nvSpPr>
          <p:cNvPr id="77" name="text"/>
          <p:cNvSpPr txBox="1"/>
          <p:nvPr/>
        </p:nvSpPr>
        <p:spPr>
          <a:xfrm>
            <a:off x="7452360" y="2916936"/>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GRU-D, temporal CNN</a:t>
            </a:r>
            <a:endParaRPr lang="en-US" sz="1200" dirty="0"/>
          </a:p>
        </p:txBody>
      </p:sp>
      <p:sp>
        <p:nvSpPr>
          <p:cNvPr id="78" name="text"/>
          <p:cNvSpPr txBox="1"/>
          <p:nvPr/>
        </p:nvSpPr>
        <p:spPr>
          <a:xfrm>
            <a:off x="7452360" y="3163824"/>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models built for irregular ICU data [41, 42]</a:t>
            </a:r>
            <a:endParaRPr lang="en-US" sz="1050" dirty="0"/>
          </a:p>
        </p:txBody>
      </p:sp>
      <p:sp>
        <p:nvSpPr>
          <p:cNvPr id="79" name="marker"/>
          <p:cNvSpPr/>
          <p:nvPr/>
        </p:nvSpPr>
        <p:spPr>
          <a:xfrm>
            <a:off x="7223760" y="3547872"/>
            <a:ext cx="109728" cy="109728"/>
          </a:xfrm>
          <a:prstGeom prst="rect">
            <a:avLst/>
          </a:prstGeom>
          <a:solidFill>
            <a:srgbClr val="C8102E"/>
          </a:solidFill>
          <a:ln w="12700">
            <a:solidFill>
              <a:srgbClr val="C8102E"/>
            </a:solidFill>
            <a:prstDash val="solid"/>
          </a:ln>
        </p:spPr>
      </p:sp>
      <p:sp>
        <p:nvSpPr>
          <p:cNvPr id="80" name="text"/>
          <p:cNvSpPr txBox="1"/>
          <p:nvPr/>
        </p:nvSpPr>
        <p:spPr>
          <a:xfrm>
            <a:off x="7452360" y="3483864"/>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Signatures + boosted trees</a:t>
            </a:r>
            <a:endParaRPr lang="en-US" sz="1200" dirty="0"/>
          </a:p>
        </p:txBody>
      </p:sp>
      <p:sp>
        <p:nvSpPr>
          <p:cNvPr id="81" name="text"/>
          <p:cNvSpPr txBox="1"/>
          <p:nvPr/>
        </p:nvSpPr>
        <p:spPr>
          <a:xfrm>
            <a:off x="7452360" y="3730752"/>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the PhysioNet 2019 winner's approach [24]</a:t>
            </a:r>
            <a:endParaRPr lang="en-US" sz="1050" dirty="0"/>
          </a:p>
        </p:txBody>
      </p:sp>
      <p:sp>
        <p:nvSpPr>
          <p:cNvPr id="82" name="marker"/>
          <p:cNvSpPr/>
          <p:nvPr/>
        </p:nvSpPr>
        <p:spPr>
          <a:xfrm>
            <a:off x="7223760" y="4114800"/>
            <a:ext cx="109728" cy="109728"/>
          </a:xfrm>
          <a:prstGeom prst="rect">
            <a:avLst/>
          </a:prstGeom>
          <a:solidFill>
            <a:srgbClr val="C8102E"/>
          </a:solidFill>
          <a:ln w="12700">
            <a:solidFill>
              <a:srgbClr val="C8102E"/>
            </a:solidFill>
            <a:prstDash val="solid"/>
          </a:ln>
        </p:spPr>
      </p:sp>
      <p:sp>
        <p:nvSpPr>
          <p:cNvPr id="83" name="text"/>
          <p:cNvSpPr txBox="1"/>
          <p:nvPr/>
        </p:nvSpPr>
        <p:spPr>
          <a:xfrm>
            <a:off x="7452360" y="4050792"/>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Self-supervised pretraining</a:t>
            </a:r>
            <a:endParaRPr lang="en-US" sz="1200" dirty="0"/>
          </a:p>
        </p:txBody>
      </p:sp>
      <p:sp>
        <p:nvSpPr>
          <p:cNvPr id="84" name="text"/>
          <p:cNvSpPr txBox="1"/>
          <p:nvPr/>
        </p:nvSpPr>
        <p:spPr>
          <a:xfrm>
            <a:off x="7452360" y="4297680"/>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learn from unlabelled stays first [43]</a:t>
            </a:r>
            <a:endParaRPr lang="en-US" sz="1050" dirty="0"/>
          </a:p>
        </p:txBody>
      </p:sp>
      <p:sp>
        <p:nvSpPr>
          <p:cNvPr id="85" name="marker"/>
          <p:cNvSpPr/>
          <p:nvPr/>
        </p:nvSpPr>
        <p:spPr>
          <a:xfrm>
            <a:off x="7223760" y="4681728"/>
            <a:ext cx="109728" cy="109728"/>
          </a:xfrm>
          <a:prstGeom prst="rect">
            <a:avLst/>
          </a:prstGeom>
          <a:solidFill>
            <a:srgbClr val="C8102E"/>
          </a:solidFill>
          <a:ln w="12700">
            <a:solidFill>
              <a:srgbClr val="C8102E"/>
            </a:solidFill>
            <a:prstDash val="solid"/>
          </a:ln>
        </p:spPr>
      </p:sp>
      <p:sp>
        <p:nvSpPr>
          <p:cNvPr id="86" name="text"/>
          <p:cNvSpPr txBox="1"/>
          <p:nvPr/>
        </p:nvSpPr>
        <p:spPr>
          <a:xfrm>
            <a:off x="7452360" y="4617720"/>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Logistic regression, boosted trees</a:t>
            </a:r>
            <a:endParaRPr lang="en-US" sz="1200" dirty="0"/>
          </a:p>
        </p:txBody>
      </p:sp>
      <p:sp>
        <p:nvSpPr>
          <p:cNvPr id="87" name="text"/>
          <p:cNvSpPr txBox="1"/>
          <p:nvPr/>
        </p:nvSpPr>
        <p:spPr>
          <a:xfrm>
            <a:off x="7452360" y="4864608"/>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simple baselines</a:t>
            </a:r>
            <a:endParaRPr lang="en-US" sz="1050" dirty="0"/>
          </a:p>
        </p:txBody>
      </p:sp>
      <p:sp>
        <p:nvSpPr>
          <p:cNvPr id="88" name="text"/>
          <p:cNvSpPr txBox="1"/>
          <p:nvPr/>
        </p:nvSpPr>
        <p:spPr>
          <a:xfrm>
            <a:off x="7223760" y="5212080"/>
            <a:ext cx="4419295" cy="548640"/>
          </a:xfrm>
          <a:prstGeom prst="rect">
            <a:avLst/>
          </a:prstGeom>
          <a:noFill/>
          <a:ln/>
        </p:spPr>
        <p:txBody>
          <a:bodyPr wrap="square" lIns="0" tIns="0" rIns="0" bIns="0" rtlCol="0" anchor="t"/>
          <a:lstStyle/>
          <a:p>
            <a:pPr algn="l" indent="0" marL="0">
              <a:buNone/>
            </a:pPr>
            <a:r>
              <a:rPr lang="en-US" sz="1050" dirty="0">
                <a:solidFill>
                  <a:srgbClr val="5E5E5E"/>
                </a:solidFill>
              </a:rPr>
              <a:t>Training loss chosen by clinical utility, against plain and time-smoothed losses [44]. Organ structure stays only if OSTA beats the flat model on validation.</a:t>
            </a:r>
            <a:endParaRPr lang="en-US" sz="1050" dirty="0"/>
          </a:p>
        </p:txBody>
      </p:sp>
      <p:sp>
        <p:nvSpPr>
          <p:cNvPr id="8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[8] Vincent et al., Intensive Care Med 1996   [24] Morrill et al., Crit Care Med 2020   [39] Vaswani et al., NeurIPS 2017   [40] This work, preliminary, unpublished   [41] Che et al., Sci Rep 2018   [42] Bai et al., arXiv 2018   [43] Yeche et al., ICML 2021   [44]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RESULTS: COHORT STUDY</a:t>
            </a:r>
            <a:endParaRPr lang="en-US" sz="1100" dirty="0"/>
          </a:p>
        </p:txBody>
      </p:sp>
      <p:sp>
        <p:nvSpPr>
          <p:cNvPr id="3" name="status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SUBMITTED  |  Frontiers in Medicine, under review</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onset in the ICU: the cohort study</a:t>
            </a:r>
            <a:endParaRPr lang="en-US" sz="2600" dirty="0"/>
          </a:p>
        </p:txBody>
      </p:sp>
      <p:sp>
        <p:nvSpPr>
          <p:cNvPr id="6" name="text"/>
          <p:cNvSpPr txBox="1"/>
          <p:nvPr/>
        </p:nvSpPr>
        <p:spPr>
          <a:xfrm>
            <a:off x="548640" y="1417320"/>
            <a:ext cx="11094415" cy="274320"/>
          </a:xfrm>
          <a:prstGeom prst="rect">
            <a:avLst/>
          </a:prstGeom>
          <a:noFill/>
          <a:ln/>
        </p:spPr>
        <p:txBody>
          <a:bodyPr wrap="square" lIns="0" tIns="0" rIns="0" bIns="0" rtlCol="0" anchor="t"/>
          <a:lstStyle/>
          <a:p>
            <a:pPr algn="l" indent="0" marL="0">
              <a:buNone/>
            </a:pPr>
            <a:r>
              <a:rPr lang="en-US" sz="1300" b="1" dirty="0">
                <a:solidFill>
                  <a:srgbClr val="C8102E"/>
                </a:solidFill>
              </a:rPr>
              <a:t>PhysioNet 2019 ICU patients: descriptive analysis and Cox regression [45, 18]</a:t>
            </a:r>
            <a:endParaRPr lang="en-US" sz="1300" dirty="0"/>
          </a:p>
        </p:txBody>
      </p:sp>
      <p:sp>
        <p:nvSpPr>
          <p:cNvPr id="7" name="box"/>
          <p:cNvSpPr/>
          <p:nvPr/>
        </p:nvSpPr>
        <p:spPr>
          <a:xfrm>
            <a:off x="548640" y="1783080"/>
            <a:ext cx="2651760" cy="1143000"/>
          </a:xfrm>
          <a:prstGeom prst="rect">
            <a:avLst/>
          </a:prstGeom>
          <a:solidFill>
            <a:srgbClr val="F2F2F2"/>
          </a:solidFill>
          <a:ln w="12700">
            <a:solidFill>
              <a:srgbClr val="F2F2F2"/>
            </a:solidFill>
            <a:prstDash val="solid"/>
          </a:ln>
        </p:spPr>
      </p:sp>
      <p:sp>
        <p:nvSpPr>
          <p:cNvPr id="8" name="text"/>
          <p:cNvSpPr txBox="1"/>
          <p:nvPr/>
        </p:nvSpPr>
        <p:spPr>
          <a:xfrm>
            <a:off x="685800"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27,101</a:t>
            </a:r>
            <a:endParaRPr lang="en-US" sz="2800" dirty="0"/>
          </a:p>
        </p:txBody>
      </p:sp>
      <p:sp>
        <p:nvSpPr>
          <p:cNvPr id="9" name="text"/>
          <p:cNvSpPr txBox="1"/>
          <p:nvPr/>
        </p:nvSpPr>
        <p:spPr>
          <a:xfrm>
            <a:off x="685800"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ICU patients</a:t>
            </a:r>
            <a:endParaRPr lang="en-US" sz="1200" dirty="0"/>
          </a:p>
        </p:txBody>
      </p:sp>
      <p:sp>
        <p:nvSpPr>
          <p:cNvPr id="10" name="box"/>
          <p:cNvSpPr/>
          <p:nvPr/>
        </p:nvSpPr>
        <p:spPr>
          <a:xfrm>
            <a:off x="3355848" y="1783080"/>
            <a:ext cx="2651760" cy="1143000"/>
          </a:xfrm>
          <a:prstGeom prst="rect">
            <a:avLst/>
          </a:prstGeom>
          <a:solidFill>
            <a:srgbClr val="F2F2F2"/>
          </a:solidFill>
          <a:ln w="12700">
            <a:solidFill>
              <a:srgbClr val="F2F2F2"/>
            </a:solidFill>
            <a:prstDash val="solid"/>
          </a:ln>
        </p:spPr>
      </p:sp>
      <p:sp>
        <p:nvSpPr>
          <p:cNvPr id="11" name="text"/>
          <p:cNvSpPr txBox="1"/>
          <p:nvPr/>
        </p:nvSpPr>
        <p:spPr>
          <a:xfrm>
            <a:off x="3493008"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8 %</a:t>
            </a:r>
            <a:endParaRPr lang="en-US" sz="2800" dirty="0"/>
          </a:p>
        </p:txBody>
      </p:sp>
      <p:sp>
        <p:nvSpPr>
          <p:cNvPr id="12" name="text"/>
          <p:cNvSpPr txBox="1"/>
          <p:nvPr/>
        </p:nvSpPr>
        <p:spPr>
          <a:xfrm>
            <a:off x="3493008"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developed sepsis (2,181 patients)</a:t>
            </a:r>
            <a:endParaRPr lang="en-US" sz="1200" dirty="0"/>
          </a:p>
        </p:txBody>
      </p:sp>
      <p:sp>
        <p:nvSpPr>
          <p:cNvPr id="13" name="box"/>
          <p:cNvSpPr/>
          <p:nvPr/>
        </p:nvSpPr>
        <p:spPr>
          <a:xfrm>
            <a:off x="6163056" y="1783080"/>
            <a:ext cx="2651760" cy="1143000"/>
          </a:xfrm>
          <a:prstGeom prst="rect">
            <a:avLst/>
          </a:prstGeom>
          <a:solidFill>
            <a:srgbClr val="F2F2F2"/>
          </a:solidFill>
          <a:ln w="12700">
            <a:solidFill>
              <a:srgbClr val="F2F2F2"/>
            </a:solidFill>
            <a:prstDash val="solid"/>
          </a:ln>
        </p:spPr>
      </p:sp>
      <p:sp>
        <p:nvSpPr>
          <p:cNvPr id="14" name="text"/>
          <p:cNvSpPr txBox="1"/>
          <p:nvPr/>
        </p:nvSpPr>
        <p:spPr>
          <a:xfrm>
            <a:off x="6300216"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100 h</a:t>
            </a:r>
            <a:endParaRPr lang="en-US" sz="2800" dirty="0"/>
          </a:p>
        </p:txBody>
      </p:sp>
      <p:sp>
        <p:nvSpPr>
          <p:cNvPr id="15" name="text"/>
          <p:cNvSpPr txBox="1"/>
          <p:nvPr/>
        </p:nvSpPr>
        <p:spPr>
          <a:xfrm>
            <a:off x="6300216"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median time to onset (Kaplan-Meier)</a:t>
            </a:r>
            <a:endParaRPr lang="en-US" sz="1200" dirty="0"/>
          </a:p>
        </p:txBody>
      </p:sp>
      <p:sp>
        <p:nvSpPr>
          <p:cNvPr id="16" name="box"/>
          <p:cNvSpPr/>
          <p:nvPr/>
        </p:nvSpPr>
        <p:spPr>
          <a:xfrm>
            <a:off x="8970264" y="1783080"/>
            <a:ext cx="2651760" cy="1143000"/>
          </a:xfrm>
          <a:prstGeom prst="rect">
            <a:avLst/>
          </a:prstGeom>
          <a:solidFill>
            <a:srgbClr val="F2F2F2"/>
          </a:solidFill>
          <a:ln w="12700">
            <a:solidFill>
              <a:srgbClr val="F2F2F2"/>
            </a:solidFill>
            <a:prstDash val="solid"/>
          </a:ln>
        </p:spPr>
      </p:sp>
      <p:sp>
        <p:nvSpPr>
          <p:cNvPr id="17" name="text"/>
          <p:cNvSpPr txBox="1"/>
          <p:nvPr/>
        </p:nvSpPr>
        <p:spPr>
          <a:xfrm>
            <a:off x="9107424"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81 h vs 48 h</a:t>
            </a:r>
            <a:endParaRPr lang="en-US" sz="2800" dirty="0"/>
          </a:p>
        </p:txBody>
      </p:sp>
      <p:sp>
        <p:nvSpPr>
          <p:cNvPr id="18" name="text"/>
          <p:cNvSpPr txBox="1"/>
          <p:nvPr/>
        </p:nvSpPr>
        <p:spPr>
          <a:xfrm>
            <a:off x="9107424"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hospital-to-ICU time, sepsis vs no sepsis</a:t>
            </a:r>
            <a:endParaRPr lang="en-US" sz="1200" dirty="0"/>
          </a:p>
        </p:txBody>
      </p:sp>
      <p:sp>
        <p:nvSpPr>
          <p:cNvPr id="19" name="text"/>
          <p:cNvSpPr txBox="1"/>
          <p:nvPr/>
        </p:nvSpPr>
        <p:spPr>
          <a:xfrm>
            <a:off x="548640" y="3108960"/>
            <a:ext cx="5120640" cy="274320"/>
          </a:xfrm>
          <a:prstGeom prst="rect">
            <a:avLst/>
          </a:prstGeom>
          <a:noFill/>
          <a:ln/>
        </p:spPr>
        <p:txBody>
          <a:bodyPr wrap="square" lIns="0" tIns="0" rIns="0" bIns="0" rtlCol="0" anchor="t"/>
          <a:lstStyle/>
          <a:p>
            <a:pPr algn="l" indent="0" marL="0">
              <a:buNone/>
            </a:pPr>
            <a:r>
              <a:rPr lang="en-US" sz="1300" b="1" dirty="0">
                <a:solidFill>
                  <a:srgbClr val="1B1B1B"/>
                </a:solidFill>
              </a:rPr>
              <a:t>Descriptive: who develops sepsis</a:t>
            </a:r>
            <a:endParaRPr lang="en-US" sz="1300" dirty="0"/>
          </a:p>
        </p:txBody>
      </p:sp>
      <p:sp>
        <p:nvSpPr>
          <p:cNvPr id="20" name="list"/>
          <p:cNvSpPr txBox="1"/>
          <p:nvPr/>
        </p:nvSpPr>
        <p:spPr>
          <a:xfrm>
            <a:off x="548640" y="3429000"/>
            <a:ext cx="5120640" cy="164592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B1B1B"/>
                </a:solidFill>
              </a:rPr>
              <a:t>Sepsis patients reached the ICU later and stayed longer (27 h vs 20 h).</a:t>
            </a:r>
            <a:endParaRPr lang="en-US" sz="1200" dirty="0"/>
          </a:p>
          <a:p>
            <a:pPr marL="203200" indent="-203200">
              <a:spcAft>
                <a:spcPts val="600"/>
              </a:spcAft>
              <a:buSzPct val="100000"/>
              <a:buChar char="•"/>
            </a:pPr>
            <a:r>
              <a:rPr lang="en-US" sz="1200" dirty="0">
                <a:solidFill>
                  <a:srgbClr val="1B1B1B"/>
                </a:solidFill>
              </a:rPr>
              <a:t>APACHE II, SOFA, NEWS and SIRS all higher in the sepsis group, and rising over the stay.</a:t>
            </a:r>
            <a:endParaRPr lang="en-US" sz="1200" dirty="0"/>
          </a:p>
          <a:p>
            <a:pPr marL="203200" indent="-203200">
              <a:spcAft>
                <a:spcPts val="600"/>
              </a:spcAft>
              <a:buSzPct val="100000"/>
              <a:buChar char="•"/>
            </a:pPr>
            <a:r>
              <a:rPr lang="en-US" sz="1200" dirty="0">
                <a:solidFill>
                  <a:srgbClr val="1B1B1B"/>
                </a:solidFill>
              </a:rPr>
              <a:t>Heart rate and respiratory rate higher; creatinine, urea and glucose higher; haemoglobin lower.</a:t>
            </a:r>
            <a:endParaRPr lang="en-US" sz="1200" dirty="0"/>
          </a:p>
        </p:txBody>
      </p:sp>
      <p:sp>
        <p:nvSpPr>
          <p:cNvPr id="21" name="text"/>
          <p:cNvSpPr txBox="1"/>
          <p:nvPr/>
        </p:nvSpPr>
        <p:spPr>
          <a:xfrm>
            <a:off x="6035040" y="3108960"/>
            <a:ext cx="5577840" cy="274320"/>
          </a:xfrm>
          <a:prstGeom prst="rect">
            <a:avLst/>
          </a:prstGeom>
          <a:noFill/>
          <a:ln/>
        </p:spPr>
        <p:txBody>
          <a:bodyPr wrap="square" lIns="0" tIns="0" rIns="0" bIns="0" rtlCol="0" anchor="t"/>
          <a:lstStyle/>
          <a:p>
            <a:pPr algn="l" indent="0" marL="0">
              <a:buNone/>
            </a:pPr>
            <a:r>
              <a:rPr lang="en-US" sz="1300" b="1" dirty="0">
                <a:solidFill>
                  <a:srgbClr val="1B1B1B"/>
                </a:solidFill>
              </a:rPr>
              <a:t>Early predictors, label moved 6 h earlier: Cox hazard ratios</a:t>
            </a:r>
            <a:endParaRPr lang="en-US" sz="1300" dirty="0"/>
          </a:p>
        </p:txBody>
      </p:sp>
      <p:graphicFrame>
        <p:nvGraphicFramePr>
          <p:cNvPr id="12" name="cox table"/>
          <p:cNvGraphicFramePr>
            <a:graphicFrameLocks noGrp="1"/>
          </p:cNvGraphicFramePr>
          <p:nvPr>
            <p:extLst>
              <p:ext uri="{D42A27DB-BD31-4B8C-83A1-F6EECF244321}">
                <p14:modId xmlns:p14="http://schemas.microsoft.com/office/powerpoint/2010/main" val="1579011935"/>
              </p:ext>
            </p:extLst>
          </p:nvPr>
        </p:nvGraphicFramePr>
        <p:xfrm>
          <a:off x="6035040" y="3429000"/>
          <a:ext cx="5577840" cy="914400"/>
        </p:xfrm>
        <a:graphic>
          <a:graphicData uri="http://schemas.openxmlformats.org/drawingml/2006/table">
            <a:tbl>
              <a:tblPr/>
              <a:tblGrid>
                <a:gridCol w="1417320"/>
                <a:gridCol w="457200"/>
                <a:gridCol w="914400"/>
                <a:gridCol w="1417320"/>
                <a:gridCol w="457200"/>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Predictor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95 % CI</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Predictor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95 % CI</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SIRS criteria, per point</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1.20</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1.05 to 1.36</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Heart rate, per beat/min</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1.02</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1.01 to 1.02</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APACHE II, per point</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1.02 to 1.07</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Respiratory rate, per breath/min</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1.01</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 to 1.02</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Male sex</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1.16</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1.04 to 1.28</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Potassium, per mmol/L</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0.89</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0.80 to 0.98</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23" name="box"/>
          <p:cNvSpPr/>
          <p:nvPr/>
        </p:nvSpPr>
        <p:spPr>
          <a:xfrm>
            <a:off x="548640" y="5120640"/>
            <a:ext cx="11094415" cy="640080"/>
          </a:xfrm>
          <a:prstGeom prst="rect">
            <a:avLst/>
          </a:prstGeom>
          <a:solidFill>
            <a:srgbClr val="FBE3E6"/>
          </a:solidFill>
          <a:ln w="12700">
            <a:solidFill>
              <a:srgbClr val="FBE3E6"/>
            </a:solidFill>
            <a:prstDash val="solid"/>
          </a:ln>
        </p:spPr>
      </p:sp>
      <p:sp>
        <p:nvSpPr>
          <p:cNvPr id="24" name="text"/>
          <p:cNvSpPr txBox="1"/>
          <p:nvPr/>
        </p:nvSpPr>
        <p:spPr>
          <a:xfrm>
            <a:off x="731520" y="5120640"/>
            <a:ext cx="10728655" cy="640080"/>
          </a:xfrm>
          <a:prstGeom prst="rect">
            <a:avLst/>
          </a:prstGeom>
          <a:noFill/>
          <a:ln/>
        </p:spPr>
        <p:txBody>
          <a:bodyPr wrap="square" lIns="0" tIns="0" rIns="0" bIns="0" rtlCol="0" anchor="ctr"/>
          <a:lstStyle/>
          <a:p>
            <a:pPr algn="l" indent="0" marL="0">
              <a:buNone/>
            </a:pPr>
            <a:r>
              <a:rPr lang="en-US" sz="1250" b="1" dirty="0">
                <a:solidFill>
                  <a:srgbClr val="1B1B1B"/>
                </a:solidFill>
              </a:rPr>
              <a:t>The signal is present in routine measurements hours before onset, but spread across many weak predictors, each with a hazard ratio close to 1. That is the case for models that read the whole picture, hour by hour.</a:t>
            </a:r>
            <a:endParaRPr lang="en-US" sz="12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[45]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Two hospital systems, one language</a:t>
            </a:r>
            <a:endParaRPr lang="en-US" sz="2600" dirty="0"/>
          </a:p>
        </p:txBody>
      </p:sp>
      <p:sp>
        <p:nvSpPr>
          <p:cNvPr id="6" name="text"/>
          <p:cNvSpPr txBox="1"/>
          <p:nvPr/>
        </p:nvSpPr>
        <p:spPr>
          <a:xfrm>
            <a:off x="548640" y="1417320"/>
            <a:ext cx="5897880" cy="274320"/>
          </a:xfrm>
          <a:prstGeom prst="rect">
            <a:avLst/>
          </a:prstGeom>
          <a:noFill/>
          <a:ln/>
        </p:spPr>
        <p:txBody>
          <a:bodyPr wrap="square" lIns="0" tIns="0" rIns="0" bIns="0" rtlCol="0" anchor="t"/>
          <a:lstStyle/>
          <a:p>
            <a:pPr algn="l" indent="0" marL="0">
              <a:buNone/>
            </a:pPr>
            <a:r>
              <a:rPr lang="en-US" sz="1300" b="1" dirty="0">
                <a:solidFill>
                  <a:srgbClr val="C8102E"/>
                </a:solidFill>
              </a:rPr>
              <a:t>Four things differ between the databases for every measurement</a:t>
            </a:r>
            <a:endParaRPr lang="en-US" sz="1300" dirty="0"/>
          </a:p>
        </p:txBody>
      </p:sp>
      <p:graphicFrame>
        <p:nvGraphicFramePr>
          <p:cNvPr id="13" name="harmonisation table"/>
          <p:cNvGraphicFramePr>
            <a:graphicFrameLocks noGrp="1"/>
          </p:cNvGraphicFramePr>
          <p:nvPr>
            <p:extLst>
              <p:ext uri="{D42A27DB-BD31-4B8C-83A1-F6EECF244321}">
                <p14:modId xmlns:p14="http://schemas.microsoft.com/office/powerpoint/2010/main" val="1579011935"/>
              </p:ext>
            </p:extLst>
          </p:nvPr>
        </p:nvGraphicFramePr>
        <p:xfrm>
          <a:off x="548640" y="1737360"/>
          <a:ext cx="5897880" cy="914400"/>
        </p:xfrm>
        <a:graphic>
          <a:graphicData uri="http://schemas.openxmlformats.org/drawingml/2006/table">
            <a:tbl>
              <a:tblPr/>
              <a:tblGrid>
                <a:gridCol w="1051560"/>
                <a:gridCol w="1508760"/>
                <a:gridCol w="1783080"/>
                <a:gridCol w="155448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Difference</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MIMIC-IV [34]</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eICU [35]</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Harmonised</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Where it is stored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one charting table for all vital signs; a laboratory table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periodic monitor table; aperiodic table for cuff pressures; nurse-charting table for temperature, GCS and many vital signs</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every table where a value lives is read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What it is called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item numbers: 223761 (°F), 223762 (°C)</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text labels: "Temperature (C)", "Temperature (F)", "Glasgow coma score"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one concept per channel: 83 channels, plus derived values</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Unit</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°F and °C both charted; ionised calcium in mmol/L</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°C or °F by label; ionised calcium in mg/dL</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one unit per concept, converted and range-checked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Clock</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date-shifted timestamps; a chart time and a store time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minutes from ICU admission</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hours from ICU admission; each value usable only from the hour it became available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8" name="text"/>
          <p:cNvSpPr txBox="1"/>
          <p:nvPr/>
        </p:nvSpPr>
        <p:spPr>
          <a:xfrm>
            <a:off x="548640" y="4709160"/>
            <a:ext cx="5897880" cy="731520"/>
          </a:xfrm>
          <a:prstGeom prst="rect">
            <a:avLst/>
          </a:prstGeom>
          <a:noFill/>
          <a:ln/>
        </p:spPr>
        <p:txBody>
          <a:bodyPr wrap="square" lIns="0" tIns="0" rIns="0" bIns="0" rtlCol="0" anchor="t"/>
          <a:lstStyle/>
          <a:p>
            <a:pPr algn="l" indent="0" marL="0">
              <a:buNone/>
            </a:pPr>
            <a:r>
              <a:rPr lang="en-US" sz="1050" dirty="0">
                <a:solidFill>
                  <a:srgbClr val="5E5E5E"/>
                </a:solidFill>
              </a:rPr>
              <a:t>Published pipelines read the periodic monitor tables; we read where the values actually are and put 659 predictors on one concept, one unit and one clock in both databases. Our own earlier pipeline failed the clock test, information from the future, and was rebuilt (backup).</a:t>
            </a:r>
            <a:endParaRPr lang="en-US" sz="1050" dirty="0"/>
          </a:p>
        </p:txBody>
      </p:sp>
      <p:sp>
        <p:nvSpPr>
          <p:cNvPr id="9" name="text"/>
          <p:cNvSpPr txBox="1"/>
          <p:nvPr/>
        </p:nvSpPr>
        <p:spPr>
          <a:xfrm>
            <a:off x="548640" y="5440680"/>
            <a:ext cx="5897880" cy="274320"/>
          </a:xfrm>
          <a:prstGeom prst="rect">
            <a:avLst/>
          </a:prstGeom>
          <a:noFill/>
          <a:ln/>
        </p:spPr>
        <p:txBody>
          <a:bodyPr wrap="square" lIns="0" tIns="0" rIns="0" bIns="0" rtlCol="0" anchor="t"/>
          <a:lstStyle/>
          <a:p>
            <a:pPr algn="l" indent="0" marL="0">
              <a:buNone/>
            </a:pPr>
            <a:r>
              <a:rPr lang="en-US" sz="1150" b="1" dirty="0">
                <a:solidFill>
                  <a:srgbClr val="C8102E"/>
                </a:solidFill>
              </a:rPr>
              <a:t>Before: eICU temperature in 5 % of patient-hours. After: 94 % [40].</a:t>
            </a:r>
            <a:endParaRPr lang="en-US" sz="1150" dirty="0"/>
          </a:p>
        </p:txBody>
      </p:sp>
      <p:graphicFrame>
        <p:nvGraphicFramePr>
          <p:cNvPr id="10"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[34] Johnson et al., Sci Data 2023   [35] Pollard et al., Sci Data 2018   [40]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Utility on own and unseen hospital systems: 21 models on identical hours</a:t>
            </a:r>
            <a:endParaRPr lang="en-US" sz="2600" dirty="0"/>
          </a:p>
        </p:txBody>
      </p:sp>
      <p:sp>
        <p:nvSpPr>
          <p:cNvPr id="6" name="box"/>
          <p:cNvSpPr/>
          <p:nvPr/>
        </p:nvSpPr>
        <p:spPr>
          <a:xfrm>
            <a:off x="548640" y="1417320"/>
            <a:ext cx="6675120" cy="4480560"/>
          </a:xfrm>
          <a:prstGeom prst="rect">
            <a:avLst/>
          </a:prstGeom>
          <a:solidFill>
            <a:srgbClr val="FFFFFF"/>
          </a:solidFill>
          <a:ln w="12700">
            <a:solidFill>
              <a:srgbClr val="BDBDBD"/>
            </a:solidFill>
            <a:prstDash val="solid"/>
          </a:ln>
        </p:spPr>
      </p:sp>
      <p:sp>
        <p:nvSpPr>
          <p:cNvPr id="7" name="text"/>
          <p:cNvSpPr txBox="1"/>
          <p:nvPr/>
        </p:nvSpPr>
        <p:spPr>
          <a:xfrm>
            <a:off x="685800" y="1481328"/>
            <a:ext cx="3657600" cy="274320"/>
          </a:xfrm>
          <a:prstGeom prst="rect">
            <a:avLst/>
          </a:prstGeom>
          <a:noFill/>
          <a:ln/>
        </p:spPr>
        <p:txBody>
          <a:bodyPr wrap="square" lIns="0" tIns="0" rIns="0" bIns="0" rtlCol="0" anchor="t"/>
          <a:lstStyle/>
          <a:p>
            <a:pPr algn="l" indent="0" marL="0">
              <a:buNone/>
            </a:pPr>
            <a:r>
              <a:rPr lang="en-US" sz="1300" b="1" dirty="0">
                <a:solidFill>
                  <a:srgbClr val="C8102E"/>
                </a:solidFill>
              </a:rPr>
              <a:t>Own hospital system</a:t>
            </a:r>
            <a:endParaRPr lang="en-US" sz="1300" dirty="0"/>
          </a:p>
        </p:txBody>
      </p:sp>
      <p:sp>
        <p:nvSpPr>
          <p:cNvPr id="8" name="text"/>
          <p:cNvSpPr txBox="1"/>
          <p:nvPr/>
        </p:nvSpPr>
        <p:spPr>
          <a:xfrm>
            <a:off x="685800" y="1737360"/>
            <a:ext cx="6400800" cy="274320"/>
          </a:xfrm>
          <a:prstGeom prst="rect">
            <a:avLst/>
          </a:prstGeom>
          <a:noFill/>
          <a:ln/>
        </p:spPr>
        <p:txBody>
          <a:bodyPr wrap="square" lIns="0" tIns="0" rIns="0" bIns="0" rtlCol="0" anchor="t"/>
          <a:lstStyle/>
          <a:p>
            <a:pPr algn="l" indent="0" marL="0">
              <a:buNone/>
            </a:pPr>
            <a:r>
              <a:rPr lang="en-US" sz="1000" dirty="0">
                <a:solidFill>
                  <a:srgbClr val="5E5E5E"/>
                </a:solidFill>
              </a:rPr>
              <a:t>the winner on its training hospitals; this project on the MIMIC-IV test split (1,422 stays, 71 events), 8 of 21 models shown</a:t>
            </a:r>
            <a:endParaRPr lang="en-US" sz="1000" dirty="0"/>
          </a:p>
        </p:txBody>
      </p:sp>
      <p:graphicFrame>
        <p:nvGraphicFramePr>
          <p:cNvPr id="9" name="own-system chart" descr=""/>
          <p:cNvGraphicFramePr/>
          <p:nvPr/>
        </p:nvGraphicFramePr>
        <p:xfrm>
          <a:off x="640080" y="2011680"/>
          <a:ext cx="6492240" cy="3246120"/>
        </p:xfrm>
        <a:graphic xmlns:a="http://schemas.openxmlformats.org/drawingml/2006/main">
          <a:graphicData uri="http://schemas.openxmlformats.org/drawingml/2006/chart">
            <c:chart xmlns:c="http://schemas.openxmlformats.org/drawingml/2006/chart" r:id="rId1"/>
          </a:graphicData>
        </a:graphic>
      </p:graphicFrame>
      <p:sp>
        <p:nvSpPr>
          <p:cNvPr id="10" name="legend swatch"/>
          <p:cNvSpPr/>
          <p:nvPr/>
        </p:nvSpPr>
        <p:spPr>
          <a:xfrm>
            <a:off x="731520" y="5349240"/>
            <a:ext cx="201168" cy="164592"/>
          </a:xfrm>
          <a:prstGeom prst="rect">
            <a:avLst/>
          </a:prstGeom>
          <a:solidFill>
            <a:srgbClr val="D0D0D0"/>
          </a:solidFill>
          <a:ln w="12700">
            <a:solidFill>
              <a:srgbClr val="D0D0D0"/>
            </a:solidFill>
            <a:prstDash val="solid"/>
          </a:ln>
        </p:spPr>
      </p:sp>
      <p:sp>
        <p:nvSpPr>
          <p:cNvPr id="11" name="text"/>
          <p:cNvSpPr txBox="1"/>
          <p:nvPr/>
        </p:nvSpPr>
        <p:spPr>
          <a:xfrm>
            <a:off x="9875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Published [18, 24]</a:t>
            </a:r>
            <a:endParaRPr lang="en-US" sz="1050" dirty="0"/>
          </a:p>
        </p:txBody>
      </p:sp>
      <p:sp>
        <p:nvSpPr>
          <p:cNvPr id="12" name="legend swatch"/>
          <p:cNvSpPr/>
          <p:nvPr/>
        </p:nvSpPr>
        <p:spPr>
          <a:xfrm>
            <a:off x="2331720" y="5349240"/>
            <a:ext cx="201168" cy="164592"/>
          </a:xfrm>
          <a:prstGeom prst="rect">
            <a:avLst/>
          </a:prstGeom>
          <a:solidFill>
            <a:srgbClr val="8C8C8C"/>
          </a:solidFill>
          <a:ln w="12700">
            <a:solidFill>
              <a:srgbClr val="8C8C8C"/>
            </a:solidFill>
            <a:prstDash val="solid"/>
          </a:ln>
        </p:spPr>
      </p:sp>
      <p:sp>
        <p:nvSpPr>
          <p:cNvPr id="13" name="text"/>
          <p:cNvSpPr txBox="1"/>
          <p:nvPr/>
        </p:nvSpPr>
        <p:spPr>
          <a:xfrm>
            <a:off x="25877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Baselines</a:t>
            </a:r>
            <a:endParaRPr lang="en-US" sz="1050" dirty="0"/>
          </a:p>
        </p:txBody>
      </p:sp>
      <p:sp>
        <p:nvSpPr>
          <p:cNvPr id="14" name="legend swatch"/>
          <p:cNvSpPr/>
          <p:nvPr/>
        </p:nvSpPr>
        <p:spPr>
          <a:xfrm>
            <a:off x="3931920" y="5349240"/>
            <a:ext cx="201168" cy="164592"/>
          </a:xfrm>
          <a:prstGeom prst="rect">
            <a:avLst/>
          </a:prstGeom>
          <a:solidFill>
            <a:srgbClr val="3A3A3A"/>
          </a:solidFill>
          <a:ln w="12700">
            <a:solidFill>
              <a:srgbClr val="3A3A3A"/>
            </a:solidFill>
            <a:prstDash val="solid"/>
          </a:ln>
        </p:spPr>
      </p:sp>
      <p:sp>
        <p:nvSpPr>
          <p:cNvPr id="15" name="text"/>
          <p:cNvSpPr txBox="1"/>
          <p:nvPr/>
        </p:nvSpPr>
        <p:spPr>
          <a:xfrm>
            <a:off x="41879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Winner's approach</a:t>
            </a:r>
            <a:endParaRPr lang="en-US" sz="1050" dirty="0"/>
          </a:p>
        </p:txBody>
      </p:sp>
      <p:sp>
        <p:nvSpPr>
          <p:cNvPr id="16" name="legend swatch"/>
          <p:cNvSpPr/>
          <p:nvPr/>
        </p:nvSpPr>
        <p:spPr>
          <a:xfrm>
            <a:off x="5532120" y="5349240"/>
            <a:ext cx="201168" cy="164592"/>
          </a:xfrm>
          <a:prstGeom prst="rect">
            <a:avLst/>
          </a:prstGeom>
          <a:solidFill>
            <a:srgbClr val="C8102E"/>
          </a:solidFill>
          <a:ln w="12700">
            <a:solidFill>
              <a:srgbClr val="C8102E"/>
            </a:solidFill>
            <a:prstDash val="solid"/>
          </a:ln>
        </p:spPr>
      </p:sp>
      <p:sp>
        <p:nvSpPr>
          <p:cNvPr id="17" name="text"/>
          <p:cNvSpPr txBox="1"/>
          <p:nvPr/>
        </p:nvSpPr>
        <p:spPr>
          <a:xfrm>
            <a:off x="57881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This project [40]</a:t>
            </a:r>
            <a:endParaRPr lang="en-US" sz="1050" dirty="0"/>
          </a:p>
        </p:txBody>
      </p:sp>
      <p:sp>
        <p:nvSpPr>
          <p:cNvPr id="18" name="text"/>
          <p:cNvSpPr txBox="1"/>
          <p:nvPr/>
        </p:nvSpPr>
        <p:spPr>
          <a:xfrm>
            <a:off x="685800" y="5577840"/>
            <a:ext cx="6400800" cy="274320"/>
          </a:xfrm>
          <a:prstGeom prst="rect">
            <a:avLst/>
          </a:prstGeom>
          <a:noFill/>
          <a:ln/>
        </p:spPr>
        <p:txBody>
          <a:bodyPr wrap="square" lIns="0" tIns="0" rIns="0" bIns="0" rtlCol="0" anchor="t"/>
          <a:lstStyle/>
          <a:p>
            <a:pPr algn="l" indent="0" marL="0">
              <a:buNone/>
            </a:pPr>
            <a:r>
              <a:rPr lang="en-US" sz="1000" dirty="0">
                <a:solidFill>
                  <a:srgbClr val="5E5E5E"/>
                </a:solidFill>
              </a:rPr>
              <a:t>21 of 21 models above zero, every 95 % CI above zero (range 0.08 to 0.29). No model is shown to be better than another.</a:t>
            </a:r>
            <a:endParaRPr lang="en-US" sz="1000" dirty="0"/>
          </a:p>
        </p:txBody>
      </p:sp>
      <p:sp>
        <p:nvSpPr>
          <p:cNvPr id="19" name="box"/>
          <p:cNvSpPr/>
          <p:nvPr/>
        </p:nvSpPr>
        <p:spPr>
          <a:xfrm>
            <a:off x="7406640" y="1417320"/>
            <a:ext cx="4236415" cy="4480560"/>
          </a:xfrm>
          <a:prstGeom prst="rect">
            <a:avLst/>
          </a:prstGeom>
          <a:solidFill>
            <a:srgbClr val="FFFFFF"/>
          </a:solidFill>
          <a:ln w="12700">
            <a:solidFill>
              <a:srgbClr val="BDBDBD"/>
            </a:solidFill>
            <a:prstDash val="solid"/>
          </a:ln>
        </p:spPr>
      </p:sp>
      <p:sp>
        <p:nvSpPr>
          <p:cNvPr id="20" name="text"/>
          <p:cNvSpPr txBox="1"/>
          <p:nvPr/>
        </p:nvSpPr>
        <p:spPr>
          <a:xfrm>
            <a:off x="7543800" y="1481328"/>
            <a:ext cx="3962095" cy="274320"/>
          </a:xfrm>
          <a:prstGeom prst="rect">
            <a:avLst/>
          </a:prstGeom>
          <a:noFill/>
          <a:ln/>
        </p:spPr>
        <p:txBody>
          <a:bodyPr wrap="square" lIns="0" tIns="0" rIns="0" bIns="0" rtlCol="0" anchor="t"/>
          <a:lstStyle/>
          <a:p>
            <a:pPr algn="l" indent="0" marL="0">
              <a:buNone/>
            </a:pPr>
            <a:r>
              <a:rPr lang="en-US" sz="1300" b="1" dirty="0">
                <a:solidFill>
                  <a:srgbClr val="C8102E"/>
                </a:solidFill>
              </a:rPr>
              <a:t>Unseen hospital system</a:t>
            </a:r>
            <a:endParaRPr lang="en-US" sz="1300" dirty="0"/>
          </a:p>
        </p:txBody>
      </p:sp>
      <p:sp>
        <p:nvSpPr>
          <p:cNvPr id="21" name="text"/>
          <p:cNvSpPr txBox="1"/>
          <p:nvPr/>
        </p:nvSpPr>
        <p:spPr>
          <a:xfrm>
            <a:off x="7543800" y="1737360"/>
            <a:ext cx="3962095" cy="411480"/>
          </a:xfrm>
          <a:prstGeom prst="rect">
            <a:avLst/>
          </a:prstGeom>
          <a:noFill/>
          <a:ln/>
        </p:spPr>
        <p:txBody>
          <a:bodyPr wrap="square" lIns="0" tIns="0" rIns="0" bIns="0" rtlCol="0" anchor="t"/>
          <a:lstStyle/>
          <a:p>
            <a:pPr algn="l" indent="0" marL="0">
              <a:buNone/>
            </a:pPr>
            <a:r>
              <a:rPr lang="en-US" sz="1000" dirty="0">
                <a:solidFill>
                  <a:srgbClr val="5E5E5E"/>
                </a:solidFill>
              </a:rPr>
              <a:t>the winner on a hidden third hospital; this project: MIMIC-IV models scored on eICU patients, development level</a:t>
            </a:r>
            <a:endParaRPr lang="en-US" sz="1000" dirty="0"/>
          </a:p>
        </p:txBody>
      </p:sp>
      <p:sp>
        <p:nvSpPr>
          <p:cNvPr id="22" name="axis"/>
          <p:cNvSpPr/>
          <p:nvPr/>
        </p:nvSpPr>
        <p:spPr>
          <a:xfrm>
            <a:off x="9052560" y="4572000"/>
            <a:ext cx="2361895" cy="914"/>
          </a:xfrm>
          <a:prstGeom prst="line">
            <a:avLst/>
          </a:prstGeom>
          <a:noFill/>
          <a:ln w="9525">
            <a:solidFill>
              <a:srgbClr val="5E5E5E"/>
            </a:solidFill>
            <a:prstDash val="solid"/>
          </a:ln>
        </p:spPr>
      </p:sp>
      <p:sp>
        <p:nvSpPr>
          <p:cNvPr id="23" name="tick"/>
          <p:cNvSpPr/>
          <p:nvPr/>
        </p:nvSpPr>
        <p:spPr>
          <a:xfrm>
            <a:off x="9052560" y="4572000"/>
            <a:ext cx="914" cy="73152"/>
          </a:xfrm>
          <a:prstGeom prst="line">
            <a:avLst/>
          </a:prstGeom>
          <a:noFill/>
          <a:ln w="9525">
            <a:solidFill>
              <a:srgbClr val="5E5E5E"/>
            </a:solidFill>
            <a:prstDash val="solid"/>
          </a:ln>
        </p:spPr>
      </p:sp>
      <p:sp>
        <p:nvSpPr>
          <p:cNvPr id="24" name="text"/>
          <p:cNvSpPr txBox="1"/>
          <p:nvPr/>
        </p:nvSpPr>
        <p:spPr>
          <a:xfrm>
            <a:off x="8778240" y="4645152"/>
            <a:ext cx="548640" cy="201168"/>
          </a:xfrm>
          <a:prstGeom prst="rect">
            <a:avLst/>
          </a:prstGeom>
          <a:noFill/>
          <a:ln/>
        </p:spPr>
        <p:txBody>
          <a:bodyPr wrap="square" lIns="0" tIns="0" rIns="0" bIns="0" rtlCol="0" anchor="t"/>
          <a:lstStyle/>
          <a:p>
            <a:pPr algn="ctr" indent="0" marL="0">
              <a:buNone/>
            </a:pPr>
            <a:r>
              <a:rPr lang="en-US" sz="950" dirty="0">
                <a:solidFill>
                  <a:srgbClr val="5E5E5E"/>
                </a:solidFill>
              </a:rPr>
              <a:t>-0.2</a:t>
            </a:r>
            <a:endParaRPr lang="en-US" sz="950" dirty="0"/>
          </a:p>
        </p:txBody>
      </p:sp>
      <p:sp>
        <p:nvSpPr>
          <p:cNvPr id="25" name="tick"/>
          <p:cNvSpPr/>
          <p:nvPr/>
        </p:nvSpPr>
        <p:spPr>
          <a:xfrm>
            <a:off x="9790652" y="4572000"/>
            <a:ext cx="914" cy="73152"/>
          </a:xfrm>
          <a:prstGeom prst="line">
            <a:avLst/>
          </a:prstGeom>
          <a:noFill/>
          <a:ln w="9525">
            <a:solidFill>
              <a:srgbClr val="5E5E5E"/>
            </a:solidFill>
            <a:prstDash val="solid"/>
          </a:ln>
        </p:spPr>
      </p:sp>
      <p:sp>
        <p:nvSpPr>
          <p:cNvPr id="26" name="text"/>
          <p:cNvSpPr txBox="1"/>
          <p:nvPr/>
        </p:nvSpPr>
        <p:spPr>
          <a:xfrm>
            <a:off x="9516332" y="4645152"/>
            <a:ext cx="548640" cy="201168"/>
          </a:xfrm>
          <a:prstGeom prst="rect">
            <a:avLst/>
          </a:prstGeom>
          <a:noFill/>
          <a:ln/>
        </p:spPr>
        <p:txBody>
          <a:bodyPr wrap="square" lIns="0" tIns="0" rIns="0" bIns="0" rtlCol="0" anchor="t"/>
          <a:lstStyle/>
          <a:p>
            <a:pPr algn="ctr" indent="0" marL="0">
              <a:buNone/>
            </a:pPr>
            <a:r>
              <a:rPr lang="en-US" sz="950" dirty="0">
                <a:solidFill>
                  <a:srgbClr val="5E5E5E"/>
                </a:solidFill>
              </a:rPr>
              <a:t>-0.1</a:t>
            </a:r>
            <a:endParaRPr lang="en-US" sz="950" dirty="0"/>
          </a:p>
        </p:txBody>
      </p:sp>
      <p:sp>
        <p:nvSpPr>
          <p:cNvPr id="27" name="tick"/>
          <p:cNvSpPr/>
          <p:nvPr/>
        </p:nvSpPr>
        <p:spPr>
          <a:xfrm>
            <a:off x="10528745" y="4572000"/>
            <a:ext cx="914" cy="73152"/>
          </a:xfrm>
          <a:prstGeom prst="line">
            <a:avLst/>
          </a:prstGeom>
          <a:noFill/>
          <a:ln w="9525">
            <a:solidFill>
              <a:srgbClr val="5E5E5E"/>
            </a:solidFill>
            <a:prstDash val="solid"/>
          </a:ln>
        </p:spPr>
      </p:sp>
      <p:sp>
        <p:nvSpPr>
          <p:cNvPr id="28" name="text"/>
          <p:cNvSpPr txBox="1"/>
          <p:nvPr/>
        </p:nvSpPr>
        <p:spPr>
          <a:xfrm>
            <a:off x="10254425" y="4645152"/>
            <a:ext cx="548640" cy="201168"/>
          </a:xfrm>
          <a:prstGeom prst="rect">
            <a:avLst/>
          </a:prstGeom>
          <a:noFill/>
          <a:ln/>
        </p:spPr>
        <p:txBody>
          <a:bodyPr wrap="square" lIns="0" tIns="0" rIns="0" bIns="0" rtlCol="0" anchor="t"/>
          <a:lstStyle/>
          <a:p>
            <a:pPr algn="ctr" indent="0" marL="0">
              <a:buNone/>
            </a:pPr>
            <a:r>
              <a:rPr lang="en-US" sz="950" dirty="0">
                <a:solidFill>
                  <a:srgbClr val="5E5E5E"/>
                </a:solidFill>
              </a:rPr>
              <a:t>0.0</a:t>
            </a:r>
            <a:endParaRPr lang="en-US" sz="950" dirty="0"/>
          </a:p>
        </p:txBody>
      </p:sp>
      <p:sp>
        <p:nvSpPr>
          <p:cNvPr id="29" name="tick"/>
          <p:cNvSpPr/>
          <p:nvPr/>
        </p:nvSpPr>
        <p:spPr>
          <a:xfrm>
            <a:off x="11266837" y="4572000"/>
            <a:ext cx="914" cy="73152"/>
          </a:xfrm>
          <a:prstGeom prst="line">
            <a:avLst/>
          </a:prstGeom>
          <a:noFill/>
          <a:ln w="9525">
            <a:solidFill>
              <a:srgbClr val="5E5E5E"/>
            </a:solidFill>
            <a:prstDash val="solid"/>
          </a:ln>
        </p:spPr>
      </p:sp>
      <p:sp>
        <p:nvSpPr>
          <p:cNvPr id="30" name="text"/>
          <p:cNvSpPr txBox="1"/>
          <p:nvPr/>
        </p:nvSpPr>
        <p:spPr>
          <a:xfrm>
            <a:off x="10992517" y="4645152"/>
            <a:ext cx="548640" cy="201168"/>
          </a:xfrm>
          <a:prstGeom prst="rect">
            <a:avLst/>
          </a:prstGeom>
          <a:noFill/>
          <a:ln/>
        </p:spPr>
        <p:txBody>
          <a:bodyPr wrap="square" lIns="0" tIns="0" rIns="0" bIns="0" rtlCol="0" anchor="t"/>
          <a:lstStyle/>
          <a:p>
            <a:pPr algn="ctr" indent="0" marL="0">
              <a:buNone/>
            </a:pPr>
            <a:r>
              <a:rPr lang="en-US" sz="950" dirty="0">
                <a:solidFill>
                  <a:srgbClr val="5E5E5E"/>
                </a:solidFill>
              </a:rPr>
              <a:t>0.1</a:t>
            </a:r>
            <a:endParaRPr lang="en-US" sz="950" dirty="0"/>
          </a:p>
        </p:txBody>
      </p:sp>
      <p:sp>
        <p:nvSpPr>
          <p:cNvPr id="31" name="zero line"/>
          <p:cNvSpPr/>
          <p:nvPr/>
        </p:nvSpPr>
        <p:spPr>
          <a:xfrm>
            <a:off x="10528745" y="2286000"/>
            <a:ext cx="914" cy="2286000"/>
          </a:xfrm>
          <a:prstGeom prst="line">
            <a:avLst/>
          </a:prstGeom>
          <a:noFill/>
          <a:ln w="9525">
            <a:solidFill>
              <a:srgbClr val="BDBDBD"/>
            </a:solidFill>
            <a:prstDash val="dash"/>
          </a:ln>
        </p:spPr>
      </p:sp>
      <p:sp>
        <p:nvSpPr>
          <p:cNvPr id="32" name="text"/>
          <p:cNvSpPr txBox="1"/>
          <p:nvPr/>
        </p:nvSpPr>
        <p:spPr>
          <a:xfrm>
            <a:off x="7543800" y="2377440"/>
            <a:ext cx="1463040" cy="274320"/>
          </a:xfrm>
          <a:prstGeom prst="rect">
            <a:avLst/>
          </a:prstGeom>
          <a:noFill/>
          <a:ln/>
        </p:spPr>
        <p:txBody>
          <a:bodyPr wrap="square" lIns="0" tIns="0" rIns="0" bIns="0" rtlCol="0" anchor="ctr"/>
          <a:lstStyle/>
          <a:p>
            <a:pPr algn="l" indent="0" marL="0">
              <a:buNone/>
            </a:pPr>
            <a:r>
              <a:rPr lang="en-US" sz="1000" b="1" dirty="0">
                <a:solidFill>
                  <a:srgbClr val="1B1B1B"/>
                </a:solidFill>
              </a:rPr>
              <a:t>Winner, published</a:t>
            </a:r>
            <a:endParaRPr lang="en-US" sz="1000" dirty="0"/>
          </a:p>
        </p:txBody>
      </p:sp>
      <p:sp>
        <p:nvSpPr>
          <p:cNvPr id="33" name="bar"/>
          <p:cNvSpPr/>
          <p:nvPr/>
        </p:nvSpPr>
        <p:spPr>
          <a:xfrm>
            <a:off x="9643034" y="2414016"/>
            <a:ext cx="885711" cy="201168"/>
          </a:xfrm>
          <a:prstGeom prst="rect">
            <a:avLst/>
          </a:prstGeom>
          <a:solidFill>
            <a:srgbClr val="D0D0D0"/>
          </a:solidFill>
          <a:ln w="12700">
            <a:solidFill>
              <a:srgbClr val="D0D0D0"/>
            </a:solidFill>
            <a:prstDash val="solid"/>
          </a:ln>
        </p:spPr>
      </p:sp>
      <p:sp>
        <p:nvSpPr>
          <p:cNvPr id="34" name="text"/>
          <p:cNvSpPr txBox="1"/>
          <p:nvPr/>
        </p:nvSpPr>
        <p:spPr>
          <a:xfrm>
            <a:off x="11432743" y="2377440"/>
            <a:ext cx="868680" cy="274320"/>
          </a:xfrm>
          <a:prstGeom prst="rect">
            <a:avLst/>
          </a:prstGeom>
          <a:noFill/>
          <a:ln/>
        </p:spPr>
        <p:txBody>
          <a:bodyPr wrap="square" lIns="0" tIns="0" rIns="0" bIns="0" rtlCol="0" anchor="ctr"/>
          <a:lstStyle/>
          <a:p>
            <a:pPr algn="l" indent="0" marL="0">
              <a:buNone/>
            </a:pPr>
            <a:r>
              <a:rPr lang="en-US" sz="950" b="1" dirty="0">
                <a:solidFill>
                  <a:srgbClr val="1B1B1B"/>
                </a:solidFill>
              </a:rPr>
              <a:t>-0.12</a:t>
            </a:r>
            <a:endParaRPr lang="en-US" sz="950" dirty="0"/>
          </a:p>
        </p:txBody>
      </p:sp>
      <p:sp>
        <p:nvSpPr>
          <p:cNvPr id="35" name="text"/>
          <p:cNvSpPr txBox="1"/>
          <p:nvPr/>
        </p:nvSpPr>
        <p:spPr>
          <a:xfrm>
            <a:off x="7543800" y="2807208"/>
            <a:ext cx="1463040" cy="274320"/>
          </a:xfrm>
          <a:prstGeom prst="rect">
            <a:avLst/>
          </a:prstGeom>
          <a:noFill/>
          <a:ln/>
        </p:spPr>
        <p:txBody>
          <a:bodyPr wrap="square" lIns="0" tIns="0" rIns="0" bIns="0" rtlCol="0" anchor="ctr"/>
          <a:lstStyle/>
          <a:p>
            <a:pPr algn="l" indent="0" marL="0">
              <a:buNone/>
            </a:pPr>
            <a:r>
              <a:rPr lang="en-US" sz="1000" b="1" dirty="0">
                <a:solidFill>
                  <a:srgbClr val="1B1B1B"/>
                </a:solidFill>
              </a:rPr>
              <a:t>This project, 20 models</a:t>
            </a:r>
            <a:endParaRPr lang="en-US" sz="1000" dirty="0"/>
          </a:p>
        </p:txBody>
      </p:sp>
      <p:sp>
        <p:nvSpPr>
          <p:cNvPr id="36" name="range band"/>
          <p:cNvSpPr/>
          <p:nvPr/>
        </p:nvSpPr>
        <p:spPr>
          <a:xfrm>
            <a:off x="10307317" y="2843784"/>
            <a:ext cx="516665" cy="201168"/>
          </a:xfrm>
          <a:prstGeom prst="rect">
            <a:avLst/>
          </a:prstGeom>
          <a:solidFill>
            <a:srgbClr val="C8102E"/>
          </a:solidFill>
          <a:ln w="12700">
            <a:solidFill>
              <a:srgbClr val="C8102E"/>
            </a:solidFill>
            <a:prstDash val="solid"/>
          </a:ln>
        </p:spPr>
      </p:sp>
      <p:sp>
        <p:nvSpPr>
          <p:cNvPr id="37" name="text"/>
          <p:cNvSpPr txBox="1"/>
          <p:nvPr/>
        </p:nvSpPr>
        <p:spPr>
          <a:xfrm>
            <a:off x="11432743" y="2807208"/>
            <a:ext cx="868680" cy="274320"/>
          </a:xfrm>
          <a:prstGeom prst="rect">
            <a:avLst/>
          </a:prstGeom>
          <a:noFill/>
          <a:ln/>
        </p:spPr>
        <p:txBody>
          <a:bodyPr wrap="square" lIns="0" tIns="0" rIns="0" bIns="0" rtlCol="0" anchor="ctr"/>
          <a:lstStyle/>
          <a:p>
            <a:pPr algn="l" indent="0" marL="0">
              <a:buNone/>
            </a:pPr>
            <a:r>
              <a:rPr lang="en-US" sz="950" b="1" dirty="0">
                <a:solidFill>
                  <a:srgbClr val="C8102E"/>
                </a:solidFill>
              </a:rPr>
              <a:t>-0.03 to +0.04</a:t>
            </a:r>
            <a:endParaRPr lang="en-US" sz="950" dirty="0"/>
          </a:p>
        </p:txBody>
      </p:sp>
      <p:sp>
        <p:nvSpPr>
          <p:cNvPr id="38" name="text"/>
          <p:cNvSpPr txBox="1"/>
          <p:nvPr/>
        </p:nvSpPr>
        <p:spPr>
          <a:xfrm>
            <a:off x="7543800" y="3236976"/>
            <a:ext cx="1463040" cy="274320"/>
          </a:xfrm>
          <a:prstGeom prst="rect">
            <a:avLst/>
          </a:prstGeom>
          <a:noFill/>
          <a:ln/>
        </p:spPr>
        <p:txBody>
          <a:bodyPr wrap="square" lIns="0" tIns="0" rIns="0" bIns="0" rtlCol="0" anchor="ctr"/>
          <a:lstStyle/>
          <a:p>
            <a:pPr algn="l" indent="0" marL="0">
              <a:buNone/>
            </a:pPr>
            <a:r>
              <a:rPr lang="en-US" sz="1000" dirty="0">
                <a:solidFill>
                  <a:srgbClr val="1B1B1B"/>
                </a:solidFill>
              </a:rPr>
              <a:t>GRU-D</a:t>
            </a:r>
            <a:endParaRPr lang="en-US" sz="1000" dirty="0"/>
          </a:p>
        </p:txBody>
      </p:sp>
      <p:sp>
        <p:nvSpPr>
          <p:cNvPr id="39" name="ci"/>
          <p:cNvSpPr/>
          <p:nvPr/>
        </p:nvSpPr>
        <p:spPr>
          <a:xfrm>
            <a:off x="10233508" y="3374136"/>
            <a:ext cx="738092" cy="914"/>
          </a:xfrm>
          <a:prstGeom prst="line">
            <a:avLst/>
          </a:prstGeom>
          <a:noFill/>
          <a:ln w="19050">
            <a:solidFill>
              <a:srgbClr val="C8102E"/>
            </a:solidFill>
            <a:prstDash val="solid"/>
          </a:ln>
        </p:spPr>
      </p:sp>
      <p:sp>
        <p:nvSpPr>
          <p:cNvPr id="40" name="point"/>
          <p:cNvSpPr/>
          <p:nvPr/>
        </p:nvSpPr>
        <p:spPr>
          <a:xfrm>
            <a:off x="10556834" y="3328416"/>
            <a:ext cx="91440" cy="91440"/>
          </a:xfrm>
          <a:prstGeom prst="rect">
            <a:avLst/>
          </a:prstGeom>
          <a:solidFill>
            <a:srgbClr val="C8102E"/>
          </a:solidFill>
          <a:ln w="12700">
            <a:solidFill>
              <a:srgbClr val="C8102E"/>
            </a:solidFill>
            <a:prstDash val="solid"/>
          </a:ln>
        </p:spPr>
      </p:sp>
      <p:sp>
        <p:nvSpPr>
          <p:cNvPr id="41" name="text"/>
          <p:cNvSpPr txBox="1"/>
          <p:nvPr/>
        </p:nvSpPr>
        <p:spPr>
          <a:xfrm>
            <a:off x="11432743" y="3236976"/>
            <a:ext cx="868680" cy="274320"/>
          </a:xfrm>
          <a:prstGeom prst="rect">
            <a:avLst/>
          </a:prstGeom>
          <a:noFill/>
          <a:ln/>
        </p:spPr>
        <p:txBody>
          <a:bodyPr wrap="square" lIns="0" tIns="0" rIns="0" bIns="0" rtlCol="0" anchor="ctr"/>
          <a:lstStyle/>
          <a:p>
            <a:pPr algn="l" indent="0" marL="0">
              <a:buNone/>
            </a:pPr>
            <a:r>
              <a:rPr lang="en-US" sz="950" b="1" dirty="0">
                <a:solidFill>
                  <a:srgbClr val="C8102E"/>
                </a:solidFill>
              </a:rPr>
              <a:t>0.01</a:t>
            </a:r>
            <a:endParaRPr lang="en-US" sz="950" dirty="0"/>
          </a:p>
        </p:txBody>
      </p:sp>
      <p:sp>
        <p:nvSpPr>
          <p:cNvPr id="42" name="text"/>
          <p:cNvSpPr txBox="1"/>
          <p:nvPr/>
        </p:nvSpPr>
        <p:spPr>
          <a:xfrm>
            <a:off x="7543800" y="3666744"/>
            <a:ext cx="1463040" cy="274320"/>
          </a:xfrm>
          <a:prstGeom prst="rect">
            <a:avLst/>
          </a:prstGeom>
          <a:noFill/>
          <a:ln/>
        </p:spPr>
        <p:txBody>
          <a:bodyPr wrap="square" lIns="0" tIns="0" rIns="0" bIns="0" rtlCol="0" anchor="ctr"/>
          <a:lstStyle/>
          <a:p>
            <a:pPr algn="l" indent="0" marL="0">
              <a:buNone/>
            </a:pPr>
            <a:r>
              <a:rPr lang="en-US" sz="1000" dirty="0">
                <a:solidFill>
                  <a:srgbClr val="1B1B1B"/>
                </a:solidFill>
              </a:rPr>
              <a:t>CNN to OSTA</a:t>
            </a:r>
            <a:endParaRPr lang="en-US" sz="1000" dirty="0"/>
          </a:p>
        </p:txBody>
      </p:sp>
      <p:sp>
        <p:nvSpPr>
          <p:cNvPr id="43" name="ci"/>
          <p:cNvSpPr/>
          <p:nvPr/>
        </p:nvSpPr>
        <p:spPr>
          <a:xfrm>
            <a:off x="10454935" y="3803904"/>
            <a:ext cx="369046" cy="914"/>
          </a:xfrm>
          <a:prstGeom prst="line">
            <a:avLst/>
          </a:prstGeom>
          <a:noFill/>
          <a:ln w="19050">
            <a:solidFill>
              <a:srgbClr val="C8102E"/>
            </a:solidFill>
            <a:prstDash val="solid"/>
          </a:ln>
        </p:spPr>
      </p:sp>
      <p:sp>
        <p:nvSpPr>
          <p:cNvPr id="44" name="point"/>
          <p:cNvSpPr/>
          <p:nvPr/>
        </p:nvSpPr>
        <p:spPr>
          <a:xfrm>
            <a:off x="10630643" y="3758184"/>
            <a:ext cx="91440" cy="91440"/>
          </a:xfrm>
          <a:prstGeom prst="rect">
            <a:avLst/>
          </a:prstGeom>
          <a:solidFill>
            <a:srgbClr val="C8102E"/>
          </a:solidFill>
          <a:ln w="12700">
            <a:solidFill>
              <a:srgbClr val="C8102E"/>
            </a:solidFill>
            <a:prstDash val="solid"/>
          </a:ln>
        </p:spPr>
      </p:sp>
      <p:sp>
        <p:nvSpPr>
          <p:cNvPr id="45" name="text"/>
          <p:cNvSpPr txBox="1"/>
          <p:nvPr/>
        </p:nvSpPr>
        <p:spPr>
          <a:xfrm>
            <a:off x="11432743" y="3666744"/>
            <a:ext cx="868680" cy="274320"/>
          </a:xfrm>
          <a:prstGeom prst="rect">
            <a:avLst/>
          </a:prstGeom>
          <a:noFill/>
          <a:ln/>
        </p:spPr>
        <p:txBody>
          <a:bodyPr wrap="square" lIns="0" tIns="0" rIns="0" bIns="0" rtlCol="0" anchor="ctr"/>
          <a:lstStyle/>
          <a:p>
            <a:pPr algn="l" indent="0" marL="0">
              <a:buNone/>
            </a:pPr>
            <a:r>
              <a:rPr lang="en-US" sz="950" b="1" dirty="0">
                <a:solidFill>
                  <a:srgbClr val="C8102E"/>
                </a:solidFill>
              </a:rPr>
              <a:t>0.02</a:t>
            </a:r>
            <a:endParaRPr lang="en-US" sz="950" dirty="0"/>
          </a:p>
        </p:txBody>
      </p:sp>
      <p:sp>
        <p:nvSpPr>
          <p:cNvPr id="46" name="text"/>
          <p:cNvSpPr txBox="1"/>
          <p:nvPr/>
        </p:nvSpPr>
        <p:spPr>
          <a:xfrm>
            <a:off x="7543800" y="4096512"/>
            <a:ext cx="1463040" cy="274320"/>
          </a:xfrm>
          <a:prstGeom prst="rect">
            <a:avLst/>
          </a:prstGeom>
          <a:noFill/>
          <a:ln/>
        </p:spPr>
        <p:txBody>
          <a:bodyPr wrap="square" lIns="0" tIns="0" rIns="0" bIns="0" rtlCol="0" anchor="ctr"/>
          <a:lstStyle/>
          <a:p>
            <a:pPr algn="l" indent="0" marL="0">
              <a:buNone/>
            </a:pPr>
            <a:r>
              <a:rPr lang="en-US" sz="1000" dirty="0">
                <a:solidFill>
                  <a:srgbClr val="1B1B1B"/>
                </a:solidFill>
              </a:rPr>
              <a:t>Boosted trees</a:t>
            </a:r>
            <a:endParaRPr lang="en-US" sz="1000" dirty="0"/>
          </a:p>
        </p:txBody>
      </p:sp>
      <p:sp>
        <p:nvSpPr>
          <p:cNvPr id="47" name="ci"/>
          <p:cNvSpPr/>
          <p:nvPr/>
        </p:nvSpPr>
        <p:spPr>
          <a:xfrm>
            <a:off x="10528745" y="4233672"/>
            <a:ext cx="221428" cy="914"/>
          </a:xfrm>
          <a:prstGeom prst="line">
            <a:avLst/>
          </a:prstGeom>
          <a:noFill/>
          <a:ln w="19050">
            <a:solidFill>
              <a:srgbClr val="8C8C8C"/>
            </a:solidFill>
            <a:prstDash val="solid"/>
          </a:ln>
        </p:spPr>
      </p:sp>
      <p:sp>
        <p:nvSpPr>
          <p:cNvPr id="48" name="point"/>
          <p:cNvSpPr/>
          <p:nvPr/>
        </p:nvSpPr>
        <p:spPr>
          <a:xfrm>
            <a:off x="10556834" y="4187952"/>
            <a:ext cx="91440" cy="91440"/>
          </a:xfrm>
          <a:prstGeom prst="rect">
            <a:avLst/>
          </a:prstGeom>
          <a:solidFill>
            <a:srgbClr val="8C8C8C"/>
          </a:solidFill>
          <a:ln w="12700">
            <a:solidFill>
              <a:srgbClr val="8C8C8C"/>
            </a:solidFill>
            <a:prstDash val="solid"/>
          </a:ln>
        </p:spPr>
      </p:sp>
      <p:sp>
        <p:nvSpPr>
          <p:cNvPr id="49" name="text"/>
          <p:cNvSpPr txBox="1"/>
          <p:nvPr/>
        </p:nvSpPr>
        <p:spPr>
          <a:xfrm>
            <a:off x="11432743" y="4096512"/>
            <a:ext cx="868680" cy="274320"/>
          </a:xfrm>
          <a:prstGeom prst="rect">
            <a:avLst/>
          </a:prstGeom>
          <a:noFill/>
          <a:ln/>
        </p:spPr>
        <p:txBody>
          <a:bodyPr wrap="square" lIns="0" tIns="0" rIns="0" bIns="0" rtlCol="0" anchor="ctr"/>
          <a:lstStyle/>
          <a:p>
            <a:pPr algn="l" indent="0" marL="0">
              <a:buNone/>
            </a:pPr>
            <a:r>
              <a:rPr lang="en-US" sz="950" b="1" dirty="0">
                <a:solidFill>
                  <a:srgbClr val="C8102E"/>
                </a:solidFill>
              </a:rPr>
              <a:t>0.01</a:t>
            </a:r>
            <a:endParaRPr lang="en-US" sz="950" dirty="0"/>
          </a:p>
        </p:txBody>
      </p:sp>
      <p:sp>
        <p:nvSpPr>
          <p:cNvPr id="50" name="text"/>
          <p:cNvSpPr txBox="1"/>
          <p:nvPr/>
        </p:nvSpPr>
        <p:spPr>
          <a:xfrm>
            <a:off x="7543800" y="4983480"/>
            <a:ext cx="3962095" cy="822960"/>
          </a:xfrm>
          <a:prstGeom prst="rect">
            <a:avLst/>
          </a:prstGeom>
          <a:noFill/>
          <a:ln/>
        </p:spPr>
        <p:txBody>
          <a:bodyPr wrap="square" lIns="0" tIns="0" rIns="0" bIns="0" rtlCol="0" anchor="t"/>
          <a:lstStyle/>
          <a:p>
            <a:pPr algn="l" indent="0" marL="0">
              <a:buNone/>
            </a:pPr>
            <a:r>
              <a:rPr lang="en-US" sz="1000" dirty="0">
                <a:solidFill>
                  <a:srgbClr val="5E5E5E"/>
                </a:solidFill>
              </a:rPr>
              <a:t>Range of 20 models; every 95 % CI includes zero; logistic regression -0.15. Not below silence, where the winner was; not shown above it. The sealed holdout is the real test.</a:t>
            </a:r>
            <a:endParaRPr lang="en-US" sz="1000" dirty="0"/>
          </a:p>
        </p:txBody>
      </p:sp>
      <p:sp>
        <p:nvSpPr>
          <p:cNvPr id="5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[24] Morrill et al., Crit Care Med 2020   [40]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Contribution and next steps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659 clinically defined predictors [40]</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[18]</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 so far</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harmonisation recovers the data; on honest data all 21 models stay above zero at home; small samples overfit, so no model is shown best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[6]; sepsis-onset cohort study [45]; thermography meta-analysis [46]</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eICU arm of the 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[16]</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Elrggal et al., submitted 2026   [16] Kwong et al., Front Digit Health 2022   [18] Reyna et al., Crit Care Med 2020   [40] This work, preliminary, unpublished   [45] Elrggal et al., submitted 2026   [46]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TAKE-HOME MESSAGE</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What this work adds</a:t>
            </a:r>
            <a:endParaRPr lang="en-US" sz="3000" dirty="0"/>
          </a:p>
        </p:txBody>
      </p:sp>
      <p:sp>
        <p:nvSpPr>
          <p:cNvPr id="4" name="box"/>
          <p:cNvSpPr/>
          <p:nvPr/>
        </p:nvSpPr>
        <p:spPr>
          <a:xfrm>
            <a:off x="548640" y="1463040"/>
            <a:ext cx="11094415" cy="685800"/>
          </a:xfrm>
          <a:prstGeom prst="rect">
            <a:avLst/>
          </a:prstGeom>
          <a:solidFill>
            <a:srgbClr val="FFFFFF"/>
          </a:solidFill>
          <a:ln w="12700">
            <a:solidFill>
              <a:srgbClr val="FFFFFF"/>
            </a:solidFill>
            <a:prstDash val="solid"/>
          </a:ln>
        </p:spPr>
      </p:sp>
      <p:sp>
        <p:nvSpPr>
          <p:cNvPr id="5" name="text"/>
          <p:cNvSpPr txBox="1"/>
          <p:nvPr/>
        </p:nvSpPr>
        <p:spPr>
          <a:xfrm>
            <a:off x="731520" y="1463040"/>
            <a:ext cx="10728655" cy="685800"/>
          </a:xfrm>
          <a:prstGeom prst="rect">
            <a:avLst/>
          </a:prstGeom>
          <a:noFill/>
          <a:ln/>
        </p:spPr>
        <p:txBody>
          <a:bodyPr wrap="square" lIns="0" tIns="0" rIns="0" bIns="0" rtlCol="0" anchor="ctr"/>
          <a:lstStyle/>
          <a:p>
            <a:pPr algn="l" indent="0" marL="0">
              <a:buNone/>
            </a:pPr>
            <a:r>
              <a:rPr lang="en-US" sz="1400" b="1" dirty="0">
                <a:solidFill>
                  <a:srgbClr val="C8102E"/>
                </a:solidFill>
              </a:rPr>
              <a:t>An early sepsis warning built on raw hospital data, scored only on what a clinician could have known, and judged by what an alarm costs and gains rather than by AUROC.</a:t>
            </a:r>
            <a:endParaRPr lang="en-US" sz="1400" dirty="0"/>
          </a:p>
        </p:txBody>
      </p:sp>
      <p:sp>
        <p:nvSpPr>
          <p:cNvPr id="6" name="text"/>
          <p:cNvSpPr txBox="1"/>
          <p:nvPr/>
        </p:nvSpPr>
        <p:spPr>
          <a:xfrm>
            <a:off x="548640" y="2286000"/>
            <a:ext cx="5486400" cy="274320"/>
          </a:xfrm>
          <a:prstGeom prst="rect">
            <a:avLst/>
          </a:prstGeom>
          <a:noFill/>
          <a:ln/>
        </p:spPr>
        <p:txBody>
          <a:bodyPr wrap="square" lIns="0" tIns="0" rIns="0" bIns="0" rtlCol="0" anchor="t"/>
          <a:lstStyle/>
          <a:p>
            <a:pPr algn="l" indent="0" marL="0">
              <a:buNone/>
            </a:pPr>
            <a:r>
              <a:rPr lang="en-US" sz="1250" b="1" dirty="0">
                <a:solidFill>
                  <a:srgbClr val="FFFFFF"/>
                </a:solidFill>
              </a:rPr>
              <a:t>Done differently</a:t>
            </a:r>
            <a:endParaRPr lang="en-US" sz="1250" dirty="0"/>
          </a:p>
        </p:txBody>
      </p:sp>
      <p:sp>
        <p:nvSpPr>
          <p:cNvPr id="7" name="text"/>
          <p:cNvSpPr txBox="1"/>
          <p:nvPr/>
        </p:nvSpPr>
        <p:spPr>
          <a:xfrm>
            <a:off x="548640" y="2606040"/>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Challenge-prepared tables</a:t>
            </a:r>
            <a:endParaRPr lang="en-US" sz="1150" dirty="0"/>
          </a:p>
        </p:txBody>
      </p:sp>
      <p:sp>
        <p:nvSpPr>
          <p:cNvPr id="8" name="text"/>
          <p:cNvSpPr txBox="1"/>
          <p:nvPr/>
        </p:nvSpPr>
        <p:spPr>
          <a:xfrm>
            <a:off x="5166360" y="2606040"/>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9" name="text"/>
          <p:cNvSpPr txBox="1"/>
          <p:nvPr/>
        </p:nvSpPr>
        <p:spPr>
          <a:xfrm>
            <a:off x="5577840" y="2606040"/>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Raw MIMIC-IV and eICU: two hospital systems</a:t>
            </a:r>
            <a:endParaRPr lang="en-US" sz="1150" dirty="0"/>
          </a:p>
        </p:txBody>
      </p:sp>
      <p:sp>
        <p:nvSpPr>
          <p:cNvPr id="10" name="text"/>
          <p:cNvSpPr txBox="1"/>
          <p:nvPr/>
        </p:nvSpPr>
        <p:spPr>
          <a:xfrm>
            <a:off x="548640" y="2953512"/>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Each study its own sepsis definition</a:t>
            </a:r>
            <a:endParaRPr lang="en-US" sz="1150" dirty="0"/>
          </a:p>
        </p:txBody>
      </p:sp>
      <p:sp>
        <p:nvSpPr>
          <p:cNvPr id="11" name="text"/>
          <p:cNvSpPr txBox="1"/>
          <p:nvPr/>
        </p:nvSpPr>
        <p:spPr>
          <a:xfrm>
            <a:off x="5166360" y="2953512"/>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2" name="text"/>
          <p:cNvSpPr txBox="1"/>
          <p:nvPr/>
        </p:nvSpPr>
        <p:spPr>
          <a:xfrm>
            <a:off x="5577840" y="2953512"/>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One Sepsis-3 definition on both</a:t>
            </a:r>
            <a:endParaRPr lang="en-US" sz="1150" dirty="0"/>
          </a:p>
        </p:txBody>
      </p:sp>
      <p:sp>
        <p:nvSpPr>
          <p:cNvPr id="13" name="text"/>
          <p:cNvSpPr txBox="1"/>
          <p:nvPr/>
        </p:nvSpPr>
        <p:spPr>
          <a:xfrm>
            <a:off x="548640" y="3300984"/>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Values carried forward; information from the future</a:t>
            </a:r>
            <a:endParaRPr lang="en-US" sz="1150" dirty="0"/>
          </a:p>
        </p:txBody>
      </p:sp>
      <p:sp>
        <p:nvSpPr>
          <p:cNvPr id="14" name="text"/>
          <p:cNvSpPr txBox="1"/>
          <p:nvPr/>
        </p:nvSpPr>
        <p:spPr>
          <a:xfrm>
            <a:off x="5166360" y="3300984"/>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5" name="text"/>
          <p:cNvSpPr txBox="1"/>
          <p:nvPr/>
        </p:nvSpPr>
        <p:spPr>
          <a:xfrm>
            <a:off x="5577840" y="3300984"/>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Every value only from the hour it was available</a:t>
            </a:r>
            <a:endParaRPr lang="en-US" sz="1150" dirty="0"/>
          </a:p>
        </p:txBody>
      </p:sp>
      <p:sp>
        <p:nvSpPr>
          <p:cNvPr id="16" name="text"/>
          <p:cNvSpPr txBox="1"/>
          <p:nvPr/>
        </p:nvSpPr>
        <p:spPr>
          <a:xfrm>
            <a:off x="548640" y="3648456"/>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40 to 125 variables</a:t>
            </a:r>
            <a:endParaRPr lang="en-US" sz="1150" dirty="0"/>
          </a:p>
        </p:txBody>
      </p:sp>
      <p:sp>
        <p:nvSpPr>
          <p:cNvPr id="17" name="text"/>
          <p:cNvSpPr txBox="1"/>
          <p:nvPr/>
        </p:nvSpPr>
        <p:spPr>
          <a:xfrm>
            <a:off x="5166360" y="3648456"/>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8" name="text"/>
          <p:cNvSpPr txBox="1"/>
          <p:nvPr/>
        </p:nvSpPr>
        <p:spPr>
          <a:xfrm>
            <a:off x="5577840" y="3648456"/>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659 clinically defined predictors, text entries included</a:t>
            </a:r>
            <a:endParaRPr lang="en-US" sz="1150" dirty="0"/>
          </a:p>
        </p:txBody>
      </p:sp>
      <p:sp>
        <p:nvSpPr>
          <p:cNvPr id="19" name="text"/>
          <p:cNvSpPr txBox="1"/>
          <p:nvPr/>
        </p:nvSpPr>
        <p:spPr>
          <a:xfrm>
            <a:off x="548640" y="3995928"/>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Antibiotics as inputs</a:t>
            </a:r>
            <a:endParaRPr lang="en-US" sz="1150" dirty="0"/>
          </a:p>
        </p:txBody>
      </p:sp>
      <p:sp>
        <p:nvSpPr>
          <p:cNvPr id="20" name="text"/>
          <p:cNvSpPr txBox="1"/>
          <p:nvPr/>
        </p:nvSpPr>
        <p:spPr>
          <a:xfrm>
            <a:off x="5166360" y="3995928"/>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21" name="text"/>
          <p:cNvSpPr txBox="1"/>
          <p:nvPr/>
        </p:nvSpPr>
        <p:spPr>
          <a:xfrm>
            <a:off x="5577840" y="3995928"/>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Label-defining antibiotics excluded; prophylaxis kept by rule</a:t>
            </a:r>
            <a:endParaRPr lang="en-US" sz="1150" dirty="0"/>
          </a:p>
        </p:txBody>
      </p:sp>
      <p:sp>
        <p:nvSpPr>
          <p:cNvPr id="22" name="text"/>
          <p:cNvSpPr txBox="1"/>
          <p:nvPr/>
        </p:nvSpPr>
        <p:spPr>
          <a:xfrm>
            <a:off x="548640" y="4343400"/>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AUROC on one split</a:t>
            </a:r>
            <a:endParaRPr lang="en-US" sz="1150" dirty="0"/>
          </a:p>
        </p:txBody>
      </p:sp>
      <p:sp>
        <p:nvSpPr>
          <p:cNvPr id="23" name="text"/>
          <p:cNvSpPr txBox="1"/>
          <p:nvPr/>
        </p:nvSpPr>
        <p:spPr>
          <a:xfrm>
            <a:off x="5166360" y="4343400"/>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24" name="text"/>
          <p:cNvSpPr txBox="1"/>
          <p:nvPr/>
        </p:nvSpPr>
        <p:spPr>
          <a:xfrm>
            <a:off x="5577840" y="4343400"/>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Utility, false alarms per day, warning time, a sealed holdout</a:t>
            </a:r>
            <a:endParaRPr lang="en-US" sz="1150" dirty="0"/>
          </a:p>
        </p:txBody>
      </p:sp>
      <p:sp>
        <p:nvSpPr>
          <p:cNvPr id="25" name="text"/>
          <p:cNvSpPr txBox="1"/>
          <p:nvPr/>
        </p:nvSpPr>
        <p:spPr>
          <a:xfrm>
            <a:off x="548640" y="4800600"/>
            <a:ext cx="5486400" cy="274320"/>
          </a:xfrm>
          <a:prstGeom prst="rect">
            <a:avLst/>
          </a:prstGeom>
          <a:noFill/>
          <a:ln/>
        </p:spPr>
        <p:txBody>
          <a:bodyPr wrap="square" lIns="0" tIns="0" rIns="0" bIns="0" rtlCol="0" anchor="t"/>
          <a:lstStyle/>
          <a:p>
            <a:pPr algn="l" indent="0" marL="0">
              <a:buNone/>
            </a:pPr>
            <a:r>
              <a:rPr lang="en-US" sz="1250" b="1" dirty="0">
                <a:solidFill>
                  <a:srgbClr val="FFFFFF"/>
                </a:solidFill>
              </a:rPr>
              <a:t>Known so far</a:t>
            </a:r>
            <a:endParaRPr lang="en-US" sz="1250" dirty="0"/>
          </a:p>
        </p:txBody>
      </p:sp>
      <p:sp>
        <p:nvSpPr>
          <p:cNvPr id="26" name="list"/>
          <p:cNvSpPr txBox="1"/>
          <p:nvPr/>
        </p:nvSpPr>
        <p:spPr>
          <a:xfrm>
            <a:off x="548640" y="5102352"/>
            <a:ext cx="8168335" cy="868680"/>
          </a:xfrm>
          <a:prstGeom prst="rect">
            <a:avLst/>
          </a:prstGeom>
          <a:noFill/>
          <a:ln/>
        </p:spPr>
        <p:txBody>
          <a:bodyPr wrap="square" lIns="0" tIns="0" rIns="0" bIns="0" rtlCol="0" anchor="t"/>
          <a:lstStyle/>
          <a:p>
            <a:pPr marL="203200" indent="-203200">
              <a:spcAft>
                <a:spcPts val="300"/>
              </a:spcAft>
              <a:buSzPct val="100000"/>
              <a:buChar char="•"/>
            </a:pPr>
            <a:r>
              <a:rPr lang="en-US" sz="1150" dirty="0">
                <a:solidFill>
                  <a:srgbClr val="FFFFFF"/>
                </a:solidFill>
              </a:rPr>
              <a:t>On honest, harmonised data, all 21 models keep a positive utility at home [40].</a:t>
            </a:r>
            <a:endParaRPr lang="en-US" sz="1150" dirty="0"/>
          </a:p>
          <a:p>
            <a:pPr marL="203200" indent="-203200">
              <a:spcAft>
                <a:spcPts val="300"/>
              </a:spcAft>
              <a:buSzPct val="100000"/>
              <a:buChar char="•"/>
            </a:pPr>
            <a:r>
              <a:rPr lang="en-US" sz="1150" dirty="0">
                <a:solidFill>
                  <a:srgbClr val="FFFFFF"/>
                </a:solidFill>
              </a:rPr>
              <a:t>The project's own organ-grouping idea is not supported at this scale, and is reported as found.</a:t>
            </a:r>
            <a:endParaRPr lang="en-US" sz="1150" dirty="0"/>
          </a:p>
          <a:p>
            <a:pPr marL="203200" indent="-203200">
              <a:spcAft>
                <a:spcPts val="300"/>
              </a:spcAft>
              <a:buSzPct val="100000"/>
              <a:buChar char="•"/>
            </a:pPr>
            <a:r>
              <a:rPr lang="en-US" sz="1150" dirty="0">
                <a:solidFill>
                  <a:srgbClr val="FFFFFF"/>
                </a:solidFill>
              </a:rPr>
              <a:t>Whether a warning travels to an unseen hospital system is the open question: the consultants' study and the sealed holdout answer next.</a:t>
            </a:r>
            <a:endParaRPr lang="en-US" sz="1150" dirty="0"/>
          </a:p>
        </p:txBody>
      </p:sp>
      <p:sp>
        <p:nvSpPr>
          <p:cNvPr id="27" name="text"/>
          <p:cNvSpPr txBox="1"/>
          <p:nvPr/>
        </p:nvSpPr>
        <p:spPr>
          <a:xfrm>
            <a:off x="8899855" y="5120640"/>
            <a:ext cx="2743200" cy="548640"/>
          </a:xfrm>
          <a:prstGeom prst="rect">
            <a:avLst/>
          </a:prstGeom>
          <a:noFill/>
          <a:ln/>
        </p:spPr>
        <p:txBody>
          <a:bodyPr wrap="square" lIns="0" tIns="0" rIns="0" bIns="0" rtlCol="0" anchor="t"/>
          <a:lstStyle/>
          <a:p>
            <a:pPr algn="r" indent="0" marL="0">
              <a:buNone/>
            </a:pPr>
            <a:r>
              <a:rPr lang="en-US" sz="2400" b="1" dirty="0">
                <a:solidFill>
                  <a:srgbClr val="FFFFFF"/>
                </a:solidFill>
              </a:rPr>
              <a:t>Thank you</a:t>
            </a:r>
            <a:endParaRPr lang="en-US" sz="240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[7]</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[8]</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[14];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[14, 47];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[48]</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[18]</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became available, with a measured flag and its age; hours after onset are never scored as warnings</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Singer et al., JAMA 2016   [8] Vincent et al., Intensive Care Med 1996   [14] Seymour et al., JAMA 2016   [18] Reyna et al., Crit Care Med 2020   [47] Royal College of Physicians 2017   [48]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[18]</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[27]</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[37, 38]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available, most expire after 24 h; hours after onset never scored as warnings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[21]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659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[32]</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[22]</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[21] Kapoor et al., Patterns 2023   [22] Shah et al., JAMA 2019   [27] Moor et al., Front Med 2021   [32] Bratzler et al., Am J Health Syst Pharm 2013   [37] van de Water et al., ICLR 2024   [38]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659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[8], qSOFA, NEWS2 [47],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[48]</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(MIMIC-IV only),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[32];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(reserved for a planned fairness analysis);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[8] Vincent et al., Intensive Care Med 1996   [32] Bratzler et al., Am J Health Syst Pharm 2013   [47] Royal College of Physicians 2017   [48]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[39]</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[8]</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[21]</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[40]</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[40]</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approach [41, 42, 24]</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[43]</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[40]</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[8] Vincent et al., Intensive Care Med 1996   [21] Kapoor et al., Patterns 2023   [24] Morrill et al., Crit Care Med 2020   [39] Vaswani et al., NeurIPS 2017   [40] This work, preliminary, unpublished   [41] Che et al., Sci Rep 2018   [42] Bai et al., arXiv 2018   [43] Yeche et al., ICML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approach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approach, not its full pipeline;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[41]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[42]</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[40].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[24] Morrill et al., Crit Care Med 2020   [39] Vaswani et al., NeurIPS 2017   [41] Che et al., Sci Rep 2018   [42] Bai et al., arXiv 2018   [49]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[50]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[43]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[51]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[40].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[43] Yeche et al., ICML 2021   [50] Horn et al., ICML 2020   [51]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[37, 38]; onset within the next 6 h; hours after onset never scored as warnings;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[34] Johnson et al., Sci Data 2023   [35] Pollard et al., Sci Data 2018   [37] van de Water et al., ICLR 2024   [38]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Overfitting and validation on 10,000 stays</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659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[43], loss chosen by utility [44], three seeds.</a:t>
            </a:r>
            <a:endParaRPr lang="en-US" sz="1400" dirty="0"/>
          </a:p>
          <a:p>
            <a:pPr marL="203200" indent="-203200">
              <a:spcAft>
                <a:spcPts val="800"/>
              </a:spcAft>
              <a:buSzPct val="100000"/>
              <a:buChar char="•"/>
            </a:pPr>
            <a:r>
              <a:rPr lang="en-US" sz="1400" dirty="0">
                <a:solidFill>
                  <a:srgbClr val="1B1B1B"/>
                </a:solidFill>
              </a:rPr>
              <a:t>All figures: this work, preliminary [40].</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[40] This work, preliminary, unpublished   [43] Yeche et al., ICML 2021   [44]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Leakage audit and the causal baseline</a:t>
            </a:r>
            <a:endParaRPr lang="en-US" sz="2400" dirty="0"/>
          </a:p>
        </p:txBody>
      </p:sp>
      <p:sp>
        <p:nvSpPr>
          <p:cNvPr id="4"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5"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7"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8"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onset scored as correct early warnings: recognising sepsis already present counted as predicting it.</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9"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[21].</a:t>
            </a:r>
            <a:endParaRPr lang="en-US" sz="1300" dirty="0"/>
          </a:p>
        </p:txBody>
      </p:sp>
      <p:sp>
        <p:nvSpPr>
          <p:cNvPr id="10"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[18, 40]</a:t>
            </a:r>
            <a:endParaRPr lang="en-US" sz="1400" dirty="0"/>
          </a:p>
        </p:txBody>
      </p:sp>
      <p:sp>
        <p:nvSpPr>
          <p:cNvPr id="11"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2"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3"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4"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5"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6"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7"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18"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19"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0"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about a fifth of the way from never alarming to perfect alarms, under the challenge's scoring rules; a score, not a measured clinical benefit.</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[21] Kapoor et al., Patterns 2023   [40]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Questions for discussion</a:t>
            </a:r>
            <a:endParaRPr lang="en-US" sz="24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[18, 22].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[14, 35].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[14] Seymour et al., JAMA 2016   [18] Reyna et al., Crit Care Med 2020   [22] Shah et al., JAMA 2019   [35] Pollard et al., Sci Data 2018</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8"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GBD 2019 Antimicrobial Resistance Collaborators. Global mortality associated with 33 bacterial pathogens in 2019: a systematic analysis for the Global Burden of Disease Study 2019. Lancet. 2022;400:2221-2248.</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World Health Organization. WHO consolidated guidelines on tuberculosis. Module 2: screening. Systematic screening for tuberculosis disease. Geneva: WHO; 2021.</a:t>
            </a:r>
            <a:endParaRPr lang="en-US" sz="1000" dirty="0"/>
          </a:p>
          <a:p>
            <a:pPr indent="0" marL="0">
              <a:spcAft>
                <a:spcPts val="400"/>
              </a:spcAft>
              <a:buNone/>
            </a:pPr>
            <a:r>
              <a:rPr lang="en-US" sz="1000" dirty="0">
                <a:solidFill>
                  <a:srgbClr val="1B1B1B"/>
                </a:solidFill>
              </a:rPr>
              <a:t>[5] Qin ZZ, Ahmed S, Sarker MS, et al. Tuberculosis detection from chest x-rays for triaging in a high tuberculosis-burden setting: a prospective study of CAD products. Lancet Digit Health. 2021;3:e543-e554.</a:t>
            </a:r>
            <a:endParaRPr lang="en-US" sz="1000" dirty="0"/>
          </a:p>
          <a:p>
            <a:pPr indent="0" marL="0">
              <a:spcAft>
                <a:spcPts val="400"/>
              </a:spcAft>
              <a:buNone/>
            </a:pPr>
            <a:r>
              <a:rPr lang="en-US" sz="1000" dirty="0">
                <a:solidFill>
                  <a:srgbClr val="1B1B1B"/>
                </a:solidFill>
              </a:rPr>
              <a:t>[6]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[7]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[8]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[9]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[10]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[11]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[12]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[13] Bone RC, Balk RA, Cerra FB, et al. Definitions for sepsis and organ failure and guidelines for the use of innovative therapies in sepsis. Chest. 1992;101:1644-1655.</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[14]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[15] Yu AC, Mohajer B, Eng J. External validation of deep learning algorithms for radiologic diagnosis: a systematic review. Radiol Artif Intell. 2022;4:e210064.</a:t>
            </a:r>
            <a:endParaRPr lang="en-US" sz="1000" dirty="0"/>
          </a:p>
          <a:p>
            <a:pPr indent="0" marL="0">
              <a:spcAft>
                <a:spcPts val="400"/>
              </a:spcAft>
              <a:buNone/>
            </a:pPr>
            <a:r>
              <a:rPr lang="en-US" sz="1000" dirty="0">
                <a:solidFill>
                  <a:srgbClr val="1B1B1B"/>
                </a:solidFill>
              </a:rPr>
              <a:t>[16]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[17]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[18]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[19]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[20]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[21]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[22]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[23]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[24]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[25]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[26] Fleuren LM, Klausch TLT, Zwager CL, et al. Machine learning for the prediction of sepsis: a systematic review and meta-analysis of diagnostic test accuracy. Intensive Care Med. 2020;46:383-400.</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[27] Moor M, Rieck B, Horn M, Jutzeler CR, Borgwardt K. Early prediction of sepsis in the ICU using machine learning: a systematic review. Front Med. 2021;8:607952.</a:t>
            </a:r>
            <a:endParaRPr lang="en-US" sz="1000" dirty="0"/>
          </a:p>
          <a:p>
            <a:pPr indent="0" marL="0">
              <a:spcAft>
                <a:spcPts val="400"/>
              </a:spcAft>
              <a:buNone/>
            </a:pPr>
            <a:r>
              <a:rPr lang="en-US" sz="1000" dirty="0">
                <a:solidFill>
                  <a:srgbClr val="1B1B1B"/>
                </a:solidFill>
              </a:rPr>
              <a:t>[28]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[29] Hassan C, Spadaccini M, Iannone A, et al. Performance of artificial intelligence in colonoscopy for adenoma and polyp detection: a systematic review and meta-analysis. Gastrointest Endosc. 2021;93:77-85.</a:t>
            </a:r>
            <a:endParaRPr lang="en-US" sz="1000" dirty="0"/>
          </a:p>
          <a:p>
            <a:pPr indent="0" marL="0">
              <a:spcAft>
                <a:spcPts val="400"/>
              </a:spcAft>
              <a:buNone/>
            </a:pPr>
            <a:r>
              <a:rPr lang="en-US" sz="1000" dirty="0">
                <a:solidFill>
                  <a:srgbClr val="1B1B1B"/>
                </a:solidFill>
              </a:rPr>
              <a:t>[30]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[31]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[32]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[33]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[34]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[35]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[36]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[37]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[38]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[39]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[40]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[41]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[42]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[43]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[44]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[45]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[46]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[47]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[48]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[49]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[50]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[51]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30</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2026-10-19T20:34:01Z</dcterms:created>
  <dcterms:modified xsi:type="dcterms:W3CDTF">2026-10-19T20:34:01Z</dcterms:modified>
</cp:coreProperties>
</file>