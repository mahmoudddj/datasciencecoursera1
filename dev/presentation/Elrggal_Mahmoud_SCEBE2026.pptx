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3.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ntext" id="{7f61cd52-da98-6bcf-61c2-05ef9fb1d69a}">
          <p14:sldIdLst>
            <p14:sldId id="256"/>
            <p14:sldId id="257"/>
            <p14:sldId id="258"/>
            <p14:sldId id="259"/>
            <p14:sldId id="260"/>
          </p14:sldIdLst>
        </p14:section>
        <p14:section name="Question and approach" id="{32058e3f-f41c-5ad1-cc73-49ff3ff19d3a}">
          <p14:sldIdLst>
            <p14:sldId id="261"/>
            <p14:sldId id="262"/>
            <p14:sldId id="263"/>
            <p14:sldId id="264"/>
            <p14:sldId id="265"/>
          </p14:sldIdLst>
        </p14:section>
        <p14:section name="Preliminary results" id="{0c0271dc-e591-5449-5757-bb71d5cdf61d}">
          <p14:sldIdLst>
            <p14:sldId id="266"/>
            <p14:sldId id="267"/>
            <p14:sldId id="268"/>
          </p14:sldIdLst>
        </p14:section>
        <p14:section name="Contribution and next steps" id="{7ece7724-fbb7-4a9e-da92-169d4434b4d9}">
          <p14:sldIdLst>
            <p14:sldId id="269"/>
          </p14:sldIdLst>
        </p14:section>
        <p14:section name="Input" id="{887c2958-35b7-7f3e-cd90-fab94cdf1245}">
          <p14:sldIdLst>
            <p14:sldId id="270"/>
          </p14:sldIdLst>
        </p14:section>
        <p14:section name="Backup" id="{02debc45-9608-0574-581b-4cef58cea908}">
          <p14:sldIdLst>
            <p14:sldId id="271"/>
            <p14:sldId id="272"/>
            <p14:sldId id="273"/>
            <p14:sldId id="274"/>
            <p14:sldId id="275"/>
            <p14:sldId id="276"/>
            <p14:sldId id="277"/>
            <p14:sldId id="278"/>
            <p14:sldId id="279"/>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B1B"/>
                </a:solidFill>
                <a:latin typeface="+mn-lt"/>
              </a:defRPr>
            </a:pPr>
            <a:r>
              <a:rPr sz="1300" b="0" i="0" u="none" strike="noStrike">
                <a:solidFill>
                  <a:srgbClr val="1B1B1B"/>
                </a:solidFill>
                <a:latin typeface="+mn-lt"/>
              </a:rPr>
              <a:t>Patient-hours with a usable value (%)</a:t>
            </a:r>
          </a:p>
        </c:rich>
      </c:tx>
      <c:layout/>
      <c:overlay val="0"/>
    </c:title>
    <c:autoTitleDeleted val="0"/>
    <c:plotArea>
      <c:layout/>
      <c:barChart>
        <c:barDir val="col"/>
        <c:grouping val="clustered"/>
        <c:varyColors val="0"/>
        <c:ser>
          <c:idx val="0"/>
          <c:order val="0"/>
          <c:tx>
            <c:strRef>
              <c:f>Sheet1!$B$1</c:f>
              <c:strCache>
                <c:ptCount val="1"/>
                <c:pt idx="0">
                  <c:v>Before harmonisation</c:v>
                </c:pt>
              </c:strCache>
            </c:strRef>
          </c:tx>
          <c:spPr>
            <a:solidFill>
              <a:srgbClr val="8C8C8C"/>
            </a:solidFill>
            <a:effectLst/>
          </c:spPr>
          <c:invertIfNegative val="0"/>
          <c:dLbls>
            <c:numFmt formatCode="0" sourceLinked="0"/>
            <c:txPr>
              <a:bodyPr/>
              <a:lstStyle/>
              <a:p>
                <a:pPr>
                  <a:defRPr b="0" i="0" strike="noStrike" sz="1100" u="none">
                    <a:solidFill>
                      <a:srgbClr val="1B1B1B"/>
                    </a:solidFill>
                    <a:latin typeface="+mn-lt"/>
                  </a:defRPr>
                </a:pPr>
              </a:p>
            </c:txPr>
            <c:showLegendKey val="0"/>
            <c:showVal val="1"/>
            <c:showCatName val="0"/>
            <c:showSerName val="0"/>
            <c:showPercent val="0"/>
            <c:showBubbleSize val="0"/>
            <c:showLeaderLines val="0"/>
          </c:dLbls>
          <c:cat>
            <c:multiLvlStrRef>
              <c:f>Sheet1!$A$2:$A$7</c:f>
              <c:multiLvlStrCache>
                <c:ptCount val="6"/>
                <c:lvl>
                  <c:pt idx="0">
                    <c:v>eICU temp.</c:v>
                  </c:pt>
                  <c:pt idx="1">
                    <c:v>eICU BP</c:v>
                  </c:pt>
                  <c:pt idx="2">
                    <c:v>eICU weight</c:v>
                  </c:pt>
                  <c:pt idx="3">
                    <c:v>eICU GCS</c:v>
                  </c:pt>
                  <c:pt idx="4">
                    <c:v>MIMIC urine</c:v>
                  </c:pt>
                  <c:pt idx="5">
                    <c:v>MIMIC GCS</c:v>
                  </c:pt>
                </c:lvl>
              </c:multiLvlStrCache>
            </c:multiLvlStrRef>
          </c:cat>
          <c:val>
            <c:numRef>
              <c:f>Sheet1!$B$2:$B$7</c:f>
              <c:numCache>
                <c:formatCode>General</c:formatCode>
                <c:ptCount val="6"/>
                <c:pt idx="0">
                  <c:v>5</c:v>
                </c:pt>
                <c:pt idx="1">
                  <c:v>21</c:v>
                </c:pt>
                <c:pt idx="2">
                  <c:v>6</c:v>
                </c:pt>
                <c:pt idx="3">
                  <c:v>62</c:v>
                </c:pt>
                <c:pt idx="4">
                  <c:v>9</c:v>
                </c:pt>
                <c:pt idx="5">
                  <c:v>66</c:v>
                </c:pt>
              </c:numCache>
            </c:numRef>
          </c:val>
        </c:ser>
        <c:ser>
          <c:idx val="1"/>
          <c:order val="1"/>
          <c:tx>
            <c:strRef>
              <c:f>Sheet1!$C$1</c:f>
              <c:strCache>
                <c:ptCount val="1"/>
                <c:pt idx="0">
                  <c:v>After</c:v>
                </c:pt>
              </c:strCache>
            </c:strRef>
          </c:tx>
          <c:spPr>
            <a:solidFill>
              <a:srgbClr val="C8102E"/>
            </a:solidFill>
            <a:effectLst/>
          </c:spPr>
          <c:invertIfNegative val="0"/>
          <c:dLbls>
            <c:numFmt formatCode="0" sourceLinked="0"/>
            <c:txPr>
              <a:bodyPr/>
              <a:lstStyle/>
              <a:p>
                <a:pPr>
                  <a:defRPr b="0" i="0" strike="noStrike" sz="1100" u="none">
                    <a:solidFill>
                      <a:srgbClr val="1B1B1B"/>
                    </a:solidFill>
                    <a:latin typeface="+mn-lt"/>
                  </a:defRPr>
                </a:pPr>
              </a:p>
            </c:txPr>
            <c:showLegendKey val="0"/>
            <c:showVal val="1"/>
            <c:showCatName val="0"/>
            <c:showSerName val="0"/>
            <c:showPercent val="0"/>
            <c:showBubbleSize val="0"/>
            <c:showLeaderLines val="0"/>
          </c:dLbls>
          <c:cat>
            <c:multiLvlStrRef>
              <c:f>Sheet1!$A$2:$A$7</c:f>
              <c:multiLvlStrCache>
                <c:ptCount val="6"/>
                <c:lvl>
                  <c:pt idx="0">
                    <c:v>eICU temp.</c:v>
                  </c:pt>
                  <c:pt idx="1">
                    <c:v>eICU BP</c:v>
                  </c:pt>
                  <c:pt idx="2">
                    <c:v>eICU weight</c:v>
                  </c:pt>
                  <c:pt idx="3">
                    <c:v>eICU GCS</c:v>
                  </c:pt>
                  <c:pt idx="4">
                    <c:v>MIMIC urine</c:v>
                  </c:pt>
                  <c:pt idx="5">
                    <c:v>MIMIC GCS</c:v>
                  </c:pt>
                </c:lvl>
              </c:multiLvlStrCache>
            </c:multiLvlStrRef>
          </c:cat>
          <c:val>
            <c:numRef>
              <c:f>Sheet1!$C$2:$C$7</c:f>
              <c:numCache>
                <c:formatCode>General</c:formatCode>
                <c:ptCount val="6"/>
                <c:pt idx="0">
                  <c:v>94</c:v>
                </c:pt>
                <c:pt idx="1">
                  <c:v>99.5</c:v>
                </c:pt>
                <c:pt idx="2">
                  <c:v>96</c:v>
                </c:pt>
                <c:pt idx="3">
                  <c:v>83</c:v>
                </c:pt>
                <c:pt idx="4">
                  <c:v>44</c:v>
                </c:pt>
                <c:pt idx="5">
                  <c:v>78</c:v>
                </c:pt>
              </c:numCache>
            </c:numRef>
          </c:val>
        </c:ser>
        <c:dLbls>
          <c:numFmt formatCode="0" sourceLinked="0"/>
          <c:txPr>
            <a:bodyPr/>
            <a:lstStyle/>
            <a:p>
              <a:pPr>
                <a:defRPr b="0" i="0" strike="noStrike" sz="1100" u="none">
                  <a:solidFill>
                    <a:srgbClr val="1B1B1B"/>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B1B1B"/>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E0E0E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5E5E"/>
                </a:solidFill>
                <a:latin typeface="+mn-lt"/>
              </a:defRPr>
            </a:pPr>
            <a:endParaRPr lang="en-US"/>
          </a:p>
        </c:txPr>
        <c:crossAx val="2094734554"/>
        <c:crosses val="autoZero"/>
        <c:crossBetween val="between"/>
        <c:majorUnit val="25"/>
      </c:valAx>
      <c:spPr>
        <a:noFill/>
        <a:ln>
          <a:noFill/>
        </a:ln>
        <a:effectLst/>
      </c:spPr>
    </c:plotArea>
    <c:legend>
      <c:legendPos val="b"/>
      <c:overlay val="0"/>
      <c:txPr>
        <a:bodyPr/>
        <a:lstStyle/>
        <a:p>
          <a:pPr>
            <a:defRPr sz="1200">
              <a:solidFill>
                <a:srgbClr val="1B1B1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1B1B"/>
                </a:solidFill>
                <a:latin typeface="+mn-lt"/>
              </a:defRPr>
            </a:pPr>
            <a:r>
              <a:rPr sz="1200" b="0" i="0" u="none" strike="noStrike">
                <a:solidFill>
                  <a:srgbClr val="1B1B1B"/>
                </a:solidFill>
                <a:latin typeface="+mn-lt"/>
              </a:rPr>
              <a:t>Normalised utility: 1 = perfect, 0 = never alarming, below 0 = worse than silence</a:t>
            </a:r>
          </a:p>
        </c:rich>
      </c:tx>
      <c:layout/>
      <c:overlay val="0"/>
    </c:title>
    <c:autoTitleDeleted val="0"/>
    <c:plotArea>
      <c:layout/>
      <c:barChart>
        <c:barDir val="bar"/>
        <c:grouping val="clustered"/>
        <c:varyColors val="0"/>
        <c:ser>
          <c:idx val="0"/>
          <c:order val="0"/>
          <c:tx>
            <c:strRef>
              <c:f>Sheet1!$B$1</c:f>
              <c:strCache>
                <c:ptCount val="1"/>
                <c:pt idx="0">
                  <c:v>Normalised utility</c:v>
                </c:pt>
              </c:strCache>
            </c:strRef>
          </c:tx>
          <c:spPr>
            <a:solidFill>
              <a:srgbClr val="8C8C8C"/>
            </a:solidFill>
            <a:effectLst/>
          </c:spPr>
          <c:invertIfNegative val="0"/>
          <c:dLbls>
            <c:numFmt formatCode="0.00" sourceLinked="0"/>
            <c:txPr>
              <a:bodyPr/>
              <a:lstStyle/>
              <a:p>
                <a:pPr>
                  <a:defRPr b="1" i="0" strike="noStrike" sz="1200" u="none">
                    <a:solidFill>
                      <a:srgbClr val="1B1B1B"/>
                    </a:solidFill>
                    <a:latin typeface="+mn-lt"/>
                  </a:defRPr>
                </a:pPr>
              </a:p>
            </c:txPr>
            <c:showLegendKey val="0"/>
            <c:showVal val="1"/>
            <c:showCatName val="0"/>
            <c:showSerName val="0"/>
            <c:showPercent val="0"/>
            <c:showBubbleSize val="0"/>
            <c:showLeaderLines val="0"/>
          </c:dLbls>
          <c:dPt>
            <c:idx val="0"/>
            <c:invertIfNegative val="0"/>
            <c:bubble3D val="0"/>
            <c:spPr>
              <a:solidFill>
                <a:srgbClr val="8C8C8C"/>
              </a:solidFill>
              <a:effectLst/>
            </c:spPr>
          </c:dPt>
          <c:dPt>
            <c:idx val="1"/>
            <c:invertIfNegative val="0"/>
            <c:bubble3D val="0"/>
            <c:spPr>
              <a:solidFill>
                <a:srgbClr val="8C8C8C"/>
              </a:solidFill>
              <a:effectLst/>
            </c:spPr>
          </c:dPt>
          <c:dPt>
            <c:idx val="2"/>
            <c:invertIfNegative val="0"/>
            <c:bubble3D val="0"/>
            <c:spPr>
              <a:solidFill>
                <a:srgbClr val="C8102E"/>
              </a:solidFill>
              <a:effectLst/>
            </c:spPr>
          </c:dPt>
          <c:dPt>
            <c:idx val="3"/>
            <c:invertIfNegative val="0"/>
            <c:bubble3D val="0"/>
            <c:spPr>
              <a:solidFill>
                <a:srgbClr val="C8102E"/>
              </a:solidFill>
              <a:effectLst/>
            </c:spPr>
          </c:dPt>
          <c:cat>
            <c:multiLvlStrRef>
              <c:f>Sheet1!$A$2:$A$5</c:f>
              <c:multiLvlStrCache>
                <c:ptCount val="4"/>
                <c:lvl>
                  <c:pt idx="0">
                    <c:v>Winner, new patients, its 2 hospitals</c:v>
                  </c:pt>
                  <c:pt idx="1">
                    <c:v>Winner, unseen third hospital</c:v>
                  </c:pt>
                  <c:pt idx="2">
                    <c:v>Our causal OSTA, PhysioNet test</c:v>
                  </c:pt>
                  <c:pt idx="3">
                    <c:v>Our best model, MIMIC-IV development test</c:v>
                  </c:pt>
                </c:lvl>
              </c:multiLvlStrCache>
            </c:multiLvlStrRef>
          </c:cat>
          <c:val>
            <c:numRef>
              <c:f>Sheet1!$B$2:$B$5</c:f>
              <c:numCache>
                <c:formatCode>General</c:formatCode>
                <c:ptCount val="4"/>
                <c:pt idx="0">
                  <c:v>0.43</c:v>
                </c:pt>
                <c:pt idx="1">
                  <c:v>-0.12</c:v>
                </c:pt>
                <c:pt idx="2">
                  <c:v>0.22</c:v>
                </c:pt>
                <c:pt idx="3">
                  <c:v>0.18</c:v>
                </c:pt>
              </c:numCache>
            </c:numRef>
          </c:val>
        </c:ser>
        <c:dLbls>
          <c:numFmt formatCode="0.00" sourceLinked="0"/>
          <c:txPr>
            <a:bodyPr/>
            <a:lstStyle/>
            <a:p>
              <a:pPr>
                <a:defRPr b="1" i="0" strike="noStrike" sz="1200" u="none">
                  <a:solidFill>
                    <a:srgbClr val="1B1B1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1B1B"/>
                </a:solidFill>
                <a:latin typeface="+mn-lt"/>
              </a:defRPr>
            </a:pPr>
            <a:endParaRPr lang="en-US"/>
          </a:p>
        </c:txPr>
        <c:crossAx val="2094734552"/>
        <c:crosses val="autoZero"/>
        <c:auto val="1"/>
        <c:lblAlgn val="ctr"/>
        <c:noMultiLvlLbl val="1"/>
      </c:catAx>
      <c:valAx>
        <c:axId val="2094734552"/>
        <c:scaling>
          <c:orientation val="minMax"/>
          <c:max val="0.6"/>
          <c:min val="-0.4"/>
        </c:scaling>
        <c:delete val="0"/>
        <c:axPos val="b"/>
        <c:majorGridlines>
          <c:spPr>
            <a:ln w="6350" cap="flat">
              <a:solidFill>
                <a:srgbClr val="E0E0E0"/>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5E5E5E"/>
                </a:solidFill>
                <a:latin typeface="+mn-lt"/>
              </a:defRPr>
            </a:pPr>
            <a:endParaRPr lang="en-US"/>
          </a:p>
        </c:txPr>
        <c:crossAx val="2094734554"/>
        <c:crosses val="autoZero"/>
        <c:crossBetween val="between"/>
        <c:majorUnit val="0.2"/>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1B1B"/>
                </a:solidFill>
                <a:latin typeface="+mn-lt"/>
              </a:defRPr>
            </a:pPr>
            <a:r>
              <a:rPr sz="1200" b="0" i="0" u="none" strike="noStrike">
                <a:solidFill>
                  <a:srgbClr val="1B1B1B"/>
                </a:solidFill>
                <a:latin typeface="+mn-lt"/>
              </a:rPr>
              <a:t>Hours relative to sepsis onset</a:t>
            </a:r>
          </a:p>
        </c:rich>
      </c:tx>
      <c:layout/>
      <c:overlay val="0"/>
    </c:title>
    <c:autoTitleDeleted val="0"/>
    <c:plotArea>
      <c:layout/>
      <c:lineChart>
        <c:varyColors val="0"/>
        <c:ser>
          <c:idx val="0"/>
          <c:order val="0"/>
          <c:tx>
            <c:strRef>
              <c:f>Sheet1!$B$1</c:f>
              <c:strCache>
                <c:ptCount val="1"/>
                <c:pt idx="0">
                  <c:v>Reward for an alarm (sepsis patient)</c:v>
                </c:pt>
              </c:strCache>
            </c:strRef>
          </c:tx>
          <c:spPr>
            <a:solidFill>
              <a:srgbClr val="C8102E"/>
            </a:solidFill>
            <a:ln w="38100" cap="flat">
              <a:solidFill>
                <a:srgbClr val="C8102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102E"/>
              </a:solidFill>
              <a:ln w="9525" cap="flat">
                <a:solidFill>
                  <a:srgbClr val="C8102E"/>
                </a:solidFill>
                <a:prstDash val="solid"/>
                <a:round/>
              </a:ln>
              <a:effectLst/>
            </c:spPr>
          </c:marker>
          <c:cat>
            <c:multiLvlStrRef>
              <c:f>Sheet1!$A$2:$A$11</c:f>
              <c:multiLvlStrCache>
                <c:ptCount val="10"/>
                <c:lvl>
                  <c:pt idx="0">
                    <c:v>-14</c:v>
                  </c:pt>
                  <c:pt idx="1">
                    <c:v>-12</c:v>
                  </c:pt>
                  <c:pt idx="2">
                    <c:v>-10</c:v>
                  </c:pt>
                  <c:pt idx="3">
                    <c:v>-8</c:v>
                  </c:pt>
                  <c:pt idx="4">
                    <c:v>-6</c:v>
                  </c:pt>
                  <c:pt idx="5">
                    <c:v>-4</c:v>
                  </c:pt>
                  <c:pt idx="6">
                    <c:v>-2</c:v>
                  </c:pt>
                  <c:pt idx="7">
                    <c:v>0</c:v>
                  </c:pt>
                  <c:pt idx="8">
                    <c:v>+1</c:v>
                  </c:pt>
                  <c:pt idx="9">
                    <c:v>+3</c:v>
                  </c:pt>
                </c:lvl>
              </c:multiLvlStrCache>
            </c:multiLvlStrRef>
          </c:cat>
          <c:val>
            <c:numRef>
              <c:f>Sheet1!$B$2:$B$11</c:f>
              <c:numCache>
                <c:formatCode>General</c:formatCode>
                <c:ptCount val="10"/>
                <c:pt idx="0">
                  <c:v>0</c:v>
                </c:pt>
                <c:pt idx="1">
                  <c:v>0</c:v>
                </c:pt>
                <c:pt idx="2">
                  <c:v>0.33</c:v>
                </c:pt>
                <c:pt idx="3">
                  <c:v>0.67</c:v>
                </c:pt>
                <c:pt idx="4">
                  <c:v>1</c:v>
                </c:pt>
                <c:pt idx="5">
                  <c:v>0.78</c:v>
                </c:pt>
                <c:pt idx="6">
                  <c:v>0.56</c:v>
                </c:pt>
                <c:pt idx="7">
                  <c:v>0.33</c:v>
                </c:pt>
                <c:pt idx="8">
                  <c:v>0.22</c:v>
                </c:pt>
                <c:pt idx="9">
                  <c:v>0</c:v>
                </c:pt>
              </c:numCache>
            </c:numRef>
          </c:val>
          <c:smooth val="0"/>
        </c:ser>
        <c:ser>
          <c:idx val="1"/>
          <c:order val="1"/>
          <c:tx>
            <c:strRef>
              <c:f>Sheet1!$C$1</c:f>
              <c:strCache>
                <c:ptCount val="1"/>
                <c:pt idx="0">
                  <c:v>Penalty for silence (sepsis patient)</c:v>
                </c:pt>
              </c:strCache>
            </c:strRef>
          </c:tx>
          <c:spPr>
            <a:solidFill>
              <a:srgbClr val="8C8C8C"/>
            </a:solidFill>
            <a:ln w="38100" cap="flat">
              <a:solidFill>
                <a:srgbClr val="8C8C8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Sheet1!$A$2:$A$11</c:f>
              <c:multiLvlStrCache>
                <c:ptCount val="10"/>
                <c:lvl>
                  <c:pt idx="0">
                    <c:v>-14</c:v>
                  </c:pt>
                  <c:pt idx="1">
                    <c:v>-12</c:v>
                  </c:pt>
                  <c:pt idx="2">
                    <c:v>-10</c:v>
                  </c:pt>
                  <c:pt idx="3">
                    <c:v>-8</c:v>
                  </c:pt>
                  <c:pt idx="4">
                    <c:v>-6</c:v>
                  </c:pt>
                  <c:pt idx="5">
                    <c:v>-4</c:v>
                  </c:pt>
                  <c:pt idx="6">
                    <c:v>-2</c:v>
                  </c:pt>
                  <c:pt idx="7">
                    <c:v>0</c:v>
                  </c:pt>
                  <c:pt idx="8">
                    <c:v>+1</c:v>
                  </c:pt>
                  <c:pt idx="9">
                    <c:v>+3</c:v>
                  </c:pt>
                </c:lvl>
              </c:multiLvlStrCache>
            </c:multiLvlStrRef>
          </c:cat>
          <c:val>
            <c:numRef>
              <c:f>Sheet1!$C$2:$C$11</c:f>
              <c:numCache>
                <c:formatCode>General</c:formatCode>
                <c:ptCount val="10"/>
                <c:pt idx="0">
                  <c:v>0</c:v>
                </c:pt>
                <c:pt idx="1">
                  <c:v>0</c:v>
                </c:pt>
                <c:pt idx="2">
                  <c:v>0</c:v>
                </c:pt>
                <c:pt idx="3">
                  <c:v>0</c:v>
                </c:pt>
                <c:pt idx="4">
                  <c:v>0</c:v>
                </c:pt>
                <c:pt idx="5">
                  <c:v>-0.44</c:v>
                </c:pt>
                <c:pt idx="6">
                  <c:v>-0.89</c:v>
                </c:pt>
                <c:pt idx="7">
                  <c:v>-1.33</c:v>
                </c:pt>
                <c:pt idx="8">
                  <c:v>-1.56</c:v>
                </c:pt>
                <c:pt idx="9">
                  <c:v>-2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E5E5E"/>
                </a:solidFill>
                <a:latin typeface="+mn-lt"/>
              </a:defRPr>
            </a:pPr>
            <a:endParaRPr lang="en-US"/>
          </a:p>
        </c:txPr>
        <c:crossAx val="2094734552"/>
        <c:crosses val="autoZero"/>
        <c:auto val="1"/>
        <c:lblAlgn val="ctr"/>
        <c:noMultiLvlLbl val="1"/>
      </c:catAx>
      <c:valAx>
        <c:axId val="2094734552"/>
        <c:scaling>
          <c:orientation val="minMax"/>
          <c:max val="1"/>
          <c:min val="-2"/>
        </c:scaling>
        <c:delete val="0"/>
        <c:axPos val="l"/>
        <c:majorGridlines>
          <c:spPr>
            <a:ln w="6350" cap="flat">
              <a:solidFill>
                <a:srgbClr val="E0E0E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5E5E"/>
                </a:solidFill>
                <a:latin typeface="+mn-lt"/>
              </a:defRPr>
            </a:pPr>
            <a:endParaRPr lang="en-US"/>
          </a:p>
        </c:txPr>
        <c:crossAx val="2094734554"/>
        <c:crosses val="autoZero"/>
        <c:crossBetween val="between"/>
        <c:majorUnit val="0.5"/>
      </c:valAx>
      <c:spPr>
        <a:noFill/>
        <a:ln>
          <a:noFill/>
        </a:ln>
        <a:effectLst/>
      </c:spPr>
    </c:plotArea>
    <c:legend>
      <c:legendPos val="b"/>
      <c:overlay val="0"/>
      <c:txPr>
        <a:bodyPr/>
        <a:lstStyle/>
        <a:p>
          <a:pPr>
            <a:defRPr sz="1200">
              <a:solidFill>
                <a:srgbClr val="1B1B1B"/>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Introduce yourself in one sentence as a healthcare professional and PhD candidate. Read the subtitle question: it is what the whole talk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Four numbers: the burden of sepsis, the burden of resistance, and two pieces of evidence that acting earlier helps: rapid diagnostics with stewardship, and a sepsis AI alert that clinicians acted on. The pathway shows where AI helps: earlier recognition (my project) and faster diagnosis (my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Define sepsis as infection plus organ failure, and SOFA as the organ scoring system, pointing at the six organs. Then: it is common, time-critical, and hard to recognise early, which is why prediction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general lesson from medical AI, before sepsis: models fail on new data, see only part of the patient, learn how care is delivered rather than the disease, and are judged by numbers rather than by what a clinician would do with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Two concrete failures: the best entry of the largest public competition, and the most deployed commercial model. Utility is the challenge score that rewards an alarm before sepsis and charges for false alarms; zero means never alarming. Then the field-wide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Read the question slowly. The field asks how high a ranking score can go; we ask whether the alarm would help and whether it travels. Three research questions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evidence first: human and AI together outperform either alone, sepsis alerts save lives when clinicians engage with them, trust has to be built, and health records encode clinical decisions. Then two examples from this project where clinical knowledge decided what the model may and may not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Introduce the databases before going deeper. MIMIC-IV is one large Boston teaching hospital; eICU is a network of 208 hospitals with very different charting; PhysioNet 2019 is the prepared challenge set used by most published models. All are open to credentialed researchers, which is what makes this work reproducible.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Read the figure left to right like a model architecture: raw records, harmonisation, one label, hourly features, models, evaluation. Each box has its reason underneath. The evaluation feeds the qualitative phase with healthcare professionals, which is running now, and the future direction is a silent test on hospital patients.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OSTA groups the predictors by organ, reads each organ over time, lets the organs inform each other, and outputs a sepsis risk plus a risk per organ. Because I believe in it, I test it against the same model without the organ grouping, and against the published alternatives including the winner's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"Speaking the same language" means that every raw item in both databases is translated to one shared concept, in one unit, on one clock, available from the hour it was recorded. Temperature is the example: MIMIC-IV stores it under two item numbers, one in Fahrenheit and one in Celsius, with real dates; eICU stores it in a vital-sign table that is often empty and in the nurses' charting table under text labels, with times counted in minutes from ICU admission. Without this, the same patient looks different to the model in each hospital. The chart shows how much usable data that recovered.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Say "preliminary". We audited our own earlier models, found three kinds of leakage, and retired them. The causal version scores lower, and it is the one we stand behind.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Grey is the published winner: 0.43 on new patients from the hospitals it trained on, minus 0.12 on a hospital it had never seen. Red is this project. The point is not that 0.18 is high; it is positive, with its confidence interval above zero, on raw data scored causally. Say the caveats: preliminary, development split, holdout sealed.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Contribution: the pipeline and the evaluation that make results believable, three findings, three submitted papers. Next: finish the qualitative study and the comparison, scale to the full cohort, open the holdout once, then test on hospital patients.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Two questions: which score decides, and how to define sepsis across hospital systems. Then thank the audience and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4415" cy="868680"/>
          </a:xfrm>
          <a:prstGeom prst="rect">
            <a:avLst/>
          </a:prstGeom>
          <a:noFill/>
          <a:ln/>
        </p:spPr>
        <p:txBody>
          <a:bodyPr wrap="square" rtlCol="0"/>
          <a:lstStyle>
            <a:lvl1pPr algn="l" indent="0" marL="0">
              <a:buNone/>
              <a:defRPr lang="en-US" sz="2600" b="1" dirty="0">
                <a:solidFill>
                  <a:srgbClr val="1B1B1B"/>
                </a:solidFill>
                <a:latin typeface="Arial" pitchFamily="34" charset="0"/>
                <a:ea typeface="Arial" pitchFamily="34" charset="-122"/>
                <a:cs typeface="Arial" pitchFamily="34" charset="-120"/>
              </a:defRPr>
            </a:lvl1pPr>
          </a:lstStyle>
          <a:p>
            <a:pPr algn="l" indent="0" marL="0">
              <a:buNone/>
            </a:pPr>
            <a:endParaRPr lang="en-US" sz="2600" dirty="0"/>
          </a:p>
        </p:txBody>
      </p:sp>
      <p:sp>
        <p:nvSpPr>
          <p:cNvPr id="3" name="Text 0"/>
          <p:cNvSpPr/>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8C8C8C"/>
                </a:solidFill>
              </a:rPr>
              <a:t>Mahmoud Essam Elrggal  |  SCEBE Research Degree Conference 2026</a:t>
            </a:r>
            <a:endParaRPr lang="en-US" sz="90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ACKUP">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4415" cy="868680"/>
          </a:xfrm>
          <a:prstGeom prst="rect">
            <a:avLst/>
          </a:prstGeom>
          <a:noFill/>
          <a:ln/>
        </p:spPr>
        <p:txBody>
          <a:bodyPr wrap="square" rtlCol="0"/>
          <a:lstStyle>
            <a:lvl1pPr algn="l" indent="0" marL="0">
              <a:buNone/>
              <a:defRPr lang="en-US" sz="2400" b="1" dirty="0">
                <a:solidFill>
                  <a:srgbClr val="1B1B1B"/>
                </a:solidFill>
                <a:latin typeface="Arial" pitchFamily="34" charset="0"/>
                <a:ea typeface="Arial" pitchFamily="34" charset="-122"/>
                <a:cs typeface="Arial" pitchFamily="34" charset="-120"/>
              </a:defRPr>
            </a:lvl1pPr>
          </a:lstStyle>
          <a:p>
            <a:pPr algn="l" indent="0" marL="0">
              <a:buNone/>
            </a:pPr>
            <a:endParaRPr lang="en-US" sz="2400" dirty="0"/>
          </a:p>
        </p:txBody>
      </p:sp>
      <p:sp>
        <p:nvSpPr>
          <p:cNvPr id="3" name="Text 0"/>
          <p:cNvSpPr/>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8C8C8C"/>
                </a:solidFill>
              </a:rPr>
              <a:t>Mahmoud Essam Elrggal  |  SCEBE Research Degree Conference 2026</a:t>
            </a:r>
            <a:endParaRPr lang="en-US" sz="90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LOSING">
    <p:bg>
      <p:bgPr>
        <a:solidFill>
          <a:srgbClr val="C8102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4415" cy="868680"/>
          </a:xfrm>
          <a:prstGeom prst="rect">
            <a:avLst/>
          </a:prstGeom>
          <a:noFill/>
          <a:ln/>
        </p:spPr>
        <p:txBody>
          <a:bodyPr wrap="square" rtlCol="0"/>
          <a:lstStyle>
            <a:lvl1pPr algn="l" indent="0" marL="0">
              <a:buNone/>
              <a:defRPr lang="en-US" sz="3000" b="1" dirty="0">
                <a:solidFill>
                  <a:srgbClr val="FFFFFF"/>
                </a:solidFill>
                <a:latin typeface="Arial" pitchFamily="34" charset="0"/>
                <a:ea typeface="Arial" pitchFamily="34" charset="-122"/>
                <a:cs typeface="Arial" pitchFamily="34" charset="-120"/>
              </a:defRPr>
            </a:lvl1pPr>
          </a:lstStyle>
          <a:p>
            <a:pPr algn="l" indent="0" marL="0">
              <a:buNone/>
            </a:pPr>
            <a:endParaRPr lang="en-US" sz="3000" dirty="0"/>
          </a:p>
        </p:txBody>
      </p:sp>
      <p:sp>
        <p:nvSpPr>
          <p:cNvPr id="3" name="Text 0"/>
          <p:cNvSpPr/>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F3C6CC"/>
                </a:solidFill>
              </a:rPr>
              <a:t>Mahmoud Essam Elrggal  |  SCEBE Research Degree Conference 2026</a:t>
            </a:r>
            <a:endParaRPr lang="en-US" sz="90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FFFFFF"/>
                </a:solidFill>
              </a:defRPr>
            </a:lvl1pPr>
          </a:lstStyle>
          <a:p>
            <a:pPr algn="r"/>
            <a:fld id="{F7021451-1387-4CA6-816F-3879F97B5CBC}" type="slidenum">
              <a:rPr b="1"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2.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2.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5.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anel"/>
          <p:cNvSpPr/>
          <p:nvPr/>
        </p:nvSpPr>
        <p:spPr>
          <a:xfrm>
            <a:off x="8899855" y="0"/>
            <a:ext cx="3291840" cy="6858000"/>
          </a:xfrm>
          <a:prstGeom prst="rect">
            <a:avLst/>
          </a:prstGeom>
          <a:solidFill>
            <a:srgbClr val="C8102E"/>
          </a:solidFill>
          <a:ln w="12700">
            <a:solidFill>
              <a:srgbClr val="C8102E"/>
            </a:solidFill>
            <a:prstDash val="solid"/>
          </a:ln>
        </p:spPr>
      </p:sp>
      <p:pic>
        <p:nvPicPr>
          <p:cNvPr id="3" name="title icon" descr="preencoded.png">    </p:cNvPr>
          <p:cNvPicPr>
            <a:picLocks noChangeAspect="1"/>
          </p:cNvPicPr>
          <p:nvPr/>
        </p:nvPicPr>
        <p:blipFill>
          <a:blip r:embed="rId1"/>
          <a:stretch>
            <a:fillRect/>
          </a:stretch>
        </p:blipFill>
        <p:spPr>
          <a:xfrm>
            <a:off x="9859975" y="914400"/>
            <a:ext cx="1371600" cy="1371600"/>
          </a:xfrm>
          <a:prstGeom prst="rect">
            <a:avLst/>
          </a:prstGeom>
        </p:spPr>
      </p:pic>
      <p:sp>
        <p:nvSpPr>
          <p:cNvPr id="4" name="text"/>
          <p:cNvSpPr txBox="1"/>
          <p:nvPr/>
        </p:nvSpPr>
        <p:spPr>
          <a:xfrm>
            <a:off x="9174175" y="2743200"/>
            <a:ext cx="2743200" cy="731520"/>
          </a:xfrm>
          <a:prstGeom prst="rect">
            <a:avLst/>
          </a:prstGeom>
          <a:noFill/>
          <a:ln/>
        </p:spPr>
        <p:txBody>
          <a:bodyPr wrap="square" lIns="0" tIns="0" rIns="0" bIns="0" rtlCol="0" anchor="t"/>
          <a:lstStyle/>
          <a:p>
            <a:pPr algn="l" indent="0" marL="0">
              <a:buNone/>
            </a:pPr>
            <a:r>
              <a:rPr lang="en-US" sz="1600" b="1" dirty="0">
                <a:solidFill>
                  <a:srgbClr val="FFFFFF"/>
                </a:solidFill>
              </a:rPr>
              <a:t>SCEBE Research Degree Conference 2026</a:t>
            </a:r>
            <a:endParaRPr lang="en-US" sz="1600" dirty="0"/>
          </a:p>
        </p:txBody>
      </p:sp>
      <p:sp>
        <p:nvSpPr>
          <p:cNvPr id="5" name="text"/>
          <p:cNvSpPr txBox="1"/>
          <p:nvPr/>
        </p:nvSpPr>
        <p:spPr>
          <a:xfrm>
            <a:off x="9174175" y="3520440"/>
            <a:ext cx="2743200" cy="1097280"/>
          </a:xfrm>
          <a:prstGeom prst="rect">
            <a:avLst/>
          </a:prstGeom>
          <a:noFill/>
          <a:ln/>
        </p:spPr>
        <p:txBody>
          <a:bodyPr wrap="square" lIns="0" tIns="0" rIns="0" bIns="0" rtlCol="0" anchor="t"/>
          <a:lstStyle/>
          <a:p>
            <a:pPr algn="l" indent="0" marL="0">
              <a:buNone/>
            </a:pPr>
            <a:r>
              <a:rPr lang="en-US" sz="1400" dirty="0">
                <a:solidFill>
                  <a:srgbClr val="FFFFFF"/>
                </a:solidFill>
              </a:rPr>
              <a:t>20 October 2026</a:t>
            </a:r>
            <a:endParaRPr lang="en-US" sz="1400" dirty="0"/>
          </a:p>
          <a:p>
            <a:pPr algn="l" indent="0" marL="0">
              <a:buNone/>
            </a:pPr>
            <a:r>
              <a:rPr lang="en-US" sz="1400" dirty="0">
                <a:solidFill>
                  <a:srgbClr val="FFFFFF"/>
                </a:solidFill>
              </a:rPr>
              <a:t>Merchiston Campus</a:t>
            </a:r>
            <a:endParaRPr lang="en-US" sz="1400" dirty="0"/>
          </a:p>
          <a:p>
            <a:pPr algn="l" indent="0" marL="0">
              <a:buNone/>
            </a:pPr>
            <a:r>
              <a:rPr lang="en-US" sz="1400" dirty="0">
                <a:solidFill>
                  <a:srgbClr val="FFFFFF"/>
                </a:solidFill>
              </a:rPr>
              <a:t>Edinburgh Napier University</a:t>
            </a:r>
            <a:endParaRPr lang="en-US" sz="1400" dirty="0"/>
          </a:p>
        </p:txBody>
      </p:sp>
      <p:sp>
        <p:nvSpPr>
          <p:cNvPr id="6" name="main title"/>
          <p:cNvSpPr txBox="1"/>
          <p:nvPr/>
        </p:nvSpPr>
        <p:spPr>
          <a:xfrm>
            <a:off x="548640" y="914400"/>
            <a:ext cx="7894015" cy="2103120"/>
          </a:xfrm>
          <a:prstGeom prst="rect">
            <a:avLst/>
          </a:prstGeom>
          <a:noFill/>
          <a:ln/>
        </p:spPr>
        <p:txBody>
          <a:bodyPr wrap="square" lIns="0" tIns="0" rIns="0" bIns="0" rtlCol="0" anchor="b"/>
          <a:lstStyle/>
          <a:p>
            <a:pPr algn="l" indent="0" marL="0">
              <a:buNone/>
            </a:pPr>
            <a:r>
              <a:rPr lang="en-US" sz="3200" b="1" dirty="0">
                <a:solidFill>
                  <a:srgbClr val="1B1B1B"/>
                </a:solidFill>
              </a:rPr>
              <a:t>Development of Novel AI Models for Early Detection and Prediction of Infectious Diseases, with a Focus on Sepsis</a:t>
            </a:r>
            <a:endParaRPr lang="en-US" sz="3200" dirty="0"/>
          </a:p>
        </p:txBody>
      </p:sp>
      <p:sp>
        <p:nvSpPr>
          <p:cNvPr id="7" name="subtitle"/>
          <p:cNvSpPr txBox="1"/>
          <p:nvPr/>
        </p:nvSpPr>
        <p:spPr>
          <a:xfrm>
            <a:off x="548640" y="3154680"/>
            <a:ext cx="7894015" cy="548640"/>
          </a:xfrm>
          <a:prstGeom prst="rect">
            <a:avLst/>
          </a:prstGeom>
          <a:noFill/>
          <a:ln/>
        </p:spPr>
        <p:txBody>
          <a:bodyPr wrap="square" lIns="0" tIns="0" rIns="0" bIns="0" rtlCol="0" anchor="t"/>
          <a:lstStyle/>
          <a:p>
            <a:pPr algn="l" indent="0" marL="0">
              <a:buNone/>
            </a:pPr>
            <a:r>
              <a:rPr lang="en-US" sz="2000" b="1" dirty="0">
                <a:solidFill>
                  <a:srgbClr val="C8102E"/>
                </a:solidFill>
              </a:rPr>
              <a:t>Can a sepsis warning stay useful in a hospital it has never seen?</a:t>
            </a:r>
            <a:endParaRPr lang="en-US" sz="2000" dirty="0"/>
          </a:p>
        </p:txBody>
      </p:sp>
      <p:sp>
        <p:nvSpPr>
          <p:cNvPr id="8" name="rich text"/>
          <p:cNvSpPr txBox="1"/>
          <p:nvPr/>
        </p:nvSpPr>
        <p:spPr>
          <a:xfrm>
            <a:off x="548640" y="4114800"/>
            <a:ext cx="7894015" cy="1645920"/>
          </a:xfrm>
          <a:prstGeom prst="rect">
            <a:avLst/>
          </a:prstGeom>
          <a:noFill/>
          <a:ln/>
        </p:spPr>
        <p:txBody>
          <a:bodyPr wrap="square" lIns="0" tIns="0" rIns="0" bIns="0" rtlCol="0" anchor="t"/>
          <a:lstStyle/>
          <a:p>
            <a:pPr indent="0" marL="0">
              <a:spcAft>
                <a:spcPts val="200"/>
              </a:spcAft>
              <a:buNone/>
            </a:pPr>
            <a:r>
              <a:rPr lang="en-US" sz="1800" b="1" dirty="0">
                <a:solidFill>
                  <a:srgbClr val="1B1B1B"/>
                </a:solidFill>
              </a:rPr>
              <a:t>Mahmoud Essam Elrggal</a:t>
            </a:r>
            <a:endParaRPr lang="en-US" sz="1800" dirty="0"/>
          </a:p>
          <a:p>
            <a:pPr indent="0" marL="0">
              <a:spcAft>
                <a:spcPts val="200"/>
              </a:spcAft>
              <a:buNone/>
            </a:pPr>
            <a:r>
              <a:rPr lang="en-US" sz="1400" dirty="0">
                <a:solidFill>
                  <a:srgbClr val="1B1B1B"/>
                </a:solidFill>
              </a:rPr>
              <a:t>PhD candidate, School of Computing, Engineering and the Built Environment, Edinburgh Napier University</a:t>
            </a:r>
            <a:endParaRPr lang="en-US" sz="1800" dirty="0"/>
          </a:p>
          <a:p>
            <a:pPr indent="0" marL="0">
              <a:spcAft>
                <a:spcPts val="200"/>
              </a:spcAft>
              <a:buNone/>
            </a:pPr>
            <a:r>
              <a:rPr lang="en-US" sz="800" dirty="0">
                <a:solidFill>
                  <a:srgbClr val="1B1B1B"/>
                </a:solidFill>
              </a:rPr>
              <a:t> </a:t>
            </a:r>
            <a:endParaRPr lang="en-US" sz="1800" dirty="0"/>
          </a:p>
          <a:p>
            <a:pPr indent="0" marL="0">
              <a:spcAft>
                <a:spcPts val="200"/>
              </a:spcAft>
              <a:buNone/>
            </a:pPr>
            <a:r>
              <a:rPr lang="en-US" sz="1400" dirty="0">
                <a:solidFill>
                  <a:srgbClr val="1B1B1B"/>
                </a:solidFill>
              </a:rPr>
              <a:t>Director of Studies: Prof. Ahmed Al Dubai</a:t>
            </a:r>
            <a:endParaRPr lang="en-US" sz="1800" dirty="0"/>
          </a:p>
          <a:p>
            <a:pPr indent="0" marL="0">
              <a:spcAft>
                <a:spcPts val="200"/>
              </a:spcAft>
              <a:buNone/>
            </a:pPr>
            <a:r>
              <a:rPr lang="en-US" sz="1400" dirty="0">
                <a:solidFill>
                  <a:srgbClr val="1B1B1B"/>
                </a:solidFill>
              </a:rPr>
              <a:t>Second Supervisor: Kia</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CONTEXT</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Detecting infection early saves lives and saves antibiotics</a:t>
            </a:r>
            <a:endParaRPr lang="en-US" sz="2600" dirty="0"/>
          </a:p>
        </p:txBody>
      </p:sp>
      <p:sp>
        <p:nvSpPr>
          <p:cNvPr id="4" name="icon tile"/>
          <p:cNvSpPr/>
          <p:nvPr/>
        </p:nvSpPr>
        <p:spPr>
          <a:xfrm>
            <a:off x="548640" y="1600200"/>
            <a:ext cx="548640" cy="548640"/>
          </a:xfrm>
          <a:prstGeom prst="rect">
            <a:avLst/>
          </a:prstGeom>
          <a:solidFill>
            <a:srgbClr val="C8102E"/>
          </a:solidFill>
          <a:ln w="12700">
            <a:solidFill>
              <a:srgbClr val="C8102E"/>
            </a:solidFill>
            <a:prstDash val="solid"/>
          </a:ln>
        </p:spPr>
      </p:sp>
      <p:pic>
        <p:nvPicPr>
          <p:cNvPr id="5" name="icon" descr="preencoded.png">    </p:cNvPr>
          <p:cNvPicPr>
            <a:picLocks noChangeAspect="1"/>
          </p:cNvPicPr>
          <p:nvPr/>
        </p:nvPicPr>
        <p:blipFill>
          <a:blip r:embed="rId1"/>
          <a:stretch>
            <a:fillRect/>
          </a:stretch>
        </p:blipFill>
        <p:spPr>
          <a:xfrm>
            <a:off x="658368" y="1709928"/>
            <a:ext cx="329184" cy="329184"/>
          </a:xfrm>
          <a:prstGeom prst="rect">
            <a:avLst/>
          </a:prstGeom>
        </p:spPr>
      </p:pic>
      <p:sp>
        <p:nvSpPr>
          <p:cNvPr id="6" name="text"/>
          <p:cNvSpPr txBox="1"/>
          <p:nvPr/>
        </p:nvSpPr>
        <p:spPr>
          <a:xfrm>
            <a:off x="548640" y="2240280"/>
            <a:ext cx="2651760" cy="640080"/>
          </a:xfrm>
          <a:prstGeom prst="rect">
            <a:avLst/>
          </a:prstGeom>
          <a:noFill/>
          <a:ln/>
        </p:spPr>
        <p:txBody>
          <a:bodyPr wrap="square" lIns="0" tIns="0" rIns="0" bIns="0" rtlCol="0" anchor="t"/>
          <a:lstStyle/>
          <a:p>
            <a:pPr algn="l" indent="0" marL="0">
              <a:buNone/>
            </a:pPr>
            <a:r>
              <a:rPr lang="en-US" sz="3400" b="1" dirty="0">
                <a:solidFill>
                  <a:srgbClr val="C8102E"/>
                </a:solidFill>
              </a:rPr>
              <a:t>11 M</a:t>
            </a:r>
            <a:endParaRPr lang="en-US" sz="3400" dirty="0"/>
          </a:p>
        </p:txBody>
      </p:sp>
      <p:sp>
        <p:nvSpPr>
          <p:cNvPr id="7" name="text"/>
          <p:cNvSpPr txBox="1"/>
          <p:nvPr/>
        </p:nvSpPr>
        <p:spPr>
          <a:xfrm>
            <a:off x="548640" y="2880360"/>
            <a:ext cx="2606040" cy="1188720"/>
          </a:xfrm>
          <a:prstGeom prst="rect">
            <a:avLst/>
          </a:prstGeom>
          <a:noFill/>
          <a:ln/>
        </p:spPr>
        <p:txBody>
          <a:bodyPr wrap="square" lIns="0" tIns="0" rIns="0" bIns="0" rtlCol="0" anchor="t"/>
          <a:lstStyle/>
          <a:p>
            <a:pPr algn="l" indent="0" marL="0">
              <a:buNone/>
            </a:pPr>
            <a:r>
              <a:rPr lang="en-US" sz="1350" dirty="0">
                <a:solidFill>
                  <a:srgbClr val="1B1B1B"/>
                </a:solidFill>
              </a:rPr>
              <a:t>sepsis deaths a year: 1 in 5 deaths worldwide [1]</a:t>
            </a:r>
            <a:endParaRPr lang="en-US" sz="1350" dirty="0"/>
          </a:p>
        </p:txBody>
      </p:sp>
      <p:sp>
        <p:nvSpPr>
          <p:cNvPr id="8" name="icon tile"/>
          <p:cNvSpPr/>
          <p:nvPr/>
        </p:nvSpPr>
        <p:spPr>
          <a:xfrm>
            <a:off x="3355848" y="1600200"/>
            <a:ext cx="548640" cy="548640"/>
          </a:xfrm>
          <a:prstGeom prst="rect">
            <a:avLst/>
          </a:prstGeom>
          <a:solidFill>
            <a:srgbClr val="C8102E"/>
          </a:solidFill>
          <a:ln w="12700">
            <a:solidFill>
              <a:srgbClr val="C8102E"/>
            </a:solidFill>
            <a:prstDash val="solid"/>
          </a:ln>
        </p:spPr>
      </p:sp>
      <p:pic>
        <p:nvPicPr>
          <p:cNvPr id="9" name="icon" descr="preencoded.png">    </p:cNvPr>
          <p:cNvPicPr>
            <a:picLocks noChangeAspect="1"/>
          </p:cNvPicPr>
          <p:nvPr/>
        </p:nvPicPr>
        <p:blipFill>
          <a:blip r:embed="rId2"/>
          <a:stretch>
            <a:fillRect/>
          </a:stretch>
        </p:blipFill>
        <p:spPr>
          <a:xfrm>
            <a:off x="3465576" y="1709928"/>
            <a:ext cx="329184" cy="329184"/>
          </a:xfrm>
          <a:prstGeom prst="rect">
            <a:avLst/>
          </a:prstGeom>
        </p:spPr>
      </p:pic>
      <p:sp>
        <p:nvSpPr>
          <p:cNvPr id="10" name="text"/>
          <p:cNvSpPr txBox="1"/>
          <p:nvPr/>
        </p:nvSpPr>
        <p:spPr>
          <a:xfrm>
            <a:off x="3355848" y="2240280"/>
            <a:ext cx="2651760" cy="640080"/>
          </a:xfrm>
          <a:prstGeom prst="rect">
            <a:avLst/>
          </a:prstGeom>
          <a:noFill/>
          <a:ln/>
        </p:spPr>
        <p:txBody>
          <a:bodyPr wrap="square" lIns="0" tIns="0" rIns="0" bIns="0" rtlCol="0" anchor="t"/>
          <a:lstStyle/>
          <a:p>
            <a:pPr algn="l" indent="0" marL="0">
              <a:buNone/>
            </a:pPr>
            <a:r>
              <a:rPr lang="en-US" sz="3400" b="1" dirty="0">
                <a:solidFill>
                  <a:srgbClr val="C8102E"/>
                </a:solidFill>
              </a:rPr>
              <a:t>1.27 M</a:t>
            </a:r>
            <a:endParaRPr lang="en-US" sz="3400" dirty="0"/>
          </a:p>
        </p:txBody>
      </p:sp>
      <p:sp>
        <p:nvSpPr>
          <p:cNvPr id="11" name="text"/>
          <p:cNvSpPr txBox="1"/>
          <p:nvPr/>
        </p:nvSpPr>
        <p:spPr>
          <a:xfrm>
            <a:off x="3355848" y="2880360"/>
            <a:ext cx="2606040" cy="1188720"/>
          </a:xfrm>
          <a:prstGeom prst="rect">
            <a:avLst/>
          </a:prstGeom>
          <a:noFill/>
          <a:ln/>
        </p:spPr>
        <p:txBody>
          <a:bodyPr wrap="square" lIns="0" tIns="0" rIns="0" bIns="0" rtlCol="0" anchor="t"/>
          <a:lstStyle/>
          <a:p>
            <a:pPr algn="l" indent="0" marL="0">
              <a:buNone/>
            </a:pPr>
            <a:r>
              <a:rPr lang="en-US" sz="1350" dirty="0">
                <a:solidFill>
                  <a:srgbClr val="1B1B1B"/>
                </a:solidFill>
              </a:rPr>
              <a:t>deaths in 2019 caused directly by antibiotic-resistant bacteria; 4.95 M associated [2]</a:t>
            </a:r>
            <a:endParaRPr lang="en-US" sz="1350" dirty="0"/>
          </a:p>
        </p:txBody>
      </p:sp>
      <p:sp>
        <p:nvSpPr>
          <p:cNvPr id="12" name="icon tile"/>
          <p:cNvSpPr/>
          <p:nvPr/>
        </p:nvSpPr>
        <p:spPr>
          <a:xfrm>
            <a:off x="6163056" y="1600200"/>
            <a:ext cx="548640" cy="548640"/>
          </a:xfrm>
          <a:prstGeom prst="rect">
            <a:avLst/>
          </a:prstGeom>
          <a:solidFill>
            <a:srgbClr val="C8102E"/>
          </a:solidFill>
          <a:ln w="12700">
            <a:solidFill>
              <a:srgbClr val="C8102E"/>
            </a:solidFill>
            <a:prstDash val="solid"/>
          </a:ln>
        </p:spPr>
      </p:sp>
      <p:pic>
        <p:nvPicPr>
          <p:cNvPr id="13" name="icon" descr="preencoded.png">    </p:cNvPr>
          <p:cNvPicPr>
            <a:picLocks noChangeAspect="1"/>
          </p:cNvPicPr>
          <p:nvPr/>
        </p:nvPicPr>
        <p:blipFill>
          <a:blip r:embed="rId3"/>
          <a:stretch>
            <a:fillRect/>
          </a:stretch>
        </p:blipFill>
        <p:spPr>
          <a:xfrm>
            <a:off x="6272784" y="1709928"/>
            <a:ext cx="329184" cy="329184"/>
          </a:xfrm>
          <a:prstGeom prst="rect">
            <a:avLst/>
          </a:prstGeom>
        </p:spPr>
      </p:pic>
      <p:sp>
        <p:nvSpPr>
          <p:cNvPr id="14" name="text"/>
          <p:cNvSpPr txBox="1"/>
          <p:nvPr/>
        </p:nvSpPr>
        <p:spPr>
          <a:xfrm>
            <a:off x="6163056" y="2240280"/>
            <a:ext cx="2651760" cy="640080"/>
          </a:xfrm>
          <a:prstGeom prst="rect">
            <a:avLst/>
          </a:prstGeom>
          <a:noFill/>
          <a:ln/>
        </p:spPr>
        <p:txBody>
          <a:bodyPr wrap="square" lIns="0" tIns="0" rIns="0" bIns="0" rtlCol="0" anchor="t"/>
          <a:lstStyle/>
          <a:p>
            <a:pPr algn="l" indent="0" marL="0">
              <a:buNone/>
            </a:pPr>
            <a:r>
              <a:rPr lang="en-US" sz="3400" b="1" dirty="0">
                <a:solidFill>
                  <a:srgbClr val="C8102E"/>
                </a:solidFill>
              </a:rPr>
              <a:t>OR 0.66</a:t>
            </a:r>
            <a:endParaRPr lang="en-US" sz="3400" dirty="0"/>
          </a:p>
        </p:txBody>
      </p:sp>
      <p:sp>
        <p:nvSpPr>
          <p:cNvPr id="15" name="text"/>
          <p:cNvSpPr txBox="1"/>
          <p:nvPr/>
        </p:nvSpPr>
        <p:spPr>
          <a:xfrm>
            <a:off x="6163056" y="2880360"/>
            <a:ext cx="2606040" cy="1188720"/>
          </a:xfrm>
          <a:prstGeom prst="rect">
            <a:avLst/>
          </a:prstGeom>
          <a:noFill/>
          <a:ln/>
        </p:spPr>
        <p:txBody>
          <a:bodyPr wrap="square" lIns="0" tIns="0" rIns="0" bIns="0" rtlCol="0" anchor="t"/>
          <a:lstStyle/>
          <a:p>
            <a:pPr algn="l" indent="0" marL="0">
              <a:buNone/>
            </a:pPr>
            <a:r>
              <a:rPr lang="en-US" sz="1350" dirty="0">
                <a:solidFill>
                  <a:srgbClr val="1B1B1B"/>
                </a:solidFill>
              </a:rPr>
              <a:t>odds of death with rapid diagnosis of bloodstream infection; effective therapy about 5 h sooner [3]</a:t>
            </a:r>
            <a:endParaRPr lang="en-US" sz="1350" dirty="0"/>
          </a:p>
        </p:txBody>
      </p:sp>
      <p:sp>
        <p:nvSpPr>
          <p:cNvPr id="16" name="icon tile"/>
          <p:cNvSpPr/>
          <p:nvPr/>
        </p:nvSpPr>
        <p:spPr>
          <a:xfrm>
            <a:off x="8970264" y="1600200"/>
            <a:ext cx="548640" cy="548640"/>
          </a:xfrm>
          <a:prstGeom prst="rect">
            <a:avLst/>
          </a:prstGeom>
          <a:solidFill>
            <a:srgbClr val="C8102E"/>
          </a:solidFill>
          <a:ln w="12700">
            <a:solidFill>
              <a:srgbClr val="C8102E"/>
            </a:solidFill>
            <a:prstDash val="solid"/>
          </a:ln>
        </p:spPr>
      </p:sp>
      <p:pic>
        <p:nvPicPr>
          <p:cNvPr id="17" name="icon" descr="preencoded.png">    </p:cNvPr>
          <p:cNvPicPr>
            <a:picLocks noChangeAspect="1"/>
          </p:cNvPicPr>
          <p:nvPr/>
        </p:nvPicPr>
        <p:blipFill>
          <a:blip r:embed="rId4"/>
          <a:stretch>
            <a:fillRect/>
          </a:stretch>
        </p:blipFill>
        <p:spPr>
          <a:xfrm>
            <a:off x="9079992" y="1709928"/>
            <a:ext cx="329184" cy="329184"/>
          </a:xfrm>
          <a:prstGeom prst="rect">
            <a:avLst/>
          </a:prstGeom>
        </p:spPr>
      </p:pic>
      <p:sp>
        <p:nvSpPr>
          <p:cNvPr id="18" name="text"/>
          <p:cNvSpPr txBox="1"/>
          <p:nvPr/>
        </p:nvSpPr>
        <p:spPr>
          <a:xfrm>
            <a:off x="8970264" y="2240280"/>
            <a:ext cx="2651760" cy="640080"/>
          </a:xfrm>
          <a:prstGeom prst="rect">
            <a:avLst/>
          </a:prstGeom>
          <a:noFill/>
          <a:ln/>
        </p:spPr>
        <p:txBody>
          <a:bodyPr wrap="square" lIns="0" tIns="0" rIns="0" bIns="0" rtlCol="0" anchor="t"/>
          <a:lstStyle/>
          <a:p>
            <a:pPr algn="l" indent="0" marL="0">
              <a:buNone/>
            </a:pPr>
            <a:r>
              <a:rPr lang="en-US" sz="3400" b="1" dirty="0">
                <a:solidFill>
                  <a:srgbClr val="C8102E"/>
                </a:solidFill>
              </a:rPr>
              <a:t>-18.7 %</a:t>
            </a:r>
            <a:endParaRPr lang="en-US" sz="3400" dirty="0"/>
          </a:p>
        </p:txBody>
      </p:sp>
      <p:sp>
        <p:nvSpPr>
          <p:cNvPr id="19" name="text"/>
          <p:cNvSpPr txBox="1"/>
          <p:nvPr/>
        </p:nvSpPr>
        <p:spPr>
          <a:xfrm>
            <a:off x="8970264" y="2880360"/>
            <a:ext cx="2606040" cy="1188720"/>
          </a:xfrm>
          <a:prstGeom prst="rect">
            <a:avLst/>
          </a:prstGeom>
          <a:noFill/>
          <a:ln/>
        </p:spPr>
        <p:txBody>
          <a:bodyPr wrap="square" lIns="0" tIns="0" rIns="0" bIns="0" rtlCol="0" anchor="t"/>
          <a:lstStyle/>
          <a:p>
            <a:pPr algn="l" indent="0" marL="0">
              <a:buNone/>
            </a:pPr>
            <a:r>
              <a:rPr lang="en-US" sz="1350" dirty="0">
                <a:solidFill>
                  <a:srgbClr val="1B1B1B"/>
                </a:solidFill>
              </a:rPr>
              <a:t>relative in-hospital mortality when a sepsis AI alert was confirmed by clinicians within 3 h [4]</a:t>
            </a:r>
            <a:endParaRPr lang="en-US" sz="1350" dirty="0"/>
          </a:p>
        </p:txBody>
      </p:sp>
      <p:sp>
        <p:nvSpPr>
          <p:cNvPr id="20" name="box"/>
          <p:cNvSpPr/>
          <p:nvPr/>
        </p:nvSpPr>
        <p:spPr>
          <a:xfrm>
            <a:off x="548640" y="4572000"/>
            <a:ext cx="2057400" cy="566928"/>
          </a:xfrm>
          <a:prstGeom prst="rect">
            <a:avLst/>
          </a:prstGeom>
          <a:solidFill>
            <a:srgbClr val="F2F2F2"/>
          </a:solidFill>
          <a:ln w="12700">
            <a:solidFill>
              <a:srgbClr val="BDBDBD"/>
            </a:solidFill>
            <a:prstDash val="solid"/>
          </a:ln>
        </p:spPr>
      </p:sp>
      <p:sp>
        <p:nvSpPr>
          <p:cNvPr id="21" name="text"/>
          <p:cNvSpPr txBox="1"/>
          <p:nvPr/>
        </p:nvSpPr>
        <p:spPr>
          <a:xfrm>
            <a:off x="621792" y="4572000"/>
            <a:ext cx="1911096" cy="566928"/>
          </a:xfrm>
          <a:prstGeom prst="rect">
            <a:avLst/>
          </a:prstGeom>
          <a:noFill/>
          <a:ln/>
        </p:spPr>
        <p:txBody>
          <a:bodyPr wrap="square" lIns="0" tIns="0" rIns="0" bIns="0" rtlCol="0" anchor="ctr"/>
          <a:lstStyle/>
          <a:p>
            <a:pPr algn="ctr" indent="0" marL="0">
              <a:buNone/>
            </a:pPr>
            <a:r>
              <a:rPr lang="en-US" sz="1300" b="1" dirty="0">
                <a:solidFill>
                  <a:srgbClr val="1B1B1B"/>
                </a:solidFill>
              </a:rPr>
              <a:t>Infection begins</a:t>
            </a:r>
            <a:endParaRPr lang="en-US" sz="1300" dirty="0"/>
          </a:p>
        </p:txBody>
      </p:sp>
      <p:sp>
        <p:nvSpPr>
          <p:cNvPr id="22" name="arrow"/>
          <p:cNvSpPr/>
          <p:nvPr/>
        </p:nvSpPr>
        <p:spPr>
          <a:xfrm>
            <a:off x="2606040" y="4855464"/>
            <a:ext cx="201168" cy="914"/>
          </a:xfrm>
          <a:prstGeom prst="line">
            <a:avLst/>
          </a:prstGeom>
          <a:noFill/>
          <a:ln w="15875">
            <a:solidFill>
              <a:srgbClr val="1B1B1B"/>
            </a:solidFill>
            <a:prstDash val="solid"/>
            <a:tailEnd type="triangle"/>
          </a:ln>
        </p:spPr>
      </p:sp>
      <p:sp>
        <p:nvSpPr>
          <p:cNvPr id="23" name="box"/>
          <p:cNvSpPr/>
          <p:nvPr/>
        </p:nvSpPr>
        <p:spPr>
          <a:xfrm>
            <a:off x="2807208" y="4572000"/>
            <a:ext cx="2057400" cy="566928"/>
          </a:xfrm>
          <a:prstGeom prst="rect">
            <a:avLst/>
          </a:prstGeom>
          <a:solidFill>
            <a:srgbClr val="FBE3E6"/>
          </a:solidFill>
          <a:ln w="12700">
            <a:solidFill>
              <a:srgbClr val="C8102E"/>
            </a:solidFill>
            <a:prstDash val="solid"/>
          </a:ln>
        </p:spPr>
      </p:sp>
      <p:sp>
        <p:nvSpPr>
          <p:cNvPr id="24" name="text"/>
          <p:cNvSpPr txBox="1"/>
          <p:nvPr/>
        </p:nvSpPr>
        <p:spPr>
          <a:xfrm>
            <a:off x="2880360" y="4572000"/>
            <a:ext cx="1911096" cy="566928"/>
          </a:xfrm>
          <a:prstGeom prst="rect">
            <a:avLst/>
          </a:prstGeom>
          <a:noFill/>
          <a:ln/>
        </p:spPr>
        <p:txBody>
          <a:bodyPr wrap="square" lIns="0" tIns="0" rIns="0" bIns="0" rtlCol="0" anchor="ctr"/>
          <a:lstStyle/>
          <a:p>
            <a:pPr algn="ctr" indent="0" marL="0">
              <a:buNone/>
            </a:pPr>
            <a:r>
              <a:rPr lang="en-US" sz="1300" b="1" dirty="0">
                <a:solidFill>
                  <a:srgbClr val="1B1B1B"/>
                </a:solidFill>
              </a:rPr>
              <a:t>Body starts to change</a:t>
            </a:r>
            <a:endParaRPr lang="en-US" sz="1300" dirty="0"/>
          </a:p>
        </p:txBody>
      </p:sp>
      <p:sp>
        <p:nvSpPr>
          <p:cNvPr id="25" name="arrow"/>
          <p:cNvSpPr/>
          <p:nvPr/>
        </p:nvSpPr>
        <p:spPr>
          <a:xfrm>
            <a:off x="4864608" y="4855464"/>
            <a:ext cx="201168" cy="914"/>
          </a:xfrm>
          <a:prstGeom prst="line">
            <a:avLst/>
          </a:prstGeom>
          <a:noFill/>
          <a:ln w="15875">
            <a:solidFill>
              <a:srgbClr val="1B1B1B"/>
            </a:solidFill>
            <a:prstDash val="solid"/>
            <a:tailEnd type="triangle"/>
          </a:ln>
        </p:spPr>
      </p:sp>
      <p:sp>
        <p:nvSpPr>
          <p:cNvPr id="26" name="box"/>
          <p:cNvSpPr/>
          <p:nvPr/>
        </p:nvSpPr>
        <p:spPr>
          <a:xfrm>
            <a:off x="5065776" y="4572000"/>
            <a:ext cx="2057400" cy="566928"/>
          </a:xfrm>
          <a:prstGeom prst="rect">
            <a:avLst/>
          </a:prstGeom>
          <a:solidFill>
            <a:srgbClr val="FBE3E6"/>
          </a:solidFill>
          <a:ln w="12700">
            <a:solidFill>
              <a:srgbClr val="C8102E"/>
            </a:solidFill>
            <a:prstDash val="solid"/>
          </a:ln>
        </p:spPr>
      </p:sp>
      <p:sp>
        <p:nvSpPr>
          <p:cNvPr id="27" name="text"/>
          <p:cNvSpPr txBox="1"/>
          <p:nvPr/>
        </p:nvSpPr>
        <p:spPr>
          <a:xfrm>
            <a:off x="5138928" y="4572000"/>
            <a:ext cx="1911096" cy="566928"/>
          </a:xfrm>
          <a:prstGeom prst="rect">
            <a:avLst/>
          </a:prstGeom>
          <a:noFill/>
          <a:ln/>
        </p:spPr>
        <p:txBody>
          <a:bodyPr wrap="square" lIns="0" tIns="0" rIns="0" bIns="0" rtlCol="0" anchor="ctr"/>
          <a:lstStyle/>
          <a:p>
            <a:pPr algn="ctr" indent="0" marL="0">
              <a:buNone/>
            </a:pPr>
            <a:r>
              <a:rPr lang="en-US" sz="1300" b="1" dirty="0">
                <a:solidFill>
                  <a:srgbClr val="1B1B1B"/>
                </a:solidFill>
              </a:rPr>
              <a:t>Clinician recognises</a:t>
            </a:r>
            <a:endParaRPr lang="en-US" sz="1300" dirty="0"/>
          </a:p>
        </p:txBody>
      </p:sp>
      <p:sp>
        <p:nvSpPr>
          <p:cNvPr id="28" name="arrow"/>
          <p:cNvSpPr/>
          <p:nvPr/>
        </p:nvSpPr>
        <p:spPr>
          <a:xfrm>
            <a:off x="7123176" y="4855464"/>
            <a:ext cx="201168" cy="914"/>
          </a:xfrm>
          <a:prstGeom prst="line">
            <a:avLst/>
          </a:prstGeom>
          <a:noFill/>
          <a:ln w="15875">
            <a:solidFill>
              <a:srgbClr val="1B1B1B"/>
            </a:solidFill>
            <a:prstDash val="solid"/>
            <a:tailEnd type="triangle"/>
          </a:ln>
        </p:spPr>
      </p:sp>
      <p:sp>
        <p:nvSpPr>
          <p:cNvPr id="29" name="box"/>
          <p:cNvSpPr/>
          <p:nvPr/>
        </p:nvSpPr>
        <p:spPr>
          <a:xfrm>
            <a:off x="7324344" y="4572000"/>
            <a:ext cx="2057400" cy="566928"/>
          </a:xfrm>
          <a:prstGeom prst="rect">
            <a:avLst/>
          </a:prstGeom>
          <a:solidFill>
            <a:srgbClr val="F2F2F2"/>
          </a:solidFill>
          <a:ln w="12700">
            <a:solidFill>
              <a:srgbClr val="BDBDBD"/>
            </a:solidFill>
            <a:prstDash val="solid"/>
          </a:ln>
        </p:spPr>
      </p:sp>
      <p:sp>
        <p:nvSpPr>
          <p:cNvPr id="30" name="text"/>
          <p:cNvSpPr txBox="1"/>
          <p:nvPr/>
        </p:nvSpPr>
        <p:spPr>
          <a:xfrm>
            <a:off x="7397496" y="4572000"/>
            <a:ext cx="1911096" cy="566928"/>
          </a:xfrm>
          <a:prstGeom prst="rect">
            <a:avLst/>
          </a:prstGeom>
          <a:noFill/>
          <a:ln/>
        </p:spPr>
        <p:txBody>
          <a:bodyPr wrap="square" lIns="0" tIns="0" rIns="0" bIns="0" rtlCol="0" anchor="ctr"/>
          <a:lstStyle/>
          <a:p>
            <a:pPr algn="ctr" indent="0" marL="0">
              <a:buNone/>
            </a:pPr>
            <a:r>
              <a:rPr lang="en-US" sz="1300" b="1" dirty="0">
                <a:solidFill>
                  <a:srgbClr val="1B1B1B"/>
                </a:solidFill>
              </a:rPr>
              <a:t>Microbiology result (48-72 h)</a:t>
            </a:r>
            <a:endParaRPr lang="en-US" sz="1300" dirty="0"/>
          </a:p>
        </p:txBody>
      </p:sp>
      <p:sp>
        <p:nvSpPr>
          <p:cNvPr id="31" name="arrow"/>
          <p:cNvSpPr/>
          <p:nvPr/>
        </p:nvSpPr>
        <p:spPr>
          <a:xfrm>
            <a:off x="9381744" y="4855464"/>
            <a:ext cx="201168" cy="914"/>
          </a:xfrm>
          <a:prstGeom prst="line">
            <a:avLst/>
          </a:prstGeom>
          <a:noFill/>
          <a:ln w="15875">
            <a:solidFill>
              <a:srgbClr val="1B1B1B"/>
            </a:solidFill>
            <a:prstDash val="solid"/>
            <a:tailEnd type="triangle"/>
          </a:ln>
        </p:spPr>
      </p:sp>
      <p:sp>
        <p:nvSpPr>
          <p:cNvPr id="32" name="box"/>
          <p:cNvSpPr/>
          <p:nvPr/>
        </p:nvSpPr>
        <p:spPr>
          <a:xfrm>
            <a:off x="9582912" y="4572000"/>
            <a:ext cx="2057400" cy="566928"/>
          </a:xfrm>
          <a:prstGeom prst="rect">
            <a:avLst/>
          </a:prstGeom>
          <a:solidFill>
            <a:srgbClr val="F2F2F2"/>
          </a:solidFill>
          <a:ln w="12700">
            <a:solidFill>
              <a:srgbClr val="BDBDBD"/>
            </a:solidFill>
            <a:prstDash val="solid"/>
          </a:ln>
        </p:spPr>
      </p:sp>
      <p:sp>
        <p:nvSpPr>
          <p:cNvPr id="33" name="text"/>
          <p:cNvSpPr txBox="1"/>
          <p:nvPr/>
        </p:nvSpPr>
        <p:spPr>
          <a:xfrm>
            <a:off x="9656064" y="4572000"/>
            <a:ext cx="1911096" cy="566928"/>
          </a:xfrm>
          <a:prstGeom prst="rect">
            <a:avLst/>
          </a:prstGeom>
          <a:noFill/>
          <a:ln/>
        </p:spPr>
        <p:txBody>
          <a:bodyPr wrap="square" lIns="0" tIns="0" rIns="0" bIns="0" rtlCol="0" anchor="ctr"/>
          <a:lstStyle/>
          <a:p>
            <a:pPr algn="ctr" indent="0" marL="0">
              <a:buNone/>
            </a:pPr>
            <a:r>
              <a:rPr lang="en-US" sz="1300" b="1" dirty="0">
                <a:solidFill>
                  <a:srgbClr val="1B1B1B"/>
                </a:solidFill>
              </a:rPr>
              <a:t>Targeted treatment</a:t>
            </a:r>
            <a:endParaRPr lang="en-US" sz="1300" dirty="0"/>
          </a:p>
        </p:txBody>
      </p:sp>
      <p:sp>
        <p:nvSpPr>
          <p:cNvPr id="34" name="text"/>
          <p:cNvSpPr txBox="1"/>
          <p:nvPr/>
        </p:nvSpPr>
        <p:spPr>
          <a:xfrm>
            <a:off x="2807208" y="5212080"/>
            <a:ext cx="4315968" cy="320040"/>
          </a:xfrm>
          <a:prstGeom prst="rect">
            <a:avLst/>
          </a:prstGeom>
          <a:noFill/>
          <a:ln/>
        </p:spPr>
        <p:txBody>
          <a:bodyPr wrap="square" lIns="0" tIns="0" rIns="0" bIns="0" rtlCol="0" anchor="t"/>
          <a:lstStyle/>
          <a:p>
            <a:pPr algn="ctr" indent="0" marL="0">
              <a:buNone/>
            </a:pPr>
            <a:r>
              <a:rPr lang="en-US" sz="1300" b="1" dirty="0">
                <a:solidFill>
                  <a:srgbClr val="C8102E"/>
                </a:solidFill>
              </a:rPr>
              <a:t>AI prediction moves recognition earlier</a:t>
            </a:r>
            <a:endParaRPr lang="en-US" sz="1300" dirty="0"/>
          </a:p>
        </p:txBody>
      </p:sp>
      <p:sp>
        <p:nvSpPr>
          <p:cNvPr id="35" name="text"/>
          <p:cNvSpPr txBox="1"/>
          <p:nvPr/>
        </p:nvSpPr>
        <p:spPr>
          <a:xfrm>
            <a:off x="7324344" y="5212080"/>
            <a:ext cx="2057400" cy="548640"/>
          </a:xfrm>
          <a:prstGeom prst="rect">
            <a:avLst/>
          </a:prstGeom>
          <a:noFill/>
          <a:ln/>
        </p:spPr>
        <p:txBody>
          <a:bodyPr wrap="square" lIns="0" tIns="0" rIns="0" bIns="0" rtlCol="0" anchor="t"/>
          <a:lstStyle/>
          <a:p>
            <a:pPr algn="ctr" indent="0" marL="0">
              <a:buNone/>
            </a:pPr>
            <a:r>
              <a:rPr lang="en-US" sz="1200" dirty="0">
                <a:solidFill>
                  <a:srgbClr val="5E5E5E"/>
                </a:solidFill>
              </a:rPr>
              <a:t>AI rapid diagnostics shorten this step [5]</a:t>
            </a:r>
            <a:endParaRPr lang="en-US" sz="1200" dirty="0"/>
          </a:p>
        </p:txBody>
      </p:sp>
      <p:sp>
        <p:nvSpPr>
          <p:cNvPr id="36" name="text"/>
          <p:cNvSpPr txBox="1"/>
          <p:nvPr/>
        </p:nvSpPr>
        <p:spPr>
          <a:xfrm>
            <a:off x="548640" y="4187952"/>
            <a:ext cx="3657600" cy="320040"/>
          </a:xfrm>
          <a:prstGeom prst="rect">
            <a:avLst/>
          </a:prstGeom>
          <a:noFill/>
          <a:ln/>
        </p:spPr>
        <p:txBody>
          <a:bodyPr wrap="square" lIns="0" tIns="0" rIns="0" bIns="0" rtlCol="0" anchor="t"/>
          <a:lstStyle/>
          <a:p>
            <a:pPr algn="l" indent="0" marL="0">
              <a:buNone/>
            </a:pPr>
            <a:r>
              <a:rPr lang="en-US" sz="1300" b="1" dirty="0">
                <a:solidFill>
                  <a:srgbClr val="5E5E5E"/>
                </a:solidFill>
              </a:rPr>
              <a:t>The infection pathway</a:t>
            </a:r>
            <a:endParaRPr lang="en-US" sz="1300" dirty="0"/>
          </a:p>
        </p:txBody>
      </p:sp>
      <p:sp>
        <p:nvSpPr>
          <p:cNvPr id="37"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 Rudd et al., Lancet 2020   [2] AMR Collaborators, Lancet 2022   [3] Timbrook et al., Clin Infect Dis 2017   [4] Adams et al., Nat Med 2022   [5] Elrggal et al., submitted 2026</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CONTEXT</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Sepsis is an infection that makes the body's own organs fail</a:t>
            </a:r>
            <a:endParaRPr lang="en-US" sz="2600" dirty="0"/>
          </a:p>
        </p:txBody>
      </p:sp>
      <p:sp>
        <p:nvSpPr>
          <p:cNvPr id="4" name="text"/>
          <p:cNvSpPr txBox="1"/>
          <p:nvPr/>
        </p:nvSpPr>
        <p:spPr>
          <a:xfrm>
            <a:off x="548640" y="1463040"/>
            <a:ext cx="5760720" cy="685800"/>
          </a:xfrm>
          <a:prstGeom prst="rect">
            <a:avLst/>
          </a:prstGeom>
          <a:noFill/>
          <a:ln/>
        </p:spPr>
        <p:txBody>
          <a:bodyPr wrap="square" lIns="0" tIns="0" rIns="0" bIns="0" rtlCol="0" anchor="t"/>
          <a:lstStyle/>
          <a:p>
            <a:pPr algn="l" indent="0" marL="0">
              <a:buNone/>
            </a:pPr>
            <a:r>
              <a:rPr lang="en-US" sz="1500" b="1" dirty="0">
                <a:solidFill>
                  <a:srgbClr val="1B1B1B"/>
                </a:solidFill>
              </a:rPr>
              <a:t>Sepsis-3: life-threatening organ dysfunction caused by a dysregulated host response to infection [6]</a:t>
            </a:r>
            <a:endParaRPr lang="en-US" sz="1500" dirty="0"/>
          </a:p>
        </p:txBody>
      </p:sp>
      <p:sp>
        <p:nvSpPr>
          <p:cNvPr id="5" name="text"/>
          <p:cNvSpPr txBox="1"/>
          <p:nvPr/>
        </p:nvSpPr>
        <p:spPr>
          <a:xfrm>
            <a:off x="548640" y="2194560"/>
            <a:ext cx="5760720" cy="457200"/>
          </a:xfrm>
          <a:prstGeom prst="rect">
            <a:avLst/>
          </a:prstGeom>
          <a:noFill/>
          <a:ln/>
        </p:spPr>
        <p:txBody>
          <a:bodyPr wrap="square" lIns="0" tIns="0" rIns="0" bIns="0" rtlCol="0" anchor="t"/>
          <a:lstStyle/>
          <a:p>
            <a:pPr algn="l" indent="0" marL="0">
              <a:buNone/>
            </a:pPr>
            <a:r>
              <a:rPr lang="en-US" sz="1300" dirty="0">
                <a:solidFill>
                  <a:srgbClr val="5E5E5E"/>
                </a:solidFill>
              </a:rPr>
              <a:t>Organ failure is measured by the SOFA score: 0 to 4 points for each organ system [7]</a:t>
            </a:r>
            <a:endParaRPr lang="en-US" sz="1300" dirty="0"/>
          </a:p>
        </p:txBody>
      </p:sp>
      <p:sp>
        <p:nvSpPr>
          <p:cNvPr id="6" name="icon tile"/>
          <p:cNvSpPr/>
          <p:nvPr/>
        </p:nvSpPr>
        <p:spPr>
          <a:xfrm>
            <a:off x="548640" y="2788920"/>
            <a:ext cx="640080" cy="640080"/>
          </a:xfrm>
          <a:prstGeom prst="rect">
            <a:avLst/>
          </a:prstGeom>
          <a:solidFill>
            <a:srgbClr val="C8102E"/>
          </a:solidFill>
          <a:ln w="12700">
            <a:solidFill>
              <a:srgbClr val="C8102E"/>
            </a:solidFill>
            <a:prstDash val="solid"/>
          </a:ln>
        </p:spPr>
      </p:sp>
      <p:pic>
        <p:nvPicPr>
          <p:cNvPr id="7" name="icon" descr="preencoded.png">    </p:cNvPr>
          <p:cNvPicPr>
            <a:picLocks noChangeAspect="1"/>
          </p:cNvPicPr>
          <p:nvPr/>
        </p:nvPicPr>
        <p:blipFill>
          <a:blip r:embed="rId1"/>
          <a:stretch>
            <a:fillRect/>
          </a:stretch>
        </p:blipFill>
        <p:spPr>
          <a:xfrm>
            <a:off x="676656" y="2916936"/>
            <a:ext cx="384048" cy="384048"/>
          </a:xfrm>
          <a:prstGeom prst="rect">
            <a:avLst/>
          </a:prstGeom>
        </p:spPr>
      </p:pic>
      <p:sp>
        <p:nvSpPr>
          <p:cNvPr id="8" name="text"/>
          <p:cNvSpPr txBox="1"/>
          <p:nvPr/>
        </p:nvSpPr>
        <p:spPr>
          <a:xfrm>
            <a:off x="1280160" y="2788920"/>
            <a:ext cx="1143000" cy="320040"/>
          </a:xfrm>
          <a:prstGeom prst="rect">
            <a:avLst/>
          </a:prstGeom>
          <a:noFill/>
          <a:ln/>
        </p:spPr>
        <p:txBody>
          <a:bodyPr wrap="square" lIns="0" tIns="0" rIns="0" bIns="0" rtlCol="0" anchor="t"/>
          <a:lstStyle/>
          <a:p>
            <a:pPr algn="l" indent="0" marL="0">
              <a:buNone/>
            </a:pPr>
            <a:r>
              <a:rPr lang="en-US" sz="1400" b="1" dirty="0">
                <a:solidFill>
                  <a:srgbClr val="1B1B1B"/>
                </a:solidFill>
              </a:rPr>
              <a:t>Lungs</a:t>
            </a:r>
            <a:endParaRPr lang="en-US" sz="1400" dirty="0"/>
          </a:p>
        </p:txBody>
      </p:sp>
      <p:sp>
        <p:nvSpPr>
          <p:cNvPr id="9" name="text"/>
          <p:cNvSpPr txBox="1"/>
          <p:nvPr/>
        </p:nvSpPr>
        <p:spPr>
          <a:xfrm>
            <a:off x="1280160" y="3108960"/>
            <a:ext cx="1143000" cy="822960"/>
          </a:xfrm>
          <a:prstGeom prst="rect">
            <a:avLst/>
          </a:prstGeom>
          <a:noFill/>
          <a:ln/>
        </p:spPr>
        <p:txBody>
          <a:bodyPr wrap="square" lIns="0" tIns="0" rIns="0" bIns="0" rtlCol="0" anchor="t"/>
          <a:lstStyle/>
          <a:p>
            <a:pPr algn="l" indent="0" marL="0">
              <a:buNone/>
            </a:pPr>
            <a:r>
              <a:rPr lang="en-US" sz="1200" dirty="0">
                <a:solidFill>
                  <a:srgbClr val="5E5E5E"/>
                </a:solidFill>
              </a:rPr>
              <a:t>oxygen ratio PaO2/FiO2</a:t>
            </a:r>
            <a:endParaRPr lang="en-US" sz="1200" dirty="0"/>
          </a:p>
        </p:txBody>
      </p:sp>
      <p:sp>
        <p:nvSpPr>
          <p:cNvPr id="10" name="icon tile"/>
          <p:cNvSpPr/>
          <p:nvPr/>
        </p:nvSpPr>
        <p:spPr>
          <a:xfrm>
            <a:off x="2487168" y="2788920"/>
            <a:ext cx="640080" cy="640080"/>
          </a:xfrm>
          <a:prstGeom prst="rect">
            <a:avLst/>
          </a:prstGeom>
          <a:solidFill>
            <a:srgbClr val="C8102E"/>
          </a:solidFill>
          <a:ln w="12700">
            <a:solidFill>
              <a:srgbClr val="C8102E"/>
            </a:solidFill>
            <a:prstDash val="solid"/>
          </a:ln>
        </p:spPr>
      </p:sp>
      <p:pic>
        <p:nvPicPr>
          <p:cNvPr id="11" name="icon" descr="preencoded.png">    </p:cNvPr>
          <p:cNvPicPr>
            <a:picLocks noChangeAspect="1"/>
          </p:cNvPicPr>
          <p:nvPr/>
        </p:nvPicPr>
        <p:blipFill>
          <a:blip r:embed="rId2"/>
          <a:stretch>
            <a:fillRect/>
          </a:stretch>
        </p:blipFill>
        <p:spPr>
          <a:xfrm>
            <a:off x="2615184" y="2916936"/>
            <a:ext cx="384048" cy="384048"/>
          </a:xfrm>
          <a:prstGeom prst="rect">
            <a:avLst/>
          </a:prstGeom>
        </p:spPr>
      </p:pic>
      <p:sp>
        <p:nvSpPr>
          <p:cNvPr id="12" name="text"/>
          <p:cNvSpPr txBox="1"/>
          <p:nvPr/>
        </p:nvSpPr>
        <p:spPr>
          <a:xfrm>
            <a:off x="3218688" y="2788920"/>
            <a:ext cx="1143000" cy="320040"/>
          </a:xfrm>
          <a:prstGeom prst="rect">
            <a:avLst/>
          </a:prstGeom>
          <a:noFill/>
          <a:ln/>
        </p:spPr>
        <p:txBody>
          <a:bodyPr wrap="square" lIns="0" tIns="0" rIns="0" bIns="0" rtlCol="0" anchor="t"/>
          <a:lstStyle/>
          <a:p>
            <a:pPr algn="l" indent="0" marL="0">
              <a:buNone/>
            </a:pPr>
            <a:r>
              <a:rPr lang="en-US" sz="1400" b="1" dirty="0">
                <a:solidFill>
                  <a:srgbClr val="1B1B1B"/>
                </a:solidFill>
              </a:rPr>
              <a:t>Circulation</a:t>
            </a:r>
            <a:endParaRPr lang="en-US" sz="1400" dirty="0"/>
          </a:p>
        </p:txBody>
      </p:sp>
      <p:sp>
        <p:nvSpPr>
          <p:cNvPr id="13" name="text"/>
          <p:cNvSpPr txBox="1"/>
          <p:nvPr/>
        </p:nvSpPr>
        <p:spPr>
          <a:xfrm>
            <a:off x="3218688" y="3108960"/>
            <a:ext cx="1143000" cy="822960"/>
          </a:xfrm>
          <a:prstGeom prst="rect">
            <a:avLst/>
          </a:prstGeom>
          <a:noFill/>
          <a:ln/>
        </p:spPr>
        <p:txBody>
          <a:bodyPr wrap="square" lIns="0" tIns="0" rIns="0" bIns="0" rtlCol="0" anchor="t"/>
          <a:lstStyle/>
          <a:p>
            <a:pPr algn="l" indent="0" marL="0">
              <a:buNone/>
            </a:pPr>
            <a:r>
              <a:rPr lang="en-US" sz="1200" dirty="0">
                <a:solidFill>
                  <a:srgbClr val="5E5E5E"/>
                </a:solidFill>
              </a:rPr>
              <a:t>blood pressure, vasopressors</a:t>
            </a:r>
            <a:endParaRPr lang="en-US" sz="1200" dirty="0"/>
          </a:p>
        </p:txBody>
      </p:sp>
      <p:sp>
        <p:nvSpPr>
          <p:cNvPr id="14" name="icon tile"/>
          <p:cNvSpPr/>
          <p:nvPr/>
        </p:nvSpPr>
        <p:spPr>
          <a:xfrm>
            <a:off x="4425696" y="2788920"/>
            <a:ext cx="640080" cy="640080"/>
          </a:xfrm>
          <a:prstGeom prst="rect">
            <a:avLst/>
          </a:prstGeom>
          <a:solidFill>
            <a:srgbClr val="C8102E"/>
          </a:solidFill>
          <a:ln w="12700">
            <a:solidFill>
              <a:srgbClr val="C8102E"/>
            </a:solidFill>
            <a:prstDash val="solid"/>
          </a:ln>
        </p:spPr>
      </p:sp>
      <p:pic>
        <p:nvPicPr>
          <p:cNvPr id="15" name="icon" descr="preencoded.png">    </p:cNvPr>
          <p:cNvPicPr>
            <a:picLocks noChangeAspect="1"/>
          </p:cNvPicPr>
          <p:nvPr/>
        </p:nvPicPr>
        <p:blipFill>
          <a:blip r:embed="rId3"/>
          <a:stretch>
            <a:fillRect/>
          </a:stretch>
        </p:blipFill>
        <p:spPr>
          <a:xfrm>
            <a:off x="4553712" y="2916936"/>
            <a:ext cx="384048" cy="384048"/>
          </a:xfrm>
          <a:prstGeom prst="rect">
            <a:avLst/>
          </a:prstGeom>
        </p:spPr>
      </p:pic>
      <p:sp>
        <p:nvSpPr>
          <p:cNvPr id="16" name="text"/>
          <p:cNvSpPr txBox="1"/>
          <p:nvPr/>
        </p:nvSpPr>
        <p:spPr>
          <a:xfrm>
            <a:off x="5157216" y="2788920"/>
            <a:ext cx="1143000" cy="320040"/>
          </a:xfrm>
          <a:prstGeom prst="rect">
            <a:avLst/>
          </a:prstGeom>
          <a:noFill/>
          <a:ln/>
        </p:spPr>
        <p:txBody>
          <a:bodyPr wrap="square" lIns="0" tIns="0" rIns="0" bIns="0" rtlCol="0" anchor="t"/>
          <a:lstStyle/>
          <a:p>
            <a:pPr algn="l" indent="0" marL="0">
              <a:buNone/>
            </a:pPr>
            <a:r>
              <a:rPr lang="en-US" sz="1400" b="1" dirty="0">
                <a:solidFill>
                  <a:srgbClr val="1B1B1B"/>
                </a:solidFill>
              </a:rPr>
              <a:t>Kidneys</a:t>
            </a:r>
            <a:endParaRPr lang="en-US" sz="1400" dirty="0"/>
          </a:p>
        </p:txBody>
      </p:sp>
      <p:sp>
        <p:nvSpPr>
          <p:cNvPr id="17" name="text"/>
          <p:cNvSpPr txBox="1"/>
          <p:nvPr/>
        </p:nvSpPr>
        <p:spPr>
          <a:xfrm>
            <a:off x="5157216" y="3108960"/>
            <a:ext cx="1143000" cy="822960"/>
          </a:xfrm>
          <a:prstGeom prst="rect">
            <a:avLst/>
          </a:prstGeom>
          <a:noFill/>
          <a:ln/>
        </p:spPr>
        <p:txBody>
          <a:bodyPr wrap="square" lIns="0" tIns="0" rIns="0" bIns="0" rtlCol="0" anchor="t"/>
          <a:lstStyle/>
          <a:p>
            <a:pPr algn="l" indent="0" marL="0">
              <a:buNone/>
            </a:pPr>
            <a:r>
              <a:rPr lang="en-US" sz="1200" dirty="0">
                <a:solidFill>
                  <a:srgbClr val="5E5E5E"/>
                </a:solidFill>
              </a:rPr>
              <a:t>creatinine, urine output</a:t>
            </a:r>
            <a:endParaRPr lang="en-US" sz="1200" dirty="0"/>
          </a:p>
        </p:txBody>
      </p:sp>
      <p:sp>
        <p:nvSpPr>
          <p:cNvPr id="18" name="icon tile"/>
          <p:cNvSpPr/>
          <p:nvPr/>
        </p:nvSpPr>
        <p:spPr>
          <a:xfrm>
            <a:off x="548640" y="4251960"/>
            <a:ext cx="640080" cy="640080"/>
          </a:xfrm>
          <a:prstGeom prst="rect">
            <a:avLst/>
          </a:prstGeom>
          <a:solidFill>
            <a:srgbClr val="C8102E"/>
          </a:solidFill>
          <a:ln w="12700">
            <a:solidFill>
              <a:srgbClr val="C8102E"/>
            </a:solidFill>
            <a:prstDash val="solid"/>
          </a:ln>
        </p:spPr>
      </p:sp>
      <p:pic>
        <p:nvPicPr>
          <p:cNvPr id="19" name="icon" descr="preencoded.png">    </p:cNvPr>
          <p:cNvPicPr>
            <a:picLocks noChangeAspect="1"/>
          </p:cNvPicPr>
          <p:nvPr/>
        </p:nvPicPr>
        <p:blipFill>
          <a:blip r:embed="rId4"/>
          <a:stretch>
            <a:fillRect/>
          </a:stretch>
        </p:blipFill>
        <p:spPr>
          <a:xfrm>
            <a:off x="676656" y="4379976"/>
            <a:ext cx="384048" cy="384048"/>
          </a:xfrm>
          <a:prstGeom prst="rect">
            <a:avLst/>
          </a:prstGeom>
        </p:spPr>
      </p:pic>
      <p:sp>
        <p:nvSpPr>
          <p:cNvPr id="20" name="text"/>
          <p:cNvSpPr txBox="1"/>
          <p:nvPr/>
        </p:nvSpPr>
        <p:spPr>
          <a:xfrm>
            <a:off x="1280160" y="4251960"/>
            <a:ext cx="1143000" cy="320040"/>
          </a:xfrm>
          <a:prstGeom prst="rect">
            <a:avLst/>
          </a:prstGeom>
          <a:noFill/>
          <a:ln/>
        </p:spPr>
        <p:txBody>
          <a:bodyPr wrap="square" lIns="0" tIns="0" rIns="0" bIns="0" rtlCol="0" anchor="t"/>
          <a:lstStyle/>
          <a:p>
            <a:pPr algn="l" indent="0" marL="0">
              <a:buNone/>
            </a:pPr>
            <a:r>
              <a:rPr lang="en-US" sz="1400" b="1" dirty="0">
                <a:solidFill>
                  <a:srgbClr val="1B1B1B"/>
                </a:solidFill>
              </a:rPr>
              <a:t>Liver</a:t>
            </a:r>
            <a:endParaRPr lang="en-US" sz="1400" dirty="0"/>
          </a:p>
        </p:txBody>
      </p:sp>
      <p:sp>
        <p:nvSpPr>
          <p:cNvPr id="21" name="text"/>
          <p:cNvSpPr txBox="1"/>
          <p:nvPr/>
        </p:nvSpPr>
        <p:spPr>
          <a:xfrm>
            <a:off x="1280160" y="4572000"/>
            <a:ext cx="1143000" cy="822960"/>
          </a:xfrm>
          <a:prstGeom prst="rect">
            <a:avLst/>
          </a:prstGeom>
          <a:noFill/>
          <a:ln/>
        </p:spPr>
        <p:txBody>
          <a:bodyPr wrap="square" lIns="0" tIns="0" rIns="0" bIns="0" rtlCol="0" anchor="t"/>
          <a:lstStyle/>
          <a:p>
            <a:pPr algn="l" indent="0" marL="0">
              <a:buNone/>
            </a:pPr>
            <a:r>
              <a:rPr lang="en-US" sz="1200" dirty="0">
                <a:solidFill>
                  <a:srgbClr val="5E5E5E"/>
                </a:solidFill>
              </a:rPr>
              <a:t>bilirubin</a:t>
            </a:r>
            <a:endParaRPr lang="en-US" sz="1200" dirty="0"/>
          </a:p>
        </p:txBody>
      </p:sp>
      <p:sp>
        <p:nvSpPr>
          <p:cNvPr id="22" name="icon tile"/>
          <p:cNvSpPr/>
          <p:nvPr/>
        </p:nvSpPr>
        <p:spPr>
          <a:xfrm>
            <a:off x="2487168" y="4251960"/>
            <a:ext cx="640080" cy="640080"/>
          </a:xfrm>
          <a:prstGeom prst="rect">
            <a:avLst/>
          </a:prstGeom>
          <a:solidFill>
            <a:srgbClr val="C8102E"/>
          </a:solidFill>
          <a:ln w="12700">
            <a:solidFill>
              <a:srgbClr val="C8102E"/>
            </a:solidFill>
            <a:prstDash val="solid"/>
          </a:ln>
        </p:spPr>
      </p:sp>
      <p:pic>
        <p:nvPicPr>
          <p:cNvPr id="23" name="icon" descr="preencoded.png">    </p:cNvPr>
          <p:cNvPicPr>
            <a:picLocks noChangeAspect="1"/>
          </p:cNvPicPr>
          <p:nvPr/>
        </p:nvPicPr>
        <p:blipFill>
          <a:blip r:embed="rId5"/>
          <a:stretch>
            <a:fillRect/>
          </a:stretch>
        </p:blipFill>
        <p:spPr>
          <a:xfrm>
            <a:off x="2615184" y="4379976"/>
            <a:ext cx="384048" cy="384048"/>
          </a:xfrm>
          <a:prstGeom prst="rect">
            <a:avLst/>
          </a:prstGeom>
        </p:spPr>
      </p:pic>
      <p:sp>
        <p:nvSpPr>
          <p:cNvPr id="24" name="text"/>
          <p:cNvSpPr txBox="1"/>
          <p:nvPr/>
        </p:nvSpPr>
        <p:spPr>
          <a:xfrm>
            <a:off x="3218688" y="4251960"/>
            <a:ext cx="1143000" cy="320040"/>
          </a:xfrm>
          <a:prstGeom prst="rect">
            <a:avLst/>
          </a:prstGeom>
          <a:noFill/>
          <a:ln/>
        </p:spPr>
        <p:txBody>
          <a:bodyPr wrap="square" lIns="0" tIns="0" rIns="0" bIns="0" rtlCol="0" anchor="t"/>
          <a:lstStyle/>
          <a:p>
            <a:pPr algn="l" indent="0" marL="0">
              <a:buNone/>
            </a:pPr>
            <a:r>
              <a:rPr lang="en-US" sz="1400" b="1" dirty="0">
                <a:solidFill>
                  <a:srgbClr val="1B1B1B"/>
                </a:solidFill>
              </a:rPr>
              <a:t>Clotting</a:t>
            </a:r>
            <a:endParaRPr lang="en-US" sz="1400" dirty="0"/>
          </a:p>
        </p:txBody>
      </p:sp>
      <p:sp>
        <p:nvSpPr>
          <p:cNvPr id="25" name="text"/>
          <p:cNvSpPr txBox="1"/>
          <p:nvPr/>
        </p:nvSpPr>
        <p:spPr>
          <a:xfrm>
            <a:off x="3218688" y="4572000"/>
            <a:ext cx="1143000" cy="822960"/>
          </a:xfrm>
          <a:prstGeom prst="rect">
            <a:avLst/>
          </a:prstGeom>
          <a:noFill/>
          <a:ln/>
        </p:spPr>
        <p:txBody>
          <a:bodyPr wrap="square" lIns="0" tIns="0" rIns="0" bIns="0" rtlCol="0" anchor="t"/>
          <a:lstStyle/>
          <a:p>
            <a:pPr algn="l" indent="0" marL="0">
              <a:buNone/>
            </a:pPr>
            <a:r>
              <a:rPr lang="en-US" sz="1200" dirty="0">
                <a:solidFill>
                  <a:srgbClr val="5E5E5E"/>
                </a:solidFill>
              </a:rPr>
              <a:t>platelets</a:t>
            </a:r>
            <a:endParaRPr lang="en-US" sz="1200" dirty="0"/>
          </a:p>
        </p:txBody>
      </p:sp>
      <p:sp>
        <p:nvSpPr>
          <p:cNvPr id="26" name="icon tile"/>
          <p:cNvSpPr/>
          <p:nvPr/>
        </p:nvSpPr>
        <p:spPr>
          <a:xfrm>
            <a:off x="4425696" y="4251960"/>
            <a:ext cx="640080" cy="640080"/>
          </a:xfrm>
          <a:prstGeom prst="rect">
            <a:avLst/>
          </a:prstGeom>
          <a:solidFill>
            <a:srgbClr val="C8102E"/>
          </a:solidFill>
          <a:ln w="12700">
            <a:solidFill>
              <a:srgbClr val="C8102E"/>
            </a:solidFill>
            <a:prstDash val="solid"/>
          </a:ln>
        </p:spPr>
      </p:sp>
      <p:pic>
        <p:nvPicPr>
          <p:cNvPr id="27" name="icon" descr="preencoded.png">    </p:cNvPr>
          <p:cNvPicPr>
            <a:picLocks noChangeAspect="1"/>
          </p:cNvPicPr>
          <p:nvPr/>
        </p:nvPicPr>
        <p:blipFill>
          <a:blip r:embed="rId6"/>
          <a:stretch>
            <a:fillRect/>
          </a:stretch>
        </p:blipFill>
        <p:spPr>
          <a:xfrm>
            <a:off x="4553712" y="4379976"/>
            <a:ext cx="384048" cy="384048"/>
          </a:xfrm>
          <a:prstGeom prst="rect">
            <a:avLst/>
          </a:prstGeom>
        </p:spPr>
      </p:pic>
      <p:sp>
        <p:nvSpPr>
          <p:cNvPr id="28" name="text"/>
          <p:cNvSpPr txBox="1"/>
          <p:nvPr/>
        </p:nvSpPr>
        <p:spPr>
          <a:xfrm>
            <a:off x="5157216" y="4251960"/>
            <a:ext cx="1143000" cy="320040"/>
          </a:xfrm>
          <a:prstGeom prst="rect">
            <a:avLst/>
          </a:prstGeom>
          <a:noFill/>
          <a:ln/>
        </p:spPr>
        <p:txBody>
          <a:bodyPr wrap="square" lIns="0" tIns="0" rIns="0" bIns="0" rtlCol="0" anchor="t"/>
          <a:lstStyle/>
          <a:p>
            <a:pPr algn="l" indent="0" marL="0">
              <a:buNone/>
            </a:pPr>
            <a:r>
              <a:rPr lang="en-US" sz="1400" b="1" dirty="0">
                <a:solidFill>
                  <a:srgbClr val="1B1B1B"/>
                </a:solidFill>
              </a:rPr>
              <a:t>Brain</a:t>
            </a:r>
            <a:endParaRPr lang="en-US" sz="1400" dirty="0"/>
          </a:p>
        </p:txBody>
      </p:sp>
      <p:sp>
        <p:nvSpPr>
          <p:cNvPr id="29" name="text"/>
          <p:cNvSpPr txBox="1"/>
          <p:nvPr/>
        </p:nvSpPr>
        <p:spPr>
          <a:xfrm>
            <a:off x="5157216" y="4572000"/>
            <a:ext cx="1143000" cy="822960"/>
          </a:xfrm>
          <a:prstGeom prst="rect">
            <a:avLst/>
          </a:prstGeom>
          <a:noFill/>
          <a:ln/>
        </p:spPr>
        <p:txBody>
          <a:bodyPr wrap="square" lIns="0" tIns="0" rIns="0" bIns="0" rtlCol="0" anchor="t"/>
          <a:lstStyle/>
          <a:p>
            <a:pPr algn="l" indent="0" marL="0">
              <a:buNone/>
            </a:pPr>
            <a:r>
              <a:rPr lang="en-US" sz="1200" dirty="0">
                <a:solidFill>
                  <a:srgbClr val="5E5E5E"/>
                </a:solidFill>
              </a:rPr>
              <a:t>Glasgow Coma Scale</a:t>
            </a:r>
            <a:endParaRPr lang="en-US" sz="1200" dirty="0"/>
          </a:p>
        </p:txBody>
      </p:sp>
      <p:sp>
        <p:nvSpPr>
          <p:cNvPr id="30" name="box"/>
          <p:cNvSpPr/>
          <p:nvPr/>
        </p:nvSpPr>
        <p:spPr>
          <a:xfrm>
            <a:off x="6675120" y="1463040"/>
            <a:ext cx="4967935" cy="4343400"/>
          </a:xfrm>
          <a:prstGeom prst="rect">
            <a:avLst/>
          </a:prstGeom>
          <a:solidFill>
            <a:srgbClr val="F2F2F2"/>
          </a:solidFill>
          <a:ln w="12700">
            <a:solidFill>
              <a:srgbClr val="F2F2F2"/>
            </a:solidFill>
            <a:prstDash val="solid"/>
          </a:ln>
        </p:spPr>
      </p:sp>
      <p:sp>
        <p:nvSpPr>
          <p:cNvPr id="31" name="text"/>
          <p:cNvSpPr txBox="1"/>
          <p:nvPr/>
        </p:nvSpPr>
        <p:spPr>
          <a:xfrm>
            <a:off x="6858000" y="1572768"/>
            <a:ext cx="4572000" cy="320040"/>
          </a:xfrm>
          <a:prstGeom prst="rect">
            <a:avLst/>
          </a:prstGeom>
          <a:noFill/>
          <a:ln/>
        </p:spPr>
        <p:txBody>
          <a:bodyPr wrap="square" lIns="0" tIns="0" rIns="0" bIns="0" rtlCol="0" anchor="t"/>
          <a:lstStyle/>
          <a:p>
            <a:pPr algn="l" indent="0" marL="0">
              <a:buNone/>
            </a:pPr>
            <a:r>
              <a:rPr lang="en-US" sz="1500" b="1" dirty="0">
                <a:solidFill>
                  <a:srgbClr val="C8102E"/>
                </a:solidFill>
              </a:rPr>
              <a:t>Why it is hard</a:t>
            </a:r>
            <a:endParaRPr lang="en-US" sz="1500" dirty="0"/>
          </a:p>
        </p:txBody>
      </p:sp>
      <p:sp>
        <p:nvSpPr>
          <p:cNvPr id="32" name="list"/>
          <p:cNvSpPr txBox="1"/>
          <p:nvPr/>
        </p:nvSpPr>
        <p:spPr>
          <a:xfrm>
            <a:off x="6858000" y="1965960"/>
            <a:ext cx="4602175" cy="3749040"/>
          </a:xfrm>
          <a:prstGeom prst="rect">
            <a:avLst/>
          </a:prstGeom>
          <a:noFill/>
          <a:ln/>
        </p:spPr>
        <p:txBody>
          <a:bodyPr wrap="square" lIns="0" tIns="0" rIns="0" bIns="0" rtlCol="0" anchor="t"/>
          <a:lstStyle/>
          <a:p>
            <a:pPr marL="203200" indent="-203200">
              <a:spcAft>
                <a:spcPts val="1000"/>
              </a:spcAft>
              <a:buSzPct val="100000"/>
              <a:buChar char="•"/>
            </a:pPr>
            <a:r>
              <a:rPr lang="en-US" sz="1400" dirty="0">
                <a:solidFill>
                  <a:srgbClr val="1B1B1B"/>
                </a:solidFill>
              </a:rPr>
              <a:t>Sepsis contributes to between one in two and one in three hospital deaths [8].</a:t>
            </a:r>
            <a:endParaRPr lang="en-US" sz="1400" dirty="0"/>
          </a:p>
          <a:p>
            <a:pPr marL="203200" indent="-203200">
              <a:spcAft>
                <a:spcPts val="1000"/>
              </a:spcAft>
              <a:buSzPct val="100000"/>
              <a:buChar char="•"/>
            </a:pPr>
            <a:r>
              <a:rPr lang="en-US" sz="1400" dirty="0">
                <a:solidFill>
                  <a:srgbClr val="1B1B1B"/>
                </a:solidFill>
              </a:rPr>
              <a:t>Each hour of delay to antibiotics raises the odds of death by about 4 % [9]; in septic shock survival falls by 7.6 % per hour [10].</a:t>
            </a:r>
            <a:endParaRPr lang="en-US" sz="1400" dirty="0"/>
          </a:p>
          <a:p>
            <a:pPr marL="203200" indent="-203200">
              <a:spcAft>
                <a:spcPts val="1000"/>
              </a:spcAft>
              <a:buSzPct val="100000"/>
              <a:buChar char="•"/>
            </a:pPr>
            <a:r>
              <a:rPr lang="en-US" sz="1400" dirty="0">
                <a:solidFill>
                  <a:srgbClr val="1B1B1B"/>
                </a:solidFill>
              </a:rPr>
              <a:t>Early signs are non-specific: fever, a fast heart rate and fast breathing are common in many ICU patients.</a:t>
            </a:r>
            <a:endParaRPr lang="en-US" sz="1400" dirty="0"/>
          </a:p>
          <a:p>
            <a:pPr marL="203200" indent="-203200">
              <a:spcAft>
                <a:spcPts val="1000"/>
              </a:spcAft>
              <a:buSzPct val="100000"/>
              <a:buChar char="•"/>
            </a:pPr>
            <a:r>
              <a:rPr lang="en-US" sz="1400" dirty="0">
                <a:solidFill>
                  <a:srgbClr val="1B1B1B"/>
                </a:solidFill>
              </a:rPr>
              <a:t>Bedside screening scores such as qSOFA and SIRS detect deterioration less accurately than early-warning scores [11].</a:t>
            </a:r>
            <a:endParaRPr lang="en-US" sz="1400" dirty="0"/>
          </a:p>
        </p:txBody>
      </p:sp>
      <p:sp>
        <p:nvSpPr>
          <p:cNvPr id="33"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[6] Singer et al., JAMA 2016   [7] Vincent et al., Intensive Care Med 1996   [8] Liu et al., JAMA 2014   [9] Seymour et al., N Engl J Med 2017   [10] Kumar et al., Crit Care Med 2006   [11] Churpek et al., Am J Respir Crit Care Med 2017</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WHAT THE MEDICAL LITERATURE SHOWS</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Clinical AI often excels in development and fails in practice</a:t>
            </a:r>
            <a:endParaRPr lang="en-US" sz="2600" dirty="0"/>
          </a:p>
        </p:txBody>
      </p:sp>
      <p:sp>
        <p:nvSpPr>
          <p:cNvPr id="4" name="box"/>
          <p:cNvSpPr/>
          <p:nvPr/>
        </p:nvSpPr>
        <p:spPr>
          <a:xfrm>
            <a:off x="548640" y="1554480"/>
            <a:ext cx="5440680" cy="2011680"/>
          </a:xfrm>
          <a:prstGeom prst="rect">
            <a:avLst/>
          </a:prstGeom>
          <a:solidFill>
            <a:srgbClr val="FFFFFF"/>
          </a:solidFill>
          <a:ln w="12700">
            <a:solidFill>
              <a:srgbClr val="BDBDBD"/>
            </a:solidFill>
            <a:prstDash val="solid"/>
          </a:ln>
        </p:spPr>
      </p:sp>
      <p:sp>
        <p:nvSpPr>
          <p:cNvPr id="5" name="icon tile"/>
          <p:cNvSpPr/>
          <p:nvPr/>
        </p:nvSpPr>
        <p:spPr>
          <a:xfrm>
            <a:off x="731520" y="1737360"/>
            <a:ext cx="502920" cy="502920"/>
          </a:xfrm>
          <a:prstGeom prst="rect">
            <a:avLst/>
          </a:prstGeom>
          <a:solidFill>
            <a:srgbClr val="C8102E"/>
          </a:solidFill>
          <a:ln w="12700">
            <a:solidFill>
              <a:srgbClr val="C8102E"/>
            </a:solidFill>
            <a:prstDash val="solid"/>
          </a:ln>
        </p:spPr>
      </p:sp>
      <p:pic>
        <p:nvPicPr>
          <p:cNvPr id="6" name="icon" descr="preencoded.png">    </p:cNvPr>
          <p:cNvPicPr>
            <a:picLocks noChangeAspect="1"/>
          </p:cNvPicPr>
          <p:nvPr/>
        </p:nvPicPr>
        <p:blipFill>
          <a:blip r:embed="rId1"/>
          <a:stretch>
            <a:fillRect/>
          </a:stretch>
        </p:blipFill>
        <p:spPr>
          <a:xfrm>
            <a:off x="832104" y="1837944"/>
            <a:ext cx="301752" cy="301752"/>
          </a:xfrm>
          <a:prstGeom prst="rect">
            <a:avLst/>
          </a:prstGeom>
        </p:spPr>
      </p:pic>
      <p:sp>
        <p:nvSpPr>
          <p:cNvPr id="7" name="text"/>
          <p:cNvSpPr txBox="1"/>
          <p:nvPr/>
        </p:nvSpPr>
        <p:spPr>
          <a:xfrm>
            <a:off x="1417320" y="1737360"/>
            <a:ext cx="4434840" cy="502920"/>
          </a:xfrm>
          <a:prstGeom prst="rect">
            <a:avLst/>
          </a:prstGeom>
          <a:noFill/>
          <a:ln/>
        </p:spPr>
        <p:txBody>
          <a:bodyPr wrap="square" lIns="0" tIns="0" rIns="0" bIns="0" rtlCol="0" anchor="ctr"/>
          <a:lstStyle/>
          <a:p>
            <a:pPr algn="l" indent="0" marL="0">
              <a:buNone/>
            </a:pPr>
            <a:r>
              <a:rPr lang="en-US" sz="1600" b="1" dirty="0">
                <a:solidFill>
                  <a:srgbClr val="1B1B1B"/>
                </a:solidFill>
              </a:rPr>
              <a:t>It fails on new data</a:t>
            </a:r>
            <a:endParaRPr lang="en-US" sz="1600" dirty="0"/>
          </a:p>
        </p:txBody>
      </p:sp>
      <p:sp>
        <p:nvSpPr>
          <p:cNvPr id="8" name="text"/>
          <p:cNvSpPr txBox="1"/>
          <p:nvPr/>
        </p:nvSpPr>
        <p:spPr>
          <a:xfrm>
            <a:off x="731520" y="2377440"/>
            <a:ext cx="5074920" cy="1143000"/>
          </a:xfrm>
          <a:prstGeom prst="rect">
            <a:avLst/>
          </a:prstGeom>
          <a:noFill/>
          <a:ln/>
        </p:spPr>
        <p:txBody>
          <a:bodyPr wrap="square" lIns="0" tIns="0" rIns="0" bIns="0" rtlCol="0" anchor="t"/>
          <a:lstStyle/>
          <a:p>
            <a:pPr algn="l" indent="0" marL="0">
              <a:buNone/>
            </a:pPr>
            <a:r>
              <a:rPr lang="en-US" sz="1300" dirty="0">
                <a:solidFill>
                  <a:srgbClr val="1B1B1B"/>
                </a:solidFill>
              </a:rPr>
              <a:t>81 % of 86 deep-learning algorithms performed worse on external data [12]. A model fell from AUC 0.90 to 0.50 when run silently on new patients [13]. Of 81 deep-learning studies, 9 were prospective and 6 tested in real clinical settings [14].</a:t>
            </a:r>
            <a:endParaRPr lang="en-US" sz="1300" dirty="0"/>
          </a:p>
        </p:txBody>
      </p:sp>
      <p:sp>
        <p:nvSpPr>
          <p:cNvPr id="9" name="box"/>
          <p:cNvSpPr/>
          <p:nvPr/>
        </p:nvSpPr>
        <p:spPr>
          <a:xfrm>
            <a:off x="6172200" y="1554480"/>
            <a:ext cx="5440680" cy="2011680"/>
          </a:xfrm>
          <a:prstGeom prst="rect">
            <a:avLst/>
          </a:prstGeom>
          <a:solidFill>
            <a:srgbClr val="FFFFFF"/>
          </a:solidFill>
          <a:ln w="12700">
            <a:solidFill>
              <a:srgbClr val="BDBDBD"/>
            </a:solidFill>
            <a:prstDash val="solid"/>
          </a:ln>
        </p:spPr>
      </p:sp>
      <p:sp>
        <p:nvSpPr>
          <p:cNvPr id="10" name="icon tile"/>
          <p:cNvSpPr/>
          <p:nvPr/>
        </p:nvSpPr>
        <p:spPr>
          <a:xfrm>
            <a:off x="6355080" y="1737360"/>
            <a:ext cx="502920" cy="502920"/>
          </a:xfrm>
          <a:prstGeom prst="rect">
            <a:avLst/>
          </a:prstGeom>
          <a:solidFill>
            <a:srgbClr val="C8102E"/>
          </a:solidFill>
          <a:ln w="12700">
            <a:solidFill>
              <a:srgbClr val="C8102E"/>
            </a:solidFill>
            <a:prstDash val="solid"/>
          </a:ln>
        </p:spPr>
      </p:sp>
      <p:pic>
        <p:nvPicPr>
          <p:cNvPr id="11" name="icon" descr="preencoded.png">    </p:cNvPr>
          <p:cNvPicPr>
            <a:picLocks noChangeAspect="1"/>
          </p:cNvPicPr>
          <p:nvPr/>
        </p:nvPicPr>
        <p:blipFill>
          <a:blip r:embed="rId2"/>
          <a:stretch>
            <a:fillRect/>
          </a:stretch>
        </p:blipFill>
        <p:spPr>
          <a:xfrm>
            <a:off x="6455664" y="1837944"/>
            <a:ext cx="301752" cy="301752"/>
          </a:xfrm>
          <a:prstGeom prst="rect">
            <a:avLst/>
          </a:prstGeom>
        </p:spPr>
      </p:pic>
      <p:sp>
        <p:nvSpPr>
          <p:cNvPr id="12" name="text"/>
          <p:cNvSpPr txBox="1"/>
          <p:nvPr/>
        </p:nvSpPr>
        <p:spPr>
          <a:xfrm>
            <a:off x="7040880" y="1737360"/>
            <a:ext cx="4434840" cy="502920"/>
          </a:xfrm>
          <a:prstGeom prst="rect">
            <a:avLst/>
          </a:prstGeom>
          <a:noFill/>
          <a:ln/>
        </p:spPr>
        <p:txBody>
          <a:bodyPr wrap="square" lIns="0" tIns="0" rIns="0" bIns="0" rtlCol="0" anchor="ctr"/>
          <a:lstStyle/>
          <a:p>
            <a:pPr algn="l" indent="0" marL="0">
              <a:buNone/>
            </a:pPr>
            <a:r>
              <a:rPr lang="en-US" sz="1600" b="1" dirty="0">
                <a:solidFill>
                  <a:srgbClr val="1B1B1B"/>
                </a:solidFill>
              </a:rPr>
              <a:t>It sees a narrow picture</a:t>
            </a:r>
            <a:endParaRPr lang="en-US" sz="1600" dirty="0"/>
          </a:p>
        </p:txBody>
      </p:sp>
      <p:sp>
        <p:nvSpPr>
          <p:cNvPr id="13" name="text"/>
          <p:cNvSpPr txBox="1"/>
          <p:nvPr/>
        </p:nvSpPr>
        <p:spPr>
          <a:xfrm>
            <a:off x="6355080" y="2377440"/>
            <a:ext cx="5074920" cy="1143000"/>
          </a:xfrm>
          <a:prstGeom prst="rect">
            <a:avLst/>
          </a:prstGeom>
          <a:noFill/>
          <a:ln/>
        </p:spPr>
        <p:txBody>
          <a:bodyPr wrap="square" lIns="0" tIns="0" rIns="0" bIns="0" rtlCol="0" anchor="t"/>
          <a:lstStyle/>
          <a:p>
            <a:pPr algn="l" indent="0" marL="0">
              <a:buNone/>
            </a:pPr>
            <a:r>
              <a:rPr lang="en-US" sz="1300" dirty="0">
                <a:solidFill>
                  <a:srgbClr val="1B1B1B"/>
                </a:solidFill>
              </a:rPr>
              <a:t>The most used sepsis benchmark gives models 40 hourly variables [15]; treatments, devices and history are usually left out.</a:t>
            </a:r>
            <a:endParaRPr lang="en-US" sz="1300" dirty="0"/>
          </a:p>
        </p:txBody>
      </p:sp>
      <p:sp>
        <p:nvSpPr>
          <p:cNvPr id="14" name="box"/>
          <p:cNvSpPr/>
          <p:nvPr/>
        </p:nvSpPr>
        <p:spPr>
          <a:xfrm>
            <a:off x="548640" y="3749040"/>
            <a:ext cx="5440680" cy="2011680"/>
          </a:xfrm>
          <a:prstGeom prst="rect">
            <a:avLst/>
          </a:prstGeom>
          <a:solidFill>
            <a:srgbClr val="FFFFFF"/>
          </a:solidFill>
          <a:ln w="12700">
            <a:solidFill>
              <a:srgbClr val="BDBDBD"/>
            </a:solidFill>
            <a:prstDash val="solid"/>
          </a:ln>
        </p:spPr>
      </p:sp>
      <p:sp>
        <p:nvSpPr>
          <p:cNvPr id="15" name="icon tile"/>
          <p:cNvSpPr/>
          <p:nvPr/>
        </p:nvSpPr>
        <p:spPr>
          <a:xfrm>
            <a:off x="731520" y="3931920"/>
            <a:ext cx="502920" cy="502920"/>
          </a:xfrm>
          <a:prstGeom prst="rect">
            <a:avLst/>
          </a:prstGeom>
          <a:solidFill>
            <a:srgbClr val="C8102E"/>
          </a:solidFill>
          <a:ln w="12700">
            <a:solidFill>
              <a:srgbClr val="C8102E"/>
            </a:solidFill>
            <a:prstDash val="solid"/>
          </a:ln>
        </p:spPr>
      </p:sp>
      <p:pic>
        <p:nvPicPr>
          <p:cNvPr id="16" name="icon" descr="preencoded.png">    </p:cNvPr>
          <p:cNvPicPr>
            <a:picLocks noChangeAspect="1"/>
          </p:cNvPicPr>
          <p:nvPr/>
        </p:nvPicPr>
        <p:blipFill>
          <a:blip r:embed="rId3"/>
          <a:stretch>
            <a:fillRect/>
          </a:stretch>
        </p:blipFill>
        <p:spPr>
          <a:xfrm>
            <a:off x="832104" y="4032504"/>
            <a:ext cx="301752" cy="301752"/>
          </a:xfrm>
          <a:prstGeom prst="rect">
            <a:avLst/>
          </a:prstGeom>
        </p:spPr>
      </p:pic>
      <p:sp>
        <p:nvSpPr>
          <p:cNvPr id="17" name="text"/>
          <p:cNvSpPr txBox="1"/>
          <p:nvPr/>
        </p:nvSpPr>
        <p:spPr>
          <a:xfrm>
            <a:off x="1417320" y="3931920"/>
            <a:ext cx="4434840" cy="502920"/>
          </a:xfrm>
          <a:prstGeom prst="rect">
            <a:avLst/>
          </a:prstGeom>
          <a:noFill/>
          <a:ln/>
        </p:spPr>
        <p:txBody>
          <a:bodyPr wrap="square" lIns="0" tIns="0" rIns="0" bIns="0" rtlCol="0" anchor="ctr"/>
          <a:lstStyle/>
          <a:p>
            <a:pPr algn="l" indent="0" marL="0">
              <a:buNone/>
            </a:pPr>
            <a:r>
              <a:rPr lang="en-US" sz="1600" b="1" dirty="0">
                <a:solidFill>
                  <a:srgbClr val="1B1B1B"/>
                </a:solidFill>
              </a:rPr>
              <a:t>It learns the care process, not the patient</a:t>
            </a:r>
            <a:endParaRPr lang="en-US" sz="1600" dirty="0"/>
          </a:p>
        </p:txBody>
      </p:sp>
      <p:sp>
        <p:nvSpPr>
          <p:cNvPr id="18" name="text"/>
          <p:cNvSpPr txBox="1"/>
          <p:nvPr/>
        </p:nvSpPr>
        <p:spPr>
          <a:xfrm>
            <a:off x="731520" y="4572000"/>
            <a:ext cx="5074920" cy="1143000"/>
          </a:xfrm>
          <a:prstGeom prst="rect">
            <a:avLst/>
          </a:prstGeom>
          <a:noFill/>
          <a:ln/>
        </p:spPr>
        <p:txBody>
          <a:bodyPr wrap="square" lIns="0" tIns="0" rIns="0" bIns="0" rtlCol="0" anchor="t"/>
          <a:lstStyle/>
          <a:p>
            <a:pPr algn="l" indent="0" marL="0">
              <a:buNone/>
            </a:pPr>
            <a:r>
              <a:rPr lang="en-US" sz="1300" dirty="0">
                <a:solidFill>
                  <a:srgbClr val="1B1B1B"/>
                </a:solidFill>
              </a:rPr>
              <a:t>Whether a laboratory test was ordered predicted survival for 86 % of 272 tests; the timing of the order beat the result itself for 68 % [16]. A pneumonia model learned which hospital took the X-ray [17].</a:t>
            </a:r>
            <a:endParaRPr lang="en-US" sz="1300" dirty="0"/>
          </a:p>
        </p:txBody>
      </p:sp>
      <p:sp>
        <p:nvSpPr>
          <p:cNvPr id="19" name="box"/>
          <p:cNvSpPr/>
          <p:nvPr/>
        </p:nvSpPr>
        <p:spPr>
          <a:xfrm>
            <a:off x="6172200" y="3749040"/>
            <a:ext cx="5440680" cy="2011680"/>
          </a:xfrm>
          <a:prstGeom prst="rect">
            <a:avLst/>
          </a:prstGeom>
          <a:solidFill>
            <a:srgbClr val="FFFFFF"/>
          </a:solidFill>
          <a:ln w="12700">
            <a:solidFill>
              <a:srgbClr val="BDBDBD"/>
            </a:solidFill>
            <a:prstDash val="solid"/>
          </a:ln>
        </p:spPr>
      </p:sp>
      <p:sp>
        <p:nvSpPr>
          <p:cNvPr id="20" name="icon tile"/>
          <p:cNvSpPr/>
          <p:nvPr/>
        </p:nvSpPr>
        <p:spPr>
          <a:xfrm>
            <a:off x="6355080" y="3931920"/>
            <a:ext cx="502920" cy="502920"/>
          </a:xfrm>
          <a:prstGeom prst="rect">
            <a:avLst/>
          </a:prstGeom>
          <a:solidFill>
            <a:srgbClr val="C8102E"/>
          </a:solidFill>
          <a:ln w="12700">
            <a:solidFill>
              <a:srgbClr val="C8102E"/>
            </a:solidFill>
            <a:prstDash val="solid"/>
          </a:ln>
        </p:spPr>
      </p:sp>
      <p:pic>
        <p:nvPicPr>
          <p:cNvPr id="21" name="icon" descr="preencoded.png">    </p:cNvPr>
          <p:cNvPicPr>
            <a:picLocks noChangeAspect="1"/>
          </p:cNvPicPr>
          <p:nvPr/>
        </p:nvPicPr>
        <p:blipFill>
          <a:blip r:embed="rId4"/>
          <a:stretch>
            <a:fillRect/>
          </a:stretch>
        </p:blipFill>
        <p:spPr>
          <a:xfrm>
            <a:off x="6455664" y="4032504"/>
            <a:ext cx="301752" cy="301752"/>
          </a:xfrm>
          <a:prstGeom prst="rect">
            <a:avLst/>
          </a:prstGeom>
        </p:spPr>
      </p:pic>
      <p:sp>
        <p:nvSpPr>
          <p:cNvPr id="22" name="text"/>
          <p:cNvSpPr txBox="1"/>
          <p:nvPr/>
        </p:nvSpPr>
        <p:spPr>
          <a:xfrm>
            <a:off x="7040880" y="3931920"/>
            <a:ext cx="4434840" cy="502920"/>
          </a:xfrm>
          <a:prstGeom prst="rect">
            <a:avLst/>
          </a:prstGeom>
          <a:noFill/>
          <a:ln/>
        </p:spPr>
        <p:txBody>
          <a:bodyPr wrap="square" lIns="0" tIns="0" rIns="0" bIns="0" rtlCol="0" anchor="ctr"/>
          <a:lstStyle/>
          <a:p>
            <a:pPr algn="l" indent="0" marL="0">
              <a:buNone/>
            </a:pPr>
            <a:r>
              <a:rPr lang="en-US" sz="1600" b="1" dirty="0">
                <a:solidFill>
                  <a:srgbClr val="1B1B1B"/>
                </a:solidFill>
              </a:rPr>
              <a:t>It is judged by numbers, not clinical meaning</a:t>
            </a:r>
            <a:endParaRPr lang="en-US" sz="1600" dirty="0"/>
          </a:p>
        </p:txBody>
      </p:sp>
      <p:sp>
        <p:nvSpPr>
          <p:cNvPr id="23" name="text"/>
          <p:cNvSpPr txBox="1"/>
          <p:nvPr/>
        </p:nvSpPr>
        <p:spPr>
          <a:xfrm>
            <a:off x="6355080" y="4572000"/>
            <a:ext cx="5074920" cy="1143000"/>
          </a:xfrm>
          <a:prstGeom prst="rect">
            <a:avLst/>
          </a:prstGeom>
          <a:noFill/>
          <a:ln/>
        </p:spPr>
        <p:txBody>
          <a:bodyPr wrap="square" lIns="0" tIns="0" rIns="0" bIns="0" rtlCol="0" anchor="t"/>
          <a:lstStyle/>
          <a:p>
            <a:pPr algn="l" indent="0" marL="0">
              <a:buNone/>
            </a:pPr>
            <a:r>
              <a:rPr lang="en-US" sz="1300" dirty="0">
                <a:solidFill>
                  <a:srgbClr val="1B1B1B"/>
                </a:solidFill>
              </a:rPr>
              <a:t>Data leakage inflates results in at least 17 scientific fields [18]. Usefulness depends on the action a prediction triggers, not on AUROC alone [19, 20].</a:t>
            </a:r>
            <a:endParaRPr lang="en-US" sz="1300" dirty="0"/>
          </a:p>
        </p:txBody>
      </p:sp>
      <p:sp>
        <p:nvSpPr>
          <p:cNvPr id="24"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[12] Yu et al., Radiol Artif Intell 2022   [13] Kwong et al., Front Digit Health 2022   [14] Nagendran et al., BMJ 2020   [15] Reyna et al., Crit Care Med 2020   [16] Agniel et al., BMJ 2018   [17] Zech et al., PLoS Med 2018   [18] Kapoor et al., Patterns 2023   [19] Shah et al., JAMA 2019   [20] Kelly et al., BMC Med 2019</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WHAT THE MEDICAL LITERATURE SHOWS</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Sepsis AI follows the same pattern</a:t>
            </a:r>
            <a:endParaRPr lang="en-US" sz="2600" dirty="0"/>
          </a:p>
        </p:txBody>
      </p:sp>
      <p:sp>
        <p:nvSpPr>
          <p:cNvPr id="4" name="box"/>
          <p:cNvSpPr/>
          <p:nvPr/>
        </p:nvSpPr>
        <p:spPr>
          <a:xfrm>
            <a:off x="548640" y="1554480"/>
            <a:ext cx="5440680" cy="2423160"/>
          </a:xfrm>
          <a:prstGeom prst="rect">
            <a:avLst/>
          </a:prstGeom>
          <a:solidFill>
            <a:srgbClr val="FFFFFF"/>
          </a:solidFill>
          <a:ln w="12700">
            <a:solidFill>
              <a:srgbClr val="BDBDBD"/>
            </a:solidFill>
            <a:prstDash val="solid"/>
          </a:ln>
        </p:spPr>
      </p:sp>
      <p:sp>
        <p:nvSpPr>
          <p:cNvPr id="5" name="text"/>
          <p:cNvSpPr txBox="1"/>
          <p:nvPr/>
        </p:nvSpPr>
        <p:spPr>
          <a:xfrm>
            <a:off x="731520" y="1664208"/>
            <a:ext cx="5120640" cy="365760"/>
          </a:xfrm>
          <a:prstGeom prst="rect">
            <a:avLst/>
          </a:prstGeom>
          <a:noFill/>
          <a:ln/>
        </p:spPr>
        <p:txBody>
          <a:bodyPr wrap="square" lIns="0" tIns="0" rIns="0" bIns="0" rtlCol="0" anchor="t"/>
          <a:lstStyle/>
          <a:p>
            <a:pPr algn="l" indent="0" marL="0">
              <a:buNone/>
            </a:pPr>
            <a:r>
              <a:rPr lang="en-US" sz="1500" b="1" dirty="0">
                <a:solidFill>
                  <a:srgbClr val="1B1B1B"/>
                </a:solidFill>
              </a:rPr>
              <a:t>PhysioNet 2019 Challenge: 104 teams [15]</a:t>
            </a:r>
            <a:endParaRPr lang="en-US" sz="1500" dirty="0"/>
          </a:p>
        </p:txBody>
      </p:sp>
      <p:sp>
        <p:nvSpPr>
          <p:cNvPr id="6" name="text"/>
          <p:cNvSpPr txBox="1"/>
          <p:nvPr/>
        </p:nvSpPr>
        <p:spPr>
          <a:xfrm>
            <a:off x="731520" y="2103120"/>
            <a:ext cx="2011680" cy="731520"/>
          </a:xfrm>
          <a:prstGeom prst="rect">
            <a:avLst/>
          </a:prstGeom>
          <a:noFill/>
          <a:ln/>
        </p:spPr>
        <p:txBody>
          <a:bodyPr wrap="square" lIns="0" tIns="0" rIns="0" bIns="0" rtlCol="0" anchor="t"/>
          <a:lstStyle/>
          <a:p>
            <a:pPr algn="l" indent="0" marL="0">
              <a:buNone/>
            </a:pPr>
            <a:r>
              <a:rPr lang="en-US" sz="4400" b="1" dirty="0">
                <a:solidFill>
                  <a:srgbClr val="1B1B1B"/>
                </a:solidFill>
              </a:rPr>
              <a:t>0.43</a:t>
            </a:r>
            <a:endParaRPr lang="en-US" sz="4400" dirty="0"/>
          </a:p>
        </p:txBody>
      </p:sp>
      <p:sp>
        <p:nvSpPr>
          <p:cNvPr id="7" name="text"/>
          <p:cNvSpPr txBox="1"/>
          <p:nvPr/>
        </p:nvSpPr>
        <p:spPr>
          <a:xfrm>
            <a:off x="731520" y="2834640"/>
            <a:ext cx="2194560" cy="822960"/>
          </a:xfrm>
          <a:prstGeom prst="rect">
            <a:avLst/>
          </a:prstGeom>
          <a:noFill/>
          <a:ln/>
        </p:spPr>
        <p:txBody>
          <a:bodyPr wrap="square" lIns="0" tIns="0" rIns="0" bIns="0" rtlCol="0" anchor="t"/>
          <a:lstStyle/>
          <a:p>
            <a:pPr algn="l" indent="0" marL="0">
              <a:buNone/>
            </a:pPr>
            <a:r>
              <a:rPr lang="en-US" sz="1250" dirty="0">
                <a:solidFill>
                  <a:srgbClr val="5E5E5E"/>
                </a:solidFill>
              </a:rPr>
              <a:t>winner's utility on new patients from its two training hospitals</a:t>
            </a:r>
            <a:endParaRPr lang="en-US" sz="1250" dirty="0"/>
          </a:p>
        </p:txBody>
      </p:sp>
      <p:sp>
        <p:nvSpPr>
          <p:cNvPr id="8" name="arrow"/>
          <p:cNvSpPr/>
          <p:nvPr/>
        </p:nvSpPr>
        <p:spPr>
          <a:xfrm>
            <a:off x="2880360" y="2468880"/>
            <a:ext cx="548640" cy="914"/>
          </a:xfrm>
          <a:prstGeom prst="line">
            <a:avLst/>
          </a:prstGeom>
          <a:noFill/>
          <a:ln w="31750">
            <a:solidFill>
              <a:srgbClr val="C8102E"/>
            </a:solidFill>
            <a:prstDash val="solid"/>
            <a:tailEnd type="triangle"/>
          </a:ln>
        </p:spPr>
      </p:sp>
      <p:sp>
        <p:nvSpPr>
          <p:cNvPr id="9" name="text"/>
          <p:cNvSpPr txBox="1"/>
          <p:nvPr/>
        </p:nvSpPr>
        <p:spPr>
          <a:xfrm>
            <a:off x="3566160" y="2103120"/>
            <a:ext cx="2194560" cy="731520"/>
          </a:xfrm>
          <a:prstGeom prst="rect">
            <a:avLst/>
          </a:prstGeom>
          <a:noFill/>
          <a:ln/>
        </p:spPr>
        <p:txBody>
          <a:bodyPr wrap="square" lIns="0" tIns="0" rIns="0" bIns="0" rtlCol="0" anchor="t"/>
          <a:lstStyle/>
          <a:p>
            <a:pPr algn="l" indent="0" marL="0">
              <a:buNone/>
            </a:pPr>
            <a:r>
              <a:rPr lang="en-US" sz="4400" b="1" dirty="0">
                <a:solidFill>
                  <a:srgbClr val="C8102E"/>
                </a:solidFill>
              </a:rPr>
              <a:t>-0.12</a:t>
            </a:r>
            <a:endParaRPr lang="en-US" sz="4400" dirty="0"/>
          </a:p>
        </p:txBody>
      </p:sp>
      <p:sp>
        <p:nvSpPr>
          <p:cNvPr id="10" name="text"/>
          <p:cNvSpPr txBox="1"/>
          <p:nvPr/>
        </p:nvSpPr>
        <p:spPr>
          <a:xfrm>
            <a:off x="3566160" y="2834640"/>
            <a:ext cx="2286000" cy="822960"/>
          </a:xfrm>
          <a:prstGeom prst="rect">
            <a:avLst/>
          </a:prstGeom>
          <a:noFill/>
          <a:ln/>
        </p:spPr>
        <p:txBody>
          <a:bodyPr wrap="square" lIns="0" tIns="0" rIns="0" bIns="0" rtlCol="0" anchor="t"/>
          <a:lstStyle/>
          <a:p>
            <a:pPr algn="l" indent="0" marL="0">
              <a:buNone/>
            </a:pPr>
            <a:r>
              <a:rPr lang="en-US" sz="1250" dirty="0">
                <a:solidFill>
                  <a:srgbClr val="5E5E5E"/>
                </a:solidFill>
              </a:rPr>
              <a:t>on a third hospital it had never seen: worse than no alarm [21]</a:t>
            </a:r>
            <a:endParaRPr lang="en-US" sz="1250" dirty="0"/>
          </a:p>
        </p:txBody>
      </p:sp>
      <p:sp>
        <p:nvSpPr>
          <p:cNvPr id="11" name="box"/>
          <p:cNvSpPr/>
          <p:nvPr/>
        </p:nvSpPr>
        <p:spPr>
          <a:xfrm>
            <a:off x="6172200" y="1554480"/>
            <a:ext cx="5440680" cy="2423160"/>
          </a:xfrm>
          <a:prstGeom prst="rect">
            <a:avLst/>
          </a:prstGeom>
          <a:solidFill>
            <a:srgbClr val="FFFFFF"/>
          </a:solidFill>
          <a:ln w="12700">
            <a:solidFill>
              <a:srgbClr val="BDBDBD"/>
            </a:solidFill>
            <a:prstDash val="solid"/>
          </a:ln>
        </p:spPr>
      </p:sp>
      <p:sp>
        <p:nvSpPr>
          <p:cNvPr id="12" name="text"/>
          <p:cNvSpPr txBox="1"/>
          <p:nvPr/>
        </p:nvSpPr>
        <p:spPr>
          <a:xfrm>
            <a:off x="6355080" y="1664208"/>
            <a:ext cx="5120640" cy="365760"/>
          </a:xfrm>
          <a:prstGeom prst="rect">
            <a:avLst/>
          </a:prstGeom>
          <a:noFill/>
          <a:ln/>
        </p:spPr>
        <p:txBody>
          <a:bodyPr wrap="square" lIns="0" tIns="0" rIns="0" bIns="0" rtlCol="0" anchor="t"/>
          <a:lstStyle/>
          <a:p>
            <a:pPr algn="l" indent="0" marL="0">
              <a:buNone/>
            </a:pPr>
            <a:r>
              <a:rPr lang="en-US" sz="1500" b="1" dirty="0">
                <a:solidFill>
                  <a:srgbClr val="1B1B1B"/>
                </a:solidFill>
              </a:rPr>
              <a:t>Epic Sepsis Model, widely deployed [22]</a:t>
            </a:r>
            <a:endParaRPr lang="en-US" sz="1500" dirty="0"/>
          </a:p>
        </p:txBody>
      </p:sp>
      <p:sp>
        <p:nvSpPr>
          <p:cNvPr id="13" name="text"/>
          <p:cNvSpPr txBox="1"/>
          <p:nvPr/>
        </p:nvSpPr>
        <p:spPr>
          <a:xfrm>
            <a:off x="6355080" y="2103120"/>
            <a:ext cx="2103120" cy="731520"/>
          </a:xfrm>
          <a:prstGeom prst="rect">
            <a:avLst/>
          </a:prstGeom>
          <a:noFill/>
          <a:ln/>
        </p:spPr>
        <p:txBody>
          <a:bodyPr wrap="square" lIns="0" tIns="0" rIns="0" bIns="0" rtlCol="0" anchor="t"/>
          <a:lstStyle/>
          <a:p>
            <a:pPr algn="l" indent="0" marL="0">
              <a:buNone/>
            </a:pPr>
            <a:r>
              <a:rPr lang="en-US" sz="4400" b="1" dirty="0">
                <a:solidFill>
                  <a:srgbClr val="C8102E"/>
                </a:solidFill>
              </a:rPr>
              <a:t>0.63</a:t>
            </a:r>
            <a:endParaRPr lang="en-US" sz="4400" dirty="0"/>
          </a:p>
        </p:txBody>
      </p:sp>
      <p:sp>
        <p:nvSpPr>
          <p:cNvPr id="14" name="text"/>
          <p:cNvSpPr txBox="1"/>
          <p:nvPr/>
        </p:nvSpPr>
        <p:spPr>
          <a:xfrm>
            <a:off x="6355080" y="2834640"/>
            <a:ext cx="2286000" cy="822960"/>
          </a:xfrm>
          <a:prstGeom prst="rect">
            <a:avLst/>
          </a:prstGeom>
          <a:noFill/>
          <a:ln/>
        </p:spPr>
        <p:txBody>
          <a:bodyPr wrap="square" lIns="0" tIns="0" rIns="0" bIns="0" rtlCol="0" anchor="t"/>
          <a:lstStyle/>
          <a:p>
            <a:pPr algn="l" indent="0" marL="0">
              <a:buNone/>
            </a:pPr>
            <a:r>
              <a:rPr lang="en-US" sz="1250" dirty="0">
                <a:solidFill>
                  <a:srgbClr val="5E5E5E"/>
                </a:solidFill>
              </a:rPr>
              <a:t>AUROC in independent validation (vendor: 0.76 to 0.83)</a:t>
            </a:r>
            <a:endParaRPr lang="en-US" sz="1250" dirty="0"/>
          </a:p>
        </p:txBody>
      </p:sp>
      <p:sp>
        <p:nvSpPr>
          <p:cNvPr id="15" name="text"/>
          <p:cNvSpPr txBox="1"/>
          <p:nvPr/>
        </p:nvSpPr>
        <p:spPr>
          <a:xfrm>
            <a:off x="8961120" y="2103120"/>
            <a:ext cx="2377440" cy="731520"/>
          </a:xfrm>
          <a:prstGeom prst="rect">
            <a:avLst/>
          </a:prstGeom>
          <a:noFill/>
          <a:ln/>
        </p:spPr>
        <p:txBody>
          <a:bodyPr wrap="square" lIns="0" tIns="0" rIns="0" bIns="0" rtlCol="0" anchor="t"/>
          <a:lstStyle/>
          <a:p>
            <a:pPr algn="l" indent="0" marL="0">
              <a:buNone/>
            </a:pPr>
            <a:r>
              <a:rPr lang="en-US" sz="4400" b="1" dirty="0">
                <a:solidFill>
                  <a:srgbClr val="C8102E"/>
                </a:solidFill>
              </a:rPr>
              <a:t>67 %</a:t>
            </a:r>
            <a:endParaRPr lang="en-US" sz="4400" dirty="0"/>
          </a:p>
        </p:txBody>
      </p:sp>
      <p:sp>
        <p:nvSpPr>
          <p:cNvPr id="16" name="text"/>
          <p:cNvSpPr txBox="1"/>
          <p:nvPr/>
        </p:nvSpPr>
        <p:spPr>
          <a:xfrm>
            <a:off x="8961120" y="2834640"/>
            <a:ext cx="2468880" cy="822960"/>
          </a:xfrm>
          <a:prstGeom prst="rect">
            <a:avLst/>
          </a:prstGeom>
          <a:noFill/>
          <a:ln/>
        </p:spPr>
        <p:txBody>
          <a:bodyPr wrap="square" lIns="0" tIns="0" rIns="0" bIns="0" rtlCol="0" anchor="t"/>
          <a:lstStyle/>
          <a:p>
            <a:pPr algn="l" indent="0" marL="0">
              <a:buNone/>
            </a:pPr>
            <a:r>
              <a:rPr lang="en-US" sz="1250" dirty="0">
                <a:solidFill>
                  <a:srgbClr val="5E5E5E"/>
                </a:solidFill>
              </a:rPr>
              <a:t>of sepsis cases missed while alerting on 18 % of all admissions</a:t>
            </a:r>
            <a:endParaRPr lang="en-US" sz="1250" dirty="0"/>
          </a:p>
        </p:txBody>
      </p:sp>
      <p:sp>
        <p:nvSpPr>
          <p:cNvPr id="17" name="box"/>
          <p:cNvSpPr/>
          <p:nvPr/>
        </p:nvSpPr>
        <p:spPr>
          <a:xfrm>
            <a:off x="548640" y="4160520"/>
            <a:ext cx="11094415" cy="1600200"/>
          </a:xfrm>
          <a:prstGeom prst="rect">
            <a:avLst/>
          </a:prstGeom>
          <a:solidFill>
            <a:srgbClr val="F2F2F2"/>
          </a:solidFill>
          <a:ln w="12700">
            <a:solidFill>
              <a:srgbClr val="F2F2F2"/>
            </a:solidFill>
            <a:prstDash val="solid"/>
          </a:ln>
        </p:spPr>
      </p:sp>
      <p:sp>
        <p:nvSpPr>
          <p:cNvPr id="18" name="rich text"/>
          <p:cNvSpPr txBox="1"/>
          <p:nvPr/>
        </p:nvSpPr>
        <p:spPr>
          <a:xfrm>
            <a:off x="777240" y="4297680"/>
            <a:ext cx="10637215" cy="1371600"/>
          </a:xfrm>
          <a:prstGeom prst="rect">
            <a:avLst/>
          </a:prstGeom>
          <a:noFill/>
          <a:ln/>
        </p:spPr>
        <p:txBody>
          <a:bodyPr wrap="square" lIns="0" tIns="0" rIns="0" bIns="0" rtlCol="0" anchor="t"/>
          <a:lstStyle/>
          <a:p>
            <a:pPr indent="0" marL="0">
              <a:spcAft>
                <a:spcPts val="400"/>
              </a:spcAft>
              <a:buNone/>
            </a:pPr>
            <a:r>
              <a:rPr lang="en-US" sz="1400" b="1" dirty="0">
                <a:solidFill>
                  <a:srgbClr val="1B1B1B"/>
                </a:solidFill>
              </a:rPr>
              <a:t>Across the field: </a:t>
            </a:r>
            <a:pPr indent="0" marL="0">
              <a:spcAft>
                <a:spcPts val="400"/>
              </a:spcAft>
              <a:buNone/>
            </a:pPr>
            <a:r>
              <a:rPr lang="en-US" sz="1400" dirty="0">
                <a:solidFill>
                  <a:srgbClr val="1B1B1B"/>
                </a:solidFill>
              </a:rPr>
              <a:t>28 sepsis models reported AUROC from 0.68 to 0.99, with almost no prospective testing [23]. </a:t>
            </a:r>
            <a:pPr indent="0" marL="0">
              <a:spcAft>
                <a:spcPts val="400"/>
              </a:spcAft>
              <a:buNone/>
            </a:pPr>
            <a:r>
              <a:rPr lang="en-US" sz="1400" dirty="0">
                <a:solidFill>
                  <a:srgbClr val="1B1B1B"/>
                </a:solidFill>
              </a:rPr>
              <a:t>Studies use different definitions and implementations of sepsis, so results cannot be compared [24]. </a:t>
            </a:r>
            <a:pPr indent="0" marL="0">
              <a:spcAft>
                <a:spcPts val="400"/>
              </a:spcAft>
              <a:buNone/>
            </a:pPr>
            <a:r>
              <a:rPr lang="en-US" sz="1400" b="1" dirty="0">
                <a:solidFill>
                  <a:srgbClr val="1B1B1B"/>
                </a:solidFill>
              </a:rPr>
              <a:t>The same three causes recur: information from the future, a narrow set of inputs, and scores that do not reflect whether an alarm would help.</a:t>
            </a:r>
            <a:endParaRPr lang="en-US" sz="1400" dirty="0"/>
          </a:p>
        </p:txBody>
      </p:sp>
      <p:sp>
        <p:nvSpPr>
          <p:cNvPr id="19"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[15] Reyna et al., Crit Care Med 2020   [21] Morrill et al., Crit Care Med 2020   [22] Wong et al., JAMA Intern Med 2021   [23] Fleuren et al., Intensive Care Med 2020   [24] Moor et al., Front Med 2021</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RESEARCH QUESTION</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The question this research asks</a:t>
            </a:r>
            <a:endParaRPr lang="en-US" sz="2600" dirty="0"/>
          </a:p>
        </p:txBody>
      </p:sp>
      <p:sp>
        <p:nvSpPr>
          <p:cNvPr id="4" name="box"/>
          <p:cNvSpPr/>
          <p:nvPr/>
        </p:nvSpPr>
        <p:spPr>
          <a:xfrm>
            <a:off x="548640" y="1508760"/>
            <a:ext cx="11094415" cy="1325880"/>
          </a:xfrm>
          <a:prstGeom prst="rect">
            <a:avLst/>
          </a:prstGeom>
          <a:solidFill>
            <a:srgbClr val="C8102E"/>
          </a:solidFill>
          <a:ln w="12700">
            <a:solidFill>
              <a:srgbClr val="C8102E"/>
            </a:solidFill>
            <a:prstDash val="solid"/>
          </a:ln>
        </p:spPr>
      </p:sp>
      <p:sp>
        <p:nvSpPr>
          <p:cNvPr id="5" name="text"/>
          <p:cNvSpPr txBox="1"/>
          <p:nvPr/>
        </p:nvSpPr>
        <p:spPr>
          <a:xfrm>
            <a:off x="822960" y="1508760"/>
            <a:ext cx="10545775" cy="1325880"/>
          </a:xfrm>
          <a:prstGeom prst="rect">
            <a:avLst/>
          </a:prstGeom>
          <a:noFill/>
          <a:ln/>
        </p:spPr>
        <p:txBody>
          <a:bodyPr wrap="square" lIns="0" tIns="0" rIns="0" bIns="0" rtlCol="0" anchor="ctr"/>
          <a:lstStyle/>
          <a:p>
            <a:pPr algn="l" indent="0" marL="0">
              <a:buNone/>
            </a:pPr>
            <a:r>
              <a:rPr lang="en-US" sz="1900" b="1" dirty="0">
                <a:solidFill>
                  <a:srgbClr val="FFFFFF"/>
                </a:solidFill>
              </a:rPr>
              <a:t>Using only what a clinician could have known at each hour, can a model warn of sepsis hours before onset with positive clinical utility, and does that utility hold in a hospital system it has never seen?</a:t>
            </a:r>
            <a:endParaRPr lang="en-US" sz="1900" dirty="0"/>
          </a:p>
        </p:txBody>
      </p:sp>
      <p:sp>
        <p:nvSpPr>
          <p:cNvPr id="6" name="box"/>
          <p:cNvSpPr/>
          <p:nvPr/>
        </p:nvSpPr>
        <p:spPr>
          <a:xfrm>
            <a:off x="548640" y="3017520"/>
            <a:ext cx="5440680" cy="1188720"/>
          </a:xfrm>
          <a:prstGeom prst="rect">
            <a:avLst/>
          </a:prstGeom>
          <a:solidFill>
            <a:srgbClr val="FFFFFF"/>
          </a:solidFill>
          <a:ln w="12700">
            <a:solidFill>
              <a:srgbClr val="BDBDBD"/>
            </a:solidFill>
            <a:prstDash val="solid"/>
          </a:ln>
        </p:spPr>
      </p:sp>
      <p:sp>
        <p:nvSpPr>
          <p:cNvPr id="7" name="text"/>
          <p:cNvSpPr txBox="1"/>
          <p:nvPr/>
        </p:nvSpPr>
        <p:spPr>
          <a:xfrm>
            <a:off x="731520" y="3108960"/>
            <a:ext cx="5029200" cy="320040"/>
          </a:xfrm>
          <a:prstGeom prst="rect">
            <a:avLst/>
          </a:prstGeom>
          <a:noFill/>
          <a:ln/>
        </p:spPr>
        <p:txBody>
          <a:bodyPr wrap="square" lIns="0" tIns="0" rIns="0" bIns="0" rtlCol="0" anchor="t"/>
          <a:lstStyle/>
          <a:p>
            <a:pPr algn="l" indent="0" marL="0">
              <a:buNone/>
            </a:pPr>
            <a:r>
              <a:rPr lang="en-US" sz="1300" b="1" dirty="0">
                <a:solidFill>
                  <a:srgbClr val="5E5E5E"/>
                </a:solidFill>
              </a:rPr>
              <a:t>What has mostly been asked</a:t>
            </a:r>
            <a:endParaRPr lang="en-US" sz="1300" dirty="0"/>
          </a:p>
        </p:txBody>
      </p:sp>
      <p:sp>
        <p:nvSpPr>
          <p:cNvPr id="8" name="text"/>
          <p:cNvSpPr txBox="1"/>
          <p:nvPr/>
        </p:nvSpPr>
        <p:spPr>
          <a:xfrm>
            <a:off x="731520" y="3429000"/>
            <a:ext cx="5029200" cy="731520"/>
          </a:xfrm>
          <a:prstGeom prst="rect">
            <a:avLst/>
          </a:prstGeom>
          <a:noFill/>
          <a:ln/>
        </p:spPr>
        <p:txBody>
          <a:bodyPr wrap="square" lIns="0" tIns="0" rIns="0" bIns="0" rtlCol="0" anchor="t"/>
          <a:lstStyle/>
          <a:p>
            <a:pPr algn="l" indent="0" marL="0">
              <a:buNone/>
            </a:pPr>
            <a:r>
              <a:rPr lang="en-US" sz="1400" dirty="0">
                <a:solidFill>
                  <a:srgbClr val="1B1B1B"/>
                </a:solidFill>
              </a:rPr>
              <a:t>How high can AUROC go on one prepared dataset, with one team's sepsis definition [23, 24]?</a:t>
            </a:r>
            <a:endParaRPr lang="en-US" sz="1400" dirty="0"/>
          </a:p>
        </p:txBody>
      </p:sp>
      <p:sp>
        <p:nvSpPr>
          <p:cNvPr id="9" name="box"/>
          <p:cNvSpPr/>
          <p:nvPr/>
        </p:nvSpPr>
        <p:spPr>
          <a:xfrm>
            <a:off x="6172200" y="3017520"/>
            <a:ext cx="5440680" cy="1188720"/>
          </a:xfrm>
          <a:prstGeom prst="rect">
            <a:avLst/>
          </a:prstGeom>
          <a:solidFill>
            <a:srgbClr val="FFFFFF"/>
          </a:solidFill>
          <a:ln w="19050">
            <a:solidFill>
              <a:srgbClr val="C8102E"/>
            </a:solidFill>
            <a:prstDash val="solid"/>
          </a:ln>
        </p:spPr>
      </p:sp>
      <p:sp>
        <p:nvSpPr>
          <p:cNvPr id="10" name="text"/>
          <p:cNvSpPr txBox="1"/>
          <p:nvPr/>
        </p:nvSpPr>
        <p:spPr>
          <a:xfrm>
            <a:off x="6355080" y="3108960"/>
            <a:ext cx="5029200" cy="320040"/>
          </a:xfrm>
          <a:prstGeom prst="rect">
            <a:avLst/>
          </a:prstGeom>
          <a:noFill/>
          <a:ln/>
        </p:spPr>
        <p:txBody>
          <a:bodyPr wrap="square" lIns="0" tIns="0" rIns="0" bIns="0" rtlCol="0" anchor="t"/>
          <a:lstStyle/>
          <a:p>
            <a:pPr algn="l" indent="0" marL="0">
              <a:buNone/>
            </a:pPr>
            <a:r>
              <a:rPr lang="en-US" sz="1300" b="1" dirty="0">
                <a:solidFill>
                  <a:srgbClr val="C8102E"/>
                </a:solidFill>
              </a:rPr>
              <a:t>What this project asks</a:t>
            </a:r>
            <a:endParaRPr lang="en-US" sz="1300" dirty="0"/>
          </a:p>
        </p:txBody>
      </p:sp>
      <p:sp>
        <p:nvSpPr>
          <p:cNvPr id="11" name="text"/>
          <p:cNvSpPr txBox="1"/>
          <p:nvPr/>
        </p:nvSpPr>
        <p:spPr>
          <a:xfrm>
            <a:off x="6355080" y="3429000"/>
            <a:ext cx="5120640" cy="731520"/>
          </a:xfrm>
          <a:prstGeom prst="rect">
            <a:avLst/>
          </a:prstGeom>
          <a:noFill/>
          <a:ln/>
        </p:spPr>
        <p:txBody>
          <a:bodyPr wrap="square" lIns="0" tIns="0" rIns="0" bIns="0" rtlCol="0" anchor="t"/>
          <a:lstStyle/>
          <a:p>
            <a:pPr algn="l" indent="0" marL="0">
              <a:buNone/>
            </a:pPr>
            <a:r>
              <a:rPr lang="en-US" sz="1400" dirty="0">
                <a:solidFill>
                  <a:srgbClr val="1B1B1B"/>
                </a:solidFill>
              </a:rPr>
              <a:t>Would the alarm have helped this patient, at a false-alarm burden clinicians accept, and would it still help in the next hospital?</a:t>
            </a:r>
            <a:endParaRPr lang="en-US" sz="1400" dirty="0"/>
          </a:p>
        </p:txBody>
      </p:sp>
      <p:sp>
        <p:nvSpPr>
          <p:cNvPr id="12" name="text"/>
          <p:cNvSpPr txBox="1"/>
          <p:nvPr/>
        </p:nvSpPr>
        <p:spPr>
          <a:xfrm>
            <a:off x="548640" y="4389120"/>
            <a:ext cx="3566160" cy="320040"/>
          </a:xfrm>
          <a:prstGeom prst="rect">
            <a:avLst/>
          </a:prstGeom>
          <a:noFill/>
          <a:ln/>
        </p:spPr>
        <p:txBody>
          <a:bodyPr wrap="square" lIns="0" tIns="0" rIns="0" bIns="0" rtlCol="0" anchor="t"/>
          <a:lstStyle/>
          <a:p>
            <a:pPr algn="l" indent="0" marL="0">
              <a:buNone/>
            </a:pPr>
            <a:r>
              <a:rPr lang="en-US" sz="1500" b="1" dirty="0">
                <a:solidFill>
                  <a:srgbClr val="C8102E"/>
                </a:solidFill>
              </a:rPr>
              <a:t>RQ1  Predictors</a:t>
            </a:r>
            <a:endParaRPr lang="en-US" sz="1500" dirty="0"/>
          </a:p>
        </p:txBody>
      </p:sp>
      <p:sp>
        <p:nvSpPr>
          <p:cNvPr id="13" name="text"/>
          <p:cNvSpPr txBox="1"/>
          <p:nvPr/>
        </p:nvSpPr>
        <p:spPr>
          <a:xfrm>
            <a:off x="548640" y="4736592"/>
            <a:ext cx="3520440" cy="1097280"/>
          </a:xfrm>
          <a:prstGeom prst="rect">
            <a:avLst/>
          </a:prstGeom>
          <a:noFill/>
          <a:ln/>
        </p:spPr>
        <p:txBody>
          <a:bodyPr wrap="square" lIns="0" tIns="0" rIns="0" bIns="0" rtlCol="0" anchor="t"/>
          <a:lstStyle/>
          <a:p>
            <a:pPr algn="l" indent="0" marL="0">
              <a:buNone/>
            </a:pPr>
            <a:r>
              <a:rPr lang="en-US" sz="1350" dirty="0">
                <a:solidFill>
                  <a:srgbClr val="1B1B1B"/>
                </a:solidFill>
              </a:rPr>
              <a:t>Does the whole clinical picture known at that hour (treatments, devices, admission context, history) add signal beyond vital signs and laboratory values?</a:t>
            </a:r>
            <a:endParaRPr lang="en-US" sz="1350" dirty="0"/>
          </a:p>
        </p:txBody>
      </p:sp>
      <p:sp>
        <p:nvSpPr>
          <p:cNvPr id="14" name="text"/>
          <p:cNvSpPr txBox="1"/>
          <p:nvPr/>
        </p:nvSpPr>
        <p:spPr>
          <a:xfrm>
            <a:off x="4297680" y="4389120"/>
            <a:ext cx="3566160" cy="320040"/>
          </a:xfrm>
          <a:prstGeom prst="rect">
            <a:avLst/>
          </a:prstGeom>
          <a:noFill/>
          <a:ln/>
        </p:spPr>
        <p:txBody>
          <a:bodyPr wrap="square" lIns="0" tIns="0" rIns="0" bIns="0" rtlCol="0" anchor="t"/>
          <a:lstStyle/>
          <a:p>
            <a:pPr algn="l" indent="0" marL="0">
              <a:buNone/>
            </a:pPr>
            <a:r>
              <a:rPr lang="en-US" sz="1500" b="1" dirty="0">
                <a:solidFill>
                  <a:srgbClr val="C8102E"/>
                </a:solidFill>
              </a:rPr>
              <a:t>RQ2  Architecture</a:t>
            </a:r>
            <a:endParaRPr lang="en-US" sz="1500" dirty="0"/>
          </a:p>
        </p:txBody>
      </p:sp>
      <p:sp>
        <p:nvSpPr>
          <p:cNvPr id="15" name="text"/>
          <p:cNvSpPr txBox="1"/>
          <p:nvPr/>
        </p:nvSpPr>
        <p:spPr>
          <a:xfrm>
            <a:off x="4297680" y="4736592"/>
            <a:ext cx="3520440" cy="1097280"/>
          </a:xfrm>
          <a:prstGeom prst="rect">
            <a:avLst/>
          </a:prstGeom>
          <a:noFill/>
          <a:ln/>
        </p:spPr>
        <p:txBody>
          <a:bodyPr wrap="square" lIns="0" tIns="0" rIns="0" bIns="0" rtlCol="0" anchor="t"/>
          <a:lstStyle/>
          <a:p>
            <a:pPr algn="l" indent="0" marL="0">
              <a:buNone/>
            </a:pPr>
            <a:r>
              <a:rPr lang="en-US" sz="1350" dirty="0">
                <a:solidFill>
                  <a:srgbClr val="1B1B1B"/>
                </a:solidFill>
              </a:rPr>
              <a:t>Once causality is enforced, does organ-structured modelling add anything over simpler models?</a:t>
            </a:r>
            <a:endParaRPr lang="en-US" sz="1350" dirty="0"/>
          </a:p>
        </p:txBody>
      </p:sp>
      <p:sp>
        <p:nvSpPr>
          <p:cNvPr id="16" name="text"/>
          <p:cNvSpPr txBox="1"/>
          <p:nvPr/>
        </p:nvSpPr>
        <p:spPr>
          <a:xfrm>
            <a:off x="8046720" y="4389120"/>
            <a:ext cx="3566160" cy="320040"/>
          </a:xfrm>
          <a:prstGeom prst="rect">
            <a:avLst/>
          </a:prstGeom>
          <a:noFill/>
          <a:ln/>
        </p:spPr>
        <p:txBody>
          <a:bodyPr wrap="square" lIns="0" tIns="0" rIns="0" bIns="0" rtlCol="0" anchor="t"/>
          <a:lstStyle/>
          <a:p>
            <a:pPr algn="l" indent="0" marL="0">
              <a:buNone/>
            </a:pPr>
            <a:r>
              <a:rPr lang="en-US" sz="1500" b="1" dirty="0">
                <a:solidFill>
                  <a:srgbClr val="C8102E"/>
                </a:solidFill>
              </a:rPr>
              <a:t>RQ3  Transfer and trust</a:t>
            </a:r>
            <a:endParaRPr lang="en-US" sz="1500" dirty="0"/>
          </a:p>
        </p:txBody>
      </p:sp>
      <p:sp>
        <p:nvSpPr>
          <p:cNvPr id="17" name="text"/>
          <p:cNvSpPr txBox="1"/>
          <p:nvPr/>
        </p:nvSpPr>
        <p:spPr>
          <a:xfrm>
            <a:off x="8046720" y="4736592"/>
            <a:ext cx="3520440" cy="1097280"/>
          </a:xfrm>
          <a:prstGeom prst="rect">
            <a:avLst/>
          </a:prstGeom>
          <a:noFill/>
          <a:ln/>
        </p:spPr>
        <p:txBody>
          <a:bodyPr wrap="square" lIns="0" tIns="0" rIns="0" bIns="0" rtlCol="0" anchor="t"/>
          <a:lstStyle/>
          <a:p>
            <a:pPr algn="l" indent="0" marL="0">
              <a:buNone/>
            </a:pPr>
            <a:r>
              <a:rPr lang="en-US" sz="1350" dirty="0">
                <a:solidFill>
                  <a:srgbClr val="1B1B1B"/>
                </a:solidFill>
              </a:rPr>
              <a:t>Does positive utility survive in another hospital system, and would healthcare professionals act on the alert?</a:t>
            </a:r>
            <a:endParaRPr lang="en-US" sz="1350" dirty="0"/>
          </a:p>
        </p:txBody>
      </p:sp>
      <p:sp>
        <p:nvSpPr>
          <p:cNvPr id="18"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[23] Fleuren et al., Intensive Care Med 2020   [24] Moor et al., Front Med 2021</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APPROACH</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Healthcare professionals in the loop make clinical AI safer and more useful</a:t>
            </a:r>
            <a:endParaRPr lang="en-US" sz="2600" dirty="0"/>
          </a:p>
        </p:txBody>
      </p:sp>
      <p:sp>
        <p:nvSpPr>
          <p:cNvPr id="4" name="text"/>
          <p:cNvSpPr txBox="1"/>
          <p:nvPr/>
        </p:nvSpPr>
        <p:spPr>
          <a:xfrm>
            <a:off x="548640" y="1463040"/>
            <a:ext cx="2651760" cy="548640"/>
          </a:xfrm>
          <a:prstGeom prst="rect">
            <a:avLst/>
          </a:prstGeom>
          <a:noFill/>
          <a:ln/>
        </p:spPr>
        <p:txBody>
          <a:bodyPr wrap="square" lIns="0" tIns="0" rIns="0" bIns="0" rtlCol="0" anchor="b"/>
          <a:lstStyle/>
          <a:p>
            <a:pPr algn="l" indent="0" marL="0">
              <a:buNone/>
            </a:pPr>
            <a:r>
              <a:rPr lang="en-US" sz="1400" b="1" dirty="0">
                <a:solidFill>
                  <a:srgbClr val="C8102E"/>
                </a:solidFill>
              </a:rPr>
              <a:t>Better together</a:t>
            </a:r>
            <a:endParaRPr lang="en-US" sz="1400" dirty="0"/>
          </a:p>
        </p:txBody>
      </p:sp>
      <p:sp>
        <p:nvSpPr>
          <p:cNvPr id="5" name="text"/>
          <p:cNvSpPr txBox="1"/>
          <p:nvPr/>
        </p:nvSpPr>
        <p:spPr>
          <a:xfrm>
            <a:off x="548640" y="2057400"/>
            <a:ext cx="2651760" cy="868680"/>
          </a:xfrm>
          <a:prstGeom prst="rect">
            <a:avLst/>
          </a:prstGeom>
          <a:noFill/>
          <a:ln/>
        </p:spPr>
        <p:txBody>
          <a:bodyPr wrap="square" lIns="0" tIns="0" rIns="0" bIns="0" rtlCol="0" anchor="t"/>
          <a:lstStyle/>
          <a:p>
            <a:pPr algn="l" indent="0" marL="0">
              <a:buNone/>
            </a:pPr>
            <a:r>
              <a:rPr lang="en-US" sz="1250" dirty="0">
                <a:solidFill>
                  <a:srgbClr val="1B1B1B"/>
                </a:solidFill>
              </a:rPr>
              <a:t>AI support improved clinicians' diagnostic accuracy beyond AI or clinicians alone [25]</a:t>
            </a:r>
            <a:endParaRPr lang="en-US" sz="1250" dirty="0"/>
          </a:p>
        </p:txBody>
      </p:sp>
      <p:sp>
        <p:nvSpPr>
          <p:cNvPr id="6" name="text"/>
          <p:cNvSpPr txBox="1"/>
          <p:nvPr/>
        </p:nvSpPr>
        <p:spPr>
          <a:xfrm>
            <a:off x="3355848" y="1463040"/>
            <a:ext cx="2651760" cy="548640"/>
          </a:xfrm>
          <a:prstGeom prst="rect">
            <a:avLst/>
          </a:prstGeom>
          <a:noFill/>
          <a:ln/>
        </p:spPr>
        <p:txBody>
          <a:bodyPr wrap="square" lIns="0" tIns="0" rIns="0" bIns="0" rtlCol="0" anchor="b"/>
          <a:lstStyle/>
          <a:p>
            <a:pPr algn="l" indent="0" marL="0">
              <a:buNone/>
            </a:pPr>
            <a:r>
              <a:rPr lang="en-US" sz="1400" b="1" dirty="0">
                <a:solidFill>
                  <a:srgbClr val="C8102E"/>
                </a:solidFill>
              </a:rPr>
              <a:t>Engaged clinicians save lives</a:t>
            </a:r>
            <a:endParaRPr lang="en-US" sz="1400" dirty="0"/>
          </a:p>
        </p:txBody>
      </p:sp>
      <p:sp>
        <p:nvSpPr>
          <p:cNvPr id="7" name="text"/>
          <p:cNvSpPr txBox="1"/>
          <p:nvPr/>
        </p:nvSpPr>
        <p:spPr>
          <a:xfrm>
            <a:off x="3355848" y="2057400"/>
            <a:ext cx="2651760" cy="868680"/>
          </a:xfrm>
          <a:prstGeom prst="rect">
            <a:avLst/>
          </a:prstGeom>
          <a:noFill/>
          <a:ln/>
        </p:spPr>
        <p:txBody>
          <a:bodyPr wrap="square" lIns="0" tIns="0" rIns="0" bIns="0" rtlCol="0" anchor="t"/>
          <a:lstStyle/>
          <a:p>
            <a:pPr algn="l" indent="0" marL="0">
              <a:buNone/>
            </a:pPr>
            <a:r>
              <a:rPr lang="en-US" sz="1250" dirty="0">
                <a:solidFill>
                  <a:srgbClr val="1B1B1B"/>
                </a:solidFill>
              </a:rPr>
              <a:t>Sepsis alerts confirmed by clinicians within 3 h: 18.7 % lower relative mortality [4]</a:t>
            </a:r>
            <a:endParaRPr lang="en-US" sz="1250" dirty="0"/>
          </a:p>
        </p:txBody>
      </p:sp>
      <p:sp>
        <p:nvSpPr>
          <p:cNvPr id="8" name="text"/>
          <p:cNvSpPr txBox="1"/>
          <p:nvPr/>
        </p:nvSpPr>
        <p:spPr>
          <a:xfrm>
            <a:off x="6163056" y="1463040"/>
            <a:ext cx="2651760" cy="548640"/>
          </a:xfrm>
          <a:prstGeom prst="rect">
            <a:avLst/>
          </a:prstGeom>
          <a:noFill/>
          <a:ln/>
        </p:spPr>
        <p:txBody>
          <a:bodyPr wrap="square" lIns="0" tIns="0" rIns="0" bIns="0" rtlCol="0" anchor="b"/>
          <a:lstStyle/>
          <a:p>
            <a:pPr algn="l" indent="0" marL="0">
              <a:buNone/>
            </a:pPr>
            <a:r>
              <a:rPr lang="en-US" sz="1400" b="1" dirty="0">
                <a:solidFill>
                  <a:srgbClr val="C8102E"/>
                </a:solidFill>
              </a:rPr>
              <a:t>Trust is built, not assumed</a:t>
            </a:r>
            <a:endParaRPr lang="en-US" sz="1400" dirty="0"/>
          </a:p>
        </p:txBody>
      </p:sp>
      <p:sp>
        <p:nvSpPr>
          <p:cNvPr id="9" name="text"/>
          <p:cNvSpPr txBox="1"/>
          <p:nvPr/>
        </p:nvSpPr>
        <p:spPr>
          <a:xfrm>
            <a:off x="6163056" y="2057400"/>
            <a:ext cx="2651760" cy="868680"/>
          </a:xfrm>
          <a:prstGeom prst="rect">
            <a:avLst/>
          </a:prstGeom>
          <a:noFill/>
          <a:ln/>
        </p:spPr>
        <p:txBody>
          <a:bodyPr wrap="square" lIns="0" tIns="0" rIns="0" bIns="0" rtlCol="0" anchor="t"/>
          <a:lstStyle/>
          <a:p>
            <a:pPr algn="l" indent="0" marL="0">
              <a:buNone/>
            </a:pPr>
            <a:r>
              <a:rPr lang="en-US" sz="1250" dirty="0">
                <a:solidFill>
                  <a:srgbClr val="1B1B1B"/>
                </a:solidFill>
              </a:rPr>
              <a:t>Clinicians trust AI through experience, endorsement and systems that respect their judgement [26]</a:t>
            </a:r>
            <a:endParaRPr lang="en-US" sz="1250" dirty="0"/>
          </a:p>
        </p:txBody>
      </p:sp>
      <p:sp>
        <p:nvSpPr>
          <p:cNvPr id="10" name="text"/>
          <p:cNvSpPr txBox="1"/>
          <p:nvPr/>
        </p:nvSpPr>
        <p:spPr>
          <a:xfrm>
            <a:off x="8970264" y="1463040"/>
            <a:ext cx="2651760" cy="548640"/>
          </a:xfrm>
          <a:prstGeom prst="rect">
            <a:avLst/>
          </a:prstGeom>
          <a:noFill/>
          <a:ln/>
        </p:spPr>
        <p:txBody>
          <a:bodyPr wrap="square" lIns="0" tIns="0" rIns="0" bIns="0" rtlCol="0" anchor="b"/>
          <a:lstStyle/>
          <a:p>
            <a:pPr algn="l" indent="0" marL="0">
              <a:buNone/>
            </a:pPr>
            <a:r>
              <a:rPr lang="en-US" sz="1400" b="1" dirty="0">
                <a:solidFill>
                  <a:srgbClr val="C8102E"/>
                </a:solidFill>
              </a:rPr>
              <a:t>Clinical input at every stage</a:t>
            </a:r>
            <a:endParaRPr lang="en-US" sz="1400" dirty="0"/>
          </a:p>
        </p:txBody>
      </p:sp>
      <p:sp>
        <p:nvSpPr>
          <p:cNvPr id="11" name="text"/>
          <p:cNvSpPr txBox="1"/>
          <p:nvPr/>
        </p:nvSpPr>
        <p:spPr>
          <a:xfrm>
            <a:off x="8970264" y="2057400"/>
            <a:ext cx="2651760" cy="868680"/>
          </a:xfrm>
          <a:prstGeom prst="rect">
            <a:avLst/>
          </a:prstGeom>
          <a:noFill/>
          <a:ln/>
        </p:spPr>
        <p:txBody>
          <a:bodyPr wrap="square" lIns="0" tIns="0" rIns="0" bIns="0" rtlCol="0" anchor="t"/>
          <a:lstStyle/>
          <a:p>
            <a:pPr algn="l" indent="0" marL="0">
              <a:buNone/>
            </a:pPr>
            <a:r>
              <a:rPr lang="en-US" sz="1250" dirty="0">
                <a:solidFill>
                  <a:srgbClr val="1B1B1B"/>
                </a:solidFill>
              </a:rPr>
              <a:t>From problem definition to deployment [27]; health records encode care decisions [16]</a:t>
            </a:r>
            <a:endParaRPr lang="en-US" sz="1250" dirty="0"/>
          </a:p>
        </p:txBody>
      </p:sp>
      <p:sp>
        <p:nvSpPr>
          <p:cNvPr id="12" name="box"/>
          <p:cNvSpPr/>
          <p:nvPr/>
        </p:nvSpPr>
        <p:spPr>
          <a:xfrm>
            <a:off x="548640" y="3017520"/>
            <a:ext cx="5440680" cy="2788920"/>
          </a:xfrm>
          <a:prstGeom prst="rect">
            <a:avLst/>
          </a:prstGeom>
          <a:solidFill>
            <a:srgbClr val="FFFFFF"/>
          </a:solidFill>
          <a:ln w="12700">
            <a:solidFill>
              <a:srgbClr val="BDBDBD"/>
            </a:solidFill>
            <a:prstDash val="solid"/>
          </a:ln>
        </p:spPr>
      </p:sp>
      <p:sp>
        <p:nvSpPr>
          <p:cNvPr id="13" name="icon tile"/>
          <p:cNvSpPr/>
          <p:nvPr/>
        </p:nvSpPr>
        <p:spPr>
          <a:xfrm>
            <a:off x="731520" y="3200400"/>
            <a:ext cx="502920" cy="502920"/>
          </a:xfrm>
          <a:prstGeom prst="rect">
            <a:avLst/>
          </a:prstGeom>
          <a:solidFill>
            <a:srgbClr val="C8102E"/>
          </a:solidFill>
          <a:ln w="12700">
            <a:solidFill>
              <a:srgbClr val="C8102E"/>
            </a:solidFill>
            <a:prstDash val="solid"/>
          </a:ln>
        </p:spPr>
      </p:sp>
      <p:pic>
        <p:nvPicPr>
          <p:cNvPr id="14" name="icon" descr="preencoded.png">    </p:cNvPr>
          <p:cNvPicPr>
            <a:picLocks noChangeAspect="1"/>
          </p:cNvPicPr>
          <p:nvPr/>
        </p:nvPicPr>
        <p:blipFill>
          <a:blip r:embed="rId1"/>
          <a:stretch>
            <a:fillRect/>
          </a:stretch>
        </p:blipFill>
        <p:spPr>
          <a:xfrm>
            <a:off x="832104" y="3300984"/>
            <a:ext cx="301752" cy="301752"/>
          </a:xfrm>
          <a:prstGeom prst="rect">
            <a:avLst/>
          </a:prstGeom>
        </p:spPr>
      </p:pic>
      <p:sp>
        <p:nvSpPr>
          <p:cNvPr id="15" name="text"/>
          <p:cNvSpPr txBox="1"/>
          <p:nvPr/>
        </p:nvSpPr>
        <p:spPr>
          <a:xfrm>
            <a:off x="1417320" y="3200400"/>
            <a:ext cx="4389120" cy="502920"/>
          </a:xfrm>
          <a:prstGeom prst="rect">
            <a:avLst/>
          </a:prstGeom>
          <a:noFill/>
          <a:ln/>
        </p:spPr>
        <p:txBody>
          <a:bodyPr wrap="square" lIns="0" tIns="0" rIns="0" bIns="0" rtlCol="0" anchor="ctr"/>
          <a:lstStyle/>
          <a:p>
            <a:pPr algn="l" indent="0" marL="0">
              <a:buNone/>
            </a:pPr>
            <a:r>
              <a:rPr lang="en-US" sz="1600" b="1" dirty="0">
                <a:solidFill>
                  <a:srgbClr val="1B1B1B"/>
                </a:solidFill>
              </a:rPr>
              <a:t>Example 1: antibiotics</a:t>
            </a:r>
            <a:endParaRPr lang="en-US" sz="1600" dirty="0"/>
          </a:p>
        </p:txBody>
      </p:sp>
      <p:sp>
        <p:nvSpPr>
          <p:cNvPr id="16" name="text"/>
          <p:cNvSpPr txBox="1"/>
          <p:nvPr/>
        </p:nvSpPr>
        <p:spPr>
          <a:xfrm>
            <a:off x="731520" y="3840480"/>
            <a:ext cx="5074920" cy="731520"/>
          </a:xfrm>
          <a:prstGeom prst="rect">
            <a:avLst/>
          </a:prstGeom>
          <a:noFill/>
          <a:ln/>
        </p:spPr>
        <p:txBody>
          <a:bodyPr wrap="square" lIns="0" tIns="0" rIns="0" bIns="0" rtlCol="0" anchor="t"/>
          <a:lstStyle/>
          <a:p>
            <a:pPr algn="l" indent="0" marL="0">
              <a:buNone/>
            </a:pPr>
            <a:r>
              <a:rPr lang="en-US" sz="1250" dirty="0">
                <a:solidFill>
                  <a:srgbClr val="5E5E5E"/>
                </a:solidFill>
              </a:rPr>
              <a:t>Usually: every antibiotic order is an input, so the model predicts sepsis from the treatment that defines it, or antibiotics are dropped entirely.</a:t>
            </a:r>
            <a:endParaRPr lang="en-US" sz="1250" dirty="0"/>
          </a:p>
        </p:txBody>
      </p:sp>
      <p:sp>
        <p:nvSpPr>
          <p:cNvPr id="17" name="text"/>
          <p:cNvSpPr txBox="1"/>
          <p:nvPr/>
        </p:nvSpPr>
        <p:spPr>
          <a:xfrm>
            <a:off x="731520" y="4572000"/>
            <a:ext cx="5074920" cy="1188720"/>
          </a:xfrm>
          <a:prstGeom prst="rect">
            <a:avLst/>
          </a:prstGeom>
          <a:noFill/>
          <a:ln/>
        </p:spPr>
        <p:txBody>
          <a:bodyPr wrap="square" lIns="0" tIns="0" rIns="0" bIns="0" rtlCol="0" anchor="t"/>
          <a:lstStyle/>
          <a:p>
            <a:pPr algn="l" indent="0" marL="0">
              <a:buNone/>
            </a:pPr>
            <a:r>
              <a:rPr lang="en-US" sz="1300" dirty="0">
                <a:solidFill>
                  <a:srgbClr val="1B1B1B"/>
                </a:solidFill>
              </a:rPr>
              <a:t>Here: cefazolin at induction of anaesthesia, stopped within 24 h, with no culture sent, is surgical prophylaxis [28]. Prophylaxis is kept as a predictor by guideline rule; empirical and culture-directed antibiotics are excluded [29].</a:t>
            </a:r>
            <a:endParaRPr lang="en-US" sz="1300" dirty="0"/>
          </a:p>
        </p:txBody>
      </p:sp>
      <p:sp>
        <p:nvSpPr>
          <p:cNvPr id="18" name="box"/>
          <p:cNvSpPr/>
          <p:nvPr/>
        </p:nvSpPr>
        <p:spPr>
          <a:xfrm>
            <a:off x="6172200" y="3017520"/>
            <a:ext cx="5440680" cy="2788920"/>
          </a:xfrm>
          <a:prstGeom prst="rect">
            <a:avLst/>
          </a:prstGeom>
          <a:solidFill>
            <a:srgbClr val="FFFFFF"/>
          </a:solidFill>
          <a:ln w="12700">
            <a:solidFill>
              <a:srgbClr val="BDBDBD"/>
            </a:solidFill>
            <a:prstDash val="solid"/>
          </a:ln>
        </p:spPr>
      </p:sp>
      <p:sp>
        <p:nvSpPr>
          <p:cNvPr id="19" name="icon tile"/>
          <p:cNvSpPr/>
          <p:nvPr/>
        </p:nvSpPr>
        <p:spPr>
          <a:xfrm>
            <a:off x="6355080" y="3200400"/>
            <a:ext cx="502920" cy="502920"/>
          </a:xfrm>
          <a:prstGeom prst="rect">
            <a:avLst/>
          </a:prstGeom>
          <a:solidFill>
            <a:srgbClr val="C8102E"/>
          </a:solidFill>
          <a:ln w="12700">
            <a:solidFill>
              <a:srgbClr val="C8102E"/>
            </a:solidFill>
            <a:prstDash val="solid"/>
          </a:ln>
        </p:spPr>
      </p:sp>
      <p:pic>
        <p:nvPicPr>
          <p:cNvPr id="20" name="icon" descr="preencoded.png">    </p:cNvPr>
          <p:cNvPicPr>
            <a:picLocks noChangeAspect="1"/>
          </p:cNvPicPr>
          <p:nvPr/>
        </p:nvPicPr>
        <p:blipFill>
          <a:blip r:embed="rId2"/>
          <a:stretch>
            <a:fillRect/>
          </a:stretch>
        </p:blipFill>
        <p:spPr>
          <a:xfrm>
            <a:off x="6455664" y="3300984"/>
            <a:ext cx="301752" cy="301752"/>
          </a:xfrm>
          <a:prstGeom prst="rect">
            <a:avLst/>
          </a:prstGeom>
        </p:spPr>
      </p:pic>
      <p:sp>
        <p:nvSpPr>
          <p:cNvPr id="21" name="text"/>
          <p:cNvSpPr txBox="1"/>
          <p:nvPr/>
        </p:nvSpPr>
        <p:spPr>
          <a:xfrm>
            <a:off x="7040880" y="3200400"/>
            <a:ext cx="4389120" cy="502920"/>
          </a:xfrm>
          <a:prstGeom prst="rect">
            <a:avLst/>
          </a:prstGeom>
          <a:noFill/>
          <a:ln/>
        </p:spPr>
        <p:txBody>
          <a:bodyPr wrap="square" lIns="0" tIns="0" rIns="0" bIns="0" rtlCol="0" anchor="ctr"/>
          <a:lstStyle/>
          <a:p>
            <a:pPr algn="l" indent="0" marL="0">
              <a:buNone/>
            </a:pPr>
            <a:r>
              <a:rPr lang="en-US" sz="1600" b="1" dirty="0">
                <a:solidFill>
                  <a:srgbClr val="1B1B1B"/>
                </a:solidFill>
              </a:rPr>
              <a:t>Example 2: suspicion proxies</a:t>
            </a:r>
            <a:endParaRPr lang="en-US" sz="1600" dirty="0"/>
          </a:p>
        </p:txBody>
      </p:sp>
      <p:sp>
        <p:nvSpPr>
          <p:cNvPr id="22" name="text"/>
          <p:cNvSpPr txBox="1"/>
          <p:nvPr/>
        </p:nvSpPr>
        <p:spPr>
          <a:xfrm>
            <a:off x="6355080" y="3840480"/>
            <a:ext cx="5074920" cy="731520"/>
          </a:xfrm>
          <a:prstGeom prst="rect">
            <a:avLst/>
          </a:prstGeom>
          <a:noFill/>
          <a:ln/>
        </p:spPr>
        <p:txBody>
          <a:bodyPr wrap="square" lIns="0" tIns="0" rIns="0" bIns="0" rtlCol="0" anchor="t"/>
          <a:lstStyle/>
          <a:p>
            <a:pPr algn="l" indent="0" marL="0">
              <a:buNone/>
            </a:pPr>
            <a:r>
              <a:rPr lang="en-US" sz="1250" dirty="0">
                <a:solidFill>
                  <a:srgbClr val="5E5E5E"/>
                </a:solidFill>
              </a:rPr>
              <a:t>Usually: a stress-dose hydrocortisone order or a chest X-ray request is treated as a strong predictor.</a:t>
            </a:r>
            <a:endParaRPr lang="en-US" sz="1250" dirty="0"/>
          </a:p>
        </p:txBody>
      </p:sp>
      <p:sp>
        <p:nvSpPr>
          <p:cNvPr id="23" name="text"/>
          <p:cNvSpPr txBox="1"/>
          <p:nvPr/>
        </p:nvSpPr>
        <p:spPr>
          <a:xfrm>
            <a:off x="6355080" y="4572000"/>
            <a:ext cx="5074920" cy="1188720"/>
          </a:xfrm>
          <a:prstGeom prst="rect">
            <a:avLst/>
          </a:prstGeom>
          <a:noFill/>
          <a:ln/>
        </p:spPr>
        <p:txBody>
          <a:bodyPr wrap="square" lIns="0" tIns="0" rIns="0" bIns="0" rtlCol="0" anchor="t"/>
          <a:lstStyle/>
          <a:p>
            <a:pPr algn="l" indent="0" marL="0">
              <a:buNone/>
            </a:pPr>
            <a:r>
              <a:rPr lang="en-US" sz="1300" dirty="0">
                <a:solidFill>
                  <a:srgbClr val="1B1B1B"/>
                </a:solidFill>
              </a:rPr>
              <a:t>Here: these show that the team already suspects sepsis. They are declared as proxies and every result is reported with and without them, separating the patient's signal from the team's.</a:t>
            </a:r>
            <a:endParaRPr lang="en-US" sz="1300" dirty="0"/>
          </a:p>
        </p:txBody>
      </p:sp>
      <p:sp>
        <p:nvSpPr>
          <p:cNvPr id="24"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[4] Adams et al., Nat Med 2022   [16] Agniel et al., BMJ 2018   [25] Tschandl et al., Nat Med 2020   [26] Henry et al., NPJ Digit Med 2022   [27] Wiens et al., Nat Med 2019   [28] Bratzler et al., Am J Health Syst Pharm 2013   [29] Evans et al., Intensive Care Med 2021</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DATA</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Three open intensive-care databases, all accessed through PhysioNet</a:t>
            </a:r>
            <a:endParaRPr lang="en-US" sz="2600" dirty="0"/>
          </a:p>
        </p:txBody>
      </p:sp>
      <p:sp>
        <p:nvSpPr>
          <p:cNvPr id="4" name="box"/>
          <p:cNvSpPr/>
          <p:nvPr/>
        </p:nvSpPr>
        <p:spPr>
          <a:xfrm>
            <a:off x="548640" y="1554480"/>
            <a:ext cx="3566160" cy="3794760"/>
          </a:xfrm>
          <a:prstGeom prst="rect">
            <a:avLst/>
          </a:prstGeom>
          <a:solidFill>
            <a:srgbClr val="FFFFFF"/>
          </a:solidFill>
          <a:ln w="12700">
            <a:solidFill>
              <a:srgbClr val="BDBDBD"/>
            </a:solidFill>
            <a:prstDash val="solid"/>
          </a:ln>
        </p:spPr>
      </p:sp>
      <p:sp>
        <p:nvSpPr>
          <p:cNvPr id="5" name="icon tile"/>
          <p:cNvSpPr/>
          <p:nvPr/>
        </p:nvSpPr>
        <p:spPr>
          <a:xfrm>
            <a:off x="731520" y="1719072"/>
            <a:ext cx="502920" cy="502920"/>
          </a:xfrm>
          <a:prstGeom prst="rect">
            <a:avLst/>
          </a:prstGeom>
          <a:solidFill>
            <a:srgbClr val="C8102E"/>
          </a:solidFill>
          <a:ln w="12700">
            <a:solidFill>
              <a:srgbClr val="C8102E"/>
            </a:solidFill>
            <a:prstDash val="solid"/>
          </a:ln>
        </p:spPr>
      </p:sp>
      <p:pic>
        <p:nvPicPr>
          <p:cNvPr id="6" name="icon" descr="preencoded.png">    </p:cNvPr>
          <p:cNvPicPr>
            <a:picLocks noChangeAspect="1"/>
          </p:cNvPicPr>
          <p:nvPr/>
        </p:nvPicPr>
        <p:blipFill>
          <a:blip r:embed="rId1"/>
          <a:stretch>
            <a:fillRect/>
          </a:stretch>
        </p:blipFill>
        <p:spPr>
          <a:xfrm>
            <a:off x="832104" y="1819656"/>
            <a:ext cx="301752" cy="301752"/>
          </a:xfrm>
          <a:prstGeom prst="rect">
            <a:avLst/>
          </a:prstGeom>
        </p:spPr>
      </p:pic>
      <p:sp>
        <p:nvSpPr>
          <p:cNvPr id="7" name="text"/>
          <p:cNvSpPr txBox="1"/>
          <p:nvPr/>
        </p:nvSpPr>
        <p:spPr>
          <a:xfrm>
            <a:off x="1371600" y="1719072"/>
            <a:ext cx="2651760" cy="502920"/>
          </a:xfrm>
          <a:prstGeom prst="rect">
            <a:avLst/>
          </a:prstGeom>
          <a:noFill/>
          <a:ln/>
        </p:spPr>
        <p:txBody>
          <a:bodyPr wrap="square" lIns="0" tIns="0" rIns="0" bIns="0" rtlCol="0" anchor="ctr"/>
          <a:lstStyle/>
          <a:p>
            <a:pPr algn="l" indent="0" marL="0">
              <a:buNone/>
            </a:pPr>
            <a:r>
              <a:rPr lang="en-US" sz="1800" b="1" dirty="0">
                <a:solidFill>
                  <a:srgbClr val="1B1B1B"/>
                </a:solidFill>
              </a:rPr>
              <a:t>MIMIC-IV 3.1</a:t>
            </a:r>
            <a:endParaRPr lang="en-US" sz="1800" dirty="0"/>
          </a:p>
        </p:txBody>
      </p:sp>
      <p:sp>
        <p:nvSpPr>
          <p:cNvPr id="8" name="text"/>
          <p:cNvSpPr txBox="1"/>
          <p:nvPr/>
        </p:nvSpPr>
        <p:spPr>
          <a:xfrm>
            <a:off x="731520" y="2331720"/>
            <a:ext cx="3200400" cy="502920"/>
          </a:xfrm>
          <a:prstGeom prst="rect">
            <a:avLst/>
          </a:prstGeom>
          <a:noFill/>
          <a:ln/>
        </p:spPr>
        <p:txBody>
          <a:bodyPr wrap="square" lIns="0" tIns="0" rIns="0" bIns="0" rtlCol="0" anchor="t"/>
          <a:lstStyle/>
          <a:p>
            <a:pPr algn="l" indent="0" marL="0">
              <a:buNone/>
            </a:pPr>
            <a:r>
              <a:rPr lang="en-US" sz="1250" dirty="0">
                <a:solidFill>
                  <a:srgbClr val="5E5E5E"/>
                </a:solidFill>
              </a:rPr>
              <a:t>Beth Israel Deaconess Medical Center, Boston</a:t>
            </a:r>
            <a:endParaRPr lang="en-US" sz="1250" dirty="0"/>
          </a:p>
        </p:txBody>
      </p:sp>
      <p:sp>
        <p:nvSpPr>
          <p:cNvPr id="9" name="text"/>
          <p:cNvSpPr txBox="1"/>
          <p:nvPr/>
        </p:nvSpPr>
        <p:spPr>
          <a:xfrm>
            <a:off x="731520" y="2788920"/>
            <a:ext cx="3200400" cy="548640"/>
          </a:xfrm>
          <a:prstGeom prst="rect">
            <a:avLst/>
          </a:prstGeom>
          <a:noFill/>
          <a:ln/>
        </p:spPr>
        <p:txBody>
          <a:bodyPr wrap="square" lIns="0" tIns="0" rIns="0" bIns="0" rtlCol="0" anchor="t"/>
          <a:lstStyle/>
          <a:p>
            <a:pPr algn="l" indent="0" marL="0">
              <a:buNone/>
            </a:pPr>
            <a:r>
              <a:rPr lang="en-US" sz="3000" b="1" dirty="0">
                <a:solidFill>
                  <a:srgbClr val="C8102E"/>
                </a:solidFill>
              </a:rPr>
              <a:t>about 94,000</a:t>
            </a:r>
            <a:endParaRPr lang="en-US" sz="3000" dirty="0"/>
          </a:p>
        </p:txBody>
      </p:sp>
      <p:sp>
        <p:nvSpPr>
          <p:cNvPr id="10" name="text"/>
          <p:cNvSpPr txBox="1"/>
          <p:nvPr/>
        </p:nvSpPr>
        <p:spPr>
          <a:xfrm>
            <a:off x="731520" y="3310128"/>
            <a:ext cx="3200400" cy="274320"/>
          </a:xfrm>
          <a:prstGeom prst="rect">
            <a:avLst/>
          </a:prstGeom>
          <a:noFill/>
          <a:ln/>
        </p:spPr>
        <p:txBody>
          <a:bodyPr wrap="square" lIns="0" tIns="0" rIns="0" bIns="0" rtlCol="0" anchor="t"/>
          <a:lstStyle/>
          <a:p>
            <a:pPr algn="l" indent="0" marL="0">
              <a:buNone/>
            </a:pPr>
            <a:r>
              <a:rPr lang="en-US" sz="1250" dirty="0">
                <a:solidFill>
                  <a:srgbClr val="5E5E5E"/>
                </a:solidFill>
              </a:rPr>
              <a:t>ICU stays</a:t>
            </a:r>
            <a:endParaRPr lang="en-US" sz="1250" dirty="0"/>
          </a:p>
        </p:txBody>
      </p:sp>
      <p:sp>
        <p:nvSpPr>
          <p:cNvPr id="11" name="text"/>
          <p:cNvSpPr txBox="1"/>
          <p:nvPr/>
        </p:nvSpPr>
        <p:spPr>
          <a:xfrm>
            <a:off x="731520" y="3657600"/>
            <a:ext cx="3200400" cy="1051560"/>
          </a:xfrm>
          <a:prstGeom prst="rect">
            <a:avLst/>
          </a:prstGeom>
          <a:noFill/>
          <a:ln/>
        </p:spPr>
        <p:txBody>
          <a:bodyPr wrap="square" lIns="0" tIns="0" rIns="0" bIns="0" rtlCol="0" anchor="t"/>
          <a:lstStyle/>
          <a:p>
            <a:pPr algn="l" indent="0" marL="0">
              <a:buNone/>
            </a:pPr>
            <a:r>
              <a:rPr lang="en-US" sz="1250" dirty="0">
                <a:solidFill>
                  <a:srgbClr val="1B1B1B"/>
                </a:solidFill>
              </a:rPr>
              <a:t>Every charted vital sign, laboratory result, medication, procedure, microbiology result and diagnosis, de-identified [30]</a:t>
            </a:r>
            <a:endParaRPr lang="en-US" sz="1250" dirty="0"/>
          </a:p>
        </p:txBody>
      </p:sp>
      <p:sp>
        <p:nvSpPr>
          <p:cNvPr id="12" name="text"/>
          <p:cNvSpPr txBox="1"/>
          <p:nvPr/>
        </p:nvSpPr>
        <p:spPr>
          <a:xfrm>
            <a:off x="731520" y="4754880"/>
            <a:ext cx="3200400" cy="548640"/>
          </a:xfrm>
          <a:prstGeom prst="rect">
            <a:avLst/>
          </a:prstGeom>
          <a:noFill/>
          <a:ln/>
        </p:spPr>
        <p:txBody>
          <a:bodyPr wrap="square" lIns="0" tIns="0" rIns="0" bIns="0" rtlCol="0" anchor="t"/>
          <a:lstStyle/>
          <a:p>
            <a:pPr algn="l" indent="0" marL="0">
              <a:buNone/>
            </a:pPr>
            <a:r>
              <a:rPr lang="en-US" sz="1250" b="1" dirty="0">
                <a:solidFill>
                  <a:srgbClr val="1B1B1B"/>
                </a:solidFill>
              </a:rPr>
              <a:t>Role here: Development and internal testing</a:t>
            </a:r>
            <a:endParaRPr lang="en-US" sz="1250" dirty="0"/>
          </a:p>
        </p:txBody>
      </p:sp>
      <p:sp>
        <p:nvSpPr>
          <p:cNvPr id="13" name="box"/>
          <p:cNvSpPr/>
          <p:nvPr/>
        </p:nvSpPr>
        <p:spPr>
          <a:xfrm>
            <a:off x="4297680" y="1554480"/>
            <a:ext cx="3566160" cy="3794760"/>
          </a:xfrm>
          <a:prstGeom prst="rect">
            <a:avLst/>
          </a:prstGeom>
          <a:solidFill>
            <a:srgbClr val="FFFFFF"/>
          </a:solidFill>
          <a:ln w="12700">
            <a:solidFill>
              <a:srgbClr val="BDBDBD"/>
            </a:solidFill>
            <a:prstDash val="solid"/>
          </a:ln>
        </p:spPr>
      </p:sp>
      <p:sp>
        <p:nvSpPr>
          <p:cNvPr id="14" name="icon tile"/>
          <p:cNvSpPr/>
          <p:nvPr/>
        </p:nvSpPr>
        <p:spPr>
          <a:xfrm>
            <a:off x="4480560" y="1719072"/>
            <a:ext cx="502920" cy="502920"/>
          </a:xfrm>
          <a:prstGeom prst="rect">
            <a:avLst/>
          </a:prstGeom>
          <a:solidFill>
            <a:srgbClr val="C8102E"/>
          </a:solidFill>
          <a:ln w="12700">
            <a:solidFill>
              <a:srgbClr val="C8102E"/>
            </a:solidFill>
            <a:prstDash val="solid"/>
          </a:ln>
        </p:spPr>
      </p:sp>
      <p:pic>
        <p:nvPicPr>
          <p:cNvPr id="15" name="icon" descr="preencoded.png">    </p:cNvPr>
          <p:cNvPicPr>
            <a:picLocks noChangeAspect="1"/>
          </p:cNvPicPr>
          <p:nvPr/>
        </p:nvPicPr>
        <p:blipFill>
          <a:blip r:embed="rId2"/>
          <a:stretch>
            <a:fillRect/>
          </a:stretch>
        </p:blipFill>
        <p:spPr>
          <a:xfrm>
            <a:off x="4581144" y="1819656"/>
            <a:ext cx="301752" cy="301752"/>
          </a:xfrm>
          <a:prstGeom prst="rect">
            <a:avLst/>
          </a:prstGeom>
        </p:spPr>
      </p:pic>
      <p:sp>
        <p:nvSpPr>
          <p:cNvPr id="16" name="text"/>
          <p:cNvSpPr txBox="1"/>
          <p:nvPr/>
        </p:nvSpPr>
        <p:spPr>
          <a:xfrm>
            <a:off x="5120640" y="1719072"/>
            <a:ext cx="2651760" cy="502920"/>
          </a:xfrm>
          <a:prstGeom prst="rect">
            <a:avLst/>
          </a:prstGeom>
          <a:noFill/>
          <a:ln/>
        </p:spPr>
        <p:txBody>
          <a:bodyPr wrap="square" lIns="0" tIns="0" rIns="0" bIns="0" rtlCol="0" anchor="ctr"/>
          <a:lstStyle/>
          <a:p>
            <a:pPr algn="l" indent="0" marL="0">
              <a:buNone/>
            </a:pPr>
            <a:r>
              <a:rPr lang="en-US" sz="1800" b="1" dirty="0">
                <a:solidFill>
                  <a:srgbClr val="1B1B1B"/>
                </a:solidFill>
              </a:rPr>
              <a:t>eICU-CRD 2.0</a:t>
            </a:r>
            <a:endParaRPr lang="en-US" sz="1800" dirty="0"/>
          </a:p>
        </p:txBody>
      </p:sp>
      <p:sp>
        <p:nvSpPr>
          <p:cNvPr id="17" name="text"/>
          <p:cNvSpPr txBox="1"/>
          <p:nvPr/>
        </p:nvSpPr>
        <p:spPr>
          <a:xfrm>
            <a:off x="4480560" y="2331720"/>
            <a:ext cx="3200400" cy="502920"/>
          </a:xfrm>
          <a:prstGeom prst="rect">
            <a:avLst/>
          </a:prstGeom>
          <a:noFill/>
          <a:ln/>
        </p:spPr>
        <p:txBody>
          <a:bodyPr wrap="square" lIns="0" tIns="0" rIns="0" bIns="0" rtlCol="0" anchor="t"/>
          <a:lstStyle/>
          <a:p>
            <a:pPr algn="l" indent="0" marL="0">
              <a:buNone/>
            </a:pPr>
            <a:r>
              <a:rPr lang="en-US" sz="1250" dirty="0">
                <a:solidFill>
                  <a:srgbClr val="5E5E5E"/>
                </a:solidFill>
              </a:rPr>
              <a:t>208 US hospitals, 2014 to 2015</a:t>
            </a:r>
            <a:endParaRPr lang="en-US" sz="1250" dirty="0"/>
          </a:p>
        </p:txBody>
      </p:sp>
      <p:sp>
        <p:nvSpPr>
          <p:cNvPr id="18" name="text"/>
          <p:cNvSpPr txBox="1"/>
          <p:nvPr/>
        </p:nvSpPr>
        <p:spPr>
          <a:xfrm>
            <a:off x="4480560" y="2788920"/>
            <a:ext cx="3200400" cy="548640"/>
          </a:xfrm>
          <a:prstGeom prst="rect">
            <a:avLst/>
          </a:prstGeom>
          <a:noFill/>
          <a:ln/>
        </p:spPr>
        <p:txBody>
          <a:bodyPr wrap="square" lIns="0" tIns="0" rIns="0" bIns="0" rtlCol="0" anchor="t"/>
          <a:lstStyle/>
          <a:p>
            <a:pPr algn="l" indent="0" marL="0">
              <a:buNone/>
            </a:pPr>
            <a:r>
              <a:rPr lang="en-US" sz="3000" b="1" dirty="0">
                <a:solidFill>
                  <a:srgbClr val="C8102E"/>
                </a:solidFill>
              </a:rPr>
              <a:t>200,859</a:t>
            </a:r>
            <a:endParaRPr lang="en-US" sz="3000" dirty="0"/>
          </a:p>
        </p:txBody>
      </p:sp>
      <p:sp>
        <p:nvSpPr>
          <p:cNvPr id="19" name="text"/>
          <p:cNvSpPr txBox="1"/>
          <p:nvPr/>
        </p:nvSpPr>
        <p:spPr>
          <a:xfrm>
            <a:off x="4480560" y="3310128"/>
            <a:ext cx="3200400" cy="274320"/>
          </a:xfrm>
          <a:prstGeom prst="rect">
            <a:avLst/>
          </a:prstGeom>
          <a:noFill/>
          <a:ln/>
        </p:spPr>
        <p:txBody>
          <a:bodyPr wrap="square" lIns="0" tIns="0" rIns="0" bIns="0" rtlCol="0" anchor="t"/>
          <a:lstStyle/>
          <a:p>
            <a:pPr algn="l" indent="0" marL="0">
              <a:buNone/>
            </a:pPr>
            <a:r>
              <a:rPr lang="en-US" sz="1250" dirty="0">
                <a:solidFill>
                  <a:srgbClr val="5E5E5E"/>
                </a:solidFill>
              </a:rPr>
              <a:t>ICU admissions</a:t>
            </a:r>
            <a:endParaRPr lang="en-US" sz="1250" dirty="0"/>
          </a:p>
        </p:txBody>
      </p:sp>
      <p:sp>
        <p:nvSpPr>
          <p:cNvPr id="20" name="text"/>
          <p:cNvSpPr txBox="1"/>
          <p:nvPr/>
        </p:nvSpPr>
        <p:spPr>
          <a:xfrm>
            <a:off x="4480560" y="3657600"/>
            <a:ext cx="3200400" cy="1051560"/>
          </a:xfrm>
          <a:prstGeom prst="rect">
            <a:avLst/>
          </a:prstGeom>
          <a:noFill/>
          <a:ln/>
        </p:spPr>
        <p:txBody>
          <a:bodyPr wrap="square" lIns="0" tIns="0" rIns="0" bIns="0" rtlCol="0" anchor="t"/>
          <a:lstStyle/>
          <a:p>
            <a:pPr algn="l" indent="0" marL="0">
              <a:buNone/>
            </a:pPr>
            <a:r>
              <a:rPr lang="en-US" sz="1250" dirty="0">
                <a:solidFill>
                  <a:srgbClr val="1B1B1B"/>
                </a:solidFill>
              </a:rPr>
              <a:t>Tele-ICU records from many hospitals with different charting habits; times stored as minutes from ICU admission [31]</a:t>
            </a:r>
            <a:endParaRPr lang="en-US" sz="1250" dirty="0"/>
          </a:p>
        </p:txBody>
      </p:sp>
      <p:sp>
        <p:nvSpPr>
          <p:cNvPr id="21" name="text"/>
          <p:cNvSpPr txBox="1"/>
          <p:nvPr/>
        </p:nvSpPr>
        <p:spPr>
          <a:xfrm>
            <a:off x="4480560" y="4754880"/>
            <a:ext cx="3200400" cy="548640"/>
          </a:xfrm>
          <a:prstGeom prst="rect">
            <a:avLst/>
          </a:prstGeom>
          <a:noFill/>
          <a:ln/>
        </p:spPr>
        <p:txBody>
          <a:bodyPr wrap="square" lIns="0" tIns="0" rIns="0" bIns="0" rtlCol="0" anchor="t"/>
          <a:lstStyle/>
          <a:p>
            <a:pPr algn="l" indent="0" marL="0">
              <a:buNone/>
            </a:pPr>
            <a:r>
              <a:rPr lang="en-US" sz="1250" b="1" dirty="0">
                <a:solidFill>
                  <a:srgbClr val="1B1B1B"/>
                </a:solidFill>
              </a:rPr>
              <a:t>Role here: Second hospital system: the transfer test</a:t>
            </a:r>
            <a:endParaRPr lang="en-US" sz="1250" dirty="0"/>
          </a:p>
        </p:txBody>
      </p:sp>
      <p:sp>
        <p:nvSpPr>
          <p:cNvPr id="22" name="box"/>
          <p:cNvSpPr/>
          <p:nvPr/>
        </p:nvSpPr>
        <p:spPr>
          <a:xfrm>
            <a:off x="8046720" y="1554480"/>
            <a:ext cx="3566160" cy="3794760"/>
          </a:xfrm>
          <a:prstGeom prst="rect">
            <a:avLst/>
          </a:prstGeom>
          <a:solidFill>
            <a:srgbClr val="FFFFFF"/>
          </a:solidFill>
          <a:ln w="12700">
            <a:solidFill>
              <a:srgbClr val="BDBDBD"/>
            </a:solidFill>
            <a:prstDash val="solid"/>
          </a:ln>
        </p:spPr>
      </p:sp>
      <p:sp>
        <p:nvSpPr>
          <p:cNvPr id="23" name="icon tile"/>
          <p:cNvSpPr/>
          <p:nvPr/>
        </p:nvSpPr>
        <p:spPr>
          <a:xfrm>
            <a:off x="8229600" y="1719072"/>
            <a:ext cx="502920" cy="502920"/>
          </a:xfrm>
          <a:prstGeom prst="rect">
            <a:avLst/>
          </a:prstGeom>
          <a:solidFill>
            <a:srgbClr val="C8102E"/>
          </a:solidFill>
          <a:ln w="12700">
            <a:solidFill>
              <a:srgbClr val="C8102E"/>
            </a:solidFill>
            <a:prstDash val="solid"/>
          </a:ln>
        </p:spPr>
      </p:sp>
      <p:pic>
        <p:nvPicPr>
          <p:cNvPr id="24" name="icon" descr="preencoded.png">    </p:cNvPr>
          <p:cNvPicPr>
            <a:picLocks noChangeAspect="1"/>
          </p:cNvPicPr>
          <p:nvPr/>
        </p:nvPicPr>
        <p:blipFill>
          <a:blip r:embed="rId3"/>
          <a:stretch>
            <a:fillRect/>
          </a:stretch>
        </p:blipFill>
        <p:spPr>
          <a:xfrm>
            <a:off x="8330184" y="1819656"/>
            <a:ext cx="301752" cy="301752"/>
          </a:xfrm>
          <a:prstGeom prst="rect">
            <a:avLst/>
          </a:prstGeom>
        </p:spPr>
      </p:pic>
      <p:sp>
        <p:nvSpPr>
          <p:cNvPr id="25" name="text"/>
          <p:cNvSpPr txBox="1"/>
          <p:nvPr/>
        </p:nvSpPr>
        <p:spPr>
          <a:xfrm>
            <a:off x="8869680" y="1719072"/>
            <a:ext cx="2651760" cy="502920"/>
          </a:xfrm>
          <a:prstGeom prst="rect">
            <a:avLst/>
          </a:prstGeom>
          <a:noFill/>
          <a:ln/>
        </p:spPr>
        <p:txBody>
          <a:bodyPr wrap="square" lIns="0" tIns="0" rIns="0" bIns="0" rtlCol="0" anchor="ctr"/>
          <a:lstStyle/>
          <a:p>
            <a:pPr algn="l" indent="0" marL="0">
              <a:buNone/>
            </a:pPr>
            <a:r>
              <a:rPr lang="en-US" sz="1800" b="1" dirty="0">
                <a:solidFill>
                  <a:srgbClr val="1B1B1B"/>
                </a:solidFill>
              </a:rPr>
              <a:t>PhysioNet 2019</a:t>
            </a:r>
            <a:endParaRPr lang="en-US" sz="1800" dirty="0"/>
          </a:p>
        </p:txBody>
      </p:sp>
      <p:sp>
        <p:nvSpPr>
          <p:cNvPr id="26" name="text"/>
          <p:cNvSpPr txBox="1"/>
          <p:nvPr/>
        </p:nvSpPr>
        <p:spPr>
          <a:xfrm>
            <a:off x="8229600" y="2331720"/>
            <a:ext cx="3200400" cy="502920"/>
          </a:xfrm>
          <a:prstGeom prst="rect">
            <a:avLst/>
          </a:prstGeom>
          <a:noFill/>
          <a:ln/>
        </p:spPr>
        <p:txBody>
          <a:bodyPr wrap="square" lIns="0" tIns="0" rIns="0" bIns="0" rtlCol="0" anchor="t"/>
          <a:lstStyle/>
          <a:p>
            <a:pPr algn="l" indent="0" marL="0">
              <a:buNone/>
            </a:pPr>
            <a:r>
              <a:rPr lang="en-US" sz="1250" dirty="0">
                <a:solidFill>
                  <a:srgbClr val="5E5E5E"/>
                </a:solidFill>
              </a:rPr>
              <a:t>Challenge data from US hospitals</a:t>
            </a:r>
            <a:endParaRPr lang="en-US" sz="1250" dirty="0"/>
          </a:p>
        </p:txBody>
      </p:sp>
      <p:sp>
        <p:nvSpPr>
          <p:cNvPr id="27" name="text"/>
          <p:cNvSpPr txBox="1"/>
          <p:nvPr/>
        </p:nvSpPr>
        <p:spPr>
          <a:xfrm>
            <a:off x="8229600" y="2788920"/>
            <a:ext cx="3200400" cy="548640"/>
          </a:xfrm>
          <a:prstGeom prst="rect">
            <a:avLst/>
          </a:prstGeom>
          <a:noFill/>
          <a:ln/>
        </p:spPr>
        <p:txBody>
          <a:bodyPr wrap="square" lIns="0" tIns="0" rIns="0" bIns="0" rtlCol="0" anchor="t"/>
          <a:lstStyle/>
          <a:p>
            <a:pPr algn="l" indent="0" marL="0">
              <a:buNone/>
            </a:pPr>
            <a:r>
              <a:rPr lang="en-US" sz="3000" b="1" dirty="0">
                <a:solidFill>
                  <a:srgbClr val="C8102E"/>
                </a:solidFill>
              </a:rPr>
              <a:t>40,336</a:t>
            </a:r>
            <a:endParaRPr lang="en-US" sz="3000" dirty="0"/>
          </a:p>
        </p:txBody>
      </p:sp>
      <p:sp>
        <p:nvSpPr>
          <p:cNvPr id="28" name="text"/>
          <p:cNvSpPr txBox="1"/>
          <p:nvPr/>
        </p:nvSpPr>
        <p:spPr>
          <a:xfrm>
            <a:off x="8229600" y="3310128"/>
            <a:ext cx="3200400" cy="274320"/>
          </a:xfrm>
          <a:prstGeom prst="rect">
            <a:avLst/>
          </a:prstGeom>
          <a:noFill/>
          <a:ln/>
        </p:spPr>
        <p:txBody>
          <a:bodyPr wrap="square" lIns="0" tIns="0" rIns="0" bIns="0" rtlCol="0" anchor="t"/>
          <a:lstStyle/>
          <a:p>
            <a:pPr algn="l" indent="0" marL="0">
              <a:buNone/>
            </a:pPr>
            <a:r>
              <a:rPr lang="en-US" sz="1250" dirty="0">
                <a:solidFill>
                  <a:srgbClr val="5E5E5E"/>
                </a:solidFill>
              </a:rPr>
              <a:t>patients</a:t>
            </a:r>
            <a:endParaRPr lang="en-US" sz="1250" dirty="0"/>
          </a:p>
        </p:txBody>
      </p:sp>
      <p:sp>
        <p:nvSpPr>
          <p:cNvPr id="29" name="text"/>
          <p:cNvSpPr txBox="1"/>
          <p:nvPr/>
        </p:nvSpPr>
        <p:spPr>
          <a:xfrm>
            <a:off x="8229600" y="3657600"/>
            <a:ext cx="3200400" cy="1051560"/>
          </a:xfrm>
          <a:prstGeom prst="rect">
            <a:avLst/>
          </a:prstGeom>
          <a:noFill/>
          <a:ln/>
        </p:spPr>
        <p:txBody>
          <a:bodyPr wrap="square" lIns="0" tIns="0" rIns="0" bIns="0" rtlCol="0" anchor="t"/>
          <a:lstStyle/>
          <a:p>
            <a:pPr algn="l" indent="0" marL="0">
              <a:buNone/>
            </a:pPr>
            <a:r>
              <a:rPr lang="en-US" sz="1250" dirty="0">
                <a:solidFill>
                  <a:srgbClr val="1B1B1B"/>
                </a:solidFill>
              </a:rPr>
              <a:t>40 hourly variables, prepared by the organisers, with a pre-shifted sepsis label [15]</a:t>
            </a:r>
            <a:endParaRPr lang="en-US" sz="1250" dirty="0"/>
          </a:p>
        </p:txBody>
      </p:sp>
      <p:sp>
        <p:nvSpPr>
          <p:cNvPr id="30" name="text"/>
          <p:cNvSpPr txBox="1"/>
          <p:nvPr/>
        </p:nvSpPr>
        <p:spPr>
          <a:xfrm>
            <a:off x="8229600" y="4754880"/>
            <a:ext cx="3200400" cy="548640"/>
          </a:xfrm>
          <a:prstGeom prst="rect">
            <a:avLst/>
          </a:prstGeom>
          <a:noFill/>
          <a:ln/>
        </p:spPr>
        <p:txBody>
          <a:bodyPr wrap="square" lIns="0" tIns="0" rIns="0" bIns="0" rtlCol="0" anchor="t"/>
          <a:lstStyle/>
          <a:p>
            <a:pPr algn="l" indent="0" marL="0">
              <a:buNone/>
            </a:pPr>
            <a:r>
              <a:rPr lang="en-US" sz="1250" b="1" dirty="0">
                <a:solidFill>
                  <a:srgbClr val="1B1B1B"/>
                </a:solidFill>
              </a:rPr>
              <a:t>Role here: Comparison with published challenge models</a:t>
            </a:r>
            <a:endParaRPr lang="en-US" sz="1250" dirty="0"/>
          </a:p>
        </p:txBody>
      </p:sp>
      <p:sp>
        <p:nvSpPr>
          <p:cNvPr id="31" name="text"/>
          <p:cNvSpPr txBox="1"/>
          <p:nvPr/>
        </p:nvSpPr>
        <p:spPr>
          <a:xfrm>
            <a:off x="548640" y="5440680"/>
            <a:ext cx="11094415" cy="502920"/>
          </a:xfrm>
          <a:prstGeom prst="rect">
            <a:avLst/>
          </a:prstGeom>
          <a:noFill/>
          <a:ln/>
        </p:spPr>
        <p:txBody>
          <a:bodyPr wrap="square" lIns="0" tIns="0" rIns="0" bIns="0" rtlCol="0" anchor="t"/>
          <a:lstStyle/>
          <a:p>
            <a:pPr algn="l" indent="0" marL="0">
              <a:buNone/>
            </a:pPr>
            <a:r>
              <a:rPr lang="en-US" sz="1250" dirty="0">
                <a:solidFill>
                  <a:srgbClr val="1B1B1B"/>
                </a:solidFill>
              </a:rPr>
              <a:t>Access requires credentialing, human-subjects research training and a data use agreement [32]. No patient-level data leave the analysis environment. One sepsis definition is applied to both raw databases with published benchmark code [33, 34].</a:t>
            </a:r>
            <a:endParaRPr lang="en-US" sz="1250" dirty="0"/>
          </a:p>
        </p:txBody>
      </p:sp>
      <p:sp>
        <p:nvSpPr>
          <p:cNvPr id="32"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[15] Reyna et al., Crit Care Med 2020   [30] Johnson et al., Sci Data 2023   [31] Pollard et al., Sci Data 2018   [32] Goldberger et al., Circulation 2000   [33] van de Water et al., ICLR 2024   [34] Bennett et al., GigaScience 2023</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APPROACH: MIXED-METHODS DESIGN</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The research pipeline, built like the models it trains</a:t>
            </a:r>
            <a:endParaRPr lang="en-US" sz="2600" dirty="0"/>
          </a:p>
        </p:txBody>
      </p:sp>
      <p:sp>
        <p:nvSpPr>
          <p:cNvPr id="4" name="text"/>
          <p:cNvSpPr txBox="1"/>
          <p:nvPr/>
        </p:nvSpPr>
        <p:spPr>
          <a:xfrm>
            <a:off x="548640" y="1463040"/>
            <a:ext cx="3657600" cy="320040"/>
          </a:xfrm>
          <a:prstGeom prst="rect">
            <a:avLst/>
          </a:prstGeom>
          <a:noFill/>
          <a:ln/>
        </p:spPr>
        <p:txBody>
          <a:bodyPr wrap="square" lIns="0" tIns="0" rIns="0" bIns="0" rtlCol="0" anchor="t"/>
          <a:lstStyle/>
          <a:p>
            <a:pPr algn="l" indent="0" marL="0">
              <a:buNone/>
            </a:pPr>
            <a:r>
              <a:rPr lang="en-US" sz="1300" b="1" dirty="0">
                <a:solidFill>
                  <a:srgbClr val="C8102E"/>
                </a:solidFill>
              </a:rPr>
              <a:t>Phase 1  Quantitative</a:t>
            </a:r>
            <a:endParaRPr lang="en-US" sz="1300" dirty="0"/>
          </a:p>
        </p:txBody>
      </p:sp>
      <p:sp>
        <p:nvSpPr>
          <p:cNvPr id="5" name="box"/>
          <p:cNvSpPr/>
          <p:nvPr/>
        </p:nvSpPr>
        <p:spPr>
          <a:xfrm>
            <a:off x="548640" y="1828800"/>
            <a:ext cx="1664208" cy="1417320"/>
          </a:xfrm>
          <a:prstGeom prst="rect">
            <a:avLst/>
          </a:prstGeom>
          <a:solidFill>
            <a:srgbClr val="F2F2F2"/>
          </a:solidFill>
          <a:ln w="12700">
            <a:solidFill>
              <a:srgbClr val="1B1B1B"/>
            </a:solidFill>
            <a:prstDash val="solid"/>
          </a:ln>
        </p:spPr>
      </p:sp>
      <p:sp>
        <p:nvSpPr>
          <p:cNvPr id="6" name="text"/>
          <p:cNvSpPr txBox="1"/>
          <p:nvPr/>
        </p:nvSpPr>
        <p:spPr>
          <a:xfrm>
            <a:off x="640080" y="1901952"/>
            <a:ext cx="1481328" cy="365760"/>
          </a:xfrm>
          <a:prstGeom prst="rect">
            <a:avLst/>
          </a:prstGeom>
          <a:noFill/>
          <a:ln/>
        </p:spPr>
        <p:txBody>
          <a:bodyPr wrap="square" lIns="0" tIns="0" rIns="0" bIns="0" rtlCol="0" anchor="t"/>
          <a:lstStyle/>
          <a:p>
            <a:pPr algn="l" indent="0" marL="0">
              <a:buNone/>
            </a:pPr>
            <a:r>
              <a:rPr lang="en-US" sz="1400" b="1" dirty="0">
                <a:solidFill>
                  <a:srgbClr val="C8102E"/>
                </a:solidFill>
              </a:rPr>
              <a:t>Raw records</a:t>
            </a:r>
            <a:endParaRPr lang="en-US" sz="1400" dirty="0"/>
          </a:p>
        </p:txBody>
      </p:sp>
      <p:sp>
        <p:nvSpPr>
          <p:cNvPr id="7" name="text"/>
          <p:cNvSpPr txBox="1"/>
          <p:nvPr/>
        </p:nvSpPr>
        <p:spPr>
          <a:xfrm>
            <a:off x="640080" y="2267712"/>
            <a:ext cx="1481328" cy="960120"/>
          </a:xfrm>
          <a:prstGeom prst="rect">
            <a:avLst/>
          </a:prstGeom>
          <a:noFill/>
          <a:ln/>
        </p:spPr>
        <p:txBody>
          <a:bodyPr wrap="square" lIns="0" tIns="0" rIns="0" bIns="0" rtlCol="0" anchor="t"/>
          <a:lstStyle/>
          <a:p>
            <a:pPr algn="l" indent="0" marL="0">
              <a:buNone/>
            </a:pPr>
            <a:r>
              <a:rPr lang="en-US" sz="1200" dirty="0">
                <a:solidFill>
                  <a:srgbClr val="1B1B1B"/>
                </a:solidFill>
              </a:rPr>
              <a:t>MIMIC-IV and eICU</a:t>
            </a:r>
            <a:endParaRPr lang="en-US" sz="1200" dirty="0"/>
          </a:p>
        </p:txBody>
      </p:sp>
      <p:sp>
        <p:nvSpPr>
          <p:cNvPr id="8" name="text"/>
          <p:cNvSpPr txBox="1"/>
          <p:nvPr/>
        </p:nvSpPr>
        <p:spPr>
          <a:xfrm>
            <a:off x="548640" y="3337560"/>
            <a:ext cx="1664208" cy="548640"/>
          </a:xfrm>
          <a:prstGeom prst="rect">
            <a:avLst/>
          </a:prstGeom>
          <a:noFill/>
          <a:ln/>
        </p:spPr>
        <p:txBody>
          <a:bodyPr wrap="square" lIns="0" tIns="0" rIns="0" bIns="0" rtlCol="0" anchor="t"/>
          <a:lstStyle/>
          <a:p>
            <a:pPr algn="l" indent="0" marL="0">
              <a:buNone/>
            </a:pPr>
            <a:r>
              <a:rPr lang="en-US" sz="1150" i="1" dirty="0">
                <a:solidFill>
                  <a:srgbClr val="5E5E5E"/>
                </a:solidFill>
              </a:rPr>
              <a:t>Why: two hospital systems make transfer real</a:t>
            </a:r>
            <a:endParaRPr lang="en-US" sz="1150" dirty="0"/>
          </a:p>
        </p:txBody>
      </p:sp>
      <p:sp>
        <p:nvSpPr>
          <p:cNvPr id="9" name="arrow"/>
          <p:cNvSpPr/>
          <p:nvPr/>
        </p:nvSpPr>
        <p:spPr>
          <a:xfrm>
            <a:off x="2212848" y="2542032"/>
            <a:ext cx="219456" cy="914"/>
          </a:xfrm>
          <a:prstGeom prst="line">
            <a:avLst/>
          </a:prstGeom>
          <a:noFill/>
          <a:ln w="19050">
            <a:solidFill>
              <a:srgbClr val="1B1B1B"/>
            </a:solidFill>
            <a:prstDash val="solid"/>
            <a:tailEnd type="triangle"/>
          </a:ln>
        </p:spPr>
      </p:sp>
      <p:sp>
        <p:nvSpPr>
          <p:cNvPr id="10" name="box"/>
          <p:cNvSpPr/>
          <p:nvPr/>
        </p:nvSpPr>
        <p:spPr>
          <a:xfrm>
            <a:off x="2432304" y="1828800"/>
            <a:ext cx="1664208" cy="1417320"/>
          </a:xfrm>
          <a:prstGeom prst="rect">
            <a:avLst/>
          </a:prstGeom>
          <a:solidFill>
            <a:srgbClr val="FFFFFF"/>
          </a:solidFill>
          <a:ln w="12700">
            <a:solidFill>
              <a:srgbClr val="1B1B1B"/>
            </a:solidFill>
            <a:prstDash val="solid"/>
          </a:ln>
        </p:spPr>
      </p:sp>
      <p:sp>
        <p:nvSpPr>
          <p:cNvPr id="11" name="text"/>
          <p:cNvSpPr txBox="1"/>
          <p:nvPr/>
        </p:nvSpPr>
        <p:spPr>
          <a:xfrm>
            <a:off x="2523744" y="1901952"/>
            <a:ext cx="1481328" cy="365760"/>
          </a:xfrm>
          <a:prstGeom prst="rect">
            <a:avLst/>
          </a:prstGeom>
          <a:noFill/>
          <a:ln/>
        </p:spPr>
        <p:txBody>
          <a:bodyPr wrap="square" lIns="0" tIns="0" rIns="0" bIns="0" rtlCol="0" anchor="t"/>
          <a:lstStyle/>
          <a:p>
            <a:pPr algn="l" indent="0" marL="0">
              <a:buNone/>
            </a:pPr>
            <a:r>
              <a:rPr lang="en-US" sz="1400" b="1" dirty="0">
                <a:solidFill>
                  <a:srgbClr val="C8102E"/>
                </a:solidFill>
              </a:rPr>
              <a:t>Harmonise</a:t>
            </a:r>
            <a:endParaRPr lang="en-US" sz="1400" dirty="0"/>
          </a:p>
        </p:txBody>
      </p:sp>
      <p:sp>
        <p:nvSpPr>
          <p:cNvPr id="12" name="text"/>
          <p:cNvSpPr txBox="1"/>
          <p:nvPr/>
        </p:nvSpPr>
        <p:spPr>
          <a:xfrm>
            <a:off x="2523744" y="2267712"/>
            <a:ext cx="1481328" cy="960120"/>
          </a:xfrm>
          <a:prstGeom prst="rect">
            <a:avLst/>
          </a:prstGeom>
          <a:noFill/>
          <a:ln/>
        </p:spPr>
        <p:txBody>
          <a:bodyPr wrap="square" lIns="0" tIns="0" rIns="0" bIns="0" rtlCol="0" anchor="t"/>
          <a:lstStyle/>
          <a:p>
            <a:pPr algn="l" indent="0" marL="0">
              <a:buNone/>
            </a:pPr>
            <a:r>
              <a:rPr lang="en-US" sz="1200" dirty="0">
                <a:solidFill>
                  <a:srgbClr val="1B1B1B"/>
                </a:solidFill>
              </a:rPr>
              <a:t>same concept, unit and clock</a:t>
            </a:r>
            <a:endParaRPr lang="en-US" sz="1200" dirty="0"/>
          </a:p>
        </p:txBody>
      </p:sp>
      <p:sp>
        <p:nvSpPr>
          <p:cNvPr id="13" name="text"/>
          <p:cNvSpPr txBox="1"/>
          <p:nvPr/>
        </p:nvSpPr>
        <p:spPr>
          <a:xfrm>
            <a:off x="2432304" y="3337560"/>
            <a:ext cx="1664208" cy="548640"/>
          </a:xfrm>
          <a:prstGeom prst="rect">
            <a:avLst/>
          </a:prstGeom>
          <a:noFill/>
          <a:ln/>
        </p:spPr>
        <p:txBody>
          <a:bodyPr wrap="square" lIns="0" tIns="0" rIns="0" bIns="0" rtlCol="0" anchor="t"/>
          <a:lstStyle/>
          <a:p>
            <a:pPr algn="l" indent="0" marL="0">
              <a:buNone/>
            </a:pPr>
            <a:r>
              <a:rPr lang="en-US" sz="1150" i="1" dirty="0">
                <a:solidFill>
                  <a:srgbClr val="5E5E5E"/>
                </a:solidFill>
              </a:rPr>
              <a:t>Why: compare like with like</a:t>
            </a:r>
            <a:endParaRPr lang="en-US" sz="1150" dirty="0"/>
          </a:p>
        </p:txBody>
      </p:sp>
      <p:sp>
        <p:nvSpPr>
          <p:cNvPr id="14" name="arrow"/>
          <p:cNvSpPr/>
          <p:nvPr/>
        </p:nvSpPr>
        <p:spPr>
          <a:xfrm>
            <a:off x="4096512" y="2542032"/>
            <a:ext cx="219456" cy="914"/>
          </a:xfrm>
          <a:prstGeom prst="line">
            <a:avLst/>
          </a:prstGeom>
          <a:noFill/>
          <a:ln w="19050">
            <a:solidFill>
              <a:srgbClr val="1B1B1B"/>
            </a:solidFill>
            <a:prstDash val="solid"/>
            <a:tailEnd type="triangle"/>
          </a:ln>
        </p:spPr>
      </p:sp>
      <p:sp>
        <p:nvSpPr>
          <p:cNvPr id="15" name="box"/>
          <p:cNvSpPr/>
          <p:nvPr/>
        </p:nvSpPr>
        <p:spPr>
          <a:xfrm>
            <a:off x="4315968" y="1828800"/>
            <a:ext cx="1664208" cy="1417320"/>
          </a:xfrm>
          <a:prstGeom prst="rect">
            <a:avLst/>
          </a:prstGeom>
          <a:solidFill>
            <a:srgbClr val="FFFFFF"/>
          </a:solidFill>
          <a:ln w="12700">
            <a:solidFill>
              <a:srgbClr val="1B1B1B"/>
            </a:solidFill>
            <a:prstDash val="solid"/>
          </a:ln>
        </p:spPr>
      </p:sp>
      <p:sp>
        <p:nvSpPr>
          <p:cNvPr id="16" name="text"/>
          <p:cNvSpPr txBox="1"/>
          <p:nvPr/>
        </p:nvSpPr>
        <p:spPr>
          <a:xfrm>
            <a:off x="4407408" y="1901952"/>
            <a:ext cx="1481328" cy="365760"/>
          </a:xfrm>
          <a:prstGeom prst="rect">
            <a:avLst/>
          </a:prstGeom>
          <a:noFill/>
          <a:ln/>
        </p:spPr>
        <p:txBody>
          <a:bodyPr wrap="square" lIns="0" tIns="0" rIns="0" bIns="0" rtlCol="0" anchor="t"/>
          <a:lstStyle/>
          <a:p>
            <a:pPr algn="l" indent="0" marL="0">
              <a:buNone/>
            </a:pPr>
            <a:r>
              <a:rPr lang="en-US" sz="1400" b="1" dirty="0">
                <a:solidFill>
                  <a:srgbClr val="C8102E"/>
                </a:solidFill>
              </a:rPr>
              <a:t>One label</a:t>
            </a:r>
            <a:endParaRPr lang="en-US" sz="1400" dirty="0"/>
          </a:p>
        </p:txBody>
      </p:sp>
      <p:sp>
        <p:nvSpPr>
          <p:cNvPr id="17" name="text"/>
          <p:cNvSpPr txBox="1"/>
          <p:nvPr/>
        </p:nvSpPr>
        <p:spPr>
          <a:xfrm>
            <a:off x="4407408" y="2267712"/>
            <a:ext cx="1481328" cy="960120"/>
          </a:xfrm>
          <a:prstGeom prst="rect">
            <a:avLst/>
          </a:prstGeom>
          <a:noFill/>
          <a:ln/>
        </p:spPr>
        <p:txBody>
          <a:bodyPr wrap="square" lIns="0" tIns="0" rIns="0" bIns="0" rtlCol="0" anchor="t"/>
          <a:lstStyle/>
          <a:p>
            <a:pPr algn="l" indent="0" marL="0">
              <a:buNone/>
            </a:pPr>
            <a:r>
              <a:rPr lang="en-US" sz="1200" dirty="0">
                <a:solidFill>
                  <a:srgbClr val="1B1B1B"/>
                </a:solidFill>
              </a:rPr>
              <a:t>Sepsis-3 onset hour [35]</a:t>
            </a:r>
            <a:endParaRPr lang="en-US" sz="1200" dirty="0"/>
          </a:p>
        </p:txBody>
      </p:sp>
      <p:sp>
        <p:nvSpPr>
          <p:cNvPr id="18" name="text"/>
          <p:cNvSpPr txBox="1"/>
          <p:nvPr/>
        </p:nvSpPr>
        <p:spPr>
          <a:xfrm>
            <a:off x="4315968" y="3337560"/>
            <a:ext cx="1664208" cy="548640"/>
          </a:xfrm>
          <a:prstGeom prst="rect">
            <a:avLst/>
          </a:prstGeom>
          <a:noFill/>
          <a:ln/>
        </p:spPr>
        <p:txBody>
          <a:bodyPr wrap="square" lIns="0" tIns="0" rIns="0" bIns="0" rtlCol="0" anchor="t"/>
          <a:lstStyle/>
          <a:p>
            <a:pPr algn="l" indent="0" marL="0">
              <a:buNone/>
            </a:pPr>
            <a:r>
              <a:rPr lang="en-US" sz="1150" i="1" dirty="0">
                <a:solidFill>
                  <a:srgbClr val="5E5E5E"/>
                </a:solidFill>
              </a:rPr>
              <a:t>Why: results comparable</a:t>
            </a:r>
            <a:endParaRPr lang="en-US" sz="1150" dirty="0"/>
          </a:p>
        </p:txBody>
      </p:sp>
      <p:sp>
        <p:nvSpPr>
          <p:cNvPr id="19" name="arrow"/>
          <p:cNvSpPr/>
          <p:nvPr/>
        </p:nvSpPr>
        <p:spPr>
          <a:xfrm>
            <a:off x="5980176" y="2542032"/>
            <a:ext cx="219456" cy="914"/>
          </a:xfrm>
          <a:prstGeom prst="line">
            <a:avLst/>
          </a:prstGeom>
          <a:noFill/>
          <a:ln w="19050">
            <a:solidFill>
              <a:srgbClr val="1B1B1B"/>
            </a:solidFill>
            <a:prstDash val="solid"/>
            <a:tailEnd type="triangle"/>
          </a:ln>
        </p:spPr>
      </p:sp>
      <p:sp>
        <p:nvSpPr>
          <p:cNvPr id="20" name="box"/>
          <p:cNvSpPr/>
          <p:nvPr/>
        </p:nvSpPr>
        <p:spPr>
          <a:xfrm>
            <a:off x="6199632" y="1828800"/>
            <a:ext cx="1664208" cy="1417320"/>
          </a:xfrm>
          <a:prstGeom prst="rect">
            <a:avLst/>
          </a:prstGeom>
          <a:solidFill>
            <a:srgbClr val="FFFFFF"/>
          </a:solidFill>
          <a:ln w="12700">
            <a:solidFill>
              <a:srgbClr val="1B1B1B"/>
            </a:solidFill>
            <a:prstDash val="solid"/>
          </a:ln>
        </p:spPr>
      </p:sp>
      <p:sp>
        <p:nvSpPr>
          <p:cNvPr id="21" name="text"/>
          <p:cNvSpPr txBox="1"/>
          <p:nvPr/>
        </p:nvSpPr>
        <p:spPr>
          <a:xfrm>
            <a:off x="6291072" y="1901952"/>
            <a:ext cx="1481328" cy="365760"/>
          </a:xfrm>
          <a:prstGeom prst="rect">
            <a:avLst/>
          </a:prstGeom>
          <a:noFill/>
          <a:ln/>
        </p:spPr>
        <p:txBody>
          <a:bodyPr wrap="square" lIns="0" tIns="0" rIns="0" bIns="0" rtlCol="0" anchor="t"/>
          <a:lstStyle/>
          <a:p>
            <a:pPr algn="l" indent="0" marL="0">
              <a:buNone/>
            </a:pPr>
            <a:r>
              <a:rPr lang="en-US" sz="1400" b="1" dirty="0">
                <a:solidFill>
                  <a:srgbClr val="C8102E"/>
                </a:solidFill>
              </a:rPr>
              <a:t>Hourly features</a:t>
            </a:r>
            <a:endParaRPr lang="en-US" sz="1400" dirty="0"/>
          </a:p>
        </p:txBody>
      </p:sp>
      <p:sp>
        <p:nvSpPr>
          <p:cNvPr id="22" name="text"/>
          <p:cNvSpPr txBox="1"/>
          <p:nvPr/>
        </p:nvSpPr>
        <p:spPr>
          <a:xfrm>
            <a:off x="6291072" y="2267712"/>
            <a:ext cx="1481328" cy="960120"/>
          </a:xfrm>
          <a:prstGeom prst="rect">
            <a:avLst/>
          </a:prstGeom>
          <a:noFill/>
          <a:ln/>
        </p:spPr>
        <p:txBody>
          <a:bodyPr wrap="square" lIns="0" tIns="0" rIns="0" bIns="0" rtlCol="0" anchor="t"/>
          <a:lstStyle/>
          <a:p>
            <a:pPr algn="l" indent="0" marL="0">
              <a:buNone/>
            </a:pPr>
            <a:r>
              <a:rPr lang="en-US" sz="1200" dirty="0">
                <a:solidFill>
                  <a:srgbClr val="1B1B1B"/>
                </a:solidFill>
              </a:rPr>
              <a:t>655, each used only from the hour recorded</a:t>
            </a:r>
            <a:endParaRPr lang="en-US" sz="1200" dirty="0"/>
          </a:p>
        </p:txBody>
      </p:sp>
      <p:sp>
        <p:nvSpPr>
          <p:cNvPr id="23" name="text"/>
          <p:cNvSpPr txBox="1"/>
          <p:nvPr/>
        </p:nvSpPr>
        <p:spPr>
          <a:xfrm>
            <a:off x="6199632" y="3337560"/>
            <a:ext cx="1664208" cy="548640"/>
          </a:xfrm>
          <a:prstGeom prst="rect">
            <a:avLst/>
          </a:prstGeom>
          <a:noFill/>
          <a:ln/>
        </p:spPr>
        <p:txBody>
          <a:bodyPr wrap="square" lIns="0" tIns="0" rIns="0" bIns="0" rtlCol="0" anchor="t"/>
          <a:lstStyle/>
          <a:p>
            <a:pPr algn="l" indent="0" marL="0">
              <a:buNone/>
            </a:pPr>
            <a:r>
              <a:rPr lang="en-US" sz="1150" i="1" dirty="0">
                <a:solidFill>
                  <a:srgbClr val="5E5E5E"/>
                </a:solidFill>
              </a:rPr>
              <a:t>Why: no information from the future</a:t>
            </a:r>
            <a:endParaRPr lang="en-US" sz="1150" dirty="0"/>
          </a:p>
        </p:txBody>
      </p:sp>
      <p:sp>
        <p:nvSpPr>
          <p:cNvPr id="24" name="arrow"/>
          <p:cNvSpPr/>
          <p:nvPr/>
        </p:nvSpPr>
        <p:spPr>
          <a:xfrm>
            <a:off x="7863840" y="2542032"/>
            <a:ext cx="219456" cy="914"/>
          </a:xfrm>
          <a:prstGeom prst="line">
            <a:avLst/>
          </a:prstGeom>
          <a:noFill/>
          <a:ln w="19050">
            <a:solidFill>
              <a:srgbClr val="1B1B1B"/>
            </a:solidFill>
            <a:prstDash val="solid"/>
            <a:tailEnd type="triangle"/>
          </a:ln>
        </p:spPr>
      </p:sp>
      <p:sp>
        <p:nvSpPr>
          <p:cNvPr id="25" name="box"/>
          <p:cNvSpPr/>
          <p:nvPr/>
        </p:nvSpPr>
        <p:spPr>
          <a:xfrm>
            <a:off x="8083296" y="1828800"/>
            <a:ext cx="1664208" cy="1417320"/>
          </a:xfrm>
          <a:prstGeom prst="rect">
            <a:avLst/>
          </a:prstGeom>
          <a:solidFill>
            <a:srgbClr val="FFFFFF"/>
          </a:solidFill>
          <a:ln w="12700">
            <a:solidFill>
              <a:srgbClr val="1B1B1B"/>
            </a:solidFill>
            <a:prstDash val="solid"/>
          </a:ln>
        </p:spPr>
      </p:sp>
      <p:sp>
        <p:nvSpPr>
          <p:cNvPr id="26" name="text"/>
          <p:cNvSpPr txBox="1"/>
          <p:nvPr/>
        </p:nvSpPr>
        <p:spPr>
          <a:xfrm>
            <a:off x="8174736" y="1901952"/>
            <a:ext cx="1481328" cy="365760"/>
          </a:xfrm>
          <a:prstGeom prst="rect">
            <a:avLst/>
          </a:prstGeom>
          <a:noFill/>
          <a:ln/>
        </p:spPr>
        <p:txBody>
          <a:bodyPr wrap="square" lIns="0" tIns="0" rIns="0" bIns="0" rtlCol="0" anchor="t"/>
          <a:lstStyle/>
          <a:p>
            <a:pPr algn="l" indent="0" marL="0">
              <a:buNone/>
            </a:pPr>
            <a:r>
              <a:rPr lang="en-US" sz="1400" b="1" dirty="0">
                <a:solidFill>
                  <a:srgbClr val="C8102E"/>
                </a:solidFill>
              </a:rPr>
              <a:t>Models</a:t>
            </a:r>
            <a:endParaRPr lang="en-US" sz="1400" dirty="0"/>
          </a:p>
        </p:txBody>
      </p:sp>
      <p:sp>
        <p:nvSpPr>
          <p:cNvPr id="27" name="text"/>
          <p:cNvSpPr txBox="1"/>
          <p:nvPr/>
        </p:nvSpPr>
        <p:spPr>
          <a:xfrm>
            <a:off x="8174736" y="2267712"/>
            <a:ext cx="1481328" cy="960120"/>
          </a:xfrm>
          <a:prstGeom prst="rect">
            <a:avLst/>
          </a:prstGeom>
          <a:noFill/>
          <a:ln/>
        </p:spPr>
        <p:txBody>
          <a:bodyPr wrap="square" lIns="0" tIns="0" rIns="0" bIns="0" rtlCol="0" anchor="t"/>
          <a:lstStyle/>
          <a:p>
            <a:pPr algn="l" indent="0" marL="0">
              <a:buNone/>
            </a:pPr>
            <a:r>
              <a:rPr lang="en-US" sz="1200" dirty="0">
                <a:solidFill>
                  <a:srgbClr val="1B1B1B"/>
                </a:solidFill>
              </a:rPr>
              <a:t>16 compared on identical hours</a:t>
            </a:r>
            <a:endParaRPr lang="en-US" sz="1200" dirty="0"/>
          </a:p>
        </p:txBody>
      </p:sp>
      <p:sp>
        <p:nvSpPr>
          <p:cNvPr id="28" name="text"/>
          <p:cNvSpPr txBox="1"/>
          <p:nvPr/>
        </p:nvSpPr>
        <p:spPr>
          <a:xfrm>
            <a:off x="8083296" y="3337560"/>
            <a:ext cx="1664208" cy="548640"/>
          </a:xfrm>
          <a:prstGeom prst="rect">
            <a:avLst/>
          </a:prstGeom>
          <a:noFill/>
          <a:ln/>
        </p:spPr>
        <p:txBody>
          <a:bodyPr wrap="square" lIns="0" tIns="0" rIns="0" bIns="0" rtlCol="0" anchor="t"/>
          <a:lstStyle/>
          <a:p>
            <a:pPr algn="l" indent="0" marL="0">
              <a:buNone/>
            </a:pPr>
            <a:r>
              <a:rPr lang="en-US" sz="1150" i="1" dirty="0">
                <a:solidFill>
                  <a:srgbClr val="5E5E5E"/>
                </a:solidFill>
              </a:rPr>
              <a:t>Why: architecture is a hypothesis</a:t>
            </a:r>
            <a:endParaRPr lang="en-US" sz="1150" dirty="0"/>
          </a:p>
        </p:txBody>
      </p:sp>
      <p:sp>
        <p:nvSpPr>
          <p:cNvPr id="29" name="arrow"/>
          <p:cNvSpPr/>
          <p:nvPr/>
        </p:nvSpPr>
        <p:spPr>
          <a:xfrm>
            <a:off x="9747504" y="2542032"/>
            <a:ext cx="219456" cy="914"/>
          </a:xfrm>
          <a:prstGeom prst="line">
            <a:avLst/>
          </a:prstGeom>
          <a:noFill/>
          <a:ln w="19050">
            <a:solidFill>
              <a:srgbClr val="1B1B1B"/>
            </a:solidFill>
            <a:prstDash val="solid"/>
            <a:tailEnd type="triangle"/>
          </a:ln>
        </p:spPr>
      </p:sp>
      <p:sp>
        <p:nvSpPr>
          <p:cNvPr id="30" name="box"/>
          <p:cNvSpPr/>
          <p:nvPr/>
        </p:nvSpPr>
        <p:spPr>
          <a:xfrm>
            <a:off x="9966960" y="1828800"/>
            <a:ext cx="1664208" cy="1417320"/>
          </a:xfrm>
          <a:prstGeom prst="rect">
            <a:avLst/>
          </a:prstGeom>
          <a:solidFill>
            <a:srgbClr val="FFFFFF"/>
          </a:solidFill>
          <a:ln w="12700">
            <a:solidFill>
              <a:srgbClr val="1B1B1B"/>
            </a:solidFill>
            <a:prstDash val="solid"/>
          </a:ln>
        </p:spPr>
      </p:sp>
      <p:sp>
        <p:nvSpPr>
          <p:cNvPr id="31" name="text"/>
          <p:cNvSpPr txBox="1"/>
          <p:nvPr/>
        </p:nvSpPr>
        <p:spPr>
          <a:xfrm>
            <a:off x="10058400" y="1901952"/>
            <a:ext cx="1481328" cy="365760"/>
          </a:xfrm>
          <a:prstGeom prst="rect">
            <a:avLst/>
          </a:prstGeom>
          <a:noFill/>
          <a:ln/>
        </p:spPr>
        <p:txBody>
          <a:bodyPr wrap="square" lIns="0" tIns="0" rIns="0" bIns="0" rtlCol="0" anchor="t"/>
          <a:lstStyle/>
          <a:p>
            <a:pPr algn="l" indent="0" marL="0">
              <a:buNone/>
            </a:pPr>
            <a:r>
              <a:rPr lang="en-US" sz="1400" b="1" dirty="0">
                <a:solidFill>
                  <a:srgbClr val="C8102E"/>
                </a:solidFill>
              </a:rPr>
              <a:t>Evaluate</a:t>
            </a:r>
            <a:endParaRPr lang="en-US" sz="1400" dirty="0"/>
          </a:p>
        </p:txBody>
      </p:sp>
      <p:sp>
        <p:nvSpPr>
          <p:cNvPr id="32" name="text"/>
          <p:cNvSpPr txBox="1"/>
          <p:nvPr/>
        </p:nvSpPr>
        <p:spPr>
          <a:xfrm>
            <a:off x="10058400" y="2267712"/>
            <a:ext cx="1481328" cy="960120"/>
          </a:xfrm>
          <a:prstGeom prst="rect">
            <a:avLst/>
          </a:prstGeom>
          <a:noFill/>
          <a:ln/>
        </p:spPr>
        <p:txBody>
          <a:bodyPr wrap="square" lIns="0" tIns="0" rIns="0" bIns="0" rtlCol="0" anchor="t"/>
          <a:lstStyle/>
          <a:p>
            <a:pPr algn="l" indent="0" marL="0">
              <a:buNone/>
            </a:pPr>
            <a:r>
              <a:rPr lang="en-US" sz="1200" dirty="0">
                <a:solidFill>
                  <a:srgbClr val="1B1B1B"/>
                </a:solidFill>
              </a:rPr>
              <a:t>utility, false alarms per day, transfer, sealed holdout</a:t>
            </a:r>
            <a:endParaRPr lang="en-US" sz="1200" dirty="0"/>
          </a:p>
        </p:txBody>
      </p:sp>
      <p:sp>
        <p:nvSpPr>
          <p:cNvPr id="33" name="text"/>
          <p:cNvSpPr txBox="1"/>
          <p:nvPr/>
        </p:nvSpPr>
        <p:spPr>
          <a:xfrm>
            <a:off x="9966960" y="3337560"/>
            <a:ext cx="1664208" cy="548640"/>
          </a:xfrm>
          <a:prstGeom prst="rect">
            <a:avLst/>
          </a:prstGeom>
          <a:noFill/>
          <a:ln/>
        </p:spPr>
        <p:txBody>
          <a:bodyPr wrap="square" lIns="0" tIns="0" rIns="0" bIns="0" rtlCol="0" anchor="t"/>
          <a:lstStyle/>
          <a:p>
            <a:pPr algn="l" indent="0" marL="0">
              <a:buNone/>
            </a:pPr>
            <a:r>
              <a:rPr lang="en-US" sz="1150" i="1" dirty="0">
                <a:solidFill>
                  <a:srgbClr val="5E5E5E"/>
                </a:solidFill>
              </a:rPr>
              <a:t>Why: what would help patients</a:t>
            </a:r>
            <a:endParaRPr lang="en-US" sz="1150" dirty="0"/>
          </a:p>
        </p:txBody>
      </p:sp>
      <p:sp>
        <p:nvSpPr>
          <p:cNvPr id="34" name="arrow"/>
          <p:cNvSpPr/>
          <p:nvPr/>
        </p:nvSpPr>
        <p:spPr>
          <a:xfrm>
            <a:off x="10799064" y="3886200"/>
            <a:ext cx="914" cy="320040"/>
          </a:xfrm>
          <a:prstGeom prst="line">
            <a:avLst/>
          </a:prstGeom>
          <a:noFill/>
          <a:ln w="25400">
            <a:solidFill>
              <a:srgbClr val="C8102E"/>
            </a:solidFill>
            <a:prstDash val="solid"/>
            <a:tailEnd type="triangle"/>
          </a:ln>
        </p:spPr>
      </p:sp>
      <p:sp>
        <p:nvSpPr>
          <p:cNvPr id="35" name="connector"/>
          <p:cNvSpPr/>
          <p:nvPr/>
        </p:nvSpPr>
        <p:spPr>
          <a:xfrm>
            <a:off x="2377440" y="4206240"/>
            <a:ext cx="8421624" cy="914"/>
          </a:xfrm>
          <a:prstGeom prst="line">
            <a:avLst/>
          </a:prstGeom>
          <a:noFill/>
          <a:ln w="25400">
            <a:solidFill>
              <a:srgbClr val="C8102E"/>
            </a:solidFill>
            <a:prstDash val="solid"/>
          </a:ln>
        </p:spPr>
      </p:sp>
      <p:sp>
        <p:nvSpPr>
          <p:cNvPr id="36" name="arrow"/>
          <p:cNvSpPr/>
          <p:nvPr/>
        </p:nvSpPr>
        <p:spPr>
          <a:xfrm>
            <a:off x="2377440" y="4206240"/>
            <a:ext cx="914" cy="228600"/>
          </a:xfrm>
          <a:prstGeom prst="line">
            <a:avLst/>
          </a:prstGeom>
          <a:noFill/>
          <a:ln w="25400">
            <a:solidFill>
              <a:srgbClr val="C8102E"/>
            </a:solidFill>
            <a:prstDash val="solid"/>
            <a:tailEnd type="triangle"/>
          </a:ln>
        </p:spPr>
      </p:sp>
      <p:sp>
        <p:nvSpPr>
          <p:cNvPr id="37" name="box"/>
          <p:cNvSpPr/>
          <p:nvPr/>
        </p:nvSpPr>
        <p:spPr>
          <a:xfrm>
            <a:off x="548640" y="4434840"/>
            <a:ext cx="5349240" cy="1371600"/>
          </a:xfrm>
          <a:prstGeom prst="rect">
            <a:avLst/>
          </a:prstGeom>
          <a:solidFill>
            <a:srgbClr val="FBE3E6"/>
          </a:solidFill>
          <a:ln w="12700">
            <a:solidFill>
              <a:srgbClr val="C8102E"/>
            </a:solidFill>
            <a:prstDash val="solid"/>
          </a:ln>
        </p:spPr>
      </p:sp>
      <p:sp>
        <p:nvSpPr>
          <p:cNvPr id="38" name="text"/>
          <p:cNvSpPr txBox="1"/>
          <p:nvPr/>
        </p:nvSpPr>
        <p:spPr>
          <a:xfrm>
            <a:off x="731520" y="4507992"/>
            <a:ext cx="5029200" cy="320040"/>
          </a:xfrm>
          <a:prstGeom prst="rect">
            <a:avLst/>
          </a:prstGeom>
          <a:noFill/>
          <a:ln/>
        </p:spPr>
        <p:txBody>
          <a:bodyPr wrap="square" lIns="0" tIns="0" rIns="0" bIns="0" rtlCol="0" anchor="t"/>
          <a:lstStyle/>
          <a:p>
            <a:pPr algn="l" indent="0" marL="0">
              <a:buNone/>
            </a:pPr>
            <a:r>
              <a:rPr lang="en-US" sz="1400" b="1" dirty="0">
                <a:solidFill>
                  <a:srgbClr val="C8102E"/>
                </a:solidFill>
              </a:rPr>
              <a:t>Phase 2  Qualitative (in progress)</a:t>
            </a:r>
            <a:endParaRPr lang="en-US" sz="1400" dirty="0"/>
          </a:p>
        </p:txBody>
      </p:sp>
      <p:sp>
        <p:nvSpPr>
          <p:cNvPr id="39" name="text"/>
          <p:cNvSpPr txBox="1"/>
          <p:nvPr/>
        </p:nvSpPr>
        <p:spPr>
          <a:xfrm>
            <a:off x="731520" y="4846320"/>
            <a:ext cx="5029200" cy="914400"/>
          </a:xfrm>
          <a:prstGeom prst="rect">
            <a:avLst/>
          </a:prstGeom>
          <a:noFill/>
          <a:ln/>
        </p:spPr>
        <p:txBody>
          <a:bodyPr wrap="square" lIns="0" tIns="0" rIns="0" bIns="0" rtlCol="0" anchor="t"/>
          <a:lstStyle/>
          <a:p>
            <a:pPr algn="l" indent="0" marL="0">
              <a:buNone/>
            </a:pPr>
            <a:r>
              <a:rPr lang="en-US" sz="1250" dirty="0">
                <a:solidFill>
                  <a:srgbClr val="1B1B1B"/>
                </a:solidFill>
              </a:rPr>
              <a:t>Healthcare professionals: would they trust and act on the alert, what explanation do they need, what alarm burden is acceptable [26].</a:t>
            </a:r>
            <a:endParaRPr lang="en-US" sz="1250" dirty="0"/>
          </a:p>
        </p:txBody>
      </p:sp>
      <p:sp>
        <p:nvSpPr>
          <p:cNvPr id="40" name="arrow"/>
          <p:cNvSpPr/>
          <p:nvPr/>
        </p:nvSpPr>
        <p:spPr>
          <a:xfrm>
            <a:off x="5897880" y="5120640"/>
            <a:ext cx="384048" cy="914"/>
          </a:xfrm>
          <a:prstGeom prst="line">
            <a:avLst/>
          </a:prstGeom>
          <a:noFill/>
          <a:ln w="25400">
            <a:solidFill>
              <a:srgbClr val="C8102E"/>
            </a:solidFill>
            <a:prstDash val="solid"/>
            <a:tailEnd type="triangle"/>
          </a:ln>
        </p:spPr>
      </p:sp>
      <p:sp>
        <p:nvSpPr>
          <p:cNvPr id="41" name="box"/>
          <p:cNvSpPr/>
          <p:nvPr/>
        </p:nvSpPr>
        <p:spPr>
          <a:xfrm>
            <a:off x="6281928" y="4434840"/>
            <a:ext cx="5361127" cy="1371600"/>
          </a:xfrm>
          <a:prstGeom prst="rect">
            <a:avLst/>
          </a:prstGeom>
          <a:solidFill>
            <a:srgbClr val="FFFFFF"/>
          </a:solidFill>
          <a:ln w="19050">
            <a:solidFill>
              <a:srgbClr val="C8102E"/>
            </a:solidFill>
            <a:prstDash val="solid"/>
          </a:ln>
        </p:spPr>
      </p:sp>
      <p:sp>
        <p:nvSpPr>
          <p:cNvPr id="42" name="text"/>
          <p:cNvSpPr txBox="1"/>
          <p:nvPr/>
        </p:nvSpPr>
        <p:spPr>
          <a:xfrm>
            <a:off x="6464808" y="4507992"/>
            <a:ext cx="4937760" cy="320040"/>
          </a:xfrm>
          <a:prstGeom prst="rect">
            <a:avLst/>
          </a:prstGeom>
          <a:noFill/>
          <a:ln/>
        </p:spPr>
        <p:txBody>
          <a:bodyPr wrap="square" lIns="0" tIns="0" rIns="0" bIns="0" rtlCol="0" anchor="t"/>
          <a:lstStyle/>
          <a:p>
            <a:pPr algn="l" indent="0" marL="0">
              <a:buNone/>
            </a:pPr>
            <a:r>
              <a:rPr lang="en-US" sz="1400" b="1" dirty="0">
                <a:solidFill>
                  <a:srgbClr val="C8102E"/>
                </a:solidFill>
              </a:rPr>
              <a:t>Phase 3  Future direction: hospital patients</a:t>
            </a:r>
            <a:endParaRPr lang="en-US" sz="1400" dirty="0"/>
          </a:p>
        </p:txBody>
      </p:sp>
      <p:sp>
        <p:nvSpPr>
          <p:cNvPr id="43" name="text"/>
          <p:cNvSpPr txBox="1"/>
          <p:nvPr/>
        </p:nvSpPr>
        <p:spPr>
          <a:xfrm>
            <a:off x="6464808" y="4846320"/>
            <a:ext cx="4937760" cy="914400"/>
          </a:xfrm>
          <a:prstGeom prst="rect">
            <a:avLst/>
          </a:prstGeom>
          <a:noFill/>
          <a:ln/>
        </p:spPr>
        <p:txBody>
          <a:bodyPr wrap="square" lIns="0" tIns="0" rIns="0" bIns="0" rtlCol="0" anchor="t"/>
          <a:lstStyle/>
          <a:p>
            <a:pPr algn="l" indent="0" marL="0">
              <a:buNone/>
            </a:pPr>
            <a:r>
              <a:rPr lang="en-US" sz="1250" dirty="0">
                <a:solidFill>
                  <a:srgbClr val="1B1B1B"/>
                </a:solidFill>
              </a:rPr>
              <a:t>A silent test on live ICU data (alerts logged, not shown, compared with outcomes), then a clinician-facing pilot [13].</a:t>
            </a:r>
            <a:endParaRPr lang="en-US" sz="1250" dirty="0"/>
          </a:p>
        </p:txBody>
      </p:sp>
      <p:sp>
        <p:nvSpPr>
          <p:cNvPr id="44"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[13] Kwong et al., Front Digit Health 2022   [26] Henry et al., NPJ Digit Med 2022   [35] Seymour et al., JAMA 2016</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APPROACH: MODELS</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Organ-structured attention is a hypothesis we test, not an assumption</a:t>
            </a:r>
            <a:endParaRPr lang="en-US" sz="2600" dirty="0"/>
          </a:p>
        </p:txBody>
      </p:sp>
      <p:sp>
        <p:nvSpPr>
          <p:cNvPr id="4" name="text"/>
          <p:cNvSpPr txBox="1"/>
          <p:nvPr/>
        </p:nvSpPr>
        <p:spPr>
          <a:xfrm>
            <a:off x="548640" y="1463040"/>
            <a:ext cx="6035040" cy="320040"/>
          </a:xfrm>
          <a:prstGeom prst="rect">
            <a:avLst/>
          </a:prstGeom>
          <a:noFill/>
          <a:ln/>
        </p:spPr>
        <p:txBody>
          <a:bodyPr wrap="square" lIns="0" tIns="0" rIns="0" bIns="0" rtlCol="0" anchor="t"/>
          <a:lstStyle/>
          <a:p>
            <a:pPr algn="l" indent="0" marL="0">
              <a:buNone/>
            </a:pPr>
            <a:r>
              <a:rPr lang="en-US" sz="1400" b="1" dirty="0">
                <a:solidFill>
                  <a:srgbClr val="C8102E"/>
                </a:solidFill>
              </a:rPr>
              <a:t>OSTA: organ-system-aware temporal attention (this project)</a:t>
            </a:r>
            <a:endParaRPr lang="en-US" sz="1400" dirty="0"/>
          </a:p>
        </p:txBody>
      </p:sp>
      <p:sp>
        <p:nvSpPr>
          <p:cNvPr id="5" name="box"/>
          <p:cNvSpPr/>
          <p:nvPr/>
        </p:nvSpPr>
        <p:spPr>
          <a:xfrm>
            <a:off x="548640" y="1874520"/>
            <a:ext cx="2103120" cy="365760"/>
          </a:xfrm>
          <a:prstGeom prst="rect">
            <a:avLst/>
          </a:prstGeom>
          <a:solidFill>
            <a:srgbClr val="F2F2F2"/>
          </a:solidFill>
          <a:ln w="12700">
            <a:solidFill>
              <a:srgbClr val="F2F2F2"/>
            </a:solidFill>
            <a:prstDash val="solid"/>
          </a:ln>
        </p:spPr>
      </p:sp>
      <p:sp>
        <p:nvSpPr>
          <p:cNvPr id="6" name="text"/>
          <p:cNvSpPr txBox="1"/>
          <p:nvPr/>
        </p:nvSpPr>
        <p:spPr>
          <a:xfrm>
            <a:off x="621792" y="1874520"/>
            <a:ext cx="2011680" cy="365760"/>
          </a:xfrm>
          <a:prstGeom prst="rect">
            <a:avLst/>
          </a:prstGeom>
          <a:noFill/>
          <a:ln/>
        </p:spPr>
        <p:txBody>
          <a:bodyPr wrap="square" lIns="0" tIns="0" rIns="0" bIns="0" rtlCol="0" anchor="ctr"/>
          <a:lstStyle/>
          <a:p>
            <a:pPr algn="l" indent="0" marL="0">
              <a:buNone/>
            </a:pPr>
            <a:r>
              <a:rPr lang="en-US" sz="1200" dirty="0">
                <a:solidFill>
                  <a:srgbClr val="1B1B1B"/>
                </a:solidFill>
              </a:rPr>
              <a:t>Respiratory</a:t>
            </a:r>
            <a:endParaRPr lang="en-US" sz="1200" dirty="0"/>
          </a:p>
        </p:txBody>
      </p:sp>
      <p:sp>
        <p:nvSpPr>
          <p:cNvPr id="7" name="arrow"/>
          <p:cNvSpPr/>
          <p:nvPr/>
        </p:nvSpPr>
        <p:spPr>
          <a:xfrm>
            <a:off x="2651760" y="2057400"/>
            <a:ext cx="274320" cy="914"/>
          </a:xfrm>
          <a:prstGeom prst="line">
            <a:avLst/>
          </a:prstGeom>
          <a:noFill/>
          <a:ln w="12700">
            <a:solidFill>
              <a:srgbClr val="1B1B1B"/>
            </a:solidFill>
            <a:prstDash val="solid"/>
            <a:tailEnd type="triangle"/>
          </a:ln>
        </p:spPr>
      </p:sp>
      <p:sp>
        <p:nvSpPr>
          <p:cNvPr id="8" name="box"/>
          <p:cNvSpPr/>
          <p:nvPr/>
        </p:nvSpPr>
        <p:spPr>
          <a:xfrm>
            <a:off x="2926080" y="1874520"/>
            <a:ext cx="1234440" cy="365760"/>
          </a:xfrm>
          <a:prstGeom prst="rect">
            <a:avLst/>
          </a:prstGeom>
          <a:solidFill>
            <a:srgbClr val="FFFFFF"/>
          </a:solidFill>
          <a:ln w="12700">
            <a:solidFill>
              <a:srgbClr val="C8102E"/>
            </a:solidFill>
            <a:prstDash val="solid"/>
          </a:ln>
        </p:spPr>
      </p:sp>
      <p:sp>
        <p:nvSpPr>
          <p:cNvPr id="9" name="text"/>
          <p:cNvSpPr txBox="1"/>
          <p:nvPr/>
        </p:nvSpPr>
        <p:spPr>
          <a:xfrm>
            <a:off x="2944368" y="1874520"/>
            <a:ext cx="1197864" cy="365760"/>
          </a:xfrm>
          <a:prstGeom prst="rect">
            <a:avLst/>
          </a:prstGeom>
          <a:noFill/>
          <a:ln/>
        </p:spPr>
        <p:txBody>
          <a:bodyPr wrap="square" lIns="0" tIns="0" rIns="0" bIns="0" rtlCol="0" anchor="ctr"/>
          <a:lstStyle/>
          <a:p>
            <a:pPr algn="ctr" indent="0" marL="0">
              <a:buNone/>
            </a:pPr>
            <a:r>
              <a:rPr lang="en-US" sz="1050" dirty="0">
                <a:solidFill>
                  <a:srgbClr val="C8102E"/>
                </a:solidFill>
              </a:rPr>
              <a:t>attention over time</a:t>
            </a:r>
            <a:endParaRPr lang="en-US" sz="1050" dirty="0"/>
          </a:p>
        </p:txBody>
      </p:sp>
      <p:sp>
        <p:nvSpPr>
          <p:cNvPr id="10" name="box"/>
          <p:cNvSpPr/>
          <p:nvPr/>
        </p:nvSpPr>
        <p:spPr>
          <a:xfrm>
            <a:off x="548640" y="2331720"/>
            <a:ext cx="2103120" cy="365760"/>
          </a:xfrm>
          <a:prstGeom prst="rect">
            <a:avLst/>
          </a:prstGeom>
          <a:solidFill>
            <a:srgbClr val="F2F2F2"/>
          </a:solidFill>
          <a:ln w="12700">
            <a:solidFill>
              <a:srgbClr val="F2F2F2"/>
            </a:solidFill>
            <a:prstDash val="solid"/>
          </a:ln>
        </p:spPr>
      </p:sp>
      <p:sp>
        <p:nvSpPr>
          <p:cNvPr id="11" name="text"/>
          <p:cNvSpPr txBox="1"/>
          <p:nvPr/>
        </p:nvSpPr>
        <p:spPr>
          <a:xfrm>
            <a:off x="621792" y="2331720"/>
            <a:ext cx="2011680" cy="365760"/>
          </a:xfrm>
          <a:prstGeom prst="rect">
            <a:avLst/>
          </a:prstGeom>
          <a:noFill/>
          <a:ln/>
        </p:spPr>
        <p:txBody>
          <a:bodyPr wrap="square" lIns="0" tIns="0" rIns="0" bIns="0" rtlCol="0" anchor="ctr"/>
          <a:lstStyle/>
          <a:p>
            <a:pPr algn="l" indent="0" marL="0">
              <a:buNone/>
            </a:pPr>
            <a:r>
              <a:rPr lang="en-US" sz="1200" dirty="0">
                <a:solidFill>
                  <a:srgbClr val="1B1B1B"/>
                </a:solidFill>
              </a:rPr>
              <a:t>Circulation</a:t>
            </a:r>
            <a:endParaRPr lang="en-US" sz="1200" dirty="0"/>
          </a:p>
        </p:txBody>
      </p:sp>
      <p:sp>
        <p:nvSpPr>
          <p:cNvPr id="12" name="arrow"/>
          <p:cNvSpPr/>
          <p:nvPr/>
        </p:nvSpPr>
        <p:spPr>
          <a:xfrm>
            <a:off x="2651760" y="2514600"/>
            <a:ext cx="274320" cy="914"/>
          </a:xfrm>
          <a:prstGeom prst="line">
            <a:avLst/>
          </a:prstGeom>
          <a:noFill/>
          <a:ln w="12700">
            <a:solidFill>
              <a:srgbClr val="1B1B1B"/>
            </a:solidFill>
            <a:prstDash val="solid"/>
            <a:tailEnd type="triangle"/>
          </a:ln>
        </p:spPr>
      </p:sp>
      <p:sp>
        <p:nvSpPr>
          <p:cNvPr id="13" name="box"/>
          <p:cNvSpPr/>
          <p:nvPr/>
        </p:nvSpPr>
        <p:spPr>
          <a:xfrm>
            <a:off x="2926080" y="2331720"/>
            <a:ext cx="1234440" cy="365760"/>
          </a:xfrm>
          <a:prstGeom prst="rect">
            <a:avLst/>
          </a:prstGeom>
          <a:solidFill>
            <a:srgbClr val="FFFFFF"/>
          </a:solidFill>
          <a:ln w="12700">
            <a:solidFill>
              <a:srgbClr val="C8102E"/>
            </a:solidFill>
            <a:prstDash val="solid"/>
          </a:ln>
        </p:spPr>
      </p:sp>
      <p:sp>
        <p:nvSpPr>
          <p:cNvPr id="14" name="text"/>
          <p:cNvSpPr txBox="1"/>
          <p:nvPr/>
        </p:nvSpPr>
        <p:spPr>
          <a:xfrm>
            <a:off x="2944368" y="2331720"/>
            <a:ext cx="1197864" cy="365760"/>
          </a:xfrm>
          <a:prstGeom prst="rect">
            <a:avLst/>
          </a:prstGeom>
          <a:noFill/>
          <a:ln/>
        </p:spPr>
        <p:txBody>
          <a:bodyPr wrap="square" lIns="0" tIns="0" rIns="0" bIns="0" rtlCol="0" anchor="ctr"/>
          <a:lstStyle/>
          <a:p>
            <a:pPr algn="ctr" indent="0" marL="0">
              <a:buNone/>
            </a:pPr>
            <a:r>
              <a:rPr lang="en-US" sz="1050" dirty="0">
                <a:solidFill>
                  <a:srgbClr val="C8102E"/>
                </a:solidFill>
              </a:rPr>
              <a:t>attention over time</a:t>
            </a:r>
            <a:endParaRPr lang="en-US" sz="1050" dirty="0"/>
          </a:p>
        </p:txBody>
      </p:sp>
      <p:sp>
        <p:nvSpPr>
          <p:cNvPr id="15" name="box"/>
          <p:cNvSpPr/>
          <p:nvPr/>
        </p:nvSpPr>
        <p:spPr>
          <a:xfrm>
            <a:off x="548640" y="2788920"/>
            <a:ext cx="2103120" cy="365760"/>
          </a:xfrm>
          <a:prstGeom prst="rect">
            <a:avLst/>
          </a:prstGeom>
          <a:solidFill>
            <a:srgbClr val="F2F2F2"/>
          </a:solidFill>
          <a:ln w="12700">
            <a:solidFill>
              <a:srgbClr val="F2F2F2"/>
            </a:solidFill>
            <a:prstDash val="solid"/>
          </a:ln>
        </p:spPr>
      </p:sp>
      <p:sp>
        <p:nvSpPr>
          <p:cNvPr id="16" name="text"/>
          <p:cNvSpPr txBox="1"/>
          <p:nvPr/>
        </p:nvSpPr>
        <p:spPr>
          <a:xfrm>
            <a:off x="621792" y="2788920"/>
            <a:ext cx="2011680" cy="365760"/>
          </a:xfrm>
          <a:prstGeom prst="rect">
            <a:avLst/>
          </a:prstGeom>
          <a:noFill/>
          <a:ln/>
        </p:spPr>
        <p:txBody>
          <a:bodyPr wrap="square" lIns="0" tIns="0" rIns="0" bIns="0" rtlCol="0" anchor="ctr"/>
          <a:lstStyle/>
          <a:p>
            <a:pPr algn="l" indent="0" marL="0">
              <a:buNone/>
            </a:pPr>
            <a:r>
              <a:rPr lang="en-US" sz="1200" dirty="0">
                <a:solidFill>
                  <a:srgbClr val="1B1B1B"/>
                </a:solidFill>
              </a:rPr>
              <a:t>Kidney</a:t>
            </a:r>
            <a:endParaRPr lang="en-US" sz="1200" dirty="0"/>
          </a:p>
        </p:txBody>
      </p:sp>
      <p:sp>
        <p:nvSpPr>
          <p:cNvPr id="17" name="arrow"/>
          <p:cNvSpPr/>
          <p:nvPr/>
        </p:nvSpPr>
        <p:spPr>
          <a:xfrm>
            <a:off x="2651760" y="2971800"/>
            <a:ext cx="274320" cy="914"/>
          </a:xfrm>
          <a:prstGeom prst="line">
            <a:avLst/>
          </a:prstGeom>
          <a:noFill/>
          <a:ln w="12700">
            <a:solidFill>
              <a:srgbClr val="1B1B1B"/>
            </a:solidFill>
            <a:prstDash val="solid"/>
            <a:tailEnd type="triangle"/>
          </a:ln>
        </p:spPr>
      </p:sp>
      <p:sp>
        <p:nvSpPr>
          <p:cNvPr id="18" name="box"/>
          <p:cNvSpPr/>
          <p:nvPr/>
        </p:nvSpPr>
        <p:spPr>
          <a:xfrm>
            <a:off x="2926080" y="2788920"/>
            <a:ext cx="1234440" cy="365760"/>
          </a:xfrm>
          <a:prstGeom prst="rect">
            <a:avLst/>
          </a:prstGeom>
          <a:solidFill>
            <a:srgbClr val="FFFFFF"/>
          </a:solidFill>
          <a:ln w="12700">
            <a:solidFill>
              <a:srgbClr val="C8102E"/>
            </a:solidFill>
            <a:prstDash val="solid"/>
          </a:ln>
        </p:spPr>
      </p:sp>
      <p:sp>
        <p:nvSpPr>
          <p:cNvPr id="19" name="text"/>
          <p:cNvSpPr txBox="1"/>
          <p:nvPr/>
        </p:nvSpPr>
        <p:spPr>
          <a:xfrm>
            <a:off x="2944368" y="2788920"/>
            <a:ext cx="1197864" cy="365760"/>
          </a:xfrm>
          <a:prstGeom prst="rect">
            <a:avLst/>
          </a:prstGeom>
          <a:noFill/>
          <a:ln/>
        </p:spPr>
        <p:txBody>
          <a:bodyPr wrap="square" lIns="0" tIns="0" rIns="0" bIns="0" rtlCol="0" anchor="ctr"/>
          <a:lstStyle/>
          <a:p>
            <a:pPr algn="ctr" indent="0" marL="0">
              <a:buNone/>
            </a:pPr>
            <a:r>
              <a:rPr lang="en-US" sz="1050" dirty="0">
                <a:solidFill>
                  <a:srgbClr val="C8102E"/>
                </a:solidFill>
              </a:rPr>
              <a:t>attention over time</a:t>
            </a:r>
            <a:endParaRPr lang="en-US" sz="1050" dirty="0"/>
          </a:p>
        </p:txBody>
      </p:sp>
      <p:sp>
        <p:nvSpPr>
          <p:cNvPr id="20" name="box"/>
          <p:cNvSpPr/>
          <p:nvPr/>
        </p:nvSpPr>
        <p:spPr>
          <a:xfrm>
            <a:off x="548640" y="3246120"/>
            <a:ext cx="2103120" cy="365760"/>
          </a:xfrm>
          <a:prstGeom prst="rect">
            <a:avLst/>
          </a:prstGeom>
          <a:solidFill>
            <a:srgbClr val="F2F2F2"/>
          </a:solidFill>
          <a:ln w="12700">
            <a:solidFill>
              <a:srgbClr val="F2F2F2"/>
            </a:solidFill>
            <a:prstDash val="solid"/>
          </a:ln>
        </p:spPr>
      </p:sp>
      <p:sp>
        <p:nvSpPr>
          <p:cNvPr id="21" name="text"/>
          <p:cNvSpPr txBox="1"/>
          <p:nvPr/>
        </p:nvSpPr>
        <p:spPr>
          <a:xfrm>
            <a:off x="621792" y="3246120"/>
            <a:ext cx="2011680" cy="365760"/>
          </a:xfrm>
          <a:prstGeom prst="rect">
            <a:avLst/>
          </a:prstGeom>
          <a:noFill/>
          <a:ln/>
        </p:spPr>
        <p:txBody>
          <a:bodyPr wrap="square" lIns="0" tIns="0" rIns="0" bIns="0" rtlCol="0" anchor="ctr"/>
          <a:lstStyle/>
          <a:p>
            <a:pPr algn="l" indent="0" marL="0">
              <a:buNone/>
            </a:pPr>
            <a:r>
              <a:rPr lang="en-US" sz="1200" dirty="0">
                <a:solidFill>
                  <a:srgbClr val="1B1B1B"/>
                </a:solidFill>
              </a:rPr>
              <a:t>Liver</a:t>
            </a:r>
            <a:endParaRPr lang="en-US" sz="1200" dirty="0"/>
          </a:p>
        </p:txBody>
      </p:sp>
      <p:sp>
        <p:nvSpPr>
          <p:cNvPr id="22" name="arrow"/>
          <p:cNvSpPr/>
          <p:nvPr/>
        </p:nvSpPr>
        <p:spPr>
          <a:xfrm>
            <a:off x="2651760" y="3429000"/>
            <a:ext cx="274320" cy="914"/>
          </a:xfrm>
          <a:prstGeom prst="line">
            <a:avLst/>
          </a:prstGeom>
          <a:noFill/>
          <a:ln w="12700">
            <a:solidFill>
              <a:srgbClr val="1B1B1B"/>
            </a:solidFill>
            <a:prstDash val="solid"/>
            <a:tailEnd type="triangle"/>
          </a:ln>
        </p:spPr>
      </p:sp>
      <p:sp>
        <p:nvSpPr>
          <p:cNvPr id="23" name="box"/>
          <p:cNvSpPr/>
          <p:nvPr/>
        </p:nvSpPr>
        <p:spPr>
          <a:xfrm>
            <a:off x="2926080" y="3246120"/>
            <a:ext cx="1234440" cy="365760"/>
          </a:xfrm>
          <a:prstGeom prst="rect">
            <a:avLst/>
          </a:prstGeom>
          <a:solidFill>
            <a:srgbClr val="FFFFFF"/>
          </a:solidFill>
          <a:ln w="12700">
            <a:solidFill>
              <a:srgbClr val="C8102E"/>
            </a:solidFill>
            <a:prstDash val="solid"/>
          </a:ln>
        </p:spPr>
      </p:sp>
      <p:sp>
        <p:nvSpPr>
          <p:cNvPr id="24" name="text"/>
          <p:cNvSpPr txBox="1"/>
          <p:nvPr/>
        </p:nvSpPr>
        <p:spPr>
          <a:xfrm>
            <a:off x="2944368" y="3246120"/>
            <a:ext cx="1197864" cy="365760"/>
          </a:xfrm>
          <a:prstGeom prst="rect">
            <a:avLst/>
          </a:prstGeom>
          <a:noFill/>
          <a:ln/>
        </p:spPr>
        <p:txBody>
          <a:bodyPr wrap="square" lIns="0" tIns="0" rIns="0" bIns="0" rtlCol="0" anchor="ctr"/>
          <a:lstStyle/>
          <a:p>
            <a:pPr algn="ctr" indent="0" marL="0">
              <a:buNone/>
            </a:pPr>
            <a:r>
              <a:rPr lang="en-US" sz="1050" dirty="0">
                <a:solidFill>
                  <a:srgbClr val="C8102E"/>
                </a:solidFill>
              </a:rPr>
              <a:t>attention over time</a:t>
            </a:r>
            <a:endParaRPr lang="en-US" sz="1050" dirty="0"/>
          </a:p>
        </p:txBody>
      </p:sp>
      <p:sp>
        <p:nvSpPr>
          <p:cNvPr id="25" name="box"/>
          <p:cNvSpPr/>
          <p:nvPr/>
        </p:nvSpPr>
        <p:spPr>
          <a:xfrm>
            <a:off x="548640" y="3703320"/>
            <a:ext cx="2103120" cy="365760"/>
          </a:xfrm>
          <a:prstGeom prst="rect">
            <a:avLst/>
          </a:prstGeom>
          <a:solidFill>
            <a:srgbClr val="F2F2F2"/>
          </a:solidFill>
          <a:ln w="12700">
            <a:solidFill>
              <a:srgbClr val="F2F2F2"/>
            </a:solidFill>
            <a:prstDash val="solid"/>
          </a:ln>
        </p:spPr>
      </p:sp>
      <p:sp>
        <p:nvSpPr>
          <p:cNvPr id="26" name="text"/>
          <p:cNvSpPr txBox="1"/>
          <p:nvPr/>
        </p:nvSpPr>
        <p:spPr>
          <a:xfrm>
            <a:off x="621792" y="3703320"/>
            <a:ext cx="2011680" cy="365760"/>
          </a:xfrm>
          <a:prstGeom prst="rect">
            <a:avLst/>
          </a:prstGeom>
          <a:noFill/>
          <a:ln/>
        </p:spPr>
        <p:txBody>
          <a:bodyPr wrap="square" lIns="0" tIns="0" rIns="0" bIns="0" rtlCol="0" anchor="ctr"/>
          <a:lstStyle/>
          <a:p>
            <a:pPr algn="l" indent="0" marL="0">
              <a:buNone/>
            </a:pPr>
            <a:r>
              <a:rPr lang="en-US" sz="1200" dirty="0">
                <a:solidFill>
                  <a:srgbClr val="1B1B1B"/>
                </a:solidFill>
              </a:rPr>
              <a:t>Clotting</a:t>
            </a:r>
            <a:endParaRPr lang="en-US" sz="1200" dirty="0"/>
          </a:p>
        </p:txBody>
      </p:sp>
      <p:sp>
        <p:nvSpPr>
          <p:cNvPr id="27" name="arrow"/>
          <p:cNvSpPr/>
          <p:nvPr/>
        </p:nvSpPr>
        <p:spPr>
          <a:xfrm>
            <a:off x="2651760" y="3886200"/>
            <a:ext cx="274320" cy="914"/>
          </a:xfrm>
          <a:prstGeom prst="line">
            <a:avLst/>
          </a:prstGeom>
          <a:noFill/>
          <a:ln w="12700">
            <a:solidFill>
              <a:srgbClr val="1B1B1B"/>
            </a:solidFill>
            <a:prstDash val="solid"/>
            <a:tailEnd type="triangle"/>
          </a:ln>
        </p:spPr>
      </p:sp>
      <p:sp>
        <p:nvSpPr>
          <p:cNvPr id="28" name="box"/>
          <p:cNvSpPr/>
          <p:nvPr/>
        </p:nvSpPr>
        <p:spPr>
          <a:xfrm>
            <a:off x="2926080" y="3703320"/>
            <a:ext cx="1234440" cy="365760"/>
          </a:xfrm>
          <a:prstGeom prst="rect">
            <a:avLst/>
          </a:prstGeom>
          <a:solidFill>
            <a:srgbClr val="FFFFFF"/>
          </a:solidFill>
          <a:ln w="12700">
            <a:solidFill>
              <a:srgbClr val="C8102E"/>
            </a:solidFill>
            <a:prstDash val="solid"/>
          </a:ln>
        </p:spPr>
      </p:sp>
      <p:sp>
        <p:nvSpPr>
          <p:cNvPr id="29" name="text"/>
          <p:cNvSpPr txBox="1"/>
          <p:nvPr/>
        </p:nvSpPr>
        <p:spPr>
          <a:xfrm>
            <a:off x="2944368" y="3703320"/>
            <a:ext cx="1197864" cy="365760"/>
          </a:xfrm>
          <a:prstGeom prst="rect">
            <a:avLst/>
          </a:prstGeom>
          <a:noFill/>
          <a:ln/>
        </p:spPr>
        <p:txBody>
          <a:bodyPr wrap="square" lIns="0" tIns="0" rIns="0" bIns="0" rtlCol="0" anchor="ctr"/>
          <a:lstStyle/>
          <a:p>
            <a:pPr algn="ctr" indent="0" marL="0">
              <a:buNone/>
            </a:pPr>
            <a:r>
              <a:rPr lang="en-US" sz="1050" dirty="0">
                <a:solidFill>
                  <a:srgbClr val="C8102E"/>
                </a:solidFill>
              </a:rPr>
              <a:t>attention over time</a:t>
            </a:r>
            <a:endParaRPr lang="en-US" sz="1050" dirty="0"/>
          </a:p>
        </p:txBody>
      </p:sp>
      <p:sp>
        <p:nvSpPr>
          <p:cNvPr id="30" name="box"/>
          <p:cNvSpPr/>
          <p:nvPr/>
        </p:nvSpPr>
        <p:spPr>
          <a:xfrm>
            <a:off x="548640" y="4160520"/>
            <a:ext cx="2103120" cy="365760"/>
          </a:xfrm>
          <a:prstGeom prst="rect">
            <a:avLst/>
          </a:prstGeom>
          <a:solidFill>
            <a:srgbClr val="F2F2F2"/>
          </a:solidFill>
          <a:ln w="12700">
            <a:solidFill>
              <a:srgbClr val="F2F2F2"/>
            </a:solidFill>
            <a:prstDash val="solid"/>
          </a:ln>
        </p:spPr>
      </p:sp>
      <p:sp>
        <p:nvSpPr>
          <p:cNvPr id="31" name="text"/>
          <p:cNvSpPr txBox="1"/>
          <p:nvPr/>
        </p:nvSpPr>
        <p:spPr>
          <a:xfrm>
            <a:off x="621792" y="4160520"/>
            <a:ext cx="2011680" cy="365760"/>
          </a:xfrm>
          <a:prstGeom prst="rect">
            <a:avLst/>
          </a:prstGeom>
          <a:noFill/>
          <a:ln/>
        </p:spPr>
        <p:txBody>
          <a:bodyPr wrap="square" lIns="0" tIns="0" rIns="0" bIns="0" rtlCol="0" anchor="ctr"/>
          <a:lstStyle/>
          <a:p>
            <a:pPr algn="l" indent="0" marL="0">
              <a:buNone/>
            </a:pPr>
            <a:r>
              <a:rPr lang="en-US" sz="1200" dirty="0">
                <a:solidFill>
                  <a:srgbClr val="1B1B1B"/>
                </a:solidFill>
              </a:rPr>
              <a:t>Brain</a:t>
            </a:r>
            <a:endParaRPr lang="en-US" sz="1200" dirty="0"/>
          </a:p>
        </p:txBody>
      </p:sp>
      <p:sp>
        <p:nvSpPr>
          <p:cNvPr id="32" name="arrow"/>
          <p:cNvSpPr/>
          <p:nvPr/>
        </p:nvSpPr>
        <p:spPr>
          <a:xfrm>
            <a:off x="2651760" y="4343400"/>
            <a:ext cx="274320" cy="914"/>
          </a:xfrm>
          <a:prstGeom prst="line">
            <a:avLst/>
          </a:prstGeom>
          <a:noFill/>
          <a:ln w="12700">
            <a:solidFill>
              <a:srgbClr val="1B1B1B"/>
            </a:solidFill>
            <a:prstDash val="solid"/>
            <a:tailEnd type="triangle"/>
          </a:ln>
        </p:spPr>
      </p:sp>
      <p:sp>
        <p:nvSpPr>
          <p:cNvPr id="33" name="box"/>
          <p:cNvSpPr/>
          <p:nvPr/>
        </p:nvSpPr>
        <p:spPr>
          <a:xfrm>
            <a:off x="2926080" y="4160520"/>
            <a:ext cx="1234440" cy="365760"/>
          </a:xfrm>
          <a:prstGeom prst="rect">
            <a:avLst/>
          </a:prstGeom>
          <a:solidFill>
            <a:srgbClr val="FFFFFF"/>
          </a:solidFill>
          <a:ln w="12700">
            <a:solidFill>
              <a:srgbClr val="C8102E"/>
            </a:solidFill>
            <a:prstDash val="solid"/>
          </a:ln>
        </p:spPr>
      </p:sp>
      <p:sp>
        <p:nvSpPr>
          <p:cNvPr id="34" name="text"/>
          <p:cNvSpPr txBox="1"/>
          <p:nvPr/>
        </p:nvSpPr>
        <p:spPr>
          <a:xfrm>
            <a:off x="2944368" y="4160520"/>
            <a:ext cx="1197864" cy="365760"/>
          </a:xfrm>
          <a:prstGeom prst="rect">
            <a:avLst/>
          </a:prstGeom>
          <a:noFill/>
          <a:ln/>
        </p:spPr>
        <p:txBody>
          <a:bodyPr wrap="square" lIns="0" tIns="0" rIns="0" bIns="0" rtlCol="0" anchor="ctr"/>
          <a:lstStyle/>
          <a:p>
            <a:pPr algn="ctr" indent="0" marL="0">
              <a:buNone/>
            </a:pPr>
            <a:r>
              <a:rPr lang="en-US" sz="1050" dirty="0">
                <a:solidFill>
                  <a:srgbClr val="C8102E"/>
                </a:solidFill>
              </a:rPr>
              <a:t>attention over time</a:t>
            </a:r>
            <a:endParaRPr lang="en-US" sz="1050" dirty="0"/>
          </a:p>
        </p:txBody>
      </p:sp>
      <p:sp>
        <p:nvSpPr>
          <p:cNvPr id="35" name="box"/>
          <p:cNvSpPr/>
          <p:nvPr/>
        </p:nvSpPr>
        <p:spPr>
          <a:xfrm>
            <a:off x="548640" y="4617720"/>
            <a:ext cx="2103120" cy="365760"/>
          </a:xfrm>
          <a:prstGeom prst="rect">
            <a:avLst/>
          </a:prstGeom>
          <a:solidFill>
            <a:srgbClr val="F2F2F2"/>
          </a:solidFill>
          <a:ln w="12700">
            <a:solidFill>
              <a:srgbClr val="F2F2F2"/>
            </a:solidFill>
            <a:prstDash val="solid"/>
          </a:ln>
        </p:spPr>
      </p:sp>
      <p:sp>
        <p:nvSpPr>
          <p:cNvPr id="36" name="text"/>
          <p:cNvSpPr txBox="1"/>
          <p:nvPr/>
        </p:nvSpPr>
        <p:spPr>
          <a:xfrm>
            <a:off x="621792" y="4617720"/>
            <a:ext cx="2011680" cy="365760"/>
          </a:xfrm>
          <a:prstGeom prst="rect">
            <a:avLst/>
          </a:prstGeom>
          <a:noFill/>
          <a:ln/>
        </p:spPr>
        <p:txBody>
          <a:bodyPr wrap="square" lIns="0" tIns="0" rIns="0" bIns="0" rtlCol="0" anchor="ctr"/>
          <a:lstStyle/>
          <a:p>
            <a:pPr algn="l" indent="0" marL="0">
              <a:buNone/>
            </a:pPr>
            <a:r>
              <a:rPr lang="en-US" sz="1200" dirty="0">
                <a:solidFill>
                  <a:srgbClr val="1B1B1B"/>
                </a:solidFill>
              </a:rPr>
              <a:t>Infection, treatment, context</a:t>
            </a:r>
            <a:endParaRPr lang="en-US" sz="1200" dirty="0"/>
          </a:p>
        </p:txBody>
      </p:sp>
      <p:sp>
        <p:nvSpPr>
          <p:cNvPr id="37" name="arrow"/>
          <p:cNvSpPr/>
          <p:nvPr/>
        </p:nvSpPr>
        <p:spPr>
          <a:xfrm>
            <a:off x="2651760" y="4800600"/>
            <a:ext cx="274320" cy="914"/>
          </a:xfrm>
          <a:prstGeom prst="line">
            <a:avLst/>
          </a:prstGeom>
          <a:noFill/>
          <a:ln w="12700">
            <a:solidFill>
              <a:srgbClr val="1B1B1B"/>
            </a:solidFill>
            <a:prstDash val="solid"/>
            <a:tailEnd type="triangle"/>
          </a:ln>
        </p:spPr>
      </p:sp>
      <p:sp>
        <p:nvSpPr>
          <p:cNvPr id="38" name="box"/>
          <p:cNvSpPr/>
          <p:nvPr/>
        </p:nvSpPr>
        <p:spPr>
          <a:xfrm>
            <a:off x="2926080" y="4617720"/>
            <a:ext cx="1234440" cy="365760"/>
          </a:xfrm>
          <a:prstGeom prst="rect">
            <a:avLst/>
          </a:prstGeom>
          <a:solidFill>
            <a:srgbClr val="FFFFFF"/>
          </a:solidFill>
          <a:ln w="12700">
            <a:solidFill>
              <a:srgbClr val="C8102E"/>
            </a:solidFill>
            <a:prstDash val="solid"/>
          </a:ln>
        </p:spPr>
      </p:sp>
      <p:sp>
        <p:nvSpPr>
          <p:cNvPr id="39" name="text"/>
          <p:cNvSpPr txBox="1"/>
          <p:nvPr/>
        </p:nvSpPr>
        <p:spPr>
          <a:xfrm>
            <a:off x="2944368" y="4617720"/>
            <a:ext cx="1197864" cy="365760"/>
          </a:xfrm>
          <a:prstGeom prst="rect">
            <a:avLst/>
          </a:prstGeom>
          <a:noFill/>
          <a:ln/>
        </p:spPr>
        <p:txBody>
          <a:bodyPr wrap="square" lIns="0" tIns="0" rIns="0" bIns="0" rtlCol="0" anchor="ctr"/>
          <a:lstStyle/>
          <a:p>
            <a:pPr algn="ctr" indent="0" marL="0">
              <a:buNone/>
            </a:pPr>
            <a:r>
              <a:rPr lang="en-US" sz="1050" dirty="0">
                <a:solidFill>
                  <a:srgbClr val="C8102E"/>
                </a:solidFill>
              </a:rPr>
              <a:t>attention over time</a:t>
            </a:r>
            <a:endParaRPr lang="en-US" sz="1050" dirty="0"/>
          </a:p>
        </p:txBody>
      </p:sp>
      <p:sp>
        <p:nvSpPr>
          <p:cNvPr id="40" name="arrow"/>
          <p:cNvSpPr/>
          <p:nvPr/>
        </p:nvSpPr>
        <p:spPr>
          <a:xfrm>
            <a:off x="4160520" y="3429000"/>
            <a:ext cx="274320" cy="914"/>
          </a:xfrm>
          <a:prstGeom prst="line">
            <a:avLst/>
          </a:prstGeom>
          <a:noFill/>
          <a:ln w="19050">
            <a:solidFill>
              <a:srgbClr val="1B1B1B"/>
            </a:solidFill>
            <a:prstDash val="solid"/>
            <a:tailEnd type="triangle"/>
          </a:ln>
        </p:spPr>
      </p:sp>
      <p:sp>
        <p:nvSpPr>
          <p:cNvPr id="41" name="box"/>
          <p:cNvSpPr/>
          <p:nvPr/>
        </p:nvSpPr>
        <p:spPr>
          <a:xfrm>
            <a:off x="4434840" y="2697480"/>
            <a:ext cx="1005840" cy="1463040"/>
          </a:xfrm>
          <a:prstGeom prst="rect">
            <a:avLst/>
          </a:prstGeom>
          <a:solidFill>
            <a:srgbClr val="C8102E"/>
          </a:solidFill>
          <a:ln w="12700">
            <a:solidFill>
              <a:srgbClr val="C8102E"/>
            </a:solidFill>
            <a:prstDash val="solid"/>
          </a:ln>
        </p:spPr>
      </p:sp>
      <p:sp>
        <p:nvSpPr>
          <p:cNvPr id="42" name="text"/>
          <p:cNvSpPr txBox="1"/>
          <p:nvPr/>
        </p:nvSpPr>
        <p:spPr>
          <a:xfrm>
            <a:off x="4462272" y="2697480"/>
            <a:ext cx="950976" cy="1463040"/>
          </a:xfrm>
          <a:prstGeom prst="rect">
            <a:avLst/>
          </a:prstGeom>
          <a:noFill/>
          <a:ln/>
        </p:spPr>
        <p:txBody>
          <a:bodyPr wrap="square" lIns="0" tIns="0" rIns="0" bIns="0" rtlCol="0" anchor="ctr"/>
          <a:lstStyle/>
          <a:p>
            <a:pPr algn="ctr" indent="0" marL="0">
              <a:buNone/>
            </a:pPr>
            <a:r>
              <a:rPr lang="en-US" sz="1200" b="1" dirty="0">
                <a:solidFill>
                  <a:srgbClr val="FFFFFF"/>
                </a:solidFill>
              </a:rPr>
              <a:t>cross-organ attention</a:t>
            </a:r>
            <a:endParaRPr lang="en-US" sz="1200" dirty="0"/>
          </a:p>
        </p:txBody>
      </p:sp>
      <p:sp>
        <p:nvSpPr>
          <p:cNvPr id="43" name="arrow"/>
          <p:cNvSpPr/>
          <p:nvPr/>
        </p:nvSpPr>
        <p:spPr>
          <a:xfrm>
            <a:off x="5440680" y="3429000"/>
            <a:ext cx="274320" cy="914"/>
          </a:xfrm>
          <a:prstGeom prst="line">
            <a:avLst/>
          </a:prstGeom>
          <a:noFill/>
          <a:ln w="19050">
            <a:solidFill>
              <a:srgbClr val="1B1B1B"/>
            </a:solidFill>
            <a:prstDash val="solid"/>
            <a:tailEnd type="triangle"/>
          </a:ln>
        </p:spPr>
      </p:sp>
      <p:sp>
        <p:nvSpPr>
          <p:cNvPr id="44" name="box"/>
          <p:cNvSpPr/>
          <p:nvPr/>
        </p:nvSpPr>
        <p:spPr>
          <a:xfrm>
            <a:off x="5715000" y="2697480"/>
            <a:ext cx="960120" cy="1463040"/>
          </a:xfrm>
          <a:prstGeom prst="rect">
            <a:avLst/>
          </a:prstGeom>
          <a:solidFill>
            <a:srgbClr val="1B1B1B"/>
          </a:solidFill>
          <a:ln w="12700">
            <a:solidFill>
              <a:srgbClr val="1B1B1B"/>
            </a:solidFill>
            <a:prstDash val="solid"/>
          </a:ln>
        </p:spPr>
      </p:sp>
      <p:sp>
        <p:nvSpPr>
          <p:cNvPr id="45" name="text"/>
          <p:cNvSpPr txBox="1"/>
          <p:nvPr/>
        </p:nvSpPr>
        <p:spPr>
          <a:xfrm>
            <a:off x="5742432" y="2697480"/>
            <a:ext cx="905256" cy="1463040"/>
          </a:xfrm>
          <a:prstGeom prst="rect">
            <a:avLst/>
          </a:prstGeom>
          <a:noFill/>
          <a:ln/>
        </p:spPr>
        <p:txBody>
          <a:bodyPr wrap="square" lIns="0" tIns="0" rIns="0" bIns="0" rtlCol="0" anchor="ctr"/>
          <a:lstStyle/>
          <a:p>
            <a:pPr algn="ctr" indent="0" marL="0">
              <a:buNone/>
            </a:pPr>
            <a:r>
              <a:rPr lang="en-US" sz="1200" b="1" dirty="0">
                <a:solidFill>
                  <a:srgbClr val="FFFFFF"/>
                </a:solidFill>
              </a:rPr>
              <a:t>sepsis risk + risk per organ</a:t>
            </a:r>
            <a:endParaRPr lang="en-US" sz="1200" dirty="0"/>
          </a:p>
        </p:txBody>
      </p:sp>
      <p:sp>
        <p:nvSpPr>
          <p:cNvPr id="46" name="text"/>
          <p:cNvSpPr txBox="1"/>
          <p:nvPr/>
        </p:nvSpPr>
        <p:spPr>
          <a:xfrm>
            <a:off x="548640" y="5120640"/>
            <a:ext cx="6035040" cy="685800"/>
          </a:xfrm>
          <a:prstGeom prst="rect">
            <a:avLst/>
          </a:prstGeom>
          <a:noFill/>
          <a:ln/>
        </p:spPr>
        <p:txBody>
          <a:bodyPr wrap="square" lIns="0" tIns="0" rIns="0" bIns="0" rtlCol="0" anchor="t"/>
          <a:lstStyle/>
          <a:p>
            <a:pPr algn="l" indent="0" marL="0">
              <a:buNone/>
            </a:pPr>
            <a:r>
              <a:rPr lang="en-US" sz="1250" dirty="0">
                <a:solidFill>
                  <a:srgbClr val="5E5E5E"/>
                </a:solidFill>
              </a:rPr>
              <a:t>Mirrors how an ICU team reasons: each organ, then how organs affect each other. Built on transformer attention [36].</a:t>
            </a:r>
            <a:endParaRPr lang="en-US" sz="1250" dirty="0"/>
          </a:p>
        </p:txBody>
      </p:sp>
      <p:sp>
        <p:nvSpPr>
          <p:cNvPr id="47" name="text"/>
          <p:cNvSpPr txBox="1"/>
          <p:nvPr/>
        </p:nvSpPr>
        <p:spPr>
          <a:xfrm>
            <a:off x="7132320" y="1463040"/>
            <a:ext cx="4510735" cy="320040"/>
          </a:xfrm>
          <a:prstGeom prst="rect">
            <a:avLst/>
          </a:prstGeom>
          <a:noFill/>
          <a:ln/>
        </p:spPr>
        <p:txBody>
          <a:bodyPr wrap="square" lIns="0" tIns="0" rIns="0" bIns="0" rtlCol="0" anchor="t"/>
          <a:lstStyle/>
          <a:p>
            <a:pPr algn="l" indent="0" marL="0">
              <a:buNone/>
            </a:pPr>
            <a:r>
              <a:rPr lang="en-US" sz="1400" b="1" dirty="0">
                <a:solidFill>
                  <a:srgbClr val="1B1B1B"/>
                </a:solidFill>
              </a:rPr>
              <a:t>Compared on identical hours, rules fixed in advance</a:t>
            </a:r>
            <a:endParaRPr lang="en-US" sz="1400" dirty="0"/>
          </a:p>
        </p:txBody>
      </p:sp>
      <p:sp>
        <p:nvSpPr>
          <p:cNvPr id="48" name="marker"/>
          <p:cNvSpPr/>
          <p:nvPr/>
        </p:nvSpPr>
        <p:spPr>
          <a:xfrm>
            <a:off x="7132320" y="1947672"/>
            <a:ext cx="128016" cy="128016"/>
          </a:xfrm>
          <a:prstGeom prst="rect">
            <a:avLst/>
          </a:prstGeom>
          <a:solidFill>
            <a:srgbClr val="C8102E"/>
          </a:solidFill>
          <a:ln w="12700">
            <a:solidFill>
              <a:srgbClr val="C8102E"/>
            </a:solidFill>
            <a:prstDash val="solid"/>
          </a:ln>
        </p:spPr>
      </p:sp>
      <p:sp>
        <p:nvSpPr>
          <p:cNvPr id="49" name="text"/>
          <p:cNvSpPr txBox="1"/>
          <p:nvPr/>
        </p:nvSpPr>
        <p:spPr>
          <a:xfrm>
            <a:off x="7406640" y="1874520"/>
            <a:ext cx="4236415" cy="274320"/>
          </a:xfrm>
          <a:prstGeom prst="rect">
            <a:avLst/>
          </a:prstGeom>
          <a:noFill/>
          <a:ln/>
        </p:spPr>
        <p:txBody>
          <a:bodyPr wrap="square" lIns="0" tIns="0" rIns="0" bIns="0" rtlCol="0" anchor="t"/>
          <a:lstStyle/>
          <a:p>
            <a:pPr algn="l" indent="0" marL="0">
              <a:buNone/>
            </a:pPr>
            <a:r>
              <a:rPr lang="en-US" sz="1350" b="1" dirty="0">
                <a:solidFill>
                  <a:srgbClr val="1B1B1B"/>
                </a:solidFill>
              </a:rPr>
              <a:t>OSTA without organ grouping</a:t>
            </a:r>
            <a:endParaRPr lang="en-US" sz="1350" dirty="0"/>
          </a:p>
        </p:txBody>
      </p:sp>
      <p:sp>
        <p:nvSpPr>
          <p:cNvPr id="50" name="text"/>
          <p:cNvSpPr txBox="1"/>
          <p:nvPr/>
        </p:nvSpPr>
        <p:spPr>
          <a:xfrm>
            <a:off x="7406640" y="2148840"/>
            <a:ext cx="4236415" cy="301752"/>
          </a:xfrm>
          <a:prstGeom prst="rect">
            <a:avLst/>
          </a:prstGeom>
          <a:noFill/>
          <a:ln/>
        </p:spPr>
        <p:txBody>
          <a:bodyPr wrap="square" lIns="0" tIns="0" rIns="0" bIns="0" rtlCol="0" anchor="t"/>
          <a:lstStyle/>
          <a:p>
            <a:pPr algn="l" indent="0" marL="0">
              <a:buNone/>
            </a:pPr>
            <a:r>
              <a:rPr lang="en-US" sz="1200" dirty="0">
                <a:solidFill>
                  <a:srgbClr val="5E5E5E"/>
                </a:solidFill>
              </a:rPr>
              <a:t>the ablation that decides whether organ structure stays</a:t>
            </a:r>
            <a:endParaRPr lang="en-US" sz="1200" dirty="0"/>
          </a:p>
        </p:txBody>
      </p:sp>
      <p:sp>
        <p:nvSpPr>
          <p:cNvPr id="51" name="marker"/>
          <p:cNvSpPr/>
          <p:nvPr/>
        </p:nvSpPr>
        <p:spPr>
          <a:xfrm>
            <a:off x="7132320" y="2551176"/>
            <a:ext cx="128016" cy="128016"/>
          </a:xfrm>
          <a:prstGeom prst="rect">
            <a:avLst/>
          </a:prstGeom>
          <a:solidFill>
            <a:srgbClr val="C8102E"/>
          </a:solidFill>
          <a:ln w="12700">
            <a:solidFill>
              <a:srgbClr val="C8102E"/>
            </a:solidFill>
            <a:prstDash val="solid"/>
          </a:ln>
        </p:spPr>
      </p:sp>
      <p:sp>
        <p:nvSpPr>
          <p:cNvPr id="52" name="text"/>
          <p:cNvSpPr txBox="1"/>
          <p:nvPr/>
        </p:nvSpPr>
        <p:spPr>
          <a:xfrm>
            <a:off x="7406640" y="2478024"/>
            <a:ext cx="4236415" cy="274320"/>
          </a:xfrm>
          <a:prstGeom prst="rect">
            <a:avLst/>
          </a:prstGeom>
          <a:noFill/>
          <a:ln/>
        </p:spPr>
        <p:txBody>
          <a:bodyPr wrap="square" lIns="0" tIns="0" rIns="0" bIns="0" rtlCol="0" anchor="t"/>
          <a:lstStyle/>
          <a:p>
            <a:pPr algn="l" indent="0" marL="0">
              <a:buNone/>
            </a:pPr>
            <a:r>
              <a:rPr lang="en-US" sz="1350" b="1" dirty="0">
                <a:solidFill>
                  <a:srgbClr val="1B1B1B"/>
                </a:solidFill>
              </a:rPr>
              <a:t>CNN-Transformer (earlier work)</a:t>
            </a:r>
            <a:endParaRPr lang="en-US" sz="1350" dirty="0"/>
          </a:p>
        </p:txBody>
      </p:sp>
      <p:sp>
        <p:nvSpPr>
          <p:cNvPr id="53" name="text"/>
          <p:cNvSpPr txBox="1"/>
          <p:nvPr/>
        </p:nvSpPr>
        <p:spPr>
          <a:xfrm>
            <a:off x="7406640" y="2752344"/>
            <a:ext cx="4236415" cy="301752"/>
          </a:xfrm>
          <a:prstGeom prst="rect">
            <a:avLst/>
          </a:prstGeom>
          <a:noFill/>
          <a:ln/>
        </p:spPr>
        <p:txBody>
          <a:bodyPr wrap="square" lIns="0" tIns="0" rIns="0" bIns="0" rtlCol="0" anchor="t"/>
          <a:lstStyle/>
          <a:p>
            <a:pPr algn="l" indent="0" marL="0">
              <a:buNone/>
            </a:pPr>
            <a:r>
              <a:rPr lang="en-US" sz="1200" dirty="0">
                <a:solidFill>
                  <a:srgbClr val="5E5E5E"/>
                </a:solidFill>
              </a:rPr>
              <a:t>local patterns over 1 to 12 h, then attention</a:t>
            </a:r>
            <a:endParaRPr lang="en-US" sz="1200" dirty="0"/>
          </a:p>
        </p:txBody>
      </p:sp>
      <p:sp>
        <p:nvSpPr>
          <p:cNvPr id="54" name="marker"/>
          <p:cNvSpPr/>
          <p:nvPr/>
        </p:nvSpPr>
        <p:spPr>
          <a:xfrm>
            <a:off x="7132320" y="3154680"/>
            <a:ext cx="128016" cy="128016"/>
          </a:xfrm>
          <a:prstGeom prst="rect">
            <a:avLst/>
          </a:prstGeom>
          <a:solidFill>
            <a:srgbClr val="C8102E"/>
          </a:solidFill>
          <a:ln w="12700">
            <a:solidFill>
              <a:srgbClr val="C8102E"/>
            </a:solidFill>
            <a:prstDash val="solid"/>
          </a:ln>
        </p:spPr>
      </p:sp>
      <p:sp>
        <p:nvSpPr>
          <p:cNvPr id="55" name="text"/>
          <p:cNvSpPr txBox="1"/>
          <p:nvPr/>
        </p:nvSpPr>
        <p:spPr>
          <a:xfrm>
            <a:off x="7406640" y="3081528"/>
            <a:ext cx="4236415" cy="274320"/>
          </a:xfrm>
          <a:prstGeom prst="rect">
            <a:avLst/>
          </a:prstGeom>
          <a:noFill/>
          <a:ln/>
        </p:spPr>
        <p:txBody>
          <a:bodyPr wrap="square" lIns="0" tIns="0" rIns="0" bIns="0" rtlCol="0" anchor="t"/>
          <a:lstStyle/>
          <a:p>
            <a:pPr algn="l" indent="0" marL="0">
              <a:buNone/>
            </a:pPr>
            <a:r>
              <a:rPr lang="en-US" sz="1350" b="1" dirty="0">
                <a:solidFill>
                  <a:srgbClr val="1B1B1B"/>
                </a:solidFill>
              </a:rPr>
              <a:t>GRU-D, temporal CNN</a:t>
            </a:r>
            <a:endParaRPr lang="en-US" sz="1350" dirty="0"/>
          </a:p>
        </p:txBody>
      </p:sp>
      <p:sp>
        <p:nvSpPr>
          <p:cNvPr id="56" name="text"/>
          <p:cNvSpPr txBox="1"/>
          <p:nvPr/>
        </p:nvSpPr>
        <p:spPr>
          <a:xfrm>
            <a:off x="7406640" y="3355848"/>
            <a:ext cx="4236415" cy="301752"/>
          </a:xfrm>
          <a:prstGeom prst="rect">
            <a:avLst/>
          </a:prstGeom>
          <a:noFill/>
          <a:ln/>
        </p:spPr>
        <p:txBody>
          <a:bodyPr wrap="square" lIns="0" tIns="0" rIns="0" bIns="0" rtlCol="0" anchor="t"/>
          <a:lstStyle/>
          <a:p>
            <a:pPr algn="l" indent="0" marL="0">
              <a:buNone/>
            </a:pPr>
            <a:r>
              <a:rPr lang="en-US" sz="1200" dirty="0">
                <a:solidFill>
                  <a:srgbClr val="5E5E5E"/>
                </a:solidFill>
              </a:rPr>
              <a:t>models built for irregular ICU data [37, 38]</a:t>
            </a:r>
            <a:endParaRPr lang="en-US" sz="1200" dirty="0"/>
          </a:p>
        </p:txBody>
      </p:sp>
      <p:sp>
        <p:nvSpPr>
          <p:cNvPr id="57" name="marker"/>
          <p:cNvSpPr/>
          <p:nvPr/>
        </p:nvSpPr>
        <p:spPr>
          <a:xfrm>
            <a:off x="7132320" y="3758184"/>
            <a:ext cx="128016" cy="128016"/>
          </a:xfrm>
          <a:prstGeom prst="rect">
            <a:avLst/>
          </a:prstGeom>
          <a:solidFill>
            <a:srgbClr val="C8102E"/>
          </a:solidFill>
          <a:ln w="12700">
            <a:solidFill>
              <a:srgbClr val="C8102E"/>
            </a:solidFill>
            <a:prstDash val="solid"/>
          </a:ln>
        </p:spPr>
      </p:sp>
      <p:sp>
        <p:nvSpPr>
          <p:cNvPr id="58" name="text"/>
          <p:cNvSpPr txBox="1"/>
          <p:nvPr/>
        </p:nvSpPr>
        <p:spPr>
          <a:xfrm>
            <a:off x="7406640" y="3685032"/>
            <a:ext cx="4236415" cy="274320"/>
          </a:xfrm>
          <a:prstGeom prst="rect">
            <a:avLst/>
          </a:prstGeom>
          <a:noFill/>
          <a:ln/>
        </p:spPr>
        <p:txBody>
          <a:bodyPr wrap="square" lIns="0" tIns="0" rIns="0" bIns="0" rtlCol="0" anchor="t"/>
          <a:lstStyle/>
          <a:p>
            <a:pPr algn="l" indent="0" marL="0">
              <a:buNone/>
            </a:pPr>
            <a:r>
              <a:rPr lang="en-US" sz="1350" b="1" dirty="0">
                <a:solidFill>
                  <a:srgbClr val="1B1B1B"/>
                </a:solidFill>
              </a:rPr>
              <a:t>Signatures + boosted trees</a:t>
            </a:r>
            <a:endParaRPr lang="en-US" sz="1350" dirty="0"/>
          </a:p>
        </p:txBody>
      </p:sp>
      <p:sp>
        <p:nvSpPr>
          <p:cNvPr id="59" name="text"/>
          <p:cNvSpPr txBox="1"/>
          <p:nvPr/>
        </p:nvSpPr>
        <p:spPr>
          <a:xfrm>
            <a:off x="7406640" y="3959352"/>
            <a:ext cx="4236415" cy="301752"/>
          </a:xfrm>
          <a:prstGeom prst="rect">
            <a:avLst/>
          </a:prstGeom>
          <a:noFill/>
          <a:ln/>
        </p:spPr>
        <p:txBody>
          <a:bodyPr wrap="square" lIns="0" tIns="0" rIns="0" bIns="0" rtlCol="0" anchor="t"/>
          <a:lstStyle/>
          <a:p>
            <a:pPr algn="l" indent="0" marL="0">
              <a:buNone/>
            </a:pPr>
            <a:r>
              <a:rPr lang="en-US" sz="1200" dirty="0">
                <a:solidFill>
                  <a:srgbClr val="5E5E5E"/>
                </a:solidFill>
              </a:rPr>
              <a:t>the PhysioNet 2019 winner's method [21]</a:t>
            </a:r>
            <a:endParaRPr lang="en-US" sz="1200" dirty="0"/>
          </a:p>
        </p:txBody>
      </p:sp>
      <p:sp>
        <p:nvSpPr>
          <p:cNvPr id="60" name="marker"/>
          <p:cNvSpPr/>
          <p:nvPr/>
        </p:nvSpPr>
        <p:spPr>
          <a:xfrm>
            <a:off x="7132320" y="4361688"/>
            <a:ext cx="128016" cy="128016"/>
          </a:xfrm>
          <a:prstGeom prst="rect">
            <a:avLst/>
          </a:prstGeom>
          <a:solidFill>
            <a:srgbClr val="C8102E"/>
          </a:solidFill>
          <a:ln w="12700">
            <a:solidFill>
              <a:srgbClr val="C8102E"/>
            </a:solidFill>
            <a:prstDash val="solid"/>
          </a:ln>
        </p:spPr>
      </p:sp>
      <p:sp>
        <p:nvSpPr>
          <p:cNvPr id="61" name="text"/>
          <p:cNvSpPr txBox="1"/>
          <p:nvPr/>
        </p:nvSpPr>
        <p:spPr>
          <a:xfrm>
            <a:off x="7406640" y="4288536"/>
            <a:ext cx="4236415" cy="274320"/>
          </a:xfrm>
          <a:prstGeom prst="rect">
            <a:avLst/>
          </a:prstGeom>
          <a:noFill/>
          <a:ln/>
        </p:spPr>
        <p:txBody>
          <a:bodyPr wrap="square" lIns="0" tIns="0" rIns="0" bIns="0" rtlCol="0" anchor="t"/>
          <a:lstStyle/>
          <a:p>
            <a:pPr algn="l" indent="0" marL="0">
              <a:buNone/>
            </a:pPr>
            <a:r>
              <a:rPr lang="en-US" sz="1350" b="1" dirty="0">
                <a:solidFill>
                  <a:srgbClr val="1B1B1B"/>
                </a:solidFill>
              </a:rPr>
              <a:t>Self-supervised pretraining</a:t>
            </a:r>
            <a:endParaRPr lang="en-US" sz="1350" dirty="0"/>
          </a:p>
        </p:txBody>
      </p:sp>
      <p:sp>
        <p:nvSpPr>
          <p:cNvPr id="62" name="text"/>
          <p:cNvSpPr txBox="1"/>
          <p:nvPr/>
        </p:nvSpPr>
        <p:spPr>
          <a:xfrm>
            <a:off x="7406640" y="4562856"/>
            <a:ext cx="4236415" cy="301752"/>
          </a:xfrm>
          <a:prstGeom prst="rect">
            <a:avLst/>
          </a:prstGeom>
          <a:noFill/>
          <a:ln/>
        </p:spPr>
        <p:txBody>
          <a:bodyPr wrap="square" lIns="0" tIns="0" rIns="0" bIns="0" rtlCol="0" anchor="t"/>
          <a:lstStyle/>
          <a:p>
            <a:pPr algn="l" indent="0" marL="0">
              <a:buNone/>
            </a:pPr>
            <a:r>
              <a:rPr lang="en-US" sz="1200" dirty="0">
                <a:solidFill>
                  <a:srgbClr val="5E5E5E"/>
                </a:solidFill>
              </a:rPr>
              <a:t>learn from unlabelled stays first [39]</a:t>
            </a:r>
            <a:endParaRPr lang="en-US" sz="1200" dirty="0"/>
          </a:p>
        </p:txBody>
      </p:sp>
      <p:sp>
        <p:nvSpPr>
          <p:cNvPr id="63" name="marker"/>
          <p:cNvSpPr/>
          <p:nvPr/>
        </p:nvSpPr>
        <p:spPr>
          <a:xfrm>
            <a:off x="7132320" y="4965192"/>
            <a:ext cx="128016" cy="128016"/>
          </a:xfrm>
          <a:prstGeom prst="rect">
            <a:avLst/>
          </a:prstGeom>
          <a:solidFill>
            <a:srgbClr val="C8102E"/>
          </a:solidFill>
          <a:ln w="12700">
            <a:solidFill>
              <a:srgbClr val="C8102E"/>
            </a:solidFill>
            <a:prstDash val="solid"/>
          </a:ln>
        </p:spPr>
      </p:sp>
      <p:sp>
        <p:nvSpPr>
          <p:cNvPr id="64" name="text"/>
          <p:cNvSpPr txBox="1"/>
          <p:nvPr/>
        </p:nvSpPr>
        <p:spPr>
          <a:xfrm>
            <a:off x="7406640" y="4892040"/>
            <a:ext cx="4236415" cy="274320"/>
          </a:xfrm>
          <a:prstGeom prst="rect">
            <a:avLst/>
          </a:prstGeom>
          <a:noFill/>
          <a:ln/>
        </p:spPr>
        <p:txBody>
          <a:bodyPr wrap="square" lIns="0" tIns="0" rIns="0" bIns="0" rtlCol="0" anchor="t"/>
          <a:lstStyle/>
          <a:p>
            <a:pPr algn="l" indent="0" marL="0">
              <a:buNone/>
            </a:pPr>
            <a:r>
              <a:rPr lang="en-US" sz="1350" b="1" dirty="0">
                <a:solidFill>
                  <a:srgbClr val="1B1B1B"/>
                </a:solidFill>
              </a:rPr>
              <a:t>Logistic regression, boosted trees</a:t>
            </a:r>
            <a:endParaRPr lang="en-US" sz="1350" dirty="0"/>
          </a:p>
        </p:txBody>
      </p:sp>
      <p:sp>
        <p:nvSpPr>
          <p:cNvPr id="65" name="text"/>
          <p:cNvSpPr txBox="1"/>
          <p:nvPr/>
        </p:nvSpPr>
        <p:spPr>
          <a:xfrm>
            <a:off x="7406640" y="5166360"/>
            <a:ext cx="4236415" cy="301752"/>
          </a:xfrm>
          <a:prstGeom prst="rect">
            <a:avLst/>
          </a:prstGeom>
          <a:noFill/>
          <a:ln/>
        </p:spPr>
        <p:txBody>
          <a:bodyPr wrap="square" lIns="0" tIns="0" rIns="0" bIns="0" rtlCol="0" anchor="t"/>
          <a:lstStyle/>
          <a:p>
            <a:pPr algn="l" indent="0" marL="0">
              <a:buNone/>
            </a:pPr>
            <a:r>
              <a:rPr lang="en-US" sz="1200" dirty="0">
                <a:solidFill>
                  <a:srgbClr val="5E5E5E"/>
                </a:solidFill>
              </a:rPr>
              <a:t>simple baselines</a:t>
            </a:r>
            <a:endParaRPr lang="en-US" sz="1200" dirty="0"/>
          </a:p>
        </p:txBody>
      </p:sp>
      <p:sp>
        <p:nvSpPr>
          <p:cNvPr id="66" name="text"/>
          <p:cNvSpPr txBox="1"/>
          <p:nvPr/>
        </p:nvSpPr>
        <p:spPr>
          <a:xfrm>
            <a:off x="7132320" y="5486400"/>
            <a:ext cx="4510735" cy="365760"/>
          </a:xfrm>
          <a:prstGeom prst="rect">
            <a:avLst/>
          </a:prstGeom>
          <a:noFill/>
          <a:ln/>
        </p:spPr>
        <p:txBody>
          <a:bodyPr wrap="square" lIns="0" tIns="0" rIns="0" bIns="0" rtlCol="0" anchor="t"/>
          <a:lstStyle/>
          <a:p>
            <a:pPr algn="l" indent="0" marL="0">
              <a:buNone/>
            </a:pPr>
            <a:r>
              <a:rPr lang="en-US" sz="1200" dirty="0">
                <a:solidFill>
                  <a:srgbClr val="5E5E5E"/>
                </a:solidFill>
              </a:rPr>
              <a:t>Training loss chosen by clinical utility, against plain and time-smoothed losses [40].</a:t>
            </a:r>
            <a:endParaRPr lang="en-US" sz="1200" dirty="0"/>
          </a:p>
        </p:txBody>
      </p:sp>
      <p:sp>
        <p:nvSpPr>
          <p:cNvPr id="67"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[21] Morrill et al., Crit Care Med 2020   [36] Vaswani et al., NeurIPS 2017   [37] Che et al., Sci Rep 2018   [38] Bai et al., arXiv 2018   [39] Yeche et al., ICML 2021   [40] Yeche et al., ICML 2023</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PRELIMINARY RESULTS</a:t>
            </a:r>
            <a:endParaRPr lang="en-US" sz="1100" dirty="0"/>
          </a:p>
        </p:txBody>
      </p:sp>
      <p:sp>
        <p:nvSpPr>
          <p:cNvPr id="3" name="preliminary tag"/>
          <p:cNvSpPr/>
          <p:nvPr/>
        </p:nvSpPr>
        <p:spPr>
          <a:xfrm>
            <a:off x="7436815" y="219456"/>
            <a:ext cx="4206240" cy="292608"/>
          </a:xfrm>
          <a:prstGeom prst="rect">
            <a:avLst/>
          </a:prstGeom>
          <a:solidFill>
            <a:srgbClr val="FBE3E6"/>
          </a:solidFill>
          <a:ln w="12700">
            <a:solidFill>
              <a:srgbClr val="FBE3E6"/>
            </a:solidFill>
            <a:prstDash val="solid"/>
          </a:ln>
        </p:spPr>
      </p:sp>
      <p:sp>
        <p:nvSpPr>
          <p:cNvPr id="4" name="text"/>
          <p:cNvSpPr txBox="1"/>
          <p:nvPr/>
        </p:nvSpPr>
        <p:spPr>
          <a:xfrm>
            <a:off x="7482535" y="219456"/>
            <a:ext cx="4114800" cy="292608"/>
          </a:xfrm>
          <a:prstGeom prst="rect">
            <a:avLst/>
          </a:prstGeom>
          <a:noFill/>
          <a:ln/>
        </p:spPr>
        <p:txBody>
          <a:bodyPr wrap="square" lIns="0" tIns="0" rIns="0" bIns="0" rtlCol="0" anchor="ctr"/>
          <a:lstStyle/>
          <a:p>
            <a:pPr algn="ctr" indent="0" marL="0">
              <a:buNone/>
            </a:pPr>
            <a:r>
              <a:rPr lang="en-US" sz="1000" b="1" dirty="0">
                <a:solidFill>
                  <a:srgbClr val="C8102E"/>
                </a:solidFill>
              </a:rPr>
              <a:t>PRELIMINARY  |  full results in the manuscript in preparation</a:t>
            </a:r>
            <a:endParaRPr lang="en-US" sz="1000" dirty="0"/>
          </a:p>
        </p:txBody>
      </p:sp>
      <p:sp>
        <p:nvSpPr>
          <p:cNvPr id="5"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Result 1: making two hospital systems speak the same language</a:t>
            </a:r>
            <a:endParaRPr lang="en-US" sz="2600" dirty="0"/>
          </a:p>
        </p:txBody>
      </p:sp>
      <p:sp>
        <p:nvSpPr>
          <p:cNvPr id="6" name="text"/>
          <p:cNvSpPr txBox="1"/>
          <p:nvPr/>
        </p:nvSpPr>
        <p:spPr>
          <a:xfrm>
            <a:off x="548640" y="1463040"/>
            <a:ext cx="5486400" cy="320040"/>
          </a:xfrm>
          <a:prstGeom prst="rect">
            <a:avLst/>
          </a:prstGeom>
          <a:noFill/>
          <a:ln/>
        </p:spPr>
        <p:txBody>
          <a:bodyPr wrap="square" lIns="0" tIns="0" rIns="0" bIns="0" rtlCol="0" anchor="t"/>
          <a:lstStyle/>
          <a:p>
            <a:pPr algn="l" indent="0" marL="0">
              <a:buNone/>
            </a:pPr>
            <a:r>
              <a:rPr lang="en-US" sz="1400" b="1" dirty="0">
                <a:solidFill>
                  <a:srgbClr val="C8102E"/>
                </a:solidFill>
              </a:rPr>
              <a:t>Example: body temperature</a:t>
            </a:r>
            <a:endParaRPr lang="en-US" sz="1400" dirty="0"/>
          </a:p>
        </p:txBody>
      </p:sp>
      <p:sp>
        <p:nvSpPr>
          <p:cNvPr id="7" name="box"/>
          <p:cNvSpPr/>
          <p:nvPr/>
        </p:nvSpPr>
        <p:spPr>
          <a:xfrm>
            <a:off x="548640" y="1828800"/>
            <a:ext cx="3246120" cy="1600200"/>
          </a:xfrm>
          <a:prstGeom prst="rect">
            <a:avLst/>
          </a:prstGeom>
          <a:solidFill>
            <a:srgbClr val="FFFFFF"/>
          </a:solidFill>
          <a:ln w="12700">
            <a:solidFill>
              <a:srgbClr val="BDBDBD"/>
            </a:solidFill>
            <a:prstDash val="solid"/>
          </a:ln>
        </p:spPr>
      </p:sp>
      <p:sp>
        <p:nvSpPr>
          <p:cNvPr id="8" name="rich text"/>
          <p:cNvSpPr txBox="1"/>
          <p:nvPr/>
        </p:nvSpPr>
        <p:spPr>
          <a:xfrm>
            <a:off x="685800" y="1901952"/>
            <a:ext cx="3017520" cy="1463040"/>
          </a:xfrm>
          <a:prstGeom prst="rect">
            <a:avLst/>
          </a:prstGeom>
          <a:noFill/>
          <a:ln/>
        </p:spPr>
        <p:txBody>
          <a:bodyPr wrap="square" lIns="0" tIns="0" rIns="0" bIns="0" rtlCol="0" anchor="t"/>
          <a:lstStyle/>
          <a:p>
            <a:pPr indent="0" marL="0">
              <a:spcAft>
                <a:spcPts val="400"/>
              </a:spcAft>
              <a:buNone/>
            </a:pPr>
            <a:r>
              <a:rPr lang="en-US" sz="1350" b="1" dirty="0">
                <a:solidFill>
                  <a:srgbClr val="1B1B1B"/>
                </a:solidFill>
              </a:rPr>
              <a:t>MIMIC-IV [30]</a:t>
            </a:r>
            <a:endParaRPr lang="en-US" sz="1350" dirty="0"/>
          </a:p>
          <a:p>
            <a:pPr indent="0" marL="0">
              <a:spcAft>
                <a:spcPts val="400"/>
              </a:spcAft>
              <a:buNone/>
            </a:pPr>
            <a:r>
              <a:rPr lang="en-US" sz="1200" dirty="0">
                <a:solidFill>
                  <a:srgbClr val="1B1B1B"/>
                </a:solidFill>
              </a:rPr>
              <a:t>item 223761: Temperature, Fahrenheit</a:t>
            </a:r>
            <a:endParaRPr lang="en-US" sz="1350" dirty="0"/>
          </a:p>
          <a:p>
            <a:pPr indent="0" marL="0">
              <a:spcAft>
                <a:spcPts val="400"/>
              </a:spcAft>
              <a:buNone/>
            </a:pPr>
            <a:r>
              <a:rPr lang="en-US" sz="1200" dirty="0">
                <a:solidFill>
                  <a:srgbClr val="1B1B1B"/>
                </a:solidFill>
              </a:rPr>
              <a:t>item 223762: Temperature, Celsius</a:t>
            </a:r>
            <a:endParaRPr lang="en-US" sz="1350" dirty="0"/>
          </a:p>
          <a:p>
            <a:pPr indent="0" marL="0">
              <a:spcAft>
                <a:spcPts val="400"/>
              </a:spcAft>
              <a:buNone/>
            </a:pPr>
            <a:r>
              <a:rPr lang="en-US" sz="1200" dirty="0">
                <a:solidFill>
                  <a:srgbClr val="5E5E5E"/>
                </a:solidFill>
              </a:rPr>
              <a:t>clock: date-shifted date and time</a:t>
            </a:r>
            <a:endParaRPr lang="en-US" sz="1350" dirty="0"/>
          </a:p>
        </p:txBody>
      </p:sp>
      <p:sp>
        <p:nvSpPr>
          <p:cNvPr id="9" name="box"/>
          <p:cNvSpPr/>
          <p:nvPr/>
        </p:nvSpPr>
        <p:spPr>
          <a:xfrm>
            <a:off x="548640" y="3611880"/>
            <a:ext cx="3246120" cy="1600200"/>
          </a:xfrm>
          <a:prstGeom prst="rect">
            <a:avLst/>
          </a:prstGeom>
          <a:solidFill>
            <a:srgbClr val="FFFFFF"/>
          </a:solidFill>
          <a:ln w="12700">
            <a:solidFill>
              <a:srgbClr val="BDBDBD"/>
            </a:solidFill>
            <a:prstDash val="solid"/>
          </a:ln>
        </p:spPr>
      </p:sp>
      <p:sp>
        <p:nvSpPr>
          <p:cNvPr id="10" name="rich text"/>
          <p:cNvSpPr txBox="1"/>
          <p:nvPr/>
        </p:nvSpPr>
        <p:spPr>
          <a:xfrm>
            <a:off x="685800" y="3685032"/>
            <a:ext cx="3017520" cy="1463040"/>
          </a:xfrm>
          <a:prstGeom prst="rect">
            <a:avLst/>
          </a:prstGeom>
          <a:noFill/>
          <a:ln/>
        </p:spPr>
        <p:txBody>
          <a:bodyPr wrap="square" lIns="0" tIns="0" rIns="0" bIns="0" rtlCol="0" anchor="t"/>
          <a:lstStyle/>
          <a:p>
            <a:pPr indent="0" marL="0">
              <a:spcAft>
                <a:spcPts val="400"/>
              </a:spcAft>
              <a:buNone/>
            </a:pPr>
            <a:r>
              <a:rPr lang="en-US" sz="1350" b="1" dirty="0">
                <a:solidFill>
                  <a:srgbClr val="1B1B1B"/>
                </a:solidFill>
              </a:rPr>
              <a:t>eICU [31]</a:t>
            </a:r>
            <a:endParaRPr lang="en-US" sz="1350" dirty="0"/>
          </a:p>
          <a:p>
            <a:pPr indent="0" marL="0">
              <a:spcAft>
                <a:spcPts val="400"/>
              </a:spcAft>
              <a:buNone/>
            </a:pPr>
            <a:r>
              <a:rPr lang="en-US" sz="1200" dirty="0">
                <a:solidFill>
                  <a:srgbClr val="1B1B1B"/>
                </a:solidFill>
              </a:rPr>
              <a:t>vital-sign table: temperature (often empty)</a:t>
            </a:r>
            <a:endParaRPr lang="en-US" sz="1350" dirty="0"/>
          </a:p>
          <a:p>
            <a:pPr indent="0" marL="0">
              <a:spcAft>
                <a:spcPts val="400"/>
              </a:spcAft>
              <a:buNone/>
            </a:pPr>
            <a:r>
              <a:rPr lang="en-US" sz="1200" dirty="0">
                <a:solidFill>
                  <a:srgbClr val="1B1B1B"/>
                </a:solidFill>
              </a:rPr>
              <a:t>nurse charting: "Temperature (C)", "(F)"</a:t>
            </a:r>
            <a:endParaRPr lang="en-US" sz="1350" dirty="0"/>
          </a:p>
          <a:p>
            <a:pPr indent="0" marL="0">
              <a:spcAft>
                <a:spcPts val="400"/>
              </a:spcAft>
              <a:buNone/>
            </a:pPr>
            <a:r>
              <a:rPr lang="en-US" sz="1200" dirty="0">
                <a:solidFill>
                  <a:srgbClr val="5E5E5E"/>
                </a:solidFill>
              </a:rPr>
              <a:t>clock: minutes from ICU admission</a:t>
            </a:r>
            <a:endParaRPr lang="en-US" sz="1350" dirty="0"/>
          </a:p>
        </p:txBody>
      </p:sp>
      <p:sp>
        <p:nvSpPr>
          <p:cNvPr id="11" name="arrow"/>
          <p:cNvSpPr/>
          <p:nvPr/>
        </p:nvSpPr>
        <p:spPr>
          <a:xfrm>
            <a:off x="3794760" y="2633472"/>
            <a:ext cx="502920" cy="704088"/>
          </a:xfrm>
          <a:prstGeom prst="line">
            <a:avLst/>
          </a:prstGeom>
          <a:noFill/>
          <a:ln w="25400">
            <a:solidFill>
              <a:srgbClr val="C8102E"/>
            </a:solidFill>
            <a:prstDash val="solid"/>
            <a:tailEnd type="triangle"/>
          </a:ln>
        </p:spPr>
      </p:sp>
      <p:sp>
        <p:nvSpPr>
          <p:cNvPr id="12" name="arrow"/>
          <p:cNvSpPr/>
          <p:nvPr/>
        </p:nvSpPr>
        <p:spPr>
          <a:xfrm flipV="1">
            <a:off x="3794760" y="3703320"/>
            <a:ext cx="502920" cy="713232"/>
          </a:xfrm>
          <a:prstGeom prst="line">
            <a:avLst/>
          </a:prstGeom>
          <a:noFill/>
          <a:ln w="25400">
            <a:solidFill>
              <a:srgbClr val="C8102E"/>
            </a:solidFill>
            <a:prstDash val="solid"/>
            <a:tailEnd type="triangle"/>
          </a:ln>
        </p:spPr>
      </p:sp>
      <p:sp>
        <p:nvSpPr>
          <p:cNvPr id="13" name="box"/>
          <p:cNvSpPr/>
          <p:nvPr/>
        </p:nvSpPr>
        <p:spPr>
          <a:xfrm>
            <a:off x="4297680" y="2743200"/>
            <a:ext cx="2057400" cy="1600200"/>
          </a:xfrm>
          <a:prstGeom prst="rect">
            <a:avLst/>
          </a:prstGeom>
          <a:solidFill>
            <a:srgbClr val="C8102E"/>
          </a:solidFill>
          <a:ln w="12700">
            <a:solidFill>
              <a:srgbClr val="C8102E"/>
            </a:solidFill>
            <a:prstDash val="solid"/>
          </a:ln>
        </p:spPr>
      </p:sp>
      <p:sp>
        <p:nvSpPr>
          <p:cNvPr id="14" name="rich text"/>
          <p:cNvSpPr txBox="1"/>
          <p:nvPr/>
        </p:nvSpPr>
        <p:spPr>
          <a:xfrm>
            <a:off x="4389120" y="2816352"/>
            <a:ext cx="1874520" cy="1463040"/>
          </a:xfrm>
          <a:prstGeom prst="rect">
            <a:avLst/>
          </a:prstGeom>
          <a:noFill/>
          <a:ln/>
        </p:spPr>
        <p:txBody>
          <a:bodyPr wrap="square" lIns="0" tIns="0" rIns="0" bIns="0" rtlCol="0" anchor="t"/>
          <a:lstStyle/>
          <a:p>
            <a:pPr indent="0" marL="0">
              <a:spcAft>
                <a:spcPts val="400"/>
              </a:spcAft>
              <a:buNone/>
            </a:pPr>
            <a:r>
              <a:rPr lang="en-US" sz="1400" b="1" dirty="0">
                <a:solidFill>
                  <a:srgbClr val="FFFFFF"/>
                </a:solidFill>
              </a:rPr>
              <a:t>One concept</a:t>
            </a:r>
            <a:endParaRPr lang="en-US" sz="1400" dirty="0"/>
          </a:p>
          <a:p>
            <a:pPr indent="0" marL="0">
              <a:spcAft>
                <a:spcPts val="400"/>
              </a:spcAft>
              <a:buNone/>
            </a:pPr>
            <a:r>
              <a:rPr lang="en-US" sz="1200" dirty="0">
                <a:solidFill>
                  <a:srgbClr val="FFFFFF"/>
                </a:solidFill>
              </a:rPr>
              <a:t>Temperature in °C, hours from ICU admission, usable from the hour it was charted</a:t>
            </a:r>
            <a:endParaRPr lang="en-US" sz="1400" dirty="0"/>
          </a:p>
        </p:txBody>
      </p:sp>
      <p:sp>
        <p:nvSpPr>
          <p:cNvPr id="15" name="text"/>
          <p:cNvSpPr txBox="1"/>
          <p:nvPr/>
        </p:nvSpPr>
        <p:spPr>
          <a:xfrm>
            <a:off x="548640" y="5349240"/>
            <a:ext cx="5852160" cy="457200"/>
          </a:xfrm>
          <a:prstGeom prst="rect">
            <a:avLst/>
          </a:prstGeom>
          <a:noFill/>
          <a:ln/>
        </p:spPr>
        <p:txBody>
          <a:bodyPr wrap="square" lIns="0" tIns="0" rIns="0" bIns="0" rtlCol="0" anchor="t"/>
          <a:lstStyle/>
          <a:p>
            <a:pPr algn="l" indent="0" marL="0">
              <a:buNone/>
            </a:pPr>
            <a:r>
              <a:rPr lang="en-US" sz="1250" dirty="0">
                <a:solidFill>
                  <a:srgbClr val="5E5E5E"/>
                </a:solidFill>
              </a:rPr>
              <a:t>Repeated for 76 measurement channels plus drugs, devices, fluids and diagnoses [41].</a:t>
            </a:r>
            <a:endParaRPr lang="en-US" sz="1250" dirty="0"/>
          </a:p>
        </p:txBody>
      </p:sp>
      <p:graphicFrame>
        <p:nvGraphicFramePr>
          <p:cNvPr id="16" name="coverage chart" descr=""/>
          <p:cNvGraphicFramePr/>
          <p:nvPr/>
        </p:nvGraphicFramePr>
        <p:xfrm>
          <a:off x="6629400" y="1417320"/>
          <a:ext cx="5013655" cy="4389120"/>
        </p:xfrm>
        <a:graphic xmlns:a="http://schemas.openxmlformats.org/drawingml/2006/main">
          <a:graphicData uri="http://schemas.openxmlformats.org/drawingml/2006/chart">
            <c:chart xmlns:c="http://schemas.openxmlformats.org/drawingml/2006/chart" r:id="rId1"/>
          </a:graphicData>
        </a:graphic>
      </p:graphicFrame>
      <p:sp>
        <p:nvSpPr>
          <p:cNvPr id="17"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[30] Johnson et al., Sci Data 2023   [31] Pollard et al., Sci Data 2018   [41] This work, preliminary, unpublished</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PRELIMINARY RESULTS</a:t>
            </a:r>
            <a:endParaRPr lang="en-US" sz="1100" dirty="0"/>
          </a:p>
        </p:txBody>
      </p:sp>
      <p:sp>
        <p:nvSpPr>
          <p:cNvPr id="3" name="preliminary tag"/>
          <p:cNvSpPr/>
          <p:nvPr/>
        </p:nvSpPr>
        <p:spPr>
          <a:xfrm>
            <a:off x="7436815" y="219456"/>
            <a:ext cx="4206240" cy="292608"/>
          </a:xfrm>
          <a:prstGeom prst="rect">
            <a:avLst/>
          </a:prstGeom>
          <a:solidFill>
            <a:srgbClr val="FBE3E6"/>
          </a:solidFill>
          <a:ln w="12700">
            <a:solidFill>
              <a:srgbClr val="FBE3E6"/>
            </a:solidFill>
            <a:prstDash val="solid"/>
          </a:ln>
        </p:spPr>
      </p:sp>
      <p:sp>
        <p:nvSpPr>
          <p:cNvPr id="4" name="text"/>
          <p:cNvSpPr txBox="1"/>
          <p:nvPr/>
        </p:nvSpPr>
        <p:spPr>
          <a:xfrm>
            <a:off x="7482535" y="219456"/>
            <a:ext cx="4114800" cy="292608"/>
          </a:xfrm>
          <a:prstGeom prst="rect">
            <a:avLst/>
          </a:prstGeom>
          <a:noFill/>
          <a:ln/>
        </p:spPr>
        <p:txBody>
          <a:bodyPr wrap="square" lIns="0" tIns="0" rIns="0" bIns="0" rtlCol="0" anchor="ctr"/>
          <a:lstStyle/>
          <a:p>
            <a:pPr algn="ctr" indent="0" marL="0">
              <a:buNone/>
            </a:pPr>
            <a:r>
              <a:rPr lang="en-US" sz="1000" b="1" dirty="0">
                <a:solidFill>
                  <a:srgbClr val="C8102E"/>
                </a:solidFill>
              </a:rPr>
              <a:t>PRELIMINARY  |  full results in the manuscript in preparation</a:t>
            </a:r>
            <a:endParaRPr lang="en-US" sz="1000" dirty="0"/>
          </a:p>
        </p:txBody>
      </p:sp>
      <p:sp>
        <p:nvSpPr>
          <p:cNvPr id="5"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Result 2: removing information from the future is the biggest single correction</a:t>
            </a:r>
            <a:endParaRPr lang="en-US" sz="2600" dirty="0"/>
          </a:p>
        </p:txBody>
      </p:sp>
      <p:sp>
        <p:nvSpPr>
          <p:cNvPr id="6" name="box"/>
          <p:cNvSpPr/>
          <p:nvPr/>
        </p:nvSpPr>
        <p:spPr>
          <a:xfrm>
            <a:off x="548640" y="1508760"/>
            <a:ext cx="5212080" cy="4297680"/>
          </a:xfrm>
          <a:prstGeom prst="rect">
            <a:avLst/>
          </a:prstGeom>
          <a:solidFill>
            <a:srgbClr val="FFFFFF"/>
          </a:solidFill>
          <a:ln w="12700">
            <a:solidFill>
              <a:srgbClr val="BDBDBD"/>
            </a:solidFill>
            <a:prstDash val="solid"/>
          </a:ln>
        </p:spPr>
      </p:sp>
      <p:sp>
        <p:nvSpPr>
          <p:cNvPr id="7" name="icon tile"/>
          <p:cNvSpPr/>
          <p:nvPr/>
        </p:nvSpPr>
        <p:spPr>
          <a:xfrm>
            <a:off x="731520" y="1691640"/>
            <a:ext cx="502920" cy="502920"/>
          </a:xfrm>
          <a:prstGeom prst="rect">
            <a:avLst/>
          </a:prstGeom>
          <a:solidFill>
            <a:srgbClr val="C8102E"/>
          </a:solidFill>
          <a:ln w="12700">
            <a:solidFill>
              <a:srgbClr val="C8102E"/>
            </a:solidFill>
            <a:prstDash val="solid"/>
          </a:ln>
        </p:spPr>
      </p:sp>
      <p:pic>
        <p:nvPicPr>
          <p:cNvPr id="8" name="icon" descr="preencoded.png">    </p:cNvPr>
          <p:cNvPicPr>
            <a:picLocks noChangeAspect="1"/>
          </p:cNvPicPr>
          <p:nvPr/>
        </p:nvPicPr>
        <p:blipFill>
          <a:blip r:embed="rId1"/>
          <a:stretch>
            <a:fillRect/>
          </a:stretch>
        </p:blipFill>
        <p:spPr>
          <a:xfrm>
            <a:off x="832104" y="1792224"/>
            <a:ext cx="301752" cy="301752"/>
          </a:xfrm>
          <a:prstGeom prst="rect">
            <a:avLst/>
          </a:prstGeom>
        </p:spPr>
      </p:pic>
      <p:sp>
        <p:nvSpPr>
          <p:cNvPr id="9" name="text"/>
          <p:cNvSpPr txBox="1"/>
          <p:nvPr/>
        </p:nvSpPr>
        <p:spPr>
          <a:xfrm>
            <a:off x="1417320" y="1691640"/>
            <a:ext cx="4206240" cy="502920"/>
          </a:xfrm>
          <a:prstGeom prst="rect">
            <a:avLst/>
          </a:prstGeom>
          <a:noFill/>
          <a:ln/>
        </p:spPr>
        <p:txBody>
          <a:bodyPr wrap="square" lIns="0" tIns="0" rIns="0" bIns="0" rtlCol="0" anchor="ctr"/>
          <a:lstStyle/>
          <a:p>
            <a:pPr algn="l" indent="0" marL="0">
              <a:buNone/>
            </a:pPr>
            <a:r>
              <a:rPr lang="en-US" sz="1500" b="1" dirty="0">
                <a:solidFill>
                  <a:srgbClr val="1B1B1B"/>
                </a:solidFill>
              </a:rPr>
              <a:t>An audit of our own earlier pipeline found</a:t>
            </a:r>
            <a:endParaRPr lang="en-US" sz="1500" dirty="0"/>
          </a:p>
        </p:txBody>
      </p:sp>
      <p:sp>
        <p:nvSpPr>
          <p:cNvPr id="10" name="list"/>
          <p:cNvSpPr txBox="1"/>
          <p:nvPr/>
        </p:nvSpPr>
        <p:spPr>
          <a:xfrm>
            <a:off x="777240" y="2377440"/>
            <a:ext cx="4754880" cy="265176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rgbClr val="1B1B1B"/>
                </a:solidFill>
              </a:rPr>
              <a:t>Hours after sepsis onset labelled positive: the model learnt sepsis that had already started.</a:t>
            </a:r>
            <a:endParaRPr lang="en-US" sz="1400" dirty="0"/>
          </a:p>
          <a:p>
            <a:pPr marL="203200" indent="-203200">
              <a:spcAft>
                <a:spcPts val="800"/>
              </a:spcAft>
              <a:buSzPct val="100000"/>
              <a:buChar char="•"/>
            </a:pPr>
            <a:r>
              <a:rPr lang="en-US" sz="1400" dirty="0">
                <a:solidFill>
                  <a:srgbClr val="1B1B1B"/>
                </a:solidFill>
              </a:rPr>
              <a:t>Values used from when they were measured, not when they became available.</a:t>
            </a:r>
            <a:endParaRPr lang="en-US" sz="1400" dirty="0"/>
          </a:p>
          <a:p>
            <a:pPr marL="203200" indent="-203200">
              <a:spcAft>
                <a:spcPts val="800"/>
              </a:spcAft>
              <a:buSzPct val="100000"/>
              <a:buChar char="•"/>
            </a:pPr>
            <a:r>
              <a:rPr lang="en-US" sz="1400" dirty="0">
                <a:solidFill>
                  <a:srgbClr val="1B1B1B"/>
                </a:solidFill>
              </a:rPr>
              <a:t>Treatments that define the label among the inputs.</a:t>
            </a:r>
            <a:endParaRPr lang="en-US" sz="1400" dirty="0"/>
          </a:p>
          <a:p>
            <a:pPr marL="203200" indent="-203200">
              <a:spcAft>
                <a:spcPts val="800"/>
              </a:spcAft>
              <a:buSzPct val="100000"/>
              <a:buChar char="•"/>
            </a:pPr>
            <a:r>
              <a:rPr lang="en-US" sz="1400" dirty="0">
                <a:solidFill>
                  <a:srgbClr val="1B1B1B"/>
                </a:solidFill>
              </a:rPr>
              <a:t>Those models were retired and are not reported.</a:t>
            </a:r>
            <a:endParaRPr lang="en-US" sz="1400" dirty="0"/>
          </a:p>
        </p:txBody>
      </p:sp>
      <p:sp>
        <p:nvSpPr>
          <p:cNvPr id="11" name="text"/>
          <p:cNvSpPr txBox="1"/>
          <p:nvPr/>
        </p:nvSpPr>
        <p:spPr>
          <a:xfrm>
            <a:off x="777240" y="5120640"/>
            <a:ext cx="4754880" cy="548640"/>
          </a:xfrm>
          <a:prstGeom prst="rect">
            <a:avLst/>
          </a:prstGeom>
          <a:noFill/>
          <a:ln/>
        </p:spPr>
        <p:txBody>
          <a:bodyPr wrap="square" lIns="0" tIns="0" rIns="0" bIns="0" rtlCol="0" anchor="t"/>
          <a:lstStyle/>
          <a:p>
            <a:pPr algn="l" indent="0" marL="0">
              <a:buNone/>
            </a:pPr>
            <a:r>
              <a:rPr lang="en-US" sz="1300" i="1" dirty="0">
                <a:solidFill>
                  <a:srgbClr val="5E5E5E"/>
                </a:solidFill>
              </a:rPr>
              <a:t>Leakage of this kind is documented across science [18].</a:t>
            </a:r>
            <a:endParaRPr lang="en-US" sz="1300" dirty="0"/>
          </a:p>
        </p:txBody>
      </p:sp>
      <p:sp>
        <p:nvSpPr>
          <p:cNvPr id="12" name="text"/>
          <p:cNvSpPr txBox="1"/>
          <p:nvPr/>
        </p:nvSpPr>
        <p:spPr>
          <a:xfrm>
            <a:off x="5989320" y="1508760"/>
            <a:ext cx="5653735" cy="548640"/>
          </a:xfrm>
          <a:prstGeom prst="rect">
            <a:avLst/>
          </a:prstGeom>
          <a:noFill/>
          <a:ln/>
        </p:spPr>
        <p:txBody>
          <a:bodyPr wrap="square" lIns="0" tIns="0" rIns="0" bIns="0" rtlCol="0" anchor="t"/>
          <a:lstStyle/>
          <a:p>
            <a:pPr algn="l" indent="0" marL="0">
              <a:buNone/>
            </a:pPr>
            <a:r>
              <a:rPr lang="en-US" sz="1400" b="1" dirty="0">
                <a:solidFill>
                  <a:srgbClr val="C8102E"/>
                </a:solidFill>
              </a:rPr>
              <a:t>Rebuilt causally: OSTA on the PhysioNet 2019 test set, 3-seed ensemble [15, 41]</a:t>
            </a:r>
            <a:endParaRPr lang="en-US" sz="1400" dirty="0"/>
          </a:p>
        </p:txBody>
      </p:sp>
      <p:sp>
        <p:nvSpPr>
          <p:cNvPr id="13" name="box"/>
          <p:cNvSpPr/>
          <p:nvPr/>
        </p:nvSpPr>
        <p:spPr>
          <a:xfrm>
            <a:off x="5989320" y="2148840"/>
            <a:ext cx="1783080" cy="1463040"/>
          </a:xfrm>
          <a:prstGeom prst="rect">
            <a:avLst/>
          </a:prstGeom>
          <a:solidFill>
            <a:srgbClr val="F2F2F2"/>
          </a:solidFill>
          <a:ln w="12700">
            <a:solidFill>
              <a:srgbClr val="F2F2F2"/>
            </a:solidFill>
            <a:prstDash val="solid"/>
          </a:ln>
        </p:spPr>
      </p:sp>
      <p:sp>
        <p:nvSpPr>
          <p:cNvPr id="14" name="text"/>
          <p:cNvSpPr txBox="1"/>
          <p:nvPr/>
        </p:nvSpPr>
        <p:spPr>
          <a:xfrm>
            <a:off x="6126480" y="2240280"/>
            <a:ext cx="1554480" cy="685800"/>
          </a:xfrm>
          <a:prstGeom prst="rect">
            <a:avLst/>
          </a:prstGeom>
          <a:noFill/>
          <a:ln/>
        </p:spPr>
        <p:txBody>
          <a:bodyPr wrap="square" lIns="0" tIns="0" rIns="0" bIns="0" rtlCol="0" anchor="t"/>
          <a:lstStyle/>
          <a:p>
            <a:pPr algn="l" indent="0" marL="0">
              <a:buNone/>
            </a:pPr>
            <a:r>
              <a:rPr lang="en-US" sz="3600" b="1" dirty="0">
                <a:solidFill>
                  <a:srgbClr val="C8102E"/>
                </a:solidFill>
              </a:rPr>
              <a:t>0.81</a:t>
            </a:r>
            <a:endParaRPr lang="en-US" sz="3600" dirty="0"/>
          </a:p>
        </p:txBody>
      </p:sp>
      <p:sp>
        <p:nvSpPr>
          <p:cNvPr id="15" name="text"/>
          <p:cNvSpPr txBox="1"/>
          <p:nvPr/>
        </p:nvSpPr>
        <p:spPr>
          <a:xfrm>
            <a:off x="6126480" y="2926080"/>
            <a:ext cx="1554480" cy="640080"/>
          </a:xfrm>
          <a:prstGeom prst="rect">
            <a:avLst/>
          </a:prstGeom>
          <a:noFill/>
          <a:ln/>
        </p:spPr>
        <p:txBody>
          <a:bodyPr wrap="square" lIns="0" tIns="0" rIns="0" bIns="0" rtlCol="0" anchor="t"/>
          <a:lstStyle/>
          <a:p>
            <a:pPr algn="l" indent="0" marL="0">
              <a:buNone/>
            </a:pPr>
            <a:r>
              <a:rPr lang="en-US" sz="1200" dirty="0">
                <a:solidFill>
                  <a:srgbClr val="1B1B1B"/>
                </a:solidFill>
              </a:rPr>
              <a:t>patient-level AUROC</a:t>
            </a:r>
            <a:endParaRPr lang="en-US" sz="1200" dirty="0"/>
          </a:p>
        </p:txBody>
      </p:sp>
      <p:sp>
        <p:nvSpPr>
          <p:cNvPr id="16" name="box"/>
          <p:cNvSpPr/>
          <p:nvPr/>
        </p:nvSpPr>
        <p:spPr>
          <a:xfrm>
            <a:off x="7891272" y="2148840"/>
            <a:ext cx="1783080" cy="1463040"/>
          </a:xfrm>
          <a:prstGeom prst="rect">
            <a:avLst/>
          </a:prstGeom>
          <a:solidFill>
            <a:srgbClr val="F2F2F2"/>
          </a:solidFill>
          <a:ln w="12700">
            <a:solidFill>
              <a:srgbClr val="F2F2F2"/>
            </a:solidFill>
            <a:prstDash val="solid"/>
          </a:ln>
        </p:spPr>
      </p:sp>
      <p:sp>
        <p:nvSpPr>
          <p:cNvPr id="17" name="text"/>
          <p:cNvSpPr txBox="1"/>
          <p:nvPr/>
        </p:nvSpPr>
        <p:spPr>
          <a:xfrm>
            <a:off x="8028432" y="2240280"/>
            <a:ext cx="1554480" cy="685800"/>
          </a:xfrm>
          <a:prstGeom prst="rect">
            <a:avLst/>
          </a:prstGeom>
          <a:noFill/>
          <a:ln/>
        </p:spPr>
        <p:txBody>
          <a:bodyPr wrap="square" lIns="0" tIns="0" rIns="0" bIns="0" rtlCol="0" anchor="t"/>
          <a:lstStyle/>
          <a:p>
            <a:pPr algn="l" indent="0" marL="0">
              <a:buNone/>
            </a:pPr>
            <a:r>
              <a:rPr lang="en-US" sz="3600" b="1" dirty="0">
                <a:solidFill>
                  <a:srgbClr val="C8102E"/>
                </a:solidFill>
              </a:rPr>
              <a:t>0.80</a:t>
            </a:r>
            <a:endParaRPr lang="en-US" sz="3600" dirty="0"/>
          </a:p>
        </p:txBody>
      </p:sp>
      <p:sp>
        <p:nvSpPr>
          <p:cNvPr id="18" name="text"/>
          <p:cNvSpPr txBox="1"/>
          <p:nvPr/>
        </p:nvSpPr>
        <p:spPr>
          <a:xfrm>
            <a:off x="8028432" y="2926080"/>
            <a:ext cx="1554480" cy="640080"/>
          </a:xfrm>
          <a:prstGeom prst="rect">
            <a:avLst/>
          </a:prstGeom>
          <a:noFill/>
          <a:ln/>
        </p:spPr>
        <p:txBody>
          <a:bodyPr wrap="square" lIns="0" tIns="0" rIns="0" bIns="0" rtlCol="0" anchor="t"/>
          <a:lstStyle/>
          <a:p>
            <a:pPr algn="l" indent="0" marL="0">
              <a:buNone/>
            </a:pPr>
            <a:r>
              <a:rPr lang="en-US" sz="1200" dirty="0">
                <a:solidFill>
                  <a:srgbClr val="1B1B1B"/>
                </a:solidFill>
              </a:rPr>
              <a:t>hourly AUROC</a:t>
            </a:r>
            <a:endParaRPr lang="en-US" sz="1200" dirty="0"/>
          </a:p>
        </p:txBody>
      </p:sp>
      <p:sp>
        <p:nvSpPr>
          <p:cNvPr id="19" name="box"/>
          <p:cNvSpPr/>
          <p:nvPr/>
        </p:nvSpPr>
        <p:spPr>
          <a:xfrm>
            <a:off x="9793224" y="2148840"/>
            <a:ext cx="1783080" cy="1463040"/>
          </a:xfrm>
          <a:prstGeom prst="rect">
            <a:avLst/>
          </a:prstGeom>
          <a:solidFill>
            <a:srgbClr val="F2F2F2"/>
          </a:solidFill>
          <a:ln w="12700">
            <a:solidFill>
              <a:srgbClr val="F2F2F2"/>
            </a:solidFill>
            <a:prstDash val="solid"/>
          </a:ln>
        </p:spPr>
      </p:sp>
      <p:sp>
        <p:nvSpPr>
          <p:cNvPr id="20" name="text"/>
          <p:cNvSpPr txBox="1"/>
          <p:nvPr/>
        </p:nvSpPr>
        <p:spPr>
          <a:xfrm>
            <a:off x="9930384" y="2240280"/>
            <a:ext cx="1554480" cy="685800"/>
          </a:xfrm>
          <a:prstGeom prst="rect">
            <a:avLst/>
          </a:prstGeom>
          <a:noFill/>
          <a:ln/>
        </p:spPr>
        <p:txBody>
          <a:bodyPr wrap="square" lIns="0" tIns="0" rIns="0" bIns="0" rtlCol="0" anchor="t"/>
          <a:lstStyle/>
          <a:p>
            <a:pPr algn="l" indent="0" marL="0">
              <a:buNone/>
            </a:pPr>
            <a:r>
              <a:rPr lang="en-US" sz="3600" b="1" dirty="0">
                <a:solidFill>
                  <a:srgbClr val="C8102E"/>
                </a:solidFill>
              </a:rPr>
              <a:t>0.22</a:t>
            </a:r>
            <a:endParaRPr lang="en-US" sz="3600" dirty="0"/>
          </a:p>
        </p:txBody>
      </p:sp>
      <p:sp>
        <p:nvSpPr>
          <p:cNvPr id="21" name="text"/>
          <p:cNvSpPr txBox="1"/>
          <p:nvPr/>
        </p:nvSpPr>
        <p:spPr>
          <a:xfrm>
            <a:off x="9930384" y="2926080"/>
            <a:ext cx="1554480" cy="640080"/>
          </a:xfrm>
          <a:prstGeom prst="rect">
            <a:avLst/>
          </a:prstGeom>
          <a:noFill/>
          <a:ln/>
        </p:spPr>
        <p:txBody>
          <a:bodyPr wrap="square" lIns="0" tIns="0" rIns="0" bIns="0" rtlCol="0" anchor="t"/>
          <a:lstStyle/>
          <a:p>
            <a:pPr algn="l" indent="0" marL="0">
              <a:buNone/>
            </a:pPr>
            <a:r>
              <a:rPr lang="en-US" sz="1200" dirty="0">
                <a:solidFill>
                  <a:srgbClr val="1B1B1B"/>
                </a:solidFill>
              </a:rPr>
              <a:t>utility (0.30 at the conformal threshold)</a:t>
            </a:r>
            <a:endParaRPr lang="en-US" sz="1200" dirty="0"/>
          </a:p>
        </p:txBody>
      </p:sp>
      <p:sp>
        <p:nvSpPr>
          <p:cNvPr id="22" name="list"/>
          <p:cNvSpPr txBox="1"/>
          <p:nvPr/>
        </p:nvSpPr>
        <p:spPr>
          <a:xfrm>
            <a:off x="5989320" y="3840480"/>
            <a:ext cx="5653735" cy="1920240"/>
          </a:xfrm>
          <a:prstGeom prst="rect">
            <a:avLst/>
          </a:prstGeom>
          <a:noFill/>
          <a:ln/>
        </p:spPr>
        <p:txBody>
          <a:bodyPr wrap="square" lIns="0" tIns="0" rIns="0" bIns="0" rtlCol="0" anchor="t"/>
          <a:lstStyle/>
          <a:p>
            <a:pPr marL="203200" indent="-203200">
              <a:spcAft>
                <a:spcPts val="800"/>
              </a:spcAft>
              <a:buSzPct val="100000"/>
              <a:buChar char="•"/>
            </a:pPr>
            <a:r>
              <a:rPr lang="en-US" sz="1350" dirty="0">
                <a:solidFill>
                  <a:srgbClr val="1B1B1B"/>
                </a:solidFill>
              </a:rPr>
              <a:t>Only 1.6 % of hours are positive, so ranking scores look modest even for a useful model.</a:t>
            </a:r>
            <a:endParaRPr lang="en-US" sz="1350" dirty="0"/>
          </a:p>
          <a:p>
            <a:pPr marL="203200" indent="-203200">
              <a:spcAft>
                <a:spcPts val="800"/>
              </a:spcAft>
              <a:buSzPct val="100000"/>
              <a:buChar char="•"/>
            </a:pPr>
            <a:r>
              <a:rPr lang="en-US" sz="1350" dirty="0">
                <a:solidFill>
                  <a:srgbClr val="1B1B1B"/>
                </a:solidFill>
              </a:rPr>
              <a:t>Utility 0.22: the alarms are worth about a fifth of perfect alarms after paying for false alarms.</a:t>
            </a:r>
            <a:endParaRPr lang="en-US" sz="1350" dirty="0"/>
          </a:p>
          <a:p>
            <a:pPr marL="203200" indent="-203200">
              <a:spcAft>
                <a:spcPts val="800"/>
              </a:spcAft>
              <a:buSzPct val="100000"/>
              <a:buChar char="•"/>
            </a:pPr>
            <a:r>
              <a:rPr lang="en-US" sz="1350" dirty="0">
                <a:solidFill>
                  <a:srgbClr val="1B1B1B"/>
                </a:solidFill>
              </a:rPr>
              <a:t>This honest baseline is where every later number starts.</a:t>
            </a:r>
            <a:endParaRPr lang="en-US" sz="1350" dirty="0"/>
          </a:p>
        </p:txBody>
      </p:sp>
      <p:sp>
        <p:nvSpPr>
          <p:cNvPr id="23"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[15] Reyna et al., Crit Care Med 2020   [18] Kapoor et al., Patterns 2023   [41] This work, preliminary, unpublished</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PRELIMINARY RESULTS</a:t>
            </a:r>
            <a:endParaRPr lang="en-US" sz="1100" dirty="0"/>
          </a:p>
        </p:txBody>
      </p:sp>
      <p:sp>
        <p:nvSpPr>
          <p:cNvPr id="3" name="preliminary tag"/>
          <p:cNvSpPr/>
          <p:nvPr/>
        </p:nvSpPr>
        <p:spPr>
          <a:xfrm>
            <a:off x="7436815" y="219456"/>
            <a:ext cx="4206240" cy="292608"/>
          </a:xfrm>
          <a:prstGeom prst="rect">
            <a:avLst/>
          </a:prstGeom>
          <a:solidFill>
            <a:srgbClr val="FBE3E6"/>
          </a:solidFill>
          <a:ln w="12700">
            <a:solidFill>
              <a:srgbClr val="FBE3E6"/>
            </a:solidFill>
            <a:prstDash val="solid"/>
          </a:ln>
        </p:spPr>
      </p:sp>
      <p:sp>
        <p:nvSpPr>
          <p:cNvPr id="4" name="text"/>
          <p:cNvSpPr txBox="1"/>
          <p:nvPr/>
        </p:nvSpPr>
        <p:spPr>
          <a:xfrm>
            <a:off x="7482535" y="219456"/>
            <a:ext cx="4114800" cy="292608"/>
          </a:xfrm>
          <a:prstGeom prst="rect">
            <a:avLst/>
          </a:prstGeom>
          <a:noFill/>
          <a:ln/>
        </p:spPr>
        <p:txBody>
          <a:bodyPr wrap="square" lIns="0" tIns="0" rIns="0" bIns="0" rtlCol="0" anchor="ctr"/>
          <a:lstStyle/>
          <a:p>
            <a:pPr algn="ctr" indent="0" marL="0">
              <a:buNone/>
            </a:pPr>
            <a:r>
              <a:rPr lang="en-US" sz="1000" b="1" dirty="0">
                <a:solidFill>
                  <a:srgbClr val="C8102E"/>
                </a:solidFill>
              </a:rPr>
              <a:t>PRELIMINARY  |  full results in the manuscript in preparation</a:t>
            </a:r>
            <a:endParaRPr lang="en-US" sz="1000" dirty="0"/>
          </a:p>
        </p:txBody>
      </p:sp>
      <p:sp>
        <p:nvSpPr>
          <p:cNvPr id="5"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Result 3: positive utility on MIMIC-IV, where the challenge winner fell below zero on an unseen hospital</a:t>
            </a:r>
            <a:endParaRPr lang="en-US" sz="2600" dirty="0"/>
          </a:p>
        </p:txBody>
      </p:sp>
      <p:graphicFrame>
        <p:nvGraphicFramePr>
          <p:cNvPr id="6" name="utility chart" descr=""/>
          <p:cNvGraphicFramePr/>
          <p:nvPr/>
        </p:nvGraphicFramePr>
        <p:xfrm>
          <a:off x="548640" y="1508760"/>
          <a:ext cx="6766560" cy="3931920"/>
        </p:xfrm>
        <a:graphic xmlns:a="http://schemas.openxmlformats.org/drawingml/2006/main">
          <a:graphicData uri="http://schemas.openxmlformats.org/drawingml/2006/chart">
            <c:chart xmlns:c="http://schemas.openxmlformats.org/drawingml/2006/chart" r:id="rId1"/>
          </a:graphicData>
        </a:graphic>
      </p:graphicFrame>
      <p:sp>
        <p:nvSpPr>
          <p:cNvPr id="7" name="legend swatch"/>
          <p:cNvSpPr/>
          <p:nvPr/>
        </p:nvSpPr>
        <p:spPr>
          <a:xfrm>
            <a:off x="822960" y="5532120"/>
            <a:ext cx="228600" cy="182880"/>
          </a:xfrm>
          <a:prstGeom prst="rect">
            <a:avLst/>
          </a:prstGeom>
          <a:solidFill>
            <a:srgbClr val="8C8C8C"/>
          </a:solidFill>
          <a:ln w="12700">
            <a:solidFill>
              <a:srgbClr val="8C8C8C"/>
            </a:solidFill>
            <a:prstDash val="solid"/>
          </a:ln>
        </p:spPr>
      </p:sp>
      <p:sp>
        <p:nvSpPr>
          <p:cNvPr id="8" name="text"/>
          <p:cNvSpPr txBox="1"/>
          <p:nvPr/>
        </p:nvSpPr>
        <p:spPr>
          <a:xfrm>
            <a:off x="1115568" y="5486400"/>
            <a:ext cx="3017520" cy="274320"/>
          </a:xfrm>
          <a:prstGeom prst="rect">
            <a:avLst/>
          </a:prstGeom>
          <a:noFill/>
          <a:ln/>
        </p:spPr>
        <p:txBody>
          <a:bodyPr wrap="square" lIns="0" tIns="0" rIns="0" bIns="0" rtlCol="0" anchor="ctr"/>
          <a:lstStyle/>
          <a:p>
            <a:pPr algn="l" indent="0" marL="0">
              <a:buNone/>
            </a:pPr>
            <a:r>
              <a:rPr lang="en-US" sz="1200" dirty="0">
                <a:solidFill>
                  <a:srgbClr val="1B1B1B"/>
                </a:solidFill>
              </a:rPr>
              <a:t>Published challenge winner [15, 21]</a:t>
            </a:r>
            <a:endParaRPr lang="en-US" sz="1200" dirty="0"/>
          </a:p>
        </p:txBody>
      </p:sp>
      <p:sp>
        <p:nvSpPr>
          <p:cNvPr id="9" name="legend swatch"/>
          <p:cNvSpPr/>
          <p:nvPr/>
        </p:nvSpPr>
        <p:spPr>
          <a:xfrm>
            <a:off x="4206240" y="5532120"/>
            <a:ext cx="228600" cy="182880"/>
          </a:xfrm>
          <a:prstGeom prst="rect">
            <a:avLst/>
          </a:prstGeom>
          <a:solidFill>
            <a:srgbClr val="C8102E"/>
          </a:solidFill>
          <a:ln w="12700">
            <a:solidFill>
              <a:srgbClr val="C8102E"/>
            </a:solidFill>
            <a:prstDash val="solid"/>
          </a:ln>
        </p:spPr>
      </p:sp>
      <p:sp>
        <p:nvSpPr>
          <p:cNvPr id="10" name="text"/>
          <p:cNvSpPr txBox="1"/>
          <p:nvPr/>
        </p:nvSpPr>
        <p:spPr>
          <a:xfrm>
            <a:off x="4498848" y="5486400"/>
            <a:ext cx="2834640" cy="274320"/>
          </a:xfrm>
          <a:prstGeom prst="rect">
            <a:avLst/>
          </a:prstGeom>
          <a:noFill/>
          <a:ln/>
        </p:spPr>
        <p:txBody>
          <a:bodyPr wrap="square" lIns="0" tIns="0" rIns="0" bIns="0" rtlCol="0" anchor="ctr"/>
          <a:lstStyle/>
          <a:p>
            <a:pPr algn="l" indent="0" marL="0">
              <a:buNone/>
            </a:pPr>
            <a:r>
              <a:rPr lang="en-US" sz="1200" dirty="0">
                <a:solidFill>
                  <a:srgbClr val="1B1B1B"/>
                </a:solidFill>
              </a:rPr>
              <a:t>This project, causal evaluation [41]</a:t>
            </a:r>
            <a:endParaRPr lang="en-US" sz="1200" dirty="0"/>
          </a:p>
        </p:txBody>
      </p:sp>
      <p:sp>
        <p:nvSpPr>
          <p:cNvPr id="11" name="box"/>
          <p:cNvSpPr/>
          <p:nvPr/>
        </p:nvSpPr>
        <p:spPr>
          <a:xfrm>
            <a:off x="7543800" y="1508760"/>
            <a:ext cx="4099255" cy="4251960"/>
          </a:xfrm>
          <a:prstGeom prst="rect">
            <a:avLst/>
          </a:prstGeom>
          <a:solidFill>
            <a:srgbClr val="F2F2F2"/>
          </a:solidFill>
          <a:ln w="12700">
            <a:solidFill>
              <a:srgbClr val="F2F2F2"/>
            </a:solidFill>
            <a:prstDash val="solid"/>
          </a:ln>
        </p:spPr>
      </p:sp>
      <p:sp>
        <p:nvSpPr>
          <p:cNvPr id="12" name="text"/>
          <p:cNvSpPr txBox="1"/>
          <p:nvPr/>
        </p:nvSpPr>
        <p:spPr>
          <a:xfrm>
            <a:off x="7726680" y="1600200"/>
            <a:ext cx="3733495" cy="320040"/>
          </a:xfrm>
          <a:prstGeom prst="rect">
            <a:avLst/>
          </a:prstGeom>
          <a:noFill/>
          <a:ln/>
        </p:spPr>
        <p:txBody>
          <a:bodyPr wrap="square" lIns="0" tIns="0" rIns="0" bIns="0" rtlCol="0" anchor="t"/>
          <a:lstStyle/>
          <a:p>
            <a:pPr algn="l" indent="0" marL="0">
              <a:buNone/>
            </a:pPr>
            <a:r>
              <a:rPr lang="en-US" sz="1400" b="1" dirty="0">
                <a:solidFill>
                  <a:srgbClr val="1B1B1B"/>
                </a:solidFill>
              </a:rPr>
              <a:t>MIMIC-IV development test split</a:t>
            </a:r>
            <a:endParaRPr lang="en-US" sz="1400" dirty="0"/>
          </a:p>
        </p:txBody>
      </p:sp>
      <p:sp>
        <p:nvSpPr>
          <p:cNvPr id="13" name="text"/>
          <p:cNvSpPr txBox="1"/>
          <p:nvPr/>
        </p:nvSpPr>
        <p:spPr>
          <a:xfrm>
            <a:off x="7726680" y="1920240"/>
            <a:ext cx="3733495" cy="274320"/>
          </a:xfrm>
          <a:prstGeom prst="rect">
            <a:avLst/>
          </a:prstGeom>
          <a:noFill/>
          <a:ln/>
        </p:spPr>
        <p:txBody>
          <a:bodyPr wrap="square" lIns="0" tIns="0" rIns="0" bIns="0" rtlCol="0" anchor="t"/>
          <a:lstStyle/>
          <a:p>
            <a:pPr algn="l" indent="0" marL="0">
              <a:buNone/>
            </a:pPr>
            <a:r>
              <a:rPr lang="en-US" sz="1200" dirty="0">
                <a:solidFill>
                  <a:srgbClr val="5E5E5E"/>
                </a:solidFill>
              </a:rPr>
              <a:t>1,422 stays, 63,488 hours, 71 sepsis events</a:t>
            </a:r>
            <a:endParaRPr lang="en-US" sz="1200" dirty="0"/>
          </a:p>
        </p:txBody>
      </p:sp>
      <p:sp>
        <p:nvSpPr>
          <p:cNvPr id="14" name="text"/>
          <p:cNvSpPr txBox="1"/>
          <p:nvPr/>
        </p:nvSpPr>
        <p:spPr>
          <a:xfrm>
            <a:off x="7726680" y="2331720"/>
            <a:ext cx="1821028" cy="548640"/>
          </a:xfrm>
          <a:prstGeom prst="rect">
            <a:avLst/>
          </a:prstGeom>
          <a:noFill/>
          <a:ln/>
        </p:spPr>
        <p:txBody>
          <a:bodyPr wrap="square" lIns="0" tIns="0" rIns="0" bIns="0" rtlCol="0" anchor="t"/>
          <a:lstStyle/>
          <a:p>
            <a:pPr algn="l" indent="0" marL="0">
              <a:buNone/>
            </a:pPr>
            <a:r>
              <a:rPr lang="en-US" sz="2800" b="1" dirty="0">
                <a:solidFill>
                  <a:srgbClr val="C8102E"/>
                </a:solidFill>
              </a:rPr>
              <a:t>0.81</a:t>
            </a:r>
            <a:endParaRPr lang="en-US" sz="2800" dirty="0"/>
          </a:p>
        </p:txBody>
      </p:sp>
      <p:sp>
        <p:nvSpPr>
          <p:cNvPr id="15" name="text"/>
          <p:cNvSpPr txBox="1"/>
          <p:nvPr/>
        </p:nvSpPr>
        <p:spPr>
          <a:xfrm>
            <a:off x="7726680" y="2880360"/>
            <a:ext cx="1775308" cy="548640"/>
          </a:xfrm>
          <a:prstGeom prst="rect">
            <a:avLst/>
          </a:prstGeom>
          <a:noFill/>
          <a:ln/>
        </p:spPr>
        <p:txBody>
          <a:bodyPr wrap="square" lIns="0" tIns="0" rIns="0" bIns="0" rtlCol="0" anchor="t"/>
          <a:lstStyle/>
          <a:p>
            <a:pPr algn="l" indent="0" marL="0">
              <a:buNone/>
            </a:pPr>
            <a:r>
              <a:rPr lang="en-US" sz="1200" dirty="0">
                <a:solidFill>
                  <a:srgbClr val="1B1B1B"/>
                </a:solidFill>
              </a:rPr>
              <a:t>hourly AUROC, 3 seeds</a:t>
            </a:r>
            <a:endParaRPr lang="en-US" sz="1200" dirty="0"/>
          </a:p>
        </p:txBody>
      </p:sp>
      <p:sp>
        <p:nvSpPr>
          <p:cNvPr id="16" name="text"/>
          <p:cNvSpPr txBox="1"/>
          <p:nvPr/>
        </p:nvSpPr>
        <p:spPr>
          <a:xfrm>
            <a:off x="9593428" y="2331720"/>
            <a:ext cx="1821028" cy="548640"/>
          </a:xfrm>
          <a:prstGeom prst="rect">
            <a:avLst/>
          </a:prstGeom>
          <a:noFill/>
          <a:ln/>
        </p:spPr>
        <p:txBody>
          <a:bodyPr wrap="square" lIns="0" tIns="0" rIns="0" bIns="0" rtlCol="0" anchor="t"/>
          <a:lstStyle/>
          <a:p>
            <a:pPr algn="l" indent="0" marL="0">
              <a:buNone/>
            </a:pPr>
            <a:r>
              <a:rPr lang="en-US" sz="2800" b="1" dirty="0">
                <a:solidFill>
                  <a:srgbClr val="C8102E"/>
                </a:solidFill>
              </a:rPr>
              <a:t>5 h</a:t>
            </a:r>
            <a:endParaRPr lang="en-US" sz="2800" dirty="0"/>
          </a:p>
        </p:txBody>
      </p:sp>
      <p:sp>
        <p:nvSpPr>
          <p:cNvPr id="17" name="text"/>
          <p:cNvSpPr txBox="1"/>
          <p:nvPr/>
        </p:nvSpPr>
        <p:spPr>
          <a:xfrm>
            <a:off x="9593428" y="2880360"/>
            <a:ext cx="1775308" cy="548640"/>
          </a:xfrm>
          <a:prstGeom prst="rect">
            <a:avLst/>
          </a:prstGeom>
          <a:noFill/>
          <a:ln/>
        </p:spPr>
        <p:txBody>
          <a:bodyPr wrap="square" lIns="0" tIns="0" rIns="0" bIns="0" rtlCol="0" anchor="t"/>
          <a:lstStyle/>
          <a:p>
            <a:pPr algn="l" indent="0" marL="0">
              <a:buNone/>
            </a:pPr>
            <a:r>
              <a:rPr lang="en-US" sz="1200" dirty="0">
                <a:solidFill>
                  <a:srgbClr val="1B1B1B"/>
                </a:solidFill>
              </a:rPr>
              <a:t>median warning before onset</a:t>
            </a:r>
            <a:endParaRPr lang="en-US" sz="1200" dirty="0"/>
          </a:p>
        </p:txBody>
      </p:sp>
      <p:sp>
        <p:nvSpPr>
          <p:cNvPr id="18" name="text"/>
          <p:cNvSpPr txBox="1"/>
          <p:nvPr/>
        </p:nvSpPr>
        <p:spPr>
          <a:xfrm>
            <a:off x="7726680" y="3566160"/>
            <a:ext cx="1821028" cy="548640"/>
          </a:xfrm>
          <a:prstGeom prst="rect">
            <a:avLst/>
          </a:prstGeom>
          <a:noFill/>
          <a:ln/>
        </p:spPr>
        <p:txBody>
          <a:bodyPr wrap="square" lIns="0" tIns="0" rIns="0" bIns="0" rtlCol="0" anchor="t"/>
          <a:lstStyle/>
          <a:p>
            <a:pPr algn="l" indent="0" marL="0">
              <a:buNone/>
            </a:pPr>
            <a:r>
              <a:rPr lang="en-US" sz="2800" b="1" dirty="0">
                <a:solidFill>
                  <a:srgbClr val="C8102E"/>
                </a:solidFill>
              </a:rPr>
              <a:t>1 in 2</a:t>
            </a:r>
            <a:endParaRPr lang="en-US" sz="2800" dirty="0"/>
          </a:p>
        </p:txBody>
      </p:sp>
      <p:sp>
        <p:nvSpPr>
          <p:cNvPr id="19" name="text"/>
          <p:cNvSpPr txBox="1"/>
          <p:nvPr/>
        </p:nvSpPr>
        <p:spPr>
          <a:xfrm>
            <a:off x="7726680" y="4114800"/>
            <a:ext cx="1775308" cy="548640"/>
          </a:xfrm>
          <a:prstGeom prst="rect">
            <a:avLst/>
          </a:prstGeom>
          <a:noFill/>
          <a:ln/>
        </p:spPr>
        <p:txBody>
          <a:bodyPr wrap="square" lIns="0" tIns="0" rIns="0" bIns="0" rtlCol="0" anchor="t"/>
          <a:lstStyle/>
          <a:p>
            <a:pPr algn="l" indent="0" marL="0">
              <a:buNone/>
            </a:pPr>
            <a:r>
              <a:rPr lang="en-US" sz="1200" dirty="0">
                <a:solidFill>
                  <a:srgbClr val="1B1B1B"/>
                </a:solidFill>
              </a:rPr>
              <a:t>sepsis events caught at 0.5 false alarms a day</a:t>
            </a:r>
            <a:endParaRPr lang="en-US" sz="1200" dirty="0"/>
          </a:p>
        </p:txBody>
      </p:sp>
      <p:sp>
        <p:nvSpPr>
          <p:cNvPr id="20" name="text"/>
          <p:cNvSpPr txBox="1"/>
          <p:nvPr/>
        </p:nvSpPr>
        <p:spPr>
          <a:xfrm>
            <a:off x="9593428" y="3566160"/>
            <a:ext cx="1821028" cy="548640"/>
          </a:xfrm>
          <a:prstGeom prst="rect">
            <a:avLst/>
          </a:prstGeom>
          <a:noFill/>
          <a:ln/>
        </p:spPr>
        <p:txBody>
          <a:bodyPr wrap="square" lIns="0" tIns="0" rIns="0" bIns="0" rtlCol="0" anchor="t"/>
          <a:lstStyle/>
          <a:p>
            <a:pPr algn="l" indent="0" marL="0">
              <a:buNone/>
            </a:pPr>
            <a:r>
              <a:rPr lang="en-US" sz="2200" b="1" dirty="0">
                <a:solidFill>
                  <a:srgbClr val="C8102E"/>
                </a:solidFill>
              </a:rPr>
              <a:t>0.08-0.27</a:t>
            </a:r>
            <a:endParaRPr lang="en-US" sz="2200" dirty="0"/>
          </a:p>
        </p:txBody>
      </p:sp>
      <p:sp>
        <p:nvSpPr>
          <p:cNvPr id="21" name="text"/>
          <p:cNvSpPr txBox="1"/>
          <p:nvPr/>
        </p:nvSpPr>
        <p:spPr>
          <a:xfrm>
            <a:off x="9593428" y="4114800"/>
            <a:ext cx="1775308" cy="548640"/>
          </a:xfrm>
          <a:prstGeom prst="rect">
            <a:avLst/>
          </a:prstGeom>
          <a:noFill/>
          <a:ln/>
        </p:spPr>
        <p:txBody>
          <a:bodyPr wrap="square" lIns="0" tIns="0" rIns="0" bIns="0" rtlCol="0" anchor="t"/>
          <a:lstStyle/>
          <a:p>
            <a:pPr algn="l" indent="0" marL="0">
              <a:buNone/>
            </a:pPr>
            <a:r>
              <a:rPr lang="en-US" sz="1200" dirty="0">
                <a:solidFill>
                  <a:srgbClr val="1B1B1B"/>
                </a:solidFill>
              </a:rPr>
              <a:t>95 % CI of utility 0.18</a:t>
            </a:r>
            <a:endParaRPr lang="en-US" sz="1200" dirty="0"/>
          </a:p>
        </p:txBody>
      </p:sp>
      <p:sp>
        <p:nvSpPr>
          <p:cNvPr id="22" name="text"/>
          <p:cNvSpPr txBox="1"/>
          <p:nvPr/>
        </p:nvSpPr>
        <p:spPr>
          <a:xfrm>
            <a:off x="7726680" y="4800600"/>
            <a:ext cx="3733495" cy="914400"/>
          </a:xfrm>
          <a:prstGeom prst="rect">
            <a:avLst/>
          </a:prstGeom>
          <a:noFill/>
          <a:ln/>
        </p:spPr>
        <p:txBody>
          <a:bodyPr wrap="square" lIns="0" tIns="0" rIns="0" bIns="0" rtlCol="0" anchor="t"/>
          <a:lstStyle/>
          <a:p>
            <a:pPr algn="l" indent="0" marL="0">
              <a:buNone/>
            </a:pPr>
            <a:r>
              <a:rPr lang="en-US" sz="1200" dirty="0">
                <a:solidFill>
                  <a:srgbClr val="5E5E5E"/>
                </a:solidFill>
              </a:rPr>
              <a:t>On 10,000-stay samples all neural models reach AUROC 0.80 to 0.81: the full cohort will separate them. The winner's method is being replicated on MIMIC-IV now.</a:t>
            </a:r>
            <a:endParaRPr lang="en-US" sz="1200" dirty="0"/>
          </a:p>
        </p:txBody>
      </p:sp>
      <p:sp>
        <p:nvSpPr>
          <p:cNvPr id="23"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[15] Reyna et al., Crit Care Med 2020   [21] Morrill et al., Crit Care Med 2020   [41] This work, preliminary, unpublished</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CONTRIBUTION AND NEXT STEPS</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An honest, transferable test of sepsis warnings, and the path to hospital patients</a:t>
            </a:r>
            <a:endParaRPr lang="en-US" sz="2600" dirty="0"/>
          </a:p>
        </p:txBody>
      </p:sp>
      <p:sp>
        <p:nvSpPr>
          <p:cNvPr id="4" name="text"/>
          <p:cNvSpPr txBox="1"/>
          <p:nvPr/>
        </p:nvSpPr>
        <p:spPr>
          <a:xfrm>
            <a:off x="548640" y="1463040"/>
            <a:ext cx="5486400" cy="320040"/>
          </a:xfrm>
          <a:prstGeom prst="rect">
            <a:avLst/>
          </a:prstGeom>
          <a:noFill/>
          <a:ln/>
        </p:spPr>
        <p:txBody>
          <a:bodyPr wrap="square" lIns="0" tIns="0" rIns="0" bIns="0" rtlCol="0" anchor="t"/>
          <a:lstStyle/>
          <a:p>
            <a:pPr algn="l" indent="0" marL="0">
              <a:buNone/>
            </a:pPr>
            <a:r>
              <a:rPr lang="en-US" sz="1500" b="1" dirty="0">
                <a:solidFill>
                  <a:srgbClr val="C8102E"/>
                </a:solidFill>
              </a:rPr>
              <a:t>Contribution so far</a:t>
            </a:r>
            <a:endParaRPr lang="en-US" sz="1500" dirty="0"/>
          </a:p>
        </p:txBody>
      </p:sp>
      <p:sp>
        <p:nvSpPr>
          <p:cNvPr id="5" name="icon tile"/>
          <p:cNvSpPr/>
          <p:nvPr/>
        </p:nvSpPr>
        <p:spPr>
          <a:xfrm>
            <a:off x="548640" y="1920240"/>
            <a:ext cx="457200" cy="457200"/>
          </a:xfrm>
          <a:prstGeom prst="rect">
            <a:avLst/>
          </a:prstGeom>
          <a:solidFill>
            <a:srgbClr val="1B1B1B"/>
          </a:solidFill>
          <a:ln w="12700">
            <a:solidFill>
              <a:srgbClr val="1B1B1B"/>
            </a:solidFill>
            <a:prstDash val="solid"/>
          </a:ln>
        </p:spPr>
      </p:sp>
      <p:pic>
        <p:nvPicPr>
          <p:cNvPr id="6" name="icon" descr="preencoded.png">    </p:cNvPr>
          <p:cNvPicPr>
            <a:picLocks noChangeAspect="1"/>
          </p:cNvPicPr>
          <p:nvPr/>
        </p:nvPicPr>
        <p:blipFill>
          <a:blip r:embed="rId1"/>
          <a:stretch>
            <a:fillRect/>
          </a:stretch>
        </p:blipFill>
        <p:spPr>
          <a:xfrm>
            <a:off x="640080" y="2011680"/>
            <a:ext cx="274320" cy="274320"/>
          </a:xfrm>
          <a:prstGeom prst="rect">
            <a:avLst/>
          </a:prstGeom>
        </p:spPr>
      </p:pic>
      <p:sp>
        <p:nvSpPr>
          <p:cNvPr id="7" name="text"/>
          <p:cNvSpPr txBox="1"/>
          <p:nvPr/>
        </p:nvSpPr>
        <p:spPr>
          <a:xfrm>
            <a:off x="1143000" y="1874520"/>
            <a:ext cx="4937760" cy="301752"/>
          </a:xfrm>
          <a:prstGeom prst="rect">
            <a:avLst/>
          </a:prstGeom>
          <a:noFill/>
          <a:ln/>
        </p:spPr>
        <p:txBody>
          <a:bodyPr wrap="square" lIns="0" tIns="0" rIns="0" bIns="0" rtlCol="0" anchor="t"/>
          <a:lstStyle/>
          <a:p>
            <a:pPr algn="l" indent="0" marL="0">
              <a:buNone/>
            </a:pPr>
            <a:r>
              <a:rPr lang="en-US" sz="1400" b="1" dirty="0">
                <a:solidFill>
                  <a:srgbClr val="1B1B1B"/>
                </a:solidFill>
              </a:rPr>
              <a:t>Causal, cross-database pipeline</a:t>
            </a:r>
            <a:endParaRPr lang="en-US" sz="1400" dirty="0"/>
          </a:p>
        </p:txBody>
      </p:sp>
      <p:sp>
        <p:nvSpPr>
          <p:cNvPr id="8" name="text"/>
          <p:cNvSpPr txBox="1"/>
          <p:nvPr/>
        </p:nvSpPr>
        <p:spPr>
          <a:xfrm>
            <a:off x="1143000" y="2176272"/>
            <a:ext cx="5120640" cy="566928"/>
          </a:xfrm>
          <a:prstGeom prst="rect">
            <a:avLst/>
          </a:prstGeom>
          <a:noFill/>
          <a:ln/>
        </p:spPr>
        <p:txBody>
          <a:bodyPr wrap="square" lIns="0" tIns="0" rIns="0" bIns="0" rtlCol="0" anchor="t"/>
          <a:lstStyle/>
          <a:p>
            <a:pPr algn="l" indent="0" marL="0">
              <a:buNone/>
            </a:pPr>
            <a:r>
              <a:rPr lang="en-US" sz="1250" dirty="0">
                <a:solidFill>
                  <a:srgbClr val="5E5E5E"/>
                </a:solidFill>
              </a:rPr>
              <a:t>one sepsis definition, two hospital systems, 655 clinically defined predictors [41]</a:t>
            </a:r>
            <a:endParaRPr lang="en-US" sz="1250" dirty="0"/>
          </a:p>
        </p:txBody>
      </p:sp>
      <p:sp>
        <p:nvSpPr>
          <p:cNvPr id="9" name="icon tile"/>
          <p:cNvSpPr/>
          <p:nvPr/>
        </p:nvSpPr>
        <p:spPr>
          <a:xfrm>
            <a:off x="548640" y="2816352"/>
            <a:ext cx="457200" cy="457200"/>
          </a:xfrm>
          <a:prstGeom prst="rect">
            <a:avLst/>
          </a:prstGeom>
          <a:solidFill>
            <a:srgbClr val="1B1B1B"/>
          </a:solidFill>
          <a:ln w="12700">
            <a:solidFill>
              <a:srgbClr val="1B1B1B"/>
            </a:solidFill>
            <a:prstDash val="solid"/>
          </a:ln>
        </p:spPr>
      </p:sp>
      <p:pic>
        <p:nvPicPr>
          <p:cNvPr id="10" name="icon" descr="preencoded.png">    </p:cNvPr>
          <p:cNvPicPr>
            <a:picLocks noChangeAspect="1"/>
          </p:cNvPicPr>
          <p:nvPr/>
        </p:nvPicPr>
        <p:blipFill>
          <a:blip r:embed="rId2"/>
          <a:stretch>
            <a:fillRect/>
          </a:stretch>
        </p:blipFill>
        <p:spPr>
          <a:xfrm>
            <a:off x="640080" y="2907792"/>
            <a:ext cx="274320" cy="274320"/>
          </a:xfrm>
          <a:prstGeom prst="rect">
            <a:avLst/>
          </a:prstGeom>
        </p:spPr>
      </p:pic>
      <p:sp>
        <p:nvSpPr>
          <p:cNvPr id="11" name="text"/>
          <p:cNvSpPr txBox="1"/>
          <p:nvPr/>
        </p:nvSpPr>
        <p:spPr>
          <a:xfrm>
            <a:off x="1143000" y="2770632"/>
            <a:ext cx="4937760" cy="301752"/>
          </a:xfrm>
          <a:prstGeom prst="rect">
            <a:avLst/>
          </a:prstGeom>
          <a:noFill/>
          <a:ln/>
        </p:spPr>
        <p:txBody>
          <a:bodyPr wrap="square" lIns="0" tIns="0" rIns="0" bIns="0" rtlCol="0" anchor="t"/>
          <a:lstStyle/>
          <a:p>
            <a:pPr algn="l" indent="0" marL="0">
              <a:buNone/>
            </a:pPr>
            <a:r>
              <a:rPr lang="en-US" sz="1400" b="1" dirty="0">
                <a:solidFill>
                  <a:srgbClr val="1B1B1B"/>
                </a:solidFill>
              </a:rPr>
              <a:t>Evaluation by clinical utility</a:t>
            </a:r>
            <a:endParaRPr lang="en-US" sz="1400" dirty="0"/>
          </a:p>
        </p:txBody>
      </p:sp>
      <p:sp>
        <p:nvSpPr>
          <p:cNvPr id="12" name="text"/>
          <p:cNvSpPr txBox="1"/>
          <p:nvPr/>
        </p:nvSpPr>
        <p:spPr>
          <a:xfrm>
            <a:off x="1143000" y="3072384"/>
            <a:ext cx="5120640" cy="566928"/>
          </a:xfrm>
          <a:prstGeom prst="rect">
            <a:avLst/>
          </a:prstGeom>
          <a:noFill/>
          <a:ln/>
        </p:spPr>
        <p:txBody>
          <a:bodyPr wrap="square" lIns="0" tIns="0" rIns="0" bIns="0" rtlCol="0" anchor="t"/>
          <a:lstStyle/>
          <a:p>
            <a:pPr algn="l" indent="0" marL="0">
              <a:buNone/>
            </a:pPr>
            <a:r>
              <a:rPr lang="en-US" sz="1250" dirty="0">
                <a:solidFill>
                  <a:srgbClr val="5E5E5E"/>
                </a:solidFill>
              </a:rPr>
              <a:t>false alarms per day, warning time, transfer, sealed holdout [15]</a:t>
            </a:r>
            <a:endParaRPr lang="en-US" sz="1250" dirty="0"/>
          </a:p>
        </p:txBody>
      </p:sp>
      <p:sp>
        <p:nvSpPr>
          <p:cNvPr id="13" name="icon tile"/>
          <p:cNvSpPr/>
          <p:nvPr/>
        </p:nvSpPr>
        <p:spPr>
          <a:xfrm>
            <a:off x="548640" y="3712464"/>
            <a:ext cx="457200" cy="457200"/>
          </a:xfrm>
          <a:prstGeom prst="rect">
            <a:avLst/>
          </a:prstGeom>
          <a:solidFill>
            <a:srgbClr val="1B1B1B"/>
          </a:solidFill>
          <a:ln w="12700">
            <a:solidFill>
              <a:srgbClr val="1B1B1B"/>
            </a:solidFill>
            <a:prstDash val="solid"/>
          </a:ln>
        </p:spPr>
      </p:sp>
      <p:pic>
        <p:nvPicPr>
          <p:cNvPr id="14" name="icon" descr="preencoded.png">    </p:cNvPr>
          <p:cNvPicPr>
            <a:picLocks noChangeAspect="1"/>
          </p:cNvPicPr>
          <p:nvPr/>
        </p:nvPicPr>
        <p:blipFill>
          <a:blip r:embed="rId3"/>
          <a:stretch>
            <a:fillRect/>
          </a:stretch>
        </p:blipFill>
        <p:spPr>
          <a:xfrm>
            <a:off x="640080" y="3803904"/>
            <a:ext cx="274320" cy="274320"/>
          </a:xfrm>
          <a:prstGeom prst="rect">
            <a:avLst/>
          </a:prstGeom>
        </p:spPr>
      </p:pic>
      <p:sp>
        <p:nvSpPr>
          <p:cNvPr id="15" name="text"/>
          <p:cNvSpPr txBox="1"/>
          <p:nvPr/>
        </p:nvSpPr>
        <p:spPr>
          <a:xfrm>
            <a:off x="1143000" y="3666744"/>
            <a:ext cx="4937760" cy="301752"/>
          </a:xfrm>
          <a:prstGeom prst="rect">
            <a:avLst/>
          </a:prstGeom>
          <a:noFill/>
          <a:ln/>
        </p:spPr>
        <p:txBody>
          <a:bodyPr wrap="square" lIns="0" tIns="0" rIns="0" bIns="0" rtlCol="0" anchor="t"/>
          <a:lstStyle/>
          <a:p>
            <a:pPr algn="l" indent="0" marL="0">
              <a:buNone/>
            </a:pPr>
            <a:r>
              <a:rPr lang="en-US" sz="1400" b="1" dirty="0">
                <a:solidFill>
                  <a:srgbClr val="1B1B1B"/>
                </a:solidFill>
              </a:rPr>
              <a:t>Three findings</a:t>
            </a:r>
            <a:endParaRPr lang="en-US" sz="1400" dirty="0"/>
          </a:p>
        </p:txBody>
      </p:sp>
      <p:sp>
        <p:nvSpPr>
          <p:cNvPr id="16" name="text"/>
          <p:cNvSpPr txBox="1"/>
          <p:nvPr/>
        </p:nvSpPr>
        <p:spPr>
          <a:xfrm>
            <a:off x="1143000" y="3968496"/>
            <a:ext cx="5120640" cy="566928"/>
          </a:xfrm>
          <a:prstGeom prst="rect">
            <a:avLst/>
          </a:prstGeom>
          <a:noFill/>
          <a:ln/>
        </p:spPr>
        <p:txBody>
          <a:bodyPr wrap="square" lIns="0" tIns="0" rIns="0" bIns="0" rtlCol="0" anchor="t"/>
          <a:lstStyle/>
          <a:p>
            <a:pPr algn="l" indent="0" marL="0">
              <a:buNone/>
            </a:pPr>
            <a:r>
              <a:rPr lang="en-US" sz="1250" dirty="0">
                <a:solidFill>
                  <a:srgbClr val="5E5E5E"/>
                </a:solidFill>
              </a:rPr>
              <a:t>leakage inflates scores; data harmonisation drives transfer; small samples overfit</a:t>
            </a:r>
            <a:endParaRPr lang="en-US" sz="1250" dirty="0"/>
          </a:p>
        </p:txBody>
      </p:sp>
      <p:sp>
        <p:nvSpPr>
          <p:cNvPr id="17" name="icon tile"/>
          <p:cNvSpPr/>
          <p:nvPr/>
        </p:nvSpPr>
        <p:spPr>
          <a:xfrm>
            <a:off x="548640" y="4608576"/>
            <a:ext cx="457200" cy="457200"/>
          </a:xfrm>
          <a:prstGeom prst="rect">
            <a:avLst/>
          </a:prstGeom>
          <a:solidFill>
            <a:srgbClr val="1B1B1B"/>
          </a:solidFill>
          <a:ln w="12700">
            <a:solidFill>
              <a:srgbClr val="1B1B1B"/>
            </a:solidFill>
            <a:prstDash val="solid"/>
          </a:ln>
        </p:spPr>
      </p:sp>
      <p:pic>
        <p:nvPicPr>
          <p:cNvPr id="18" name="icon" descr="preencoded.png">    </p:cNvPr>
          <p:cNvPicPr>
            <a:picLocks noChangeAspect="1"/>
          </p:cNvPicPr>
          <p:nvPr/>
        </p:nvPicPr>
        <p:blipFill>
          <a:blip r:embed="rId4"/>
          <a:stretch>
            <a:fillRect/>
          </a:stretch>
        </p:blipFill>
        <p:spPr>
          <a:xfrm>
            <a:off x="640080" y="4700016"/>
            <a:ext cx="274320" cy="274320"/>
          </a:xfrm>
          <a:prstGeom prst="rect">
            <a:avLst/>
          </a:prstGeom>
        </p:spPr>
      </p:pic>
      <p:sp>
        <p:nvSpPr>
          <p:cNvPr id="19" name="text"/>
          <p:cNvSpPr txBox="1"/>
          <p:nvPr/>
        </p:nvSpPr>
        <p:spPr>
          <a:xfrm>
            <a:off x="1143000" y="4562856"/>
            <a:ext cx="4937760" cy="301752"/>
          </a:xfrm>
          <a:prstGeom prst="rect">
            <a:avLst/>
          </a:prstGeom>
          <a:noFill/>
          <a:ln/>
        </p:spPr>
        <p:txBody>
          <a:bodyPr wrap="square" lIns="0" tIns="0" rIns="0" bIns="0" rtlCol="0" anchor="t"/>
          <a:lstStyle/>
          <a:p>
            <a:pPr algn="l" indent="0" marL="0">
              <a:buNone/>
            </a:pPr>
            <a:r>
              <a:rPr lang="en-US" sz="1400" b="1" dirty="0">
                <a:solidFill>
                  <a:srgbClr val="1B1B1B"/>
                </a:solidFill>
              </a:rPr>
              <a:t>Three manuscripts submitted in 2026</a:t>
            </a:r>
            <a:endParaRPr lang="en-US" sz="1400" dirty="0"/>
          </a:p>
        </p:txBody>
      </p:sp>
      <p:sp>
        <p:nvSpPr>
          <p:cNvPr id="20" name="text"/>
          <p:cNvSpPr txBox="1"/>
          <p:nvPr/>
        </p:nvSpPr>
        <p:spPr>
          <a:xfrm>
            <a:off x="1143000" y="4864608"/>
            <a:ext cx="5120640" cy="566928"/>
          </a:xfrm>
          <a:prstGeom prst="rect">
            <a:avLst/>
          </a:prstGeom>
          <a:noFill/>
          <a:ln/>
        </p:spPr>
        <p:txBody>
          <a:bodyPr wrap="square" lIns="0" tIns="0" rIns="0" bIns="0" rtlCol="0" anchor="t"/>
          <a:lstStyle/>
          <a:p>
            <a:pPr algn="l" indent="0" marL="0">
              <a:buNone/>
            </a:pPr>
            <a:r>
              <a:rPr lang="en-US" sz="1250" dirty="0">
                <a:solidFill>
                  <a:srgbClr val="5E5E5E"/>
                </a:solidFill>
              </a:rPr>
              <a:t>AMR diagnostics review [5]; sepsis-onset cohort study [42]; thermography meta-analysis [43]</a:t>
            </a:r>
            <a:endParaRPr lang="en-US" sz="1250" dirty="0"/>
          </a:p>
        </p:txBody>
      </p:sp>
      <p:sp>
        <p:nvSpPr>
          <p:cNvPr id="21" name="text"/>
          <p:cNvSpPr txBox="1"/>
          <p:nvPr/>
        </p:nvSpPr>
        <p:spPr>
          <a:xfrm>
            <a:off x="6537960" y="1463040"/>
            <a:ext cx="4572000" cy="320040"/>
          </a:xfrm>
          <a:prstGeom prst="rect">
            <a:avLst/>
          </a:prstGeom>
          <a:noFill/>
          <a:ln/>
        </p:spPr>
        <p:txBody>
          <a:bodyPr wrap="square" lIns="0" tIns="0" rIns="0" bIns="0" rtlCol="0" anchor="t"/>
          <a:lstStyle/>
          <a:p>
            <a:pPr algn="l" indent="0" marL="0">
              <a:buNone/>
            </a:pPr>
            <a:r>
              <a:rPr lang="en-US" sz="1500" b="1" dirty="0">
                <a:solidFill>
                  <a:srgbClr val="C8102E"/>
                </a:solidFill>
              </a:rPr>
              <a:t>Next steps</a:t>
            </a:r>
            <a:endParaRPr lang="en-US" sz="1500" dirty="0"/>
          </a:p>
        </p:txBody>
      </p:sp>
      <p:sp>
        <p:nvSpPr>
          <p:cNvPr id="22" name="box"/>
          <p:cNvSpPr/>
          <p:nvPr/>
        </p:nvSpPr>
        <p:spPr>
          <a:xfrm>
            <a:off x="6537960" y="1892808"/>
            <a:ext cx="960120" cy="457200"/>
          </a:xfrm>
          <a:prstGeom prst="rect">
            <a:avLst/>
          </a:prstGeom>
          <a:solidFill>
            <a:srgbClr val="1B1B1B"/>
          </a:solidFill>
          <a:ln w="12700">
            <a:solidFill>
              <a:srgbClr val="1B1B1B"/>
            </a:solidFill>
            <a:prstDash val="solid"/>
          </a:ln>
        </p:spPr>
      </p:sp>
      <p:sp>
        <p:nvSpPr>
          <p:cNvPr id="23" name="text"/>
          <p:cNvSpPr txBox="1"/>
          <p:nvPr/>
        </p:nvSpPr>
        <p:spPr>
          <a:xfrm>
            <a:off x="6537960" y="1892808"/>
            <a:ext cx="960120" cy="457200"/>
          </a:xfrm>
          <a:prstGeom prst="rect">
            <a:avLst/>
          </a:prstGeom>
          <a:noFill/>
          <a:ln/>
        </p:spPr>
        <p:txBody>
          <a:bodyPr wrap="square" lIns="0" tIns="0" rIns="0" bIns="0" rtlCol="0" anchor="ctr"/>
          <a:lstStyle/>
          <a:p>
            <a:pPr algn="ctr" indent="0" marL="0">
              <a:buNone/>
            </a:pPr>
            <a:r>
              <a:rPr lang="en-US" sz="1300" b="1" dirty="0">
                <a:solidFill>
                  <a:srgbClr val="FFFFFF"/>
                </a:solidFill>
              </a:rPr>
              <a:t>Now</a:t>
            </a:r>
            <a:endParaRPr lang="en-US" sz="1300" dirty="0"/>
          </a:p>
        </p:txBody>
      </p:sp>
      <p:sp>
        <p:nvSpPr>
          <p:cNvPr id="24" name="text"/>
          <p:cNvSpPr txBox="1"/>
          <p:nvPr/>
        </p:nvSpPr>
        <p:spPr>
          <a:xfrm>
            <a:off x="7680960" y="1874520"/>
            <a:ext cx="3962095" cy="822960"/>
          </a:xfrm>
          <a:prstGeom prst="rect">
            <a:avLst/>
          </a:prstGeom>
          <a:noFill/>
          <a:ln/>
        </p:spPr>
        <p:txBody>
          <a:bodyPr wrap="square" lIns="0" tIns="0" rIns="0" bIns="0" rtlCol="0" anchor="t"/>
          <a:lstStyle/>
          <a:p>
            <a:pPr algn="l" indent="0" marL="0">
              <a:buNone/>
            </a:pPr>
            <a:r>
              <a:rPr lang="en-US" sz="1300" dirty="0">
                <a:solidFill>
                  <a:srgbClr val="1B1B1B"/>
                </a:solidFill>
              </a:rPr>
              <a:t>Complete the qualitative study with healthcare professionals; finish the 16-model comparison</a:t>
            </a:r>
            <a:endParaRPr lang="en-US" sz="1300" dirty="0"/>
          </a:p>
        </p:txBody>
      </p:sp>
      <p:sp>
        <p:nvSpPr>
          <p:cNvPr id="25" name="box"/>
          <p:cNvSpPr/>
          <p:nvPr/>
        </p:nvSpPr>
        <p:spPr>
          <a:xfrm>
            <a:off x="6537960" y="2788920"/>
            <a:ext cx="960120" cy="457200"/>
          </a:xfrm>
          <a:prstGeom prst="rect">
            <a:avLst/>
          </a:prstGeom>
          <a:solidFill>
            <a:srgbClr val="1B1B1B"/>
          </a:solidFill>
          <a:ln w="12700">
            <a:solidFill>
              <a:srgbClr val="1B1B1B"/>
            </a:solidFill>
            <a:prstDash val="solid"/>
          </a:ln>
        </p:spPr>
      </p:sp>
      <p:sp>
        <p:nvSpPr>
          <p:cNvPr id="26" name="text"/>
          <p:cNvSpPr txBox="1"/>
          <p:nvPr/>
        </p:nvSpPr>
        <p:spPr>
          <a:xfrm>
            <a:off x="6537960" y="2788920"/>
            <a:ext cx="960120" cy="457200"/>
          </a:xfrm>
          <a:prstGeom prst="rect">
            <a:avLst/>
          </a:prstGeom>
          <a:noFill/>
          <a:ln/>
        </p:spPr>
        <p:txBody>
          <a:bodyPr wrap="square" lIns="0" tIns="0" rIns="0" bIns="0" rtlCol="0" anchor="ctr"/>
          <a:lstStyle/>
          <a:p>
            <a:pPr algn="ctr" indent="0" marL="0">
              <a:buNone/>
            </a:pPr>
            <a:r>
              <a:rPr lang="en-US" sz="1300" b="1" dirty="0">
                <a:solidFill>
                  <a:srgbClr val="FFFFFF"/>
                </a:solidFill>
              </a:rPr>
              <a:t>Next</a:t>
            </a:r>
            <a:endParaRPr lang="en-US" sz="1300" dirty="0"/>
          </a:p>
        </p:txBody>
      </p:sp>
      <p:sp>
        <p:nvSpPr>
          <p:cNvPr id="27" name="text"/>
          <p:cNvSpPr txBox="1"/>
          <p:nvPr/>
        </p:nvSpPr>
        <p:spPr>
          <a:xfrm>
            <a:off x="7680960" y="2770632"/>
            <a:ext cx="3962095" cy="822960"/>
          </a:xfrm>
          <a:prstGeom prst="rect">
            <a:avLst/>
          </a:prstGeom>
          <a:noFill/>
          <a:ln/>
        </p:spPr>
        <p:txBody>
          <a:bodyPr wrap="square" lIns="0" tIns="0" rIns="0" bIns="0" rtlCol="0" anchor="t"/>
          <a:lstStyle/>
          <a:p>
            <a:pPr algn="l" indent="0" marL="0">
              <a:buNone/>
            </a:pPr>
            <a:r>
              <a:rPr lang="en-US" sz="1300" dirty="0">
                <a:solidFill>
                  <a:srgbClr val="1B1B1B"/>
                </a:solidFill>
              </a:rPr>
              <a:t>Full cohort (about 94,000 + 200,000 stays), three seeds, leave-hospital-out testing</a:t>
            </a:r>
            <a:endParaRPr lang="en-US" sz="1300" dirty="0"/>
          </a:p>
        </p:txBody>
      </p:sp>
      <p:sp>
        <p:nvSpPr>
          <p:cNvPr id="28" name="box"/>
          <p:cNvSpPr/>
          <p:nvPr/>
        </p:nvSpPr>
        <p:spPr>
          <a:xfrm>
            <a:off x="6537960" y="3685032"/>
            <a:ext cx="960120" cy="457200"/>
          </a:xfrm>
          <a:prstGeom prst="rect">
            <a:avLst/>
          </a:prstGeom>
          <a:solidFill>
            <a:srgbClr val="1B1B1B"/>
          </a:solidFill>
          <a:ln w="12700">
            <a:solidFill>
              <a:srgbClr val="1B1B1B"/>
            </a:solidFill>
            <a:prstDash val="solid"/>
          </a:ln>
        </p:spPr>
      </p:sp>
      <p:sp>
        <p:nvSpPr>
          <p:cNvPr id="29" name="text"/>
          <p:cNvSpPr txBox="1"/>
          <p:nvPr/>
        </p:nvSpPr>
        <p:spPr>
          <a:xfrm>
            <a:off x="6537960" y="3685032"/>
            <a:ext cx="960120" cy="457200"/>
          </a:xfrm>
          <a:prstGeom prst="rect">
            <a:avLst/>
          </a:prstGeom>
          <a:noFill/>
          <a:ln/>
        </p:spPr>
        <p:txBody>
          <a:bodyPr wrap="square" lIns="0" tIns="0" rIns="0" bIns="0" rtlCol="0" anchor="ctr"/>
          <a:lstStyle/>
          <a:p>
            <a:pPr algn="ctr" indent="0" marL="0">
              <a:buNone/>
            </a:pPr>
            <a:r>
              <a:rPr lang="en-US" sz="1300" b="1" dirty="0">
                <a:solidFill>
                  <a:srgbClr val="FFFFFF"/>
                </a:solidFill>
              </a:rPr>
              <a:t>Then</a:t>
            </a:r>
            <a:endParaRPr lang="en-US" sz="1300" dirty="0"/>
          </a:p>
        </p:txBody>
      </p:sp>
      <p:sp>
        <p:nvSpPr>
          <p:cNvPr id="30" name="text"/>
          <p:cNvSpPr txBox="1"/>
          <p:nvPr/>
        </p:nvSpPr>
        <p:spPr>
          <a:xfrm>
            <a:off x="7680960" y="3666744"/>
            <a:ext cx="3962095" cy="822960"/>
          </a:xfrm>
          <a:prstGeom prst="rect">
            <a:avLst/>
          </a:prstGeom>
          <a:noFill/>
          <a:ln/>
        </p:spPr>
        <p:txBody>
          <a:bodyPr wrap="square" lIns="0" tIns="0" rIns="0" bIns="0" rtlCol="0" anchor="t"/>
          <a:lstStyle/>
          <a:p>
            <a:pPr algn="l" indent="0" marL="0">
              <a:buNone/>
            </a:pPr>
            <a:r>
              <a:rPr lang="en-US" sz="1300" dirty="0">
                <a:solidFill>
                  <a:srgbClr val="1B1B1B"/>
                </a:solidFill>
              </a:rPr>
              <a:t>Freeze the protocol; open the sealed holdout once; set the alarm policy with the qualitative findings</a:t>
            </a:r>
            <a:endParaRPr lang="en-US" sz="1300" dirty="0"/>
          </a:p>
        </p:txBody>
      </p:sp>
      <p:sp>
        <p:nvSpPr>
          <p:cNvPr id="31" name="box"/>
          <p:cNvSpPr/>
          <p:nvPr/>
        </p:nvSpPr>
        <p:spPr>
          <a:xfrm>
            <a:off x="6537960" y="4581144"/>
            <a:ext cx="960120" cy="457200"/>
          </a:xfrm>
          <a:prstGeom prst="rect">
            <a:avLst/>
          </a:prstGeom>
          <a:solidFill>
            <a:srgbClr val="C8102E"/>
          </a:solidFill>
          <a:ln w="12700">
            <a:solidFill>
              <a:srgbClr val="C8102E"/>
            </a:solidFill>
            <a:prstDash val="solid"/>
          </a:ln>
        </p:spPr>
      </p:sp>
      <p:sp>
        <p:nvSpPr>
          <p:cNvPr id="32" name="text"/>
          <p:cNvSpPr txBox="1"/>
          <p:nvPr/>
        </p:nvSpPr>
        <p:spPr>
          <a:xfrm>
            <a:off x="6537960" y="4581144"/>
            <a:ext cx="960120" cy="457200"/>
          </a:xfrm>
          <a:prstGeom prst="rect">
            <a:avLst/>
          </a:prstGeom>
          <a:noFill/>
          <a:ln/>
        </p:spPr>
        <p:txBody>
          <a:bodyPr wrap="square" lIns="0" tIns="0" rIns="0" bIns="0" rtlCol="0" anchor="ctr"/>
          <a:lstStyle/>
          <a:p>
            <a:pPr algn="ctr" indent="0" marL="0">
              <a:buNone/>
            </a:pPr>
            <a:r>
              <a:rPr lang="en-US" sz="1300" b="1" dirty="0">
                <a:solidFill>
                  <a:srgbClr val="FFFFFF"/>
                </a:solidFill>
              </a:rPr>
              <a:t>Future</a:t>
            </a:r>
            <a:endParaRPr lang="en-US" sz="1300" dirty="0"/>
          </a:p>
        </p:txBody>
      </p:sp>
      <p:sp>
        <p:nvSpPr>
          <p:cNvPr id="33" name="text"/>
          <p:cNvSpPr txBox="1"/>
          <p:nvPr/>
        </p:nvSpPr>
        <p:spPr>
          <a:xfrm>
            <a:off x="7680960" y="4562856"/>
            <a:ext cx="3962095" cy="822960"/>
          </a:xfrm>
          <a:prstGeom prst="rect">
            <a:avLst/>
          </a:prstGeom>
          <a:noFill/>
          <a:ln/>
        </p:spPr>
        <p:txBody>
          <a:bodyPr wrap="square" lIns="0" tIns="0" rIns="0" bIns="0" rtlCol="0" anchor="t"/>
          <a:lstStyle/>
          <a:p>
            <a:pPr algn="l" indent="0" marL="0">
              <a:buNone/>
            </a:pPr>
            <a:r>
              <a:rPr lang="en-US" sz="1300" dirty="0">
                <a:solidFill>
                  <a:srgbClr val="1B1B1B"/>
                </a:solidFill>
              </a:rPr>
              <a:t>Silent test on hospital patients, then a clinician-facing pilot [13]</a:t>
            </a:r>
            <a:endParaRPr lang="en-US" sz="1300" dirty="0"/>
          </a:p>
        </p:txBody>
      </p:sp>
      <p:sp>
        <p:nvSpPr>
          <p:cNvPr id="34" name="text"/>
          <p:cNvSpPr txBox="1"/>
          <p:nvPr/>
        </p:nvSpPr>
        <p:spPr>
          <a:xfrm>
            <a:off x="548640" y="5486400"/>
            <a:ext cx="11094415" cy="320040"/>
          </a:xfrm>
          <a:prstGeom prst="rect">
            <a:avLst/>
          </a:prstGeom>
          <a:noFill/>
          <a:ln/>
        </p:spPr>
        <p:txBody>
          <a:bodyPr wrap="square" lIns="0" tIns="0" rIns="0" bIns="0" rtlCol="0" anchor="t"/>
          <a:lstStyle/>
          <a:p>
            <a:pPr algn="l" indent="0" marL="0">
              <a:buNone/>
            </a:pPr>
            <a:r>
              <a:rPr lang="en-US" sz="1200" i="1" dirty="0">
                <a:solidFill>
                  <a:srgbClr val="5E5E5E"/>
                </a:solidFill>
              </a:rPr>
              <a:t>Numbers shown today are preliminary development-split results; the full results are in the manuscript in preparation.</a:t>
            </a:r>
            <a:endParaRPr lang="en-US" sz="1200" dirty="0"/>
          </a:p>
        </p:txBody>
      </p:sp>
      <p:sp>
        <p:nvSpPr>
          <p:cNvPr id="35"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[5] Elrggal et al., submitted 2026   [13] Kwong et al., Front Digit Health 2022   [15] Reyna et al., Crit Care Med 2020   [41] This work, preliminary, unpublished   [42] Elrggal et al., submitted 2026   [43] Elrggal et al., submitted 2026</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FFFFFF"/>
                </a:solidFill>
              </a:rPr>
              <a:t>WHERE I WOULD LIKE YOUR INPUT</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3000" b="1" dirty="0">
                <a:solidFill>
                  <a:srgbClr val="FFFFFF"/>
                </a:solidFill>
                <a:latin typeface="Arial" pitchFamily="34" charset="0"/>
                <a:ea typeface="Arial" pitchFamily="34" charset="-122"/>
                <a:cs typeface="Arial" pitchFamily="34" charset="-120"/>
              </a:rPr>
              <a:t>Where I would like your input</a:t>
            </a:r>
            <a:endParaRPr lang="en-US" sz="3000" dirty="0"/>
          </a:p>
        </p:txBody>
      </p:sp>
      <p:sp>
        <p:nvSpPr>
          <p:cNvPr id="4" name="box"/>
          <p:cNvSpPr/>
          <p:nvPr/>
        </p:nvSpPr>
        <p:spPr>
          <a:xfrm>
            <a:off x="548640" y="1600200"/>
            <a:ext cx="11094415" cy="1920240"/>
          </a:xfrm>
          <a:prstGeom prst="rect">
            <a:avLst/>
          </a:prstGeom>
          <a:solidFill>
            <a:srgbClr val="FFFFFF"/>
          </a:solidFill>
          <a:ln w="12700">
            <a:solidFill>
              <a:srgbClr val="FFFFFF"/>
            </a:solidFill>
            <a:prstDash val="solid"/>
          </a:ln>
        </p:spPr>
      </p:sp>
      <p:sp>
        <p:nvSpPr>
          <p:cNvPr id="5" name="icon tile"/>
          <p:cNvSpPr/>
          <p:nvPr/>
        </p:nvSpPr>
        <p:spPr>
          <a:xfrm>
            <a:off x="777240" y="1874520"/>
            <a:ext cx="640080" cy="640080"/>
          </a:xfrm>
          <a:prstGeom prst="rect">
            <a:avLst/>
          </a:prstGeom>
          <a:solidFill>
            <a:srgbClr val="C8102E"/>
          </a:solidFill>
          <a:ln w="12700">
            <a:solidFill>
              <a:srgbClr val="C8102E"/>
            </a:solidFill>
            <a:prstDash val="solid"/>
          </a:ln>
        </p:spPr>
      </p:sp>
      <p:pic>
        <p:nvPicPr>
          <p:cNvPr id="6" name="icon" descr="preencoded.png">    </p:cNvPr>
          <p:cNvPicPr>
            <a:picLocks noChangeAspect="1"/>
          </p:cNvPicPr>
          <p:nvPr/>
        </p:nvPicPr>
        <p:blipFill>
          <a:blip r:embed="rId1"/>
          <a:stretch>
            <a:fillRect/>
          </a:stretch>
        </p:blipFill>
        <p:spPr>
          <a:xfrm>
            <a:off x="905256" y="2002536"/>
            <a:ext cx="384048" cy="384048"/>
          </a:xfrm>
          <a:prstGeom prst="rect">
            <a:avLst/>
          </a:prstGeom>
        </p:spPr>
      </p:pic>
      <p:sp>
        <p:nvSpPr>
          <p:cNvPr id="7" name="text"/>
          <p:cNvSpPr txBox="1"/>
          <p:nvPr/>
        </p:nvSpPr>
        <p:spPr>
          <a:xfrm>
            <a:off x="1645920" y="1828800"/>
            <a:ext cx="9722815" cy="457200"/>
          </a:xfrm>
          <a:prstGeom prst="rect">
            <a:avLst/>
          </a:prstGeom>
          <a:noFill/>
          <a:ln/>
        </p:spPr>
        <p:txBody>
          <a:bodyPr wrap="square" lIns="0" tIns="0" rIns="0" bIns="0" rtlCol="0" anchor="ctr"/>
          <a:lstStyle/>
          <a:p>
            <a:pPr algn="l" indent="0" marL="0">
              <a:buNone/>
            </a:pPr>
            <a:r>
              <a:rPr lang="en-US" sz="1900" b="1" dirty="0">
                <a:solidFill>
                  <a:srgbClr val="1B1B1B"/>
                </a:solidFill>
              </a:rPr>
              <a:t>Which score should choose the model when they disagree?</a:t>
            </a:r>
            <a:endParaRPr lang="en-US" sz="1900" dirty="0"/>
          </a:p>
        </p:txBody>
      </p:sp>
      <p:sp>
        <p:nvSpPr>
          <p:cNvPr id="8" name="text"/>
          <p:cNvSpPr txBox="1"/>
          <p:nvPr/>
        </p:nvSpPr>
        <p:spPr>
          <a:xfrm>
            <a:off x="1645920" y="2331720"/>
            <a:ext cx="9722815" cy="1097280"/>
          </a:xfrm>
          <a:prstGeom prst="rect">
            <a:avLst/>
          </a:prstGeom>
          <a:noFill/>
          <a:ln/>
        </p:spPr>
        <p:txBody>
          <a:bodyPr wrap="square" lIns="0" tIns="0" rIns="0" bIns="0" rtlCol="0" anchor="t"/>
          <a:lstStyle/>
          <a:p>
            <a:pPr algn="l" indent="0" marL="0">
              <a:buNone/>
            </a:pPr>
            <a:r>
              <a:rPr lang="en-US" sz="1400" dirty="0">
                <a:solidFill>
                  <a:srgbClr val="1B1B1B"/>
                </a:solidFill>
              </a:rPr>
              <a:t>Utility rewards an alarm hours before onset and charges for every false-alarm hour; AUROC rewards ranking [15, 19]. On our data they already rank models differently. How much sensitivity would you trade to halve false alarms per patient-day?</a:t>
            </a:r>
            <a:endParaRPr lang="en-US" sz="1400" dirty="0"/>
          </a:p>
        </p:txBody>
      </p:sp>
      <p:sp>
        <p:nvSpPr>
          <p:cNvPr id="9" name="box"/>
          <p:cNvSpPr/>
          <p:nvPr/>
        </p:nvSpPr>
        <p:spPr>
          <a:xfrm>
            <a:off x="548640" y="3749040"/>
            <a:ext cx="11094415" cy="1920240"/>
          </a:xfrm>
          <a:prstGeom prst="rect">
            <a:avLst/>
          </a:prstGeom>
          <a:solidFill>
            <a:srgbClr val="FFFFFF"/>
          </a:solidFill>
          <a:ln w="12700">
            <a:solidFill>
              <a:srgbClr val="FFFFFF"/>
            </a:solidFill>
            <a:prstDash val="solid"/>
          </a:ln>
        </p:spPr>
      </p:sp>
      <p:sp>
        <p:nvSpPr>
          <p:cNvPr id="10" name="icon tile"/>
          <p:cNvSpPr/>
          <p:nvPr/>
        </p:nvSpPr>
        <p:spPr>
          <a:xfrm>
            <a:off x="777240" y="4023360"/>
            <a:ext cx="640080" cy="640080"/>
          </a:xfrm>
          <a:prstGeom prst="rect">
            <a:avLst/>
          </a:prstGeom>
          <a:solidFill>
            <a:srgbClr val="C8102E"/>
          </a:solidFill>
          <a:ln w="12700">
            <a:solidFill>
              <a:srgbClr val="C8102E"/>
            </a:solidFill>
            <a:prstDash val="solid"/>
          </a:ln>
        </p:spPr>
      </p:sp>
      <p:pic>
        <p:nvPicPr>
          <p:cNvPr id="11" name="icon" descr="preencoded.png">    </p:cNvPr>
          <p:cNvPicPr>
            <a:picLocks noChangeAspect="1"/>
          </p:cNvPicPr>
          <p:nvPr/>
        </p:nvPicPr>
        <p:blipFill>
          <a:blip r:embed="rId2"/>
          <a:stretch>
            <a:fillRect/>
          </a:stretch>
        </p:blipFill>
        <p:spPr>
          <a:xfrm>
            <a:off x="905256" y="4151376"/>
            <a:ext cx="384048" cy="384048"/>
          </a:xfrm>
          <a:prstGeom prst="rect">
            <a:avLst/>
          </a:prstGeom>
        </p:spPr>
      </p:pic>
      <p:sp>
        <p:nvSpPr>
          <p:cNvPr id="12" name="text"/>
          <p:cNvSpPr txBox="1"/>
          <p:nvPr/>
        </p:nvSpPr>
        <p:spPr>
          <a:xfrm>
            <a:off x="1645920" y="3977640"/>
            <a:ext cx="9722815" cy="457200"/>
          </a:xfrm>
          <a:prstGeom prst="rect">
            <a:avLst/>
          </a:prstGeom>
          <a:noFill/>
          <a:ln/>
        </p:spPr>
        <p:txBody>
          <a:bodyPr wrap="square" lIns="0" tIns="0" rIns="0" bIns="0" rtlCol="0" anchor="ctr"/>
          <a:lstStyle/>
          <a:p>
            <a:pPr algn="l" indent="0" marL="0">
              <a:buNone/>
            </a:pPr>
            <a:r>
              <a:rPr lang="en-US" sz="1900" b="1" dirty="0">
                <a:solidFill>
                  <a:srgbClr val="1B1B1B"/>
                </a:solidFill>
              </a:rPr>
              <a:t>How should one sepsis label work across two hospital systems?</a:t>
            </a:r>
            <a:endParaRPr lang="en-US" sz="1900" dirty="0"/>
          </a:p>
        </p:txBody>
      </p:sp>
      <p:sp>
        <p:nvSpPr>
          <p:cNvPr id="13" name="text"/>
          <p:cNvSpPr txBox="1"/>
          <p:nvPr/>
        </p:nvSpPr>
        <p:spPr>
          <a:xfrm>
            <a:off x="1645920" y="4480560"/>
            <a:ext cx="9722815" cy="1097280"/>
          </a:xfrm>
          <a:prstGeom prst="rect">
            <a:avLst/>
          </a:prstGeom>
          <a:noFill/>
          <a:ln/>
        </p:spPr>
        <p:txBody>
          <a:bodyPr wrap="square" lIns="0" tIns="0" rIns="0" bIns="0" rtlCol="0" anchor="t"/>
          <a:lstStyle/>
          <a:p>
            <a:pPr algn="l" indent="0" marL="0">
              <a:buNone/>
            </a:pPr>
            <a:r>
              <a:rPr lang="en-US" sz="1400" dirty="0">
                <a:solidFill>
                  <a:srgbClr val="1B1B1B"/>
                </a:solidFill>
              </a:rPr>
              <a:t>In MIMIC-IV, suspicion of infection needs an antibiotic and a culture; eICU records antibiotics only [35, 31]. Harmonise both to the weaker definition, keep each database's best definition, or treat them as two targets?</a:t>
            </a:r>
            <a:endParaRPr lang="en-US" sz="1400" dirty="0"/>
          </a:p>
        </p:txBody>
      </p:sp>
      <p:sp>
        <p:nvSpPr>
          <p:cNvPr id="14"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F3C6CC"/>
                </a:solidFill>
              </a:rPr>
              <a:t>[15] Reyna et al., Crit Care Med 2020   [19] Shah et al., JAMA 2019   [31] Pollard et al., Sci Data 2018   [35] Seymour et al., JAMA 2016</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FFFFFF"/>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Glossary of clinical terms</a:t>
            </a:r>
            <a:endParaRPr lang="en-US" sz="2400" dirty="0"/>
          </a:p>
        </p:txBody>
      </p:sp>
      <p:sp>
        <p:nvSpPr>
          <p:cNvPr id="4" name="text"/>
          <p:cNvSpPr txBox="1"/>
          <p:nvPr/>
        </p:nvSpPr>
        <p:spPr>
          <a:xfrm>
            <a:off x="548640" y="150876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Sepsis-3</a:t>
            </a:r>
            <a:endParaRPr lang="en-US" sz="1300" dirty="0"/>
          </a:p>
        </p:txBody>
      </p:sp>
      <p:sp>
        <p:nvSpPr>
          <p:cNvPr id="5" name="text"/>
          <p:cNvSpPr txBox="1"/>
          <p:nvPr/>
        </p:nvSpPr>
        <p:spPr>
          <a:xfrm>
            <a:off x="2240280" y="150876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Organ dysfunction caused by a dysregulated response to infection; operationalised as suspected infection plus a SOFA rise of 2 or more [6]</a:t>
            </a:r>
            <a:endParaRPr lang="en-US" sz="1200" dirty="0"/>
          </a:p>
        </p:txBody>
      </p:sp>
      <p:sp>
        <p:nvSpPr>
          <p:cNvPr id="6" name="text"/>
          <p:cNvSpPr txBox="1"/>
          <p:nvPr/>
        </p:nvSpPr>
        <p:spPr>
          <a:xfrm>
            <a:off x="6172200" y="150876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SOFA</a:t>
            </a:r>
            <a:endParaRPr lang="en-US" sz="1300" dirty="0"/>
          </a:p>
        </p:txBody>
      </p:sp>
      <p:sp>
        <p:nvSpPr>
          <p:cNvPr id="7" name="text"/>
          <p:cNvSpPr txBox="1"/>
          <p:nvPr/>
        </p:nvSpPr>
        <p:spPr>
          <a:xfrm>
            <a:off x="7863840" y="150876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0 to 4 points for each of six organ systems [7]</a:t>
            </a:r>
            <a:endParaRPr lang="en-US" sz="1200" dirty="0"/>
          </a:p>
        </p:txBody>
      </p:sp>
      <p:sp>
        <p:nvSpPr>
          <p:cNvPr id="8" name="text"/>
          <p:cNvSpPr txBox="1"/>
          <p:nvPr/>
        </p:nvSpPr>
        <p:spPr>
          <a:xfrm>
            <a:off x="548640" y="256032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Suspected infection</a:t>
            </a:r>
            <a:endParaRPr lang="en-US" sz="1300" dirty="0"/>
          </a:p>
        </p:txBody>
      </p:sp>
      <p:sp>
        <p:nvSpPr>
          <p:cNvPr id="9" name="text"/>
          <p:cNvSpPr txBox="1"/>
          <p:nvPr/>
        </p:nvSpPr>
        <p:spPr>
          <a:xfrm>
            <a:off x="2240280" y="256032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An antibiotic and a culture within 72 h / 24 h of each other [35]; eICU has antibiotics only</a:t>
            </a:r>
            <a:endParaRPr lang="en-US" sz="1200" dirty="0"/>
          </a:p>
        </p:txBody>
      </p:sp>
      <p:sp>
        <p:nvSpPr>
          <p:cNvPr id="10" name="text"/>
          <p:cNvSpPr txBox="1"/>
          <p:nvPr/>
        </p:nvSpPr>
        <p:spPr>
          <a:xfrm>
            <a:off x="6172200" y="256032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Onset and horizon</a:t>
            </a:r>
            <a:endParaRPr lang="en-US" sz="1300" dirty="0"/>
          </a:p>
        </p:txBody>
      </p:sp>
      <p:sp>
        <p:nvSpPr>
          <p:cNvPr id="11" name="text"/>
          <p:cNvSpPr txBox="1"/>
          <p:nvPr/>
        </p:nvSpPr>
        <p:spPr>
          <a:xfrm>
            <a:off x="7863840" y="256032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Onset is the first hour both criteria are met; the model asks every hour whether onset falls within the next 6 h</a:t>
            </a:r>
            <a:endParaRPr lang="en-US" sz="1200" dirty="0"/>
          </a:p>
        </p:txBody>
      </p:sp>
      <p:sp>
        <p:nvSpPr>
          <p:cNvPr id="12" name="text"/>
          <p:cNvSpPr txBox="1"/>
          <p:nvPr/>
        </p:nvSpPr>
        <p:spPr>
          <a:xfrm>
            <a:off x="548640" y="361188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qSOFA, NEWS2</a:t>
            </a:r>
            <a:endParaRPr lang="en-US" sz="1300" dirty="0"/>
          </a:p>
        </p:txBody>
      </p:sp>
      <p:sp>
        <p:nvSpPr>
          <p:cNvPr id="13" name="text"/>
          <p:cNvSpPr txBox="1"/>
          <p:nvPr/>
        </p:nvSpPr>
        <p:spPr>
          <a:xfrm>
            <a:off x="2240280" y="361188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Bedside screening scores from vital signs and mental state [35, 44]; predictors here, never the label</a:t>
            </a:r>
            <a:endParaRPr lang="en-US" sz="1200" dirty="0"/>
          </a:p>
        </p:txBody>
      </p:sp>
      <p:sp>
        <p:nvSpPr>
          <p:cNvPr id="14" name="text"/>
          <p:cNvSpPr txBox="1"/>
          <p:nvPr/>
        </p:nvSpPr>
        <p:spPr>
          <a:xfrm>
            <a:off x="6172200" y="361188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AKI stage</a:t>
            </a:r>
            <a:endParaRPr lang="en-US" sz="1300" dirty="0"/>
          </a:p>
        </p:txBody>
      </p:sp>
      <p:sp>
        <p:nvSpPr>
          <p:cNvPr id="15" name="text"/>
          <p:cNvSpPr txBox="1"/>
          <p:nvPr/>
        </p:nvSpPr>
        <p:spPr>
          <a:xfrm>
            <a:off x="7863840" y="361188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Kidney injury stage from creatinine and urine output [45]</a:t>
            </a:r>
            <a:endParaRPr lang="en-US" sz="1200" dirty="0"/>
          </a:p>
        </p:txBody>
      </p:sp>
      <p:sp>
        <p:nvSpPr>
          <p:cNvPr id="16" name="text"/>
          <p:cNvSpPr txBox="1"/>
          <p:nvPr/>
        </p:nvSpPr>
        <p:spPr>
          <a:xfrm>
            <a:off x="548640" y="466344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Utility</a:t>
            </a:r>
            <a:endParaRPr lang="en-US" sz="1300" dirty="0"/>
          </a:p>
        </p:txBody>
      </p:sp>
      <p:sp>
        <p:nvSpPr>
          <p:cNvPr id="17" name="text"/>
          <p:cNvSpPr txBox="1"/>
          <p:nvPr/>
        </p:nvSpPr>
        <p:spPr>
          <a:xfrm>
            <a:off x="2240280" y="466344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Challenge score: reward for alarms up to 12 h before onset, cost for false alarms and missed sepsis; 1 perfect, 0 never alarming [15]</a:t>
            </a:r>
            <a:endParaRPr lang="en-US" sz="1200" dirty="0"/>
          </a:p>
        </p:txBody>
      </p:sp>
      <p:sp>
        <p:nvSpPr>
          <p:cNvPr id="18" name="text"/>
          <p:cNvSpPr txBox="1"/>
          <p:nvPr/>
        </p:nvSpPr>
        <p:spPr>
          <a:xfrm>
            <a:off x="6172200" y="466344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Causal</a:t>
            </a:r>
            <a:endParaRPr lang="en-US" sz="1300" dirty="0"/>
          </a:p>
        </p:txBody>
      </p:sp>
      <p:sp>
        <p:nvSpPr>
          <p:cNvPr id="19" name="text"/>
          <p:cNvSpPr txBox="1"/>
          <p:nvPr/>
        </p:nvSpPr>
        <p:spPr>
          <a:xfrm>
            <a:off x="7863840" y="466344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Each value used only from the hour it was recorded, with a measured flag and its age; no hour after onset used</a:t>
            </a:r>
            <a:endParaRPr lang="en-US" sz="1200" dirty="0"/>
          </a:p>
        </p:txBody>
      </p:sp>
      <p:sp>
        <p:nvSpPr>
          <p:cNvPr id="20"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[6] Singer et al., JAMA 2016   [7] Vincent et al., Intensive Care Med 1996   [15] Reyna et al., Crit Care Med 2020   [35] Seymour et al., JAMA 2016   [44] Royal College of Physicians 2017   [45] KDIGO 2012</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The utility score: what an alarm is worth, hour by hour [15]</a:t>
            </a:r>
            <a:endParaRPr lang="en-US" sz="2400" dirty="0"/>
          </a:p>
        </p:txBody>
      </p:sp>
      <p:graphicFrame>
        <p:nvGraphicFramePr>
          <p:cNvPr id="4" name="utility curve" descr=""/>
          <p:cNvGraphicFramePr/>
          <p:nvPr/>
        </p:nvGraphicFramePr>
        <p:xfrm>
          <a:off x="548640" y="1463040"/>
          <a:ext cx="6949440" cy="4297680"/>
        </p:xfrm>
        <a:graphic xmlns:a="http://schemas.openxmlformats.org/drawingml/2006/main">
          <a:graphicData uri="http://schemas.openxmlformats.org/drawingml/2006/chart">
            <c:chart xmlns:c="http://schemas.openxmlformats.org/drawingml/2006/chart" r:id="rId1"/>
          </a:graphicData>
        </a:graphic>
      </p:graphicFrame>
      <p:sp>
        <p:nvSpPr>
          <p:cNvPr id="5" name="list"/>
          <p:cNvSpPr txBox="1"/>
          <p:nvPr/>
        </p:nvSpPr>
        <p:spPr>
          <a:xfrm>
            <a:off x="7772400" y="1600200"/>
            <a:ext cx="3870655" cy="4114800"/>
          </a:xfrm>
          <a:prstGeom prst="rect">
            <a:avLst/>
          </a:prstGeom>
          <a:noFill/>
          <a:ln/>
        </p:spPr>
        <p:txBody>
          <a:bodyPr wrap="square" lIns="0" tIns="0" rIns="0" bIns="0" rtlCol="0" anchor="t"/>
          <a:lstStyle/>
          <a:p>
            <a:pPr marL="203200" indent="-203200">
              <a:spcAft>
                <a:spcPts val="800"/>
              </a:spcAft>
              <a:buSzPct val="100000"/>
              <a:buChar char="•"/>
            </a:pPr>
            <a:r>
              <a:rPr lang="en-US" sz="1350" dirty="0">
                <a:solidFill>
                  <a:srgbClr val="1B1B1B"/>
                </a:solidFill>
              </a:rPr>
              <a:t>An alarm earns most at 6 h before onset; earlier than 12 h earns nothing.</a:t>
            </a:r>
            <a:endParaRPr lang="en-US" sz="1350" dirty="0"/>
          </a:p>
          <a:p>
            <a:pPr marL="203200" indent="-203200">
              <a:spcAft>
                <a:spcPts val="800"/>
              </a:spcAft>
              <a:buSzPct val="100000"/>
              <a:buChar char="•"/>
            </a:pPr>
            <a:r>
              <a:rPr lang="en-US" sz="1350" dirty="0">
                <a:solidFill>
                  <a:srgbClr val="1B1B1B"/>
                </a:solidFill>
              </a:rPr>
              <a:t>Each false-alarm hour on a patient without sepsis costs 0.05.</a:t>
            </a:r>
            <a:endParaRPr lang="en-US" sz="1350" dirty="0"/>
          </a:p>
          <a:p>
            <a:pPr marL="203200" indent="-203200">
              <a:spcAft>
                <a:spcPts val="800"/>
              </a:spcAft>
              <a:buSzPct val="100000"/>
              <a:buChar char="•"/>
            </a:pPr>
            <a:r>
              <a:rPr lang="en-US" sz="1350" dirty="0">
                <a:solidFill>
                  <a:srgbClr val="1B1B1B"/>
                </a:solidFill>
              </a:rPr>
              <a:t>Silence after onset costs up to 2 points per hour.</a:t>
            </a:r>
            <a:endParaRPr lang="en-US" sz="1350" dirty="0"/>
          </a:p>
          <a:p>
            <a:pPr marL="203200" indent="-203200">
              <a:spcAft>
                <a:spcPts val="800"/>
              </a:spcAft>
              <a:buSzPct val="100000"/>
              <a:buChar char="•"/>
            </a:pPr>
            <a:r>
              <a:rPr lang="en-US" sz="1350" dirty="0">
                <a:solidFill>
                  <a:srgbClr val="1B1B1B"/>
                </a:solidFill>
              </a:rPr>
              <a:t>Normalised: (score - never alarming) / (perfect - never alarming).</a:t>
            </a:r>
            <a:endParaRPr lang="en-US" sz="1350" dirty="0"/>
          </a:p>
          <a:p>
            <a:pPr marL="203200" indent="-203200">
              <a:spcAft>
                <a:spcPts val="800"/>
              </a:spcAft>
              <a:buSzPct val="100000"/>
              <a:buChar char="•"/>
            </a:pPr>
            <a:r>
              <a:rPr lang="en-US" sz="1350" dirty="0">
                <a:solidFill>
                  <a:srgbClr val="1B1B1B"/>
                </a:solidFill>
              </a:rPr>
              <a:t>Official scorer code used unchanged.</a:t>
            </a:r>
            <a:endParaRPr lang="en-US" sz="1350" dirty="0"/>
          </a:p>
        </p:txBody>
      </p:sp>
      <p:sp>
        <p:nvSpPr>
          <p:cNvPr id="6"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[15] Reyna et al., Crit Care Med 2020</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Six choices that differ from common practice</a:t>
            </a:r>
            <a:endParaRPr lang="en-US" sz="2400" dirty="0"/>
          </a:p>
        </p:txBody>
      </p:sp>
      <p:graphicFrame>
        <p:nvGraphicFramePr>
          <p:cNvPr id="19" name="choices table"/>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3108960"/>
                <a:gridCol w="4754880"/>
                <a:gridCol w="3227832"/>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Common practice</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This project</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Why</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r>
              <a:tr h="0">
                <a:tc>
                  <a:txBody>
                    <a:bodyPr/>
                    <a:lstStyle/>
                    <a:p>
                      <a:pPr indent="0" marL="0">
                        <a:buNone/>
                      </a:pPr>
                      <a:r>
                        <a:rPr lang="en-US" sz="1150" dirty="0">
                          <a:solidFill>
                            <a:srgbClr val="1B1B1B"/>
                          </a:solidFill>
                          <a:latin typeface="Arial" pitchFamily="34" charset="0"/>
                          <a:ea typeface="Arial" pitchFamily="34" charset="-122"/>
                          <a:cs typeface="Arial" pitchFamily="34" charset="-120"/>
                        </a:rPr>
                        <a:t>Challenge-prepared tables [15]</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b="1" dirty="0">
                          <a:solidFill>
                            <a:srgbClr val="1B1B1B"/>
                          </a:solidFill>
                          <a:latin typeface="Arial" pitchFamily="34" charset="0"/>
                          <a:ea typeface="Arial" pitchFamily="34" charset="-122"/>
                          <a:cs typeface="Arial" pitchFamily="34" charset="-120"/>
                        </a:rPr>
                        <a:t>Raw MIMIC-IV and eICU</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Transfer across hospital systems is tested for real</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dirty="0">
                          <a:solidFill>
                            <a:srgbClr val="1B1B1B"/>
                          </a:solidFill>
                          <a:latin typeface="Arial" pitchFamily="34" charset="0"/>
                          <a:ea typeface="Arial" pitchFamily="34" charset="-122"/>
                          <a:cs typeface="Arial" pitchFamily="34" charset="-120"/>
                        </a:rPr>
                        <a:t>Each study its own definition [24]</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b="1" dirty="0">
                          <a:solidFill>
                            <a:srgbClr val="1B1B1B"/>
                          </a:solidFill>
                          <a:latin typeface="Arial" pitchFamily="34" charset="0"/>
                          <a:ea typeface="Arial" pitchFamily="34" charset="-122"/>
                          <a:cs typeface="Arial" pitchFamily="34" charset="-120"/>
                        </a:rPr>
                        <a:t>One Sepsis-3 definition on both databases [33, 34]</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Results comparable</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dirty="0">
                          <a:solidFill>
                            <a:srgbClr val="1B1B1B"/>
                          </a:solidFill>
                          <a:latin typeface="Arial" pitchFamily="34" charset="0"/>
                          <a:ea typeface="Arial" pitchFamily="34" charset="-122"/>
                          <a:cs typeface="Arial" pitchFamily="34" charset="-120"/>
                        </a:rPr>
                        <a:t>Values carried forward; post-onset hours positive</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b="1" dirty="0">
                          <a:solidFill>
                            <a:srgbClr val="1B1B1B"/>
                          </a:solidFill>
                          <a:latin typeface="Arial" pitchFamily="34" charset="0"/>
                          <a:ea typeface="Arial" pitchFamily="34" charset="-122"/>
                          <a:cs typeface="Arial" pitchFamily="34" charset="-120"/>
                        </a:rPr>
                        <a:t>Each value used from the hour recorded, expires after 24 h; post-onset hours excluded</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No information from the future [18]</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dirty="0">
                          <a:solidFill>
                            <a:srgbClr val="1B1B1B"/>
                          </a:solidFill>
                          <a:latin typeface="Arial" pitchFamily="34" charset="0"/>
                          <a:ea typeface="Arial" pitchFamily="34" charset="-122"/>
                          <a:cs typeface="Arial" pitchFamily="34" charset="-120"/>
                        </a:rPr>
                        <a:t>40 to 125 variables</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b="1" dirty="0">
                          <a:solidFill>
                            <a:srgbClr val="1B1B1B"/>
                          </a:solidFill>
                          <a:latin typeface="Arial" pitchFamily="34" charset="0"/>
                          <a:ea typeface="Arial" pitchFamily="34" charset="-122"/>
                          <a:cs typeface="Arial" pitchFamily="34" charset="-120"/>
                        </a:rPr>
                        <a:t>655 clinically defined predictors</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The whole clinical picture</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dirty="0">
                          <a:solidFill>
                            <a:srgbClr val="1B1B1B"/>
                          </a:solidFill>
                          <a:latin typeface="Arial" pitchFamily="34" charset="0"/>
                          <a:ea typeface="Arial" pitchFamily="34" charset="-122"/>
                          <a:cs typeface="Arial" pitchFamily="34" charset="-120"/>
                        </a:rPr>
                        <a:t>Antibiotics as predictors</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b="1" dirty="0">
                          <a:solidFill>
                            <a:srgbClr val="1B1B1B"/>
                          </a:solidFill>
                          <a:latin typeface="Arial" pitchFamily="34" charset="0"/>
                          <a:ea typeface="Arial" pitchFamily="34" charset="-122"/>
                          <a:cs typeface="Arial" pitchFamily="34" charset="-120"/>
                        </a:rPr>
                        <a:t>Label-defining antibiotics excluded; prophylaxis kept by rule [28]</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Avoids predicting the label from itself</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dirty="0">
                          <a:solidFill>
                            <a:srgbClr val="1B1B1B"/>
                          </a:solidFill>
                          <a:latin typeface="Arial" pitchFamily="34" charset="0"/>
                          <a:ea typeface="Arial" pitchFamily="34" charset="-122"/>
                          <a:cs typeface="Arial" pitchFamily="34" charset="-120"/>
                        </a:rPr>
                        <a:t>AUROC on one split</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b="1" dirty="0">
                          <a:solidFill>
                            <a:srgbClr val="1B1B1B"/>
                          </a:solidFill>
                          <a:latin typeface="Arial" pitchFamily="34" charset="0"/>
                          <a:ea typeface="Arial" pitchFamily="34" charset="-122"/>
                          <a:cs typeface="Arial" pitchFamily="34" charset="-120"/>
                        </a:rPr>
                        <a:t>Utility, false alarms per day, warning time, calibration, sealed holdout</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What would help patients [19]</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bl>
          </a:graphicData>
        </a:graphic>
      </p:graphicFrame>
      <p:sp>
        <p:nvSpPr>
          <p:cNvPr id="5"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[15] Reyna et al., Crit Care Med 2020   [18] Kapoor et al., Patterns 2023   [19] Shah et al., JAMA 2019   [24] Moor et al., Front Med 2021   [28] Bratzler et al., Am J Health Syst Pharm 2013   [33] van de Water et al., ICLR 2024   [34] Bennett et al., GigaScience 2023</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The 655 predictors, each with a measured flag and an age</a:t>
            </a:r>
            <a:endParaRPr lang="en-US" sz="2400" dirty="0"/>
          </a:p>
        </p:txBody>
      </p:sp>
      <p:sp>
        <p:nvSpPr>
          <p:cNvPr id="4" name="box"/>
          <p:cNvSpPr/>
          <p:nvPr/>
        </p:nvSpPr>
        <p:spPr>
          <a:xfrm>
            <a:off x="548640" y="1508760"/>
            <a:ext cx="5440680" cy="987552"/>
          </a:xfrm>
          <a:prstGeom prst="rect">
            <a:avLst/>
          </a:prstGeom>
          <a:solidFill>
            <a:srgbClr val="F2F2F2"/>
          </a:solidFill>
          <a:ln w="12700">
            <a:solidFill>
              <a:srgbClr val="F2F2F2"/>
            </a:solidFill>
            <a:prstDash val="solid"/>
          </a:ln>
        </p:spPr>
      </p:sp>
      <p:sp>
        <p:nvSpPr>
          <p:cNvPr id="5" name="text"/>
          <p:cNvSpPr txBox="1"/>
          <p:nvPr/>
        </p:nvSpPr>
        <p:spPr>
          <a:xfrm>
            <a:off x="685800" y="156362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Vital signs and monitoring</a:t>
            </a:r>
            <a:endParaRPr lang="en-US" sz="1250" dirty="0"/>
          </a:p>
        </p:txBody>
      </p:sp>
      <p:sp>
        <p:nvSpPr>
          <p:cNvPr id="6" name="text"/>
          <p:cNvSpPr txBox="1"/>
          <p:nvPr/>
        </p:nvSpPr>
        <p:spPr>
          <a:xfrm>
            <a:off x="685800" y="185623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heart rate, cuff and arterial pressures, respiratory rate, oxygen saturation, temperature, end-tidal CO2, CVP, cardiac output, pain and sedation scores</a:t>
            </a:r>
            <a:endParaRPr lang="en-US" sz="1150" dirty="0"/>
          </a:p>
        </p:txBody>
      </p:sp>
      <p:sp>
        <p:nvSpPr>
          <p:cNvPr id="7" name="box"/>
          <p:cNvSpPr/>
          <p:nvPr/>
        </p:nvSpPr>
        <p:spPr>
          <a:xfrm>
            <a:off x="6172200" y="1508760"/>
            <a:ext cx="5440680" cy="987552"/>
          </a:xfrm>
          <a:prstGeom prst="rect">
            <a:avLst/>
          </a:prstGeom>
          <a:solidFill>
            <a:srgbClr val="F2F2F2"/>
          </a:solidFill>
          <a:ln w="12700">
            <a:solidFill>
              <a:srgbClr val="F2F2F2"/>
            </a:solidFill>
            <a:prstDash val="solid"/>
          </a:ln>
        </p:spPr>
      </p:sp>
      <p:sp>
        <p:nvSpPr>
          <p:cNvPr id="8" name="text"/>
          <p:cNvSpPr txBox="1"/>
          <p:nvPr/>
        </p:nvSpPr>
        <p:spPr>
          <a:xfrm>
            <a:off x="6309360" y="156362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Laboratory and blood gas</a:t>
            </a:r>
            <a:endParaRPr lang="en-US" sz="1250" dirty="0"/>
          </a:p>
        </p:txBody>
      </p:sp>
      <p:sp>
        <p:nvSpPr>
          <p:cNvPr id="9" name="text"/>
          <p:cNvSpPr txBox="1"/>
          <p:nvPr/>
        </p:nvSpPr>
        <p:spPr>
          <a:xfrm>
            <a:off x="6309360" y="185623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chemistry, full blood count with differential, coagulation, lactate, procalcitonin, troponin, BNP, ferritin, D-dimer, ammonia, urinalysis, blood gases</a:t>
            </a:r>
            <a:endParaRPr lang="en-US" sz="1150" dirty="0"/>
          </a:p>
        </p:txBody>
      </p:sp>
      <p:sp>
        <p:nvSpPr>
          <p:cNvPr id="10" name="box"/>
          <p:cNvSpPr/>
          <p:nvPr/>
        </p:nvSpPr>
        <p:spPr>
          <a:xfrm>
            <a:off x="548640" y="2606040"/>
            <a:ext cx="5440680" cy="987552"/>
          </a:xfrm>
          <a:prstGeom prst="rect">
            <a:avLst/>
          </a:prstGeom>
          <a:solidFill>
            <a:srgbClr val="F2F2F2"/>
          </a:solidFill>
          <a:ln w="12700">
            <a:solidFill>
              <a:srgbClr val="F2F2F2"/>
            </a:solidFill>
            <a:prstDash val="solid"/>
          </a:ln>
        </p:spPr>
      </p:sp>
      <p:sp>
        <p:nvSpPr>
          <p:cNvPr id="11" name="text"/>
          <p:cNvSpPr txBox="1"/>
          <p:nvPr/>
        </p:nvSpPr>
        <p:spPr>
          <a:xfrm>
            <a:off x="685800" y="266090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Scores and derived</a:t>
            </a:r>
            <a:endParaRPr lang="en-US" sz="1250" dirty="0"/>
          </a:p>
        </p:txBody>
      </p:sp>
      <p:sp>
        <p:nvSpPr>
          <p:cNvPr id="12" name="text"/>
          <p:cNvSpPr txBox="1"/>
          <p:nvPr/>
        </p:nvSpPr>
        <p:spPr>
          <a:xfrm>
            <a:off x="685800" y="295351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SOFA per organ [7], qSOFA, NEWS2 [44], shock index, P/F and S/F ratios, changes from previous and baseline, 24 h extremes</a:t>
            </a:r>
            <a:endParaRPr lang="en-US" sz="1150" dirty="0"/>
          </a:p>
        </p:txBody>
      </p:sp>
      <p:sp>
        <p:nvSpPr>
          <p:cNvPr id="13" name="box"/>
          <p:cNvSpPr/>
          <p:nvPr/>
        </p:nvSpPr>
        <p:spPr>
          <a:xfrm>
            <a:off x="6172200" y="2606040"/>
            <a:ext cx="5440680" cy="987552"/>
          </a:xfrm>
          <a:prstGeom prst="rect">
            <a:avLst/>
          </a:prstGeom>
          <a:solidFill>
            <a:srgbClr val="F2F2F2"/>
          </a:solidFill>
          <a:ln w="12700">
            <a:solidFill>
              <a:srgbClr val="F2F2F2"/>
            </a:solidFill>
            <a:prstDash val="solid"/>
          </a:ln>
        </p:spPr>
      </p:sp>
      <p:sp>
        <p:nvSpPr>
          <p:cNvPr id="14" name="text"/>
          <p:cNvSpPr txBox="1"/>
          <p:nvPr/>
        </p:nvSpPr>
        <p:spPr>
          <a:xfrm>
            <a:off x="6309360" y="266090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Organ support</a:t>
            </a:r>
            <a:endParaRPr lang="en-US" sz="1250" dirty="0"/>
          </a:p>
        </p:txBody>
      </p:sp>
      <p:sp>
        <p:nvSpPr>
          <p:cNvPr id="15" name="text"/>
          <p:cNvSpPr txBox="1"/>
          <p:nvPr/>
        </p:nvSpPr>
        <p:spPr>
          <a:xfrm>
            <a:off x="6309360" y="295351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vasopressor dose (noradrenaline equivalents), ventilation settings, oxygen flow, renal replacement, urine output and AKI stage [45]</a:t>
            </a:r>
            <a:endParaRPr lang="en-US" sz="1150" dirty="0"/>
          </a:p>
        </p:txBody>
      </p:sp>
      <p:sp>
        <p:nvSpPr>
          <p:cNvPr id="16" name="box"/>
          <p:cNvSpPr/>
          <p:nvPr/>
        </p:nvSpPr>
        <p:spPr>
          <a:xfrm>
            <a:off x="548640" y="3703320"/>
            <a:ext cx="5440680" cy="987552"/>
          </a:xfrm>
          <a:prstGeom prst="rect">
            <a:avLst/>
          </a:prstGeom>
          <a:solidFill>
            <a:srgbClr val="F2F2F2"/>
          </a:solidFill>
          <a:ln w="12700">
            <a:solidFill>
              <a:srgbClr val="F2F2F2"/>
            </a:solidFill>
            <a:prstDash val="solid"/>
          </a:ln>
        </p:spPr>
      </p:sp>
      <p:sp>
        <p:nvSpPr>
          <p:cNvPr id="17" name="text"/>
          <p:cNvSpPr txBox="1"/>
          <p:nvPr/>
        </p:nvSpPr>
        <p:spPr>
          <a:xfrm>
            <a:off x="685800" y="375818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Fluids, drugs, devices</a:t>
            </a:r>
            <a:endParaRPr lang="en-US" sz="1250" dirty="0"/>
          </a:p>
        </p:txBody>
      </p:sp>
      <p:sp>
        <p:nvSpPr>
          <p:cNvPr id="18" name="text"/>
          <p:cNvSpPr txBox="1"/>
          <p:nvPr/>
        </p:nvSpPr>
        <p:spPr>
          <a:xfrm>
            <a:off x="685800" y="405079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crystalloids, transfusions, nutrition, central and arterial lines, catheters, drains; steroids, immunosuppressants, chemotherapy, sedatives, opioids</a:t>
            </a:r>
            <a:endParaRPr lang="en-US" sz="1150" dirty="0"/>
          </a:p>
        </p:txBody>
      </p:sp>
      <p:sp>
        <p:nvSpPr>
          <p:cNvPr id="19" name="box"/>
          <p:cNvSpPr/>
          <p:nvPr/>
        </p:nvSpPr>
        <p:spPr>
          <a:xfrm>
            <a:off x="6172200" y="3703320"/>
            <a:ext cx="5440680" cy="987552"/>
          </a:xfrm>
          <a:prstGeom prst="rect">
            <a:avLst/>
          </a:prstGeom>
          <a:solidFill>
            <a:srgbClr val="F2F2F2"/>
          </a:solidFill>
          <a:ln w="12700">
            <a:solidFill>
              <a:srgbClr val="F2F2F2"/>
            </a:solidFill>
            <a:prstDash val="solid"/>
          </a:ln>
        </p:spPr>
      </p:sp>
      <p:sp>
        <p:nvSpPr>
          <p:cNvPr id="20" name="text"/>
          <p:cNvSpPr txBox="1"/>
          <p:nvPr/>
        </p:nvSpPr>
        <p:spPr>
          <a:xfrm>
            <a:off x="6309360" y="375818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Context and history</a:t>
            </a:r>
            <a:endParaRPr lang="en-US" sz="1250" dirty="0"/>
          </a:p>
        </p:txBody>
      </p:sp>
      <p:sp>
        <p:nvSpPr>
          <p:cNvPr id="21" name="text"/>
          <p:cNvSpPr txBox="1"/>
          <p:nvPr/>
        </p:nvSpPr>
        <p:spPr>
          <a:xfrm>
            <a:off x="6309360" y="405079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admission source, ICU type, hours before ICU, prior admissions, prior positive cultures and antibiotics, 17 comorbidities, imaging orders</a:t>
            </a:r>
            <a:endParaRPr lang="en-US" sz="1150" dirty="0"/>
          </a:p>
        </p:txBody>
      </p:sp>
      <p:sp>
        <p:nvSpPr>
          <p:cNvPr id="22" name="box"/>
          <p:cNvSpPr/>
          <p:nvPr/>
        </p:nvSpPr>
        <p:spPr>
          <a:xfrm>
            <a:off x="548640" y="4800600"/>
            <a:ext cx="5440680" cy="987552"/>
          </a:xfrm>
          <a:prstGeom prst="rect">
            <a:avLst/>
          </a:prstGeom>
          <a:solidFill>
            <a:srgbClr val="F2F2F2"/>
          </a:solidFill>
          <a:ln w="12700">
            <a:solidFill>
              <a:srgbClr val="F2F2F2"/>
            </a:solidFill>
            <a:prstDash val="solid"/>
          </a:ln>
        </p:spPr>
      </p:sp>
      <p:sp>
        <p:nvSpPr>
          <p:cNvPr id="23" name="text"/>
          <p:cNvSpPr txBox="1"/>
          <p:nvPr/>
        </p:nvSpPr>
        <p:spPr>
          <a:xfrm>
            <a:off x="685800" y="485546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Prophylactic antibiotics</a:t>
            </a:r>
            <a:endParaRPr lang="en-US" sz="1250" dirty="0"/>
          </a:p>
        </p:txBody>
      </p:sp>
      <p:sp>
        <p:nvSpPr>
          <p:cNvPr id="24" name="text"/>
          <p:cNvSpPr txBox="1"/>
          <p:nvPr/>
        </p:nvSpPr>
        <p:spPr>
          <a:xfrm>
            <a:off x="685800" y="514807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surgical prophylaxis by agent, timing, duration, no culture or escalation [28]; medical prophylaxis by agent and dose</a:t>
            </a:r>
            <a:endParaRPr lang="en-US" sz="1150" dirty="0"/>
          </a:p>
        </p:txBody>
      </p:sp>
      <p:sp>
        <p:nvSpPr>
          <p:cNvPr id="25" name="box"/>
          <p:cNvSpPr/>
          <p:nvPr/>
        </p:nvSpPr>
        <p:spPr>
          <a:xfrm>
            <a:off x="6172200" y="4800600"/>
            <a:ext cx="5440680" cy="987552"/>
          </a:xfrm>
          <a:prstGeom prst="rect">
            <a:avLst/>
          </a:prstGeom>
          <a:solidFill>
            <a:srgbClr val="FBE3E6"/>
          </a:solidFill>
          <a:ln w="12700">
            <a:solidFill>
              <a:srgbClr val="FBE3E6"/>
            </a:solidFill>
            <a:prstDash val="solid"/>
          </a:ln>
        </p:spPr>
      </p:sp>
      <p:sp>
        <p:nvSpPr>
          <p:cNvPr id="26" name="text"/>
          <p:cNvSpPr txBox="1"/>
          <p:nvPr/>
        </p:nvSpPr>
        <p:spPr>
          <a:xfrm>
            <a:off x="6309360" y="485546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Never predictors</a:t>
            </a:r>
            <a:endParaRPr lang="en-US" sz="1250" dirty="0"/>
          </a:p>
        </p:txBody>
      </p:sp>
      <p:sp>
        <p:nvSpPr>
          <p:cNvPr id="27" name="text"/>
          <p:cNvSpPr txBox="1"/>
          <p:nvPr/>
        </p:nvSpPr>
        <p:spPr>
          <a:xfrm>
            <a:off x="6309360" y="514807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label-defining antibiotics and cultures; race, ethnicity, insurance (fairness analysis only); anything after the prediction hour</a:t>
            </a:r>
            <a:endParaRPr lang="en-US" sz="1150" dirty="0"/>
          </a:p>
        </p:txBody>
      </p:sp>
      <p:sp>
        <p:nvSpPr>
          <p:cNvPr id="28"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[7] Vincent et al., Intensive Care Med 1996   [28] Bratzler et al., Am J Health Syst Pharm 2013   [44] Royal College of Physicians 2017   [45] KDIGO 2012</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Cohorts, splits and the sealed holdout</a:t>
            </a:r>
            <a:endParaRPr lang="en-US" sz="2400" dirty="0"/>
          </a:p>
        </p:txBody>
      </p:sp>
      <p:graphicFrame>
        <p:nvGraphicFramePr>
          <p:cNvPr id="21" name="cohort table"/>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2743200"/>
                <a:gridCol w="1920240"/>
                <a:gridCol w="1737360"/>
                <a:gridCol w="1828800"/>
                <a:gridCol w="2862072"/>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Database</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Candidate stays</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Sample so far</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After exclusions</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Sealed holdout</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r>
              <a:tr h="0">
                <a:tc>
                  <a:txBody>
                    <a:bodyPr/>
                    <a:lstStyle/>
                    <a:p>
                      <a:pPr indent="0" marL="0">
                        <a:buNone/>
                      </a:pPr>
                      <a:r>
                        <a:rPr lang="en-US" sz="1150" b="1" dirty="0">
                          <a:solidFill>
                            <a:srgbClr val="1B1B1B"/>
                          </a:solidFill>
                          <a:latin typeface="Arial" pitchFamily="34" charset="0"/>
                          <a:ea typeface="Arial" pitchFamily="34" charset="-122"/>
                          <a:cs typeface="Arial" pitchFamily="34" charset="-120"/>
                        </a:rPr>
                        <a:t>MIMIC-IV 3.1 [30]</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about 94,000</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10,000</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8,795</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20 % of patients, deterministic hash</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b="1" dirty="0">
                          <a:solidFill>
                            <a:srgbClr val="1B1B1B"/>
                          </a:solidFill>
                          <a:latin typeface="Arial" pitchFamily="34" charset="0"/>
                          <a:ea typeface="Arial" pitchFamily="34" charset="-122"/>
                          <a:cs typeface="Arial" pitchFamily="34" charset="-120"/>
                        </a:rPr>
                        <a:t>eICU-CRD 2.0 [31]</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200,859</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10,000</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5,710</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20 % of patients, deterministic hash</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bl>
          </a:graphicData>
        </a:graphic>
      </p:graphicFrame>
      <p:sp>
        <p:nvSpPr>
          <p:cNvPr id="5" name="list"/>
          <p:cNvSpPr txBox="1"/>
          <p:nvPr/>
        </p:nvSpPr>
        <p:spPr>
          <a:xfrm>
            <a:off x="548640" y="3108960"/>
            <a:ext cx="11094415" cy="265176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rgbClr val="1B1B1B"/>
                </a:solidFill>
              </a:rPr>
              <a:t>Labels: Sepsis-3 via YAIB / ricu [33, 34]; onset within the next 6 h; post-onset hours excluded; up to 120 h per stay.</a:t>
            </a:r>
            <a:endParaRPr lang="en-US" sz="1400" dirty="0"/>
          </a:p>
          <a:p>
            <a:pPr marL="203200" indent="-203200">
              <a:spcAft>
                <a:spcPts val="800"/>
              </a:spcAft>
              <a:buSzPct val="100000"/>
              <a:buChar char="•"/>
            </a:pPr>
            <a:r>
              <a:rPr lang="en-US" sz="1400" dirty="0">
                <a:solidFill>
                  <a:srgbClr val="1B1B1B"/>
                </a:solidFill>
              </a:rPr>
              <a:t>The 10,000-stay samples are fixed random draws, identical in every run.</a:t>
            </a:r>
            <a:endParaRPr lang="en-US" sz="1400" dirty="0"/>
          </a:p>
          <a:p>
            <a:pPr marL="203200" indent="-203200">
              <a:spcAft>
                <a:spcPts val="800"/>
              </a:spcAft>
              <a:buSzPct val="100000"/>
              <a:buChar char="•"/>
            </a:pPr>
            <a:r>
              <a:rPr lang="en-US" sz="1400" dirty="0">
                <a:solidFill>
                  <a:srgbClr val="1B1B1B"/>
                </a:solidFill>
              </a:rPr>
              <a:t>The holdout is opened once, after the protocol is frozen; nothing is tuned on it.</a:t>
            </a:r>
            <a:endParaRPr lang="en-US" sz="1400" dirty="0"/>
          </a:p>
          <a:p>
            <a:pPr marL="203200" indent="-203200">
              <a:spcAft>
                <a:spcPts val="800"/>
              </a:spcAft>
              <a:buSzPct val="100000"/>
              <a:buChar char="•"/>
            </a:pPr>
            <a:r>
              <a:rPr lang="en-US" sz="1400" dirty="0">
                <a:solidFill>
                  <a:srgbClr val="1B1B1B"/>
                </a:solidFill>
              </a:rPr>
              <a:t>Unlabelled pretraining corpus: 67,455 MIMIC-IV and 75,000 eICU stays outside the cohort and the holdout.</a:t>
            </a:r>
            <a:endParaRPr lang="en-US" sz="1400" dirty="0"/>
          </a:p>
        </p:txBody>
      </p:sp>
      <p:sp>
        <p:nvSpPr>
          <p:cNvPr id="6"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[30] Johnson et al., Sci Data 2023   [31] Pollard et al., Sci Data 2018   [33] van de Water et al., ICLR 2024   [34] Bennett et al., GigaScience 2023</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On 10,000 stays every model overfits within three epochs</a:t>
            </a:r>
            <a:endParaRPr lang="en-US" sz="2400" dirty="0"/>
          </a:p>
        </p:txBody>
      </p:sp>
      <p:sp>
        <p:nvSpPr>
          <p:cNvPr id="4" name="text"/>
          <p:cNvSpPr txBox="1"/>
          <p:nvPr/>
        </p:nvSpPr>
        <p:spPr>
          <a:xfrm>
            <a:off x="548640" y="1645920"/>
            <a:ext cx="3566160" cy="731520"/>
          </a:xfrm>
          <a:prstGeom prst="rect">
            <a:avLst/>
          </a:prstGeom>
          <a:noFill/>
          <a:ln/>
        </p:spPr>
        <p:txBody>
          <a:bodyPr wrap="square" lIns="0" tIns="0" rIns="0" bIns="0" rtlCol="0" anchor="t"/>
          <a:lstStyle/>
          <a:p>
            <a:pPr algn="l" indent="0" marL="0">
              <a:buNone/>
            </a:pPr>
            <a:r>
              <a:rPr lang="en-US" sz="3600" b="1" dirty="0">
                <a:solidFill>
                  <a:srgbClr val="C8102E"/>
                </a:solidFill>
              </a:rPr>
              <a:t>1 to 3</a:t>
            </a:r>
            <a:endParaRPr lang="en-US" sz="3600" dirty="0"/>
          </a:p>
        </p:txBody>
      </p:sp>
      <p:sp>
        <p:nvSpPr>
          <p:cNvPr id="5" name="text"/>
          <p:cNvSpPr txBox="1"/>
          <p:nvPr/>
        </p:nvSpPr>
        <p:spPr>
          <a:xfrm>
            <a:off x="548640" y="2423160"/>
            <a:ext cx="3474720" cy="1005840"/>
          </a:xfrm>
          <a:prstGeom prst="rect">
            <a:avLst/>
          </a:prstGeom>
          <a:noFill/>
          <a:ln/>
        </p:spPr>
        <p:txBody>
          <a:bodyPr wrap="square" lIns="0" tIns="0" rIns="0" bIns="0" rtlCol="0" anchor="t"/>
          <a:lstStyle/>
          <a:p>
            <a:pPr algn="l" indent="0" marL="0">
              <a:buNone/>
            </a:pPr>
            <a:r>
              <a:rPr lang="en-US" sz="1400" dirty="0">
                <a:solidFill>
                  <a:srgbClr val="1B1B1B"/>
                </a:solidFill>
              </a:rPr>
              <a:t>epochs to the best validation score, while training loss keeps falling</a:t>
            </a:r>
            <a:endParaRPr lang="en-US" sz="1400" dirty="0"/>
          </a:p>
        </p:txBody>
      </p:sp>
      <p:sp>
        <p:nvSpPr>
          <p:cNvPr id="6" name="text"/>
          <p:cNvSpPr txBox="1"/>
          <p:nvPr/>
        </p:nvSpPr>
        <p:spPr>
          <a:xfrm>
            <a:off x="4297680" y="1645920"/>
            <a:ext cx="3566160" cy="731520"/>
          </a:xfrm>
          <a:prstGeom prst="rect">
            <a:avLst/>
          </a:prstGeom>
          <a:noFill/>
          <a:ln/>
        </p:spPr>
        <p:txBody>
          <a:bodyPr wrap="square" lIns="0" tIns="0" rIns="0" bIns="0" rtlCol="0" anchor="t"/>
          <a:lstStyle/>
          <a:p>
            <a:pPr algn="l" indent="0" marL="0">
              <a:buNone/>
            </a:pPr>
            <a:r>
              <a:rPr lang="en-US" sz="3600" b="1" dirty="0">
                <a:solidFill>
                  <a:srgbClr val="C8102E"/>
                </a:solidFill>
              </a:rPr>
              <a:t>175</a:t>
            </a:r>
            <a:endParaRPr lang="en-US" sz="3600" dirty="0"/>
          </a:p>
        </p:txBody>
      </p:sp>
      <p:sp>
        <p:nvSpPr>
          <p:cNvPr id="7" name="text"/>
          <p:cNvSpPr txBox="1"/>
          <p:nvPr/>
        </p:nvSpPr>
        <p:spPr>
          <a:xfrm>
            <a:off x="4297680" y="2423160"/>
            <a:ext cx="3474720" cy="1005840"/>
          </a:xfrm>
          <a:prstGeom prst="rect">
            <a:avLst/>
          </a:prstGeom>
          <a:noFill/>
          <a:ln/>
        </p:spPr>
        <p:txBody>
          <a:bodyPr wrap="square" lIns="0" tIns="0" rIns="0" bIns="0" rtlCol="0" anchor="t"/>
          <a:lstStyle/>
          <a:p>
            <a:pPr algn="l" indent="0" marL="0">
              <a:buNone/>
            </a:pPr>
            <a:r>
              <a:rPr lang="en-US" sz="1400" dirty="0">
                <a:solidFill>
                  <a:srgbClr val="1B1B1B"/>
                </a:solidFill>
              </a:rPr>
              <a:t>septic stays per training split, against 300 to 655 predictors</a:t>
            </a:r>
            <a:endParaRPr lang="en-US" sz="1400" dirty="0"/>
          </a:p>
        </p:txBody>
      </p:sp>
      <p:sp>
        <p:nvSpPr>
          <p:cNvPr id="8" name="text"/>
          <p:cNvSpPr txBox="1"/>
          <p:nvPr/>
        </p:nvSpPr>
        <p:spPr>
          <a:xfrm>
            <a:off x="8046720" y="1645920"/>
            <a:ext cx="3566160" cy="731520"/>
          </a:xfrm>
          <a:prstGeom prst="rect">
            <a:avLst/>
          </a:prstGeom>
          <a:noFill/>
          <a:ln/>
        </p:spPr>
        <p:txBody>
          <a:bodyPr wrap="square" lIns="0" tIns="0" rIns="0" bIns="0" rtlCol="0" anchor="t"/>
          <a:lstStyle/>
          <a:p>
            <a:pPr algn="l" indent="0" marL="0">
              <a:buNone/>
            </a:pPr>
            <a:r>
              <a:rPr lang="en-US" sz="3600" b="1" dirty="0">
                <a:solidFill>
                  <a:srgbClr val="C8102E"/>
                </a:solidFill>
              </a:rPr>
              <a:t>0.80 to 0.81</a:t>
            </a:r>
            <a:endParaRPr lang="en-US" sz="3600" dirty="0"/>
          </a:p>
        </p:txBody>
      </p:sp>
      <p:sp>
        <p:nvSpPr>
          <p:cNvPr id="9" name="text"/>
          <p:cNvSpPr txBox="1"/>
          <p:nvPr/>
        </p:nvSpPr>
        <p:spPr>
          <a:xfrm>
            <a:off x="8046720" y="2423160"/>
            <a:ext cx="3474720" cy="1005840"/>
          </a:xfrm>
          <a:prstGeom prst="rect">
            <a:avLst/>
          </a:prstGeom>
          <a:noFill/>
          <a:ln/>
        </p:spPr>
        <p:txBody>
          <a:bodyPr wrap="square" lIns="0" tIns="0" rIns="0" bIns="0" rtlCol="0" anchor="t"/>
          <a:lstStyle/>
          <a:p>
            <a:pPr algn="l" indent="0" marL="0">
              <a:buNone/>
            </a:pPr>
            <a:r>
              <a:rPr lang="en-US" sz="1400" dirty="0">
                <a:solidFill>
                  <a:srgbClr val="1B1B1B"/>
                </a:solidFill>
              </a:rPr>
              <a:t>AUROC of OSTA, CNN-Transformer, output fusion: differences below seed noise (SD 0.012)</a:t>
            </a:r>
            <a:endParaRPr lang="en-US" sz="1400" dirty="0"/>
          </a:p>
        </p:txBody>
      </p:sp>
      <p:sp>
        <p:nvSpPr>
          <p:cNvPr id="10" name="list"/>
          <p:cNvSpPr txBox="1"/>
          <p:nvPr/>
        </p:nvSpPr>
        <p:spPr>
          <a:xfrm>
            <a:off x="548640" y="3749040"/>
            <a:ext cx="11094415" cy="182880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rgbClr val="1B1B1B"/>
                </a:solidFill>
              </a:rPr>
              <a:t>Response: full cohort (about nine times more sepsis cases), self-supervised pretraining on unlabelled stays [39], loss chosen by utility [40], three seeds.</a:t>
            </a:r>
            <a:endParaRPr lang="en-US" sz="1400" dirty="0"/>
          </a:p>
          <a:p>
            <a:pPr marL="203200" indent="-203200">
              <a:spcAft>
                <a:spcPts val="800"/>
              </a:spcAft>
              <a:buSzPct val="100000"/>
              <a:buChar char="•"/>
            </a:pPr>
            <a:r>
              <a:rPr lang="en-US" sz="1400" dirty="0">
                <a:solidFill>
                  <a:srgbClr val="1B1B1B"/>
                </a:solidFill>
              </a:rPr>
              <a:t>All figures: this work, preliminary [41].</a:t>
            </a:r>
            <a:endParaRPr lang="en-US" sz="1400" dirty="0"/>
          </a:p>
        </p:txBody>
      </p:sp>
      <p:sp>
        <p:nvSpPr>
          <p:cNvPr id="11"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[39] Yeche et al., ICML 2021   [40] Yeche et al., ICML 2023   [41] This work, preliminary, unpublished</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RD6 supplement: publications and outputs</a:t>
            </a:r>
            <a:endParaRPr lang="en-US" sz="2400" dirty="0"/>
          </a:p>
        </p:txBody>
      </p:sp>
      <p:graphicFrame>
        <p:nvGraphicFramePr>
          <p:cNvPr id="23" name="publications table"/>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5669280"/>
                <a:gridCol w="2286000"/>
                <a:gridCol w="1371600"/>
                <a:gridCol w="1764792"/>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Manuscript</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Journal</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Submitted</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Status</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r>
              <a:tr h="0">
                <a:tc>
                  <a:txBody>
                    <a:bodyPr/>
                    <a:lstStyle/>
                    <a:p>
                      <a:pPr indent="0" marL="0">
                        <a:buNone/>
                      </a:pPr>
                      <a:r>
                        <a:rPr lang="en-US" sz="1150" b="1" dirty="0">
                          <a:solidFill>
                            <a:srgbClr val="1B1B1B"/>
                          </a:solidFill>
                          <a:latin typeface="Arial" pitchFamily="34" charset="0"/>
                          <a:ea typeface="Arial" pitchFamily="34" charset="-122"/>
                          <a:cs typeface="Arial" pitchFamily="34" charset="-120"/>
                        </a:rPr>
                        <a:t>Artificial Intelligence in the Diagnosis of Antimicrobial Resistance: Rapid Diagnostics and Imaging Innovations</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Int J Antimicrob Agents</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9 Oct 2026</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Technical check</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b="1" dirty="0">
                          <a:solidFill>
                            <a:srgbClr val="1B1B1B"/>
                          </a:solidFill>
                          <a:latin typeface="Arial" pitchFamily="34" charset="0"/>
                          <a:ea typeface="Arial" pitchFamily="34" charset="-122"/>
                          <a:cs typeface="Arial" pitchFamily="34" charset="-120"/>
                        </a:rPr>
                        <a:t>Temporal Patterns and Predictors of Sepsis Onset in ICU Patients: A Retrospective Cohort Study Using PhysioNet Data</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Frontiers in Medicine</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23 Sep 2026</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Editorial assignment</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b="1" dirty="0">
                          <a:solidFill>
                            <a:srgbClr val="1B1B1B"/>
                          </a:solidFill>
                          <a:latin typeface="Arial" pitchFamily="34" charset="0"/>
                          <a:ea typeface="Arial" pitchFamily="34" charset="-122"/>
                          <a:cs typeface="Arial" pitchFamily="34" charset="-120"/>
                        </a:rPr>
                        <a:t>Diagnostic Applications of Infrared Thermography Across Infectious Diseases: A Systematic Review with a Subgroup Meta-Analysis</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JMIR</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18 Jul 2026</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In review</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b="1" dirty="0">
                          <a:solidFill>
                            <a:srgbClr val="1B1B1B"/>
                          </a:solidFill>
                          <a:latin typeface="Arial" pitchFamily="34" charset="0"/>
                          <a:ea typeface="Arial" pitchFamily="34" charset="-122"/>
                          <a:cs typeface="Arial" pitchFamily="34" charset="-120"/>
                        </a:rPr>
                        <a:t>Early sepsis warning on MIMIC-IV and eICU: causal predictors, utility and transfer</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critical care informatics journal</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in preparation</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full-cohort and holdout results pending</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bl>
          </a:graphicData>
        </a:graphic>
      </p:graphicFrame>
      <p:sp>
        <p:nvSpPr>
          <p:cNvPr id="5" name="text"/>
          <p:cNvSpPr txBox="1"/>
          <p:nvPr/>
        </p:nvSpPr>
        <p:spPr>
          <a:xfrm>
            <a:off x="548640" y="5120640"/>
            <a:ext cx="11094415" cy="548640"/>
          </a:xfrm>
          <a:prstGeom prst="rect">
            <a:avLst/>
          </a:prstGeom>
          <a:noFill/>
          <a:ln/>
        </p:spPr>
        <p:txBody>
          <a:bodyPr wrap="square" lIns="0" tIns="0" rIns="0" bIns="0" rtlCol="0" anchor="t"/>
          <a:lstStyle/>
          <a:p>
            <a:pPr algn="l" indent="0" marL="0">
              <a:buNone/>
            </a:pPr>
            <a:r>
              <a:rPr lang="en-US" sz="1300" dirty="0">
                <a:solidFill>
                  <a:srgbClr val="5E5E5E"/>
                </a:solidFill>
              </a:rPr>
              <a:t>Earlier CNN-Transformer and OSTA manuscripts were withheld after the leakage audit; both architectures are re-evaluated causally in the current comparison.</a:t>
            </a:r>
            <a:endParaRPr lang="en-US" sz="130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RD6 supplement: training and the March 2026 plan</a:t>
            </a:r>
            <a:endParaRPr lang="en-US" sz="2400" dirty="0"/>
          </a:p>
        </p:txBody>
      </p:sp>
      <p:sp>
        <p:nvSpPr>
          <p:cNvPr id="4" name="text"/>
          <p:cNvSpPr txBox="1"/>
          <p:nvPr/>
        </p:nvSpPr>
        <p:spPr>
          <a:xfrm>
            <a:off x="548640" y="1463040"/>
            <a:ext cx="5303520" cy="320040"/>
          </a:xfrm>
          <a:prstGeom prst="rect">
            <a:avLst/>
          </a:prstGeom>
          <a:noFill/>
          <a:ln/>
        </p:spPr>
        <p:txBody>
          <a:bodyPr wrap="square" lIns="0" tIns="0" rIns="0" bIns="0" rtlCol="0" anchor="t"/>
          <a:lstStyle/>
          <a:p>
            <a:pPr algn="l" indent="0" marL="0">
              <a:buNone/>
            </a:pPr>
            <a:r>
              <a:rPr lang="en-US" sz="1500" b="1" dirty="0">
                <a:solidFill>
                  <a:srgbClr val="C8102E"/>
                </a:solidFill>
              </a:rPr>
              <a:t>Training</a:t>
            </a:r>
            <a:endParaRPr lang="en-US" sz="1500" dirty="0"/>
          </a:p>
        </p:txBody>
      </p:sp>
      <p:sp>
        <p:nvSpPr>
          <p:cNvPr id="5" name="list"/>
          <p:cNvSpPr txBox="1"/>
          <p:nvPr/>
        </p:nvSpPr>
        <p:spPr>
          <a:xfrm>
            <a:off x="548640" y="1828800"/>
            <a:ext cx="5303520" cy="3657600"/>
          </a:xfrm>
          <a:prstGeom prst="rect">
            <a:avLst/>
          </a:prstGeom>
          <a:noFill/>
          <a:ln/>
        </p:spPr>
        <p:txBody>
          <a:bodyPr wrap="square" lIns="0" tIns="0" rIns="0" bIns="0" rtlCol="0" anchor="t"/>
          <a:lstStyle/>
          <a:p>
            <a:pPr marL="203200" indent="-203200">
              <a:spcAft>
                <a:spcPts val="800"/>
              </a:spcAft>
              <a:buSzPct val="100000"/>
              <a:buChar char="•"/>
            </a:pPr>
            <a:r>
              <a:rPr lang="en-US" sz="1350" dirty="0">
                <a:solidFill>
                  <a:srgbClr val="1B1B1B"/>
                </a:solidFill>
              </a:rPr>
              <a:t>Harvard PPCR: Clinical Trials Design, Implementation and Analysis (completed Feb 2026)</a:t>
            </a:r>
            <a:endParaRPr lang="en-US" sz="1350" dirty="0"/>
          </a:p>
          <a:p>
            <a:pPr marL="203200" indent="-203200">
              <a:spcAft>
                <a:spcPts val="800"/>
              </a:spcAft>
              <a:buSzPct val="100000"/>
              <a:buChar char="•"/>
            </a:pPr>
            <a:r>
              <a:rPr lang="en-US" sz="1350" dirty="0">
                <a:solidFill>
                  <a:srgbClr val="1B1B1B"/>
                </a:solidFill>
              </a:rPr>
              <a:t>Iowa State University: Machine Learning Programme (completed Dec 2025)</a:t>
            </a:r>
            <a:endParaRPr lang="en-US" sz="1350" dirty="0"/>
          </a:p>
          <a:p>
            <a:pPr marL="203200" indent="-203200">
              <a:spcAft>
                <a:spcPts val="800"/>
              </a:spcAft>
              <a:buSzPct val="100000"/>
              <a:buChar char="•"/>
            </a:pPr>
            <a:r>
              <a:rPr lang="en-US" sz="1350" dirty="0">
                <a:solidFill>
                  <a:srgbClr val="1B1B1B"/>
                </a:solidFill>
              </a:rPr>
              <a:t>DataCamp Python Data Science Career Track (in progress)</a:t>
            </a:r>
            <a:endParaRPr lang="en-US" sz="1350" dirty="0"/>
          </a:p>
          <a:p>
            <a:pPr marL="203200" indent="-203200">
              <a:spcAft>
                <a:spcPts val="800"/>
              </a:spcAft>
              <a:buSzPct val="100000"/>
              <a:buChar char="•"/>
            </a:pPr>
            <a:r>
              <a:rPr lang="en-US" sz="1350" dirty="0">
                <a:solidFill>
                  <a:srgbClr val="1B1B1B"/>
                </a:solidFill>
              </a:rPr>
              <a:t>PhysioNet credentialed access: MIMIC-IV 3.1, eICU-CRD 2.0</a:t>
            </a:r>
            <a:endParaRPr lang="en-US" sz="1350" dirty="0"/>
          </a:p>
        </p:txBody>
      </p:sp>
      <p:sp>
        <p:nvSpPr>
          <p:cNvPr id="6" name="text"/>
          <p:cNvSpPr txBox="1"/>
          <p:nvPr/>
        </p:nvSpPr>
        <p:spPr>
          <a:xfrm>
            <a:off x="6309360" y="1463040"/>
            <a:ext cx="5303520" cy="320040"/>
          </a:xfrm>
          <a:prstGeom prst="rect">
            <a:avLst/>
          </a:prstGeom>
          <a:noFill/>
          <a:ln/>
        </p:spPr>
        <p:txBody>
          <a:bodyPr wrap="square" lIns="0" tIns="0" rIns="0" bIns="0" rtlCol="0" anchor="t"/>
          <a:lstStyle/>
          <a:p>
            <a:pPr algn="l" indent="0" marL="0">
              <a:buNone/>
            </a:pPr>
            <a:r>
              <a:rPr lang="en-US" sz="1500" b="1" dirty="0">
                <a:solidFill>
                  <a:srgbClr val="C8102E"/>
                </a:solidFill>
              </a:rPr>
              <a:t>March 2026 plan: what happened</a:t>
            </a:r>
            <a:endParaRPr lang="en-US" sz="1500" dirty="0"/>
          </a:p>
        </p:txBody>
      </p:sp>
      <p:sp>
        <p:nvSpPr>
          <p:cNvPr id="7" name="list"/>
          <p:cNvSpPr txBox="1"/>
          <p:nvPr/>
        </p:nvSpPr>
        <p:spPr>
          <a:xfrm>
            <a:off x="6309360" y="1828800"/>
            <a:ext cx="5333695" cy="3657600"/>
          </a:xfrm>
          <a:prstGeom prst="rect">
            <a:avLst/>
          </a:prstGeom>
          <a:noFill/>
          <a:ln/>
        </p:spPr>
        <p:txBody>
          <a:bodyPr wrap="square" lIns="0" tIns="0" rIns="0" bIns="0" rtlCol="0" anchor="t"/>
          <a:lstStyle/>
          <a:p>
            <a:pPr marL="203200" indent="-203200">
              <a:spcAft>
                <a:spcPts val="800"/>
              </a:spcAft>
              <a:buSzPct val="100000"/>
              <a:buChar char="•"/>
            </a:pPr>
            <a:r>
              <a:rPr lang="en-US" sz="1350" dirty="0">
                <a:solidFill>
                  <a:srgbClr val="1B1B1B"/>
                </a:solidFill>
              </a:rPr>
              <a:t>External validation on MIMIC-IV: became the core programme, extended to eICU.</a:t>
            </a:r>
            <a:endParaRPr lang="en-US" sz="1350" dirty="0"/>
          </a:p>
          <a:p>
            <a:pPr marL="203200" indent="-203200">
              <a:spcAft>
                <a:spcPts val="800"/>
              </a:spcAft>
              <a:buSzPct val="100000"/>
              <a:buChar char="•"/>
            </a:pPr>
            <a:r>
              <a:rPr lang="en-US" sz="1350" dirty="0">
                <a:solidFill>
                  <a:srgbClr val="1B1B1B"/>
                </a:solidFill>
              </a:rPr>
              <a:t>CNN-Transformer and OSTA papers: withheld after the leakage audit.</a:t>
            </a:r>
            <a:endParaRPr lang="en-US" sz="1350" dirty="0"/>
          </a:p>
          <a:p>
            <a:pPr marL="203200" indent="-203200">
              <a:spcAft>
                <a:spcPts val="800"/>
              </a:spcAft>
              <a:buSzPct val="100000"/>
              <a:buChar char="•"/>
            </a:pPr>
            <a:r>
              <a:rPr lang="en-US" sz="1350" dirty="0">
                <a:solidFill>
                  <a:srgbClr val="1B1B1B"/>
                </a:solidFill>
              </a:rPr>
              <a:t>AMR review: revised and submitted to Int J Antimicrob Agents.</a:t>
            </a:r>
            <a:endParaRPr lang="en-US" sz="1350" dirty="0"/>
          </a:p>
          <a:p>
            <a:pPr marL="203200" indent="-203200">
              <a:spcAft>
                <a:spcPts val="800"/>
              </a:spcAft>
              <a:buSzPct val="100000"/>
              <a:buChar char="•"/>
            </a:pPr>
            <a:r>
              <a:rPr lang="en-US" sz="1350" dirty="0">
                <a:solidFill>
                  <a:srgbClr val="1B1B1B"/>
                </a:solidFill>
              </a:rPr>
              <a:t>Clinician study: now the qualitative phase, in progress.</a:t>
            </a:r>
            <a:endParaRPr lang="en-US" sz="1350" dirty="0"/>
          </a:p>
          <a:p>
            <a:pPr marL="203200" indent="-203200">
              <a:spcAft>
                <a:spcPts val="800"/>
              </a:spcAft>
              <a:buSzPct val="100000"/>
              <a:buChar char="•"/>
            </a:pPr>
            <a:r>
              <a:rPr lang="en-US" sz="1350" dirty="0">
                <a:solidFill>
                  <a:srgbClr val="1B1B1B"/>
                </a:solidFill>
              </a:rPr>
              <a:t>Conference presentation: this talk.</a:t>
            </a:r>
            <a:endParaRPr lang="en-US" sz="13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References (1 of 2)</a:t>
            </a:r>
            <a:endParaRPr lang="en-US" sz="2400" dirty="0"/>
          </a:p>
        </p:txBody>
      </p:sp>
      <p:sp>
        <p:nvSpPr>
          <p:cNvPr id="4" name="reference list"/>
          <p:cNvSpPr txBox="1"/>
          <p:nvPr/>
        </p:nvSpPr>
        <p:spPr>
          <a:xfrm>
            <a:off x="548640" y="1234440"/>
            <a:ext cx="5440680" cy="5120640"/>
          </a:xfrm>
          <a:prstGeom prst="rect">
            <a:avLst/>
          </a:prstGeom>
          <a:noFill/>
          <a:ln/>
        </p:spPr>
        <p:txBody>
          <a:bodyPr wrap="square" lIns="0" tIns="0" rIns="0" bIns="0" rtlCol="0" anchor="t"/>
          <a:lstStyle/>
          <a:p>
            <a:pPr indent="0" marL="0">
              <a:spcAft>
                <a:spcPts val="400"/>
              </a:spcAft>
              <a:buNone/>
            </a:pPr>
            <a:r>
              <a:rPr lang="en-US" sz="1000" dirty="0">
                <a:solidFill>
                  <a:srgbClr val="1B1B1B"/>
                </a:solidFill>
              </a:rPr>
              <a:t>[1] Rudd KE, Johnson SC, Agesa KM, et al. Global, regional, and national sepsis incidence and mortality, 1990-2017: analysis for the Global Burden of Disease Study. Lancet. 2020;395:200-211.</a:t>
            </a:r>
            <a:endParaRPr lang="en-US" sz="1000" dirty="0"/>
          </a:p>
          <a:p>
            <a:pPr indent="0" marL="0">
              <a:spcAft>
                <a:spcPts val="400"/>
              </a:spcAft>
              <a:buNone/>
            </a:pPr>
            <a:r>
              <a:rPr lang="en-US" sz="1000" dirty="0">
                <a:solidFill>
                  <a:srgbClr val="1B1B1B"/>
                </a:solidFill>
              </a:rPr>
              <a:t>[2] Antimicrobial Resistance Collaborators. Global burden of bacterial antimicrobial resistance in 2019: a systematic analysis. Lancet. 2022;399:629-655.</a:t>
            </a:r>
            <a:endParaRPr lang="en-US" sz="1000" dirty="0"/>
          </a:p>
          <a:p>
            <a:pPr indent="0" marL="0">
              <a:spcAft>
                <a:spcPts val="400"/>
              </a:spcAft>
              <a:buNone/>
            </a:pPr>
            <a:r>
              <a:rPr lang="en-US" sz="1000" dirty="0">
                <a:solidFill>
                  <a:srgbClr val="1B1B1B"/>
                </a:solidFill>
              </a:rPr>
              <a:t>[3] Timbrook TT, Morton JB, McConeghy KW, et al. The effect of molecular rapid diagnostic testing on clinical outcomes in bloodstream infections: a systematic review and meta-analysis. Clin Infect Dis. 2017;64:15-23.</a:t>
            </a:r>
            <a:endParaRPr lang="en-US" sz="1000" dirty="0"/>
          </a:p>
          <a:p>
            <a:pPr indent="0" marL="0">
              <a:spcAft>
                <a:spcPts val="400"/>
              </a:spcAft>
              <a:buNone/>
            </a:pPr>
            <a:r>
              <a:rPr lang="en-US" sz="1000" dirty="0">
                <a:solidFill>
                  <a:srgbClr val="1B1B1B"/>
                </a:solidFill>
              </a:rPr>
              <a:t>[4] Adams R, Henry KE, Sridharan A, et al. Prospective, multi-site study of patient outcomes after implementation of the TREWS machine learning-based early warning system for sepsis. Nat Med. 2022;28:1455-1460.</a:t>
            </a:r>
            <a:endParaRPr lang="en-US" sz="1000" dirty="0"/>
          </a:p>
          <a:p>
            <a:pPr indent="0" marL="0">
              <a:spcAft>
                <a:spcPts val="400"/>
              </a:spcAft>
              <a:buNone/>
            </a:pPr>
            <a:r>
              <a:rPr lang="en-US" sz="1000" dirty="0">
                <a:solidFill>
                  <a:srgbClr val="1B1B1B"/>
                </a:solidFill>
              </a:rPr>
              <a:t>[5] Elrggal ME, et al. Artificial intelligence in the diagnosis of antimicrobial resistance: rapid diagnostics and imaging innovations. Submitted, Int J Antimicrob Agents, 2026.</a:t>
            </a:r>
            <a:endParaRPr lang="en-US" sz="1000" dirty="0"/>
          </a:p>
          <a:p>
            <a:pPr indent="0" marL="0">
              <a:spcAft>
                <a:spcPts val="400"/>
              </a:spcAft>
              <a:buNone/>
            </a:pPr>
            <a:r>
              <a:rPr lang="en-US" sz="1000" dirty="0">
                <a:solidFill>
                  <a:srgbClr val="1B1B1B"/>
                </a:solidFill>
              </a:rPr>
              <a:t>[6] Singer M, Deutschman CS, Seymour CW, et al. The Third International Consensus Definitions for Sepsis and Septic Shock (Sepsis-3). JAMA. 2016;315:801-810.</a:t>
            </a:r>
            <a:endParaRPr lang="en-US" sz="1000" dirty="0"/>
          </a:p>
          <a:p>
            <a:pPr indent="0" marL="0">
              <a:spcAft>
                <a:spcPts val="400"/>
              </a:spcAft>
              <a:buNone/>
            </a:pPr>
            <a:r>
              <a:rPr lang="en-US" sz="1000" dirty="0">
                <a:solidFill>
                  <a:srgbClr val="1B1B1B"/>
                </a:solidFill>
              </a:rPr>
              <a:t>[7] Vincent JL, Moreno R, Takala J, et al. The SOFA (Sepsis-related Organ Failure Assessment) score to describe organ dysfunction/failure. Intensive Care Med. 1996;22:707-710.</a:t>
            </a:r>
            <a:endParaRPr lang="en-US" sz="1000" dirty="0"/>
          </a:p>
          <a:p>
            <a:pPr indent="0" marL="0">
              <a:spcAft>
                <a:spcPts val="400"/>
              </a:spcAft>
              <a:buNone/>
            </a:pPr>
            <a:r>
              <a:rPr lang="en-US" sz="1000" dirty="0">
                <a:solidFill>
                  <a:srgbClr val="1B1B1B"/>
                </a:solidFill>
              </a:rPr>
              <a:t>[8] Liu V, Escobar GJ, Greene JD, et al. Hospital deaths in patients with sepsis from 2 independent cohorts. JAMA. 2014;312:90-92.</a:t>
            </a:r>
            <a:endParaRPr lang="en-US" sz="1000" dirty="0"/>
          </a:p>
          <a:p>
            <a:pPr indent="0" marL="0">
              <a:spcAft>
                <a:spcPts val="400"/>
              </a:spcAft>
              <a:buNone/>
            </a:pPr>
            <a:r>
              <a:rPr lang="en-US" sz="1000" dirty="0">
                <a:solidFill>
                  <a:srgbClr val="1B1B1B"/>
                </a:solidFill>
              </a:rPr>
              <a:t>[9] Seymour CW, Gesten F, Prescott HC, et al. Time to treatment and mortality during mandated emergency care for sepsis. N Engl J Med. 2017;376:2235-2244.</a:t>
            </a:r>
            <a:endParaRPr lang="en-US" sz="1000" dirty="0"/>
          </a:p>
          <a:p>
            <a:pPr indent="0" marL="0">
              <a:spcAft>
                <a:spcPts val="400"/>
              </a:spcAft>
              <a:buNone/>
            </a:pPr>
            <a:r>
              <a:rPr lang="en-US" sz="1000" dirty="0">
                <a:solidFill>
                  <a:srgbClr val="1B1B1B"/>
                </a:solidFill>
              </a:rPr>
              <a:t>[10] Kumar A, Roberts D, Wood KE, et al. Duration of hypotension before initiation of effective antimicrobial therapy is the critical determinant of survival in human septic shock. Crit Care Med. 2006;34:1589-1596.</a:t>
            </a:r>
            <a:endParaRPr lang="en-US" sz="1000" dirty="0"/>
          </a:p>
          <a:p>
            <a:pPr indent="0" marL="0">
              <a:spcAft>
                <a:spcPts val="400"/>
              </a:spcAft>
              <a:buNone/>
            </a:pPr>
            <a:r>
              <a:rPr lang="en-US" sz="1000" dirty="0">
                <a:solidFill>
                  <a:srgbClr val="1B1B1B"/>
                </a:solidFill>
              </a:rPr>
              <a:t>[11] Churpek MM, Snyder A, Han X, et al. Quick SOFA, SIRS, and early warning scores for detecting clinical deterioration in infected patients outside the ICU. Am J Respir Crit Care Med. 2017;195:906-911.</a:t>
            </a:r>
            <a:endParaRPr lang="en-US" sz="1000" dirty="0"/>
          </a:p>
          <a:p>
            <a:pPr indent="0" marL="0">
              <a:spcAft>
                <a:spcPts val="400"/>
              </a:spcAft>
              <a:buNone/>
            </a:pPr>
            <a:r>
              <a:rPr lang="en-US" sz="1000" dirty="0">
                <a:solidFill>
                  <a:srgbClr val="1B1B1B"/>
                </a:solidFill>
              </a:rPr>
              <a:t>[12] Yu AC, Mohajer B, Eng J. External validation of deep learning algorithms for radiologic diagnosis: a systematic review. Radiol Artif Intell. 2022;4:e210064.</a:t>
            </a:r>
            <a:endParaRPr lang="en-US" sz="1000" dirty="0"/>
          </a:p>
        </p:txBody>
      </p:sp>
      <p:sp>
        <p:nvSpPr>
          <p:cNvPr id="5" name="reference list"/>
          <p:cNvSpPr txBox="1"/>
          <p:nvPr/>
        </p:nvSpPr>
        <p:spPr>
          <a:xfrm>
            <a:off x="6172200" y="1234440"/>
            <a:ext cx="5440680" cy="5120640"/>
          </a:xfrm>
          <a:prstGeom prst="rect">
            <a:avLst/>
          </a:prstGeom>
          <a:noFill/>
          <a:ln/>
        </p:spPr>
        <p:txBody>
          <a:bodyPr wrap="square" lIns="0" tIns="0" rIns="0" bIns="0" rtlCol="0" anchor="t"/>
          <a:lstStyle/>
          <a:p>
            <a:pPr indent="0" marL="0">
              <a:spcAft>
                <a:spcPts val="400"/>
              </a:spcAft>
              <a:buNone/>
            </a:pPr>
            <a:r>
              <a:rPr lang="en-US" sz="1000" dirty="0">
                <a:solidFill>
                  <a:srgbClr val="1B1B1B"/>
                </a:solidFill>
              </a:rPr>
              <a:t>[13] Kwong JCC, Erdman L, Khondker A, et al. The silent trial: the bridge between bench-to-bedside clinical AI applications. Front Digit Health. 2022;4:929508.</a:t>
            </a:r>
            <a:endParaRPr lang="en-US" sz="1000" dirty="0"/>
          </a:p>
          <a:p>
            <a:pPr indent="0" marL="0">
              <a:spcAft>
                <a:spcPts val="400"/>
              </a:spcAft>
              <a:buNone/>
            </a:pPr>
            <a:r>
              <a:rPr lang="en-US" sz="1000" dirty="0">
                <a:solidFill>
                  <a:srgbClr val="1B1B1B"/>
                </a:solidFill>
              </a:rPr>
              <a:t>[14] Nagendran M, Chen Y, Lovejoy CA, et al. Artificial intelligence versus clinicians: systematic review of design, reporting standards, and claims of deep learning studies. BMJ. 2020;368:m689.</a:t>
            </a:r>
            <a:endParaRPr lang="en-US" sz="1000" dirty="0"/>
          </a:p>
          <a:p>
            <a:pPr indent="0" marL="0">
              <a:spcAft>
                <a:spcPts val="400"/>
              </a:spcAft>
              <a:buNone/>
            </a:pPr>
            <a:r>
              <a:rPr lang="en-US" sz="1000" dirty="0">
                <a:solidFill>
                  <a:srgbClr val="1B1B1B"/>
                </a:solidFill>
              </a:rPr>
              <a:t>[15] Reyna MA, Josef CS, Jeter R, et al. Early prediction of sepsis from clinical data: the PhysioNet/Computing in Cardiology Challenge 2019. Crit Care Med. 2020;48:210-217.</a:t>
            </a:r>
            <a:endParaRPr lang="en-US" sz="1000" dirty="0"/>
          </a:p>
          <a:p>
            <a:pPr indent="0" marL="0">
              <a:spcAft>
                <a:spcPts val="400"/>
              </a:spcAft>
              <a:buNone/>
            </a:pPr>
            <a:r>
              <a:rPr lang="en-US" sz="1000" dirty="0">
                <a:solidFill>
                  <a:srgbClr val="1B1B1B"/>
                </a:solidFill>
              </a:rPr>
              <a:t>[16] Agniel D, Kohane IS, Weber GM. Biases in electronic health record data due to processes within the healthcare system: retrospective observational study. BMJ. 2018;361:k1479.</a:t>
            </a:r>
            <a:endParaRPr lang="en-US" sz="1000" dirty="0"/>
          </a:p>
          <a:p>
            <a:pPr indent="0" marL="0">
              <a:spcAft>
                <a:spcPts val="400"/>
              </a:spcAft>
              <a:buNone/>
            </a:pPr>
            <a:r>
              <a:rPr lang="en-US" sz="1000" dirty="0">
                <a:solidFill>
                  <a:srgbClr val="1B1B1B"/>
                </a:solidFill>
              </a:rPr>
              <a:t>[17] Zech JR, Badgeley MA, Liu M, et al. Variable generalization performance of a deep learning model to detect pneumonia in chest radiographs: a cross-sectional study. PLoS Med. 2018;15:e1002683.</a:t>
            </a:r>
            <a:endParaRPr lang="en-US" sz="1000" dirty="0"/>
          </a:p>
          <a:p>
            <a:pPr indent="0" marL="0">
              <a:spcAft>
                <a:spcPts val="400"/>
              </a:spcAft>
              <a:buNone/>
            </a:pPr>
            <a:r>
              <a:rPr lang="en-US" sz="1000" dirty="0">
                <a:solidFill>
                  <a:srgbClr val="1B1B1B"/>
                </a:solidFill>
              </a:rPr>
              <a:t>[18] Kapoor S, Narayanan A. Leakage and the reproducibility crisis in machine-learning-based science. Patterns. 2023;4:100804.</a:t>
            </a:r>
            <a:endParaRPr lang="en-US" sz="1000" dirty="0"/>
          </a:p>
          <a:p>
            <a:pPr indent="0" marL="0">
              <a:spcAft>
                <a:spcPts val="400"/>
              </a:spcAft>
              <a:buNone/>
            </a:pPr>
            <a:r>
              <a:rPr lang="en-US" sz="1000" dirty="0">
                <a:solidFill>
                  <a:srgbClr val="1B1B1B"/>
                </a:solidFill>
              </a:rPr>
              <a:t>[19] Shah NH, Milstein A, Bagley SC. Making machine learning models clinically useful. JAMA. 2019;322:1351-1352.</a:t>
            </a:r>
            <a:endParaRPr lang="en-US" sz="1000" dirty="0"/>
          </a:p>
          <a:p>
            <a:pPr indent="0" marL="0">
              <a:spcAft>
                <a:spcPts val="400"/>
              </a:spcAft>
              <a:buNone/>
            </a:pPr>
            <a:r>
              <a:rPr lang="en-US" sz="1000" dirty="0">
                <a:solidFill>
                  <a:srgbClr val="1B1B1B"/>
                </a:solidFill>
              </a:rPr>
              <a:t>[20] Kelly CJ, Karthikesalingam A, Suleyman M, Corrado G, King D. Key challenges for delivering clinical impact with artificial intelligence. BMC Med. 2019;17:195.</a:t>
            </a:r>
            <a:endParaRPr lang="en-US" sz="1000" dirty="0"/>
          </a:p>
          <a:p>
            <a:pPr indent="0" marL="0">
              <a:spcAft>
                <a:spcPts val="400"/>
              </a:spcAft>
              <a:buNone/>
            </a:pPr>
            <a:r>
              <a:rPr lang="en-US" sz="1000" dirty="0">
                <a:solidFill>
                  <a:srgbClr val="1B1B1B"/>
                </a:solidFill>
              </a:rPr>
              <a:t>[21] Morrill JH, Kormilitzin A, Nevado-Holgado AJ, et al. Utilization of the signature method to identify the early onset of sepsis from multivariate physiological time series in critical care monitoring. Crit Care Med. 2020;48:e976-e981.</a:t>
            </a:r>
            <a:endParaRPr lang="en-US" sz="1000" dirty="0"/>
          </a:p>
          <a:p>
            <a:pPr indent="0" marL="0">
              <a:spcAft>
                <a:spcPts val="400"/>
              </a:spcAft>
              <a:buNone/>
            </a:pPr>
            <a:r>
              <a:rPr lang="en-US" sz="1000" dirty="0">
                <a:solidFill>
                  <a:srgbClr val="1B1B1B"/>
                </a:solidFill>
              </a:rPr>
              <a:t>[22] Wong A, Otles E, Donnelly JP, et al. External validation of a widely implemented proprietary sepsis prediction model in hospitalized patients. JAMA Intern Med. 2021;181:1065-1070.</a:t>
            </a:r>
            <a:endParaRPr lang="en-US" sz="1000" dirty="0"/>
          </a:p>
          <a:p>
            <a:pPr indent="0" marL="0">
              <a:spcAft>
                <a:spcPts val="400"/>
              </a:spcAft>
              <a:buNone/>
            </a:pPr>
            <a:r>
              <a:rPr lang="en-US" sz="1000" dirty="0">
                <a:solidFill>
                  <a:srgbClr val="1B1B1B"/>
                </a:solidFill>
              </a:rPr>
              <a:t>[23] Fleuren LM, Klausch TLT, Zwager CL, et al. Machine learning for the prediction of sepsis: a systematic review and meta-analysis of diagnostic test accuracy. Intensive Care Med. 2020;46:383-400.</a:t>
            </a:r>
            <a:endParaRPr lang="en-US" sz="100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References (2 of 2)</a:t>
            </a:r>
            <a:endParaRPr lang="en-US" sz="2400" dirty="0"/>
          </a:p>
        </p:txBody>
      </p:sp>
      <p:sp>
        <p:nvSpPr>
          <p:cNvPr id="4" name="reference list"/>
          <p:cNvSpPr txBox="1"/>
          <p:nvPr/>
        </p:nvSpPr>
        <p:spPr>
          <a:xfrm>
            <a:off x="548640" y="1234440"/>
            <a:ext cx="5440680" cy="5120640"/>
          </a:xfrm>
          <a:prstGeom prst="rect">
            <a:avLst/>
          </a:prstGeom>
          <a:noFill/>
          <a:ln/>
        </p:spPr>
        <p:txBody>
          <a:bodyPr wrap="square" lIns="0" tIns="0" rIns="0" bIns="0" rtlCol="0" anchor="t"/>
          <a:lstStyle/>
          <a:p>
            <a:pPr indent="0" marL="0">
              <a:spcAft>
                <a:spcPts val="400"/>
              </a:spcAft>
              <a:buNone/>
            </a:pPr>
            <a:r>
              <a:rPr lang="en-US" sz="1000" dirty="0">
                <a:solidFill>
                  <a:srgbClr val="1B1B1B"/>
                </a:solidFill>
              </a:rPr>
              <a:t>[24] Moor M, Rieck B, Horn M, Jutzeler CR, Borgwardt K. Early prediction of sepsis in the ICU using machine learning: a systematic review. Front Med. 2021;8:607952.</a:t>
            </a:r>
            <a:endParaRPr lang="en-US" sz="1000" dirty="0"/>
          </a:p>
          <a:p>
            <a:pPr indent="0" marL="0">
              <a:spcAft>
                <a:spcPts val="400"/>
              </a:spcAft>
              <a:buNone/>
            </a:pPr>
            <a:r>
              <a:rPr lang="en-US" sz="1000" dirty="0">
                <a:solidFill>
                  <a:srgbClr val="1B1B1B"/>
                </a:solidFill>
              </a:rPr>
              <a:t>[25] Tschandl P, Rinner C, Apalla Z, et al. Human-computer collaboration for skin cancer recognition. Nat Med. 2020;26:1229-1234.</a:t>
            </a:r>
            <a:endParaRPr lang="en-US" sz="1000" dirty="0"/>
          </a:p>
          <a:p>
            <a:pPr indent="0" marL="0">
              <a:spcAft>
                <a:spcPts val="400"/>
              </a:spcAft>
              <a:buNone/>
            </a:pPr>
            <a:r>
              <a:rPr lang="en-US" sz="1000" dirty="0">
                <a:solidFill>
                  <a:srgbClr val="1B1B1B"/>
                </a:solidFill>
              </a:rPr>
              <a:t>[26] Henry KE, Kornfield R, Sridharan A, et al. Human-machine teaming is key to AI adoption: clinicians' experiences with a deployed machine learning system. NPJ Digit Med. 2022;5:97.</a:t>
            </a:r>
            <a:endParaRPr lang="en-US" sz="1000" dirty="0"/>
          </a:p>
          <a:p>
            <a:pPr indent="0" marL="0">
              <a:spcAft>
                <a:spcPts val="400"/>
              </a:spcAft>
              <a:buNone/>
            </a:pPr>
            <a:r>
              <a:rPr lang="en-US" sz="1000" dirty="0">
                <a:solidFill>
                  <a:srgbClr val="1B1B1B"/>
                </a:solidFill>
              </a:rPr>
              <a:t>[27] Wiens J, Saria S, Sendak M, et al. Do no harm: a roadmap for responsible machine learning for health care. Nat Med. 2019;25:1337-1340.</a:t>
            </a:r>
            <a:endParaRPr lang="en-US" sz="1000" dirty="0"/>
          </a:p>
          <a:p>
            <a:pPr indent="0" marL="0">
              <a:spcAft>
                <a:spcPts val="400"/>
              </a:spcAft>
              <a:buNone/>
            </a:pPr>
            <a:r>
              <a:rPr lang="en-US" sz="1000" dirty="0">
                <a:solidFill>
                  <a:srgbClr val="1B1B1B"/>
                </a:solidFill>
              </a:rPr>
              <a:t>[28] Bratzler DW, Dellinger EP, Olsen KM, et al. Clinical practice guidelines for antimicrobial prophylaxis in surgery. Am J Health Syst Pharm. 2013;70:195-283.</a:t>
            </a:r>
            <a:endParaRPr lang="en-US" sz="1000" dirty="0"/>
          </a:p>
          <a:p>
            <a:pPr indent="0" marL="0">
              <a:spcAft>
                <a:spcPts val="400"/>
              </a:spcAft>
              <a:buNone/>
            </a:pPr>
            <a:r>
              <a:rPr lang="en-US" sz="1000" dirty="0">
                <a:solidFill>
                  <a:srgbClr val="1B1B1B"/>
                </a:solidFill>
              </a:rPr>
              <a:t>[29] Evans L, Rhodes A, Alhazzani W, et al. Surviving Sepsis Campaign: international guidelines for management of sepsis and septic shock 2021. Intensive Care Med. 2021;47:1181-1247.</a:t>
            </a:r>
            <a:endParaRPr lang="en-US" sz="1000" dirty="0"/>
          </a:p>
          <a:p>
            <a:pPr indent="0" marL="0">
              <a:spcAft>
                <a:spcPts val="400"/>
              </a:spcAft>
              <a:buNone/>
            </a:pPr>
            <a:r>
              <a:rPr lang="en-US" sz="1000" dirty="0">
                <a:solidFill>
                  <a:srgbClr val="1B1B1B"/>
                </a:solidFill>
              </a:rPr>
              <a:t>[30] Johnson AEW, Bulgarelli L, Shen L, et al. MIMIC-IV, a freely accessible electronic health record dataset. Sci Data. 2023;10:1.</a:t>
            </a:r>
            <a:endParaRPr lang="en-US" sz="1000" dirty="0"/>
          </a:p>
          <a:p>
            <a:pPr indent="0" marL="0">
              <a:spcAft>
                <a:spcPts val="400"/>
              </a:spcAft>
              <a:buNone/>
            </a:pPr>
            <a:r>
              <a:rPr lang="en-US" sz="1000" dirty="0">
                <a:solidFill>
                  <a:srgbClr val="1B1B1B"/>
                </a:solidFill>
              </a:rPr>
              <a:t>[31] Pollard TJ, Johnson AEW, Raffa JD, et al. The eICU Collaborative Research Database, a freely available multi-center database for critical care research. Sci Data. 2018;5:180178.</a:t>
            </a:r>
            <a:endParaRPr lang="en-US" sz="1000" dirty="0"/>
          </a:p>
          <a:p>
            <a:pPr indent="0" marL="0">
              <a:spcAft>
                <a:spcPts val="400"/>
              </a:spcAft>
              <a:buNone/>
            </a:pPr>
            <a:r>
              <a:rPr lang="en-US" sz="1000" dirty="0">
                <a:solidFill>
                  <a:srgbClr val="1B1B1B"/>
                </a:solidFill>
              </a:rPr>
              <a:t>[32] Goldberger AL, Amaral LAN, Glass L, et al. PhysioBank, PhysioToolkit, and PhysioNet: components of a new research resource for complex physiologic signals. Circulation. 2000;101:e215-e220.</a:t>
            </a:r>
            <a:endParaRPr lang="en-US" sz="1000" dirty="0"/>
          </a:p>
          <a:p>
            <a:pPr indent="0" marL="0">
              <a:spcAft>
                <a:spcPts val="400"/>
              </a:spcAft>
              <a:buNone/>
            </a:pPr>
            <a:r>
              <a:rPr lang="en-US" sz="1000" dirty="0">
                <a:solidFill>
                  <a:srgbClr val="1B1B1B"/>
                </a:solidFill>
              </a:rPr>
              <a:t>[33] van de Water R, Schmidt HNA, Elbers PWG, et al. Yet Another ICU Benchmark: a flexible multi-center framework for clinical machine learning. ICLR 2024.</a:t>
            </a:r>
            <a:endParaRPr lang="en-US" sz="1000" dirty="0"/>
          </a:p>
          <a:p>
            <a:pPr indent="0" marL="0">
              <a:spcAft>
                <a:spcPts val="400"/>
              </a:spcAft>
              <a:buNone/>
            </a:pPr>
            <a:r>
              <a:rPr lang="en-US" sz="1000" dirty="0">
                <a:solidFill>
                  <a:srgbClr val="1B1B1B"/>
                </a:solidFill>
              </a:rPr>
              <a:t>[34] Bennett N, Plecko D, Ukor IF, Meinshausen N, Buhlmann P. ricu: R's interface to intensive care data. GigaScience. 2023;12.</a:t>
            </a:r>
            <a:endParaRPr lang="en-US" sz="1000" dirty="0"/>
          </a:p>
        </p:txBody>
      </p:sp>
      <p:sp>
        <p:nvSpPr>
          <p:cNvPr id="5" name="reference list"/>
          <p:cNvSpPr txBox="1"/>
          <p:nvPr/>
        </p:nvSpPr>
        <p:spPr>
          <a:xfrm>
            <a:off x="6172200" y="1234440"/>
            <a:ext cx="5440680" cy="5120640"/>
          </a:xfrm>
          <a:prstGeom prst="rect">
            <a:avLst/>
          </a:prstGeom>
          <a:noFill/>
          <a:ln/>
        </p:spPr>
        <p:txBody>
          <a:bodyPr wrap="square" lIns="0" tIns="0" rIns="0" bIns="0" rtlCol="0" anchor="t"/>
          <a:lstStyle/>
          <a:p>
            <a:pPr indent="0" marL="0">
              <a:spcAft>
                <a:spcPts val="400"/>
              </a:spcAft>
              <a:buNone/>
            </a:pPr>
            <a:r>
              <a:rPr lang="en-US" sz="1000" dirty="0">
                <a:solidFill>
                  <a:srgbClr val="1B1B1B"/>
                </a:solidFill>
              </a:rPr>
              <a:t>[35] Seymour CW, Liu VX, Iwashyna TJ, et al. Assessment of clinical criteria for sepsis (Sepsis-3). JAMA. 2016;315:762-774.</a:t>
            </a:r>
            <a:endParaRPr lang="en-US" sz="1000" dirty="0"/>
          </a:p>
          <a:p>
            <a:pPr indent="0" marL="0">
              <a:spcAft>
                <a:spcPts val="400"/>
              </a:spcAft>
              <a:buNone/>
            </a:pPr>
            <a:r>
              <a:rPr lang="en-US" sz="1000" dirty="0">
                <a:solidFill>
                  <a:srgbClr val="1B1B1B"/>
                </a:solidFill>
              </a:rPr>
              <a:t>[36] Vaswani A, Shazeer N, Parmar N, et al. Attention is all you need. Advances in Neural Information Processing Systems (NeurIPS). 2017.</a:t>
            </a:r>
            <a:endParaRPr lang="en-US" sz="1000" dirty="0"/>
          </a:p>
          <a:p>
            <a:pPr indent="0" marL="0">
              <a:spcAft>
                <a:spcPts val="400"/>
              </a:spcAft>
              <a:buNone/>
            </a:pPr>
            <a:r>
              <a:rPr lang="en-US" sz="1000" dirty="0">
                <a:solidFill>
                  <a:srgbClr val="1B1B1B"/>
                </a:solidFill>
              </a:rPr>
              <a:t>[37] Che Z, Purushotham S, Cho K, Sontag D, Liu Y. Recurrent neural networks for multivariate time series with missing values. Sci Rep. 2018;8:6085.</a:t>
            </a:r>
            <a:endParaRPr lang="en-US" sz="1000" dirty="0"/>
          </a:p>
          <a:p>
            <a:pPr indent="0" marL="0">
              <a:spcAft>
                <a:spcPts val="400"/>
              </a:spcAft>
              <a:buNone/>
            </a:pPr>
            <a:r>
              <a:rPr lang="en-US" sz="1000" dirty="0">
                <a:solidFill>
                  <a:srgbClr val="1B1B1B"/>
                </a:solidFill>
              </a:rPr>
              <a:t>[38] Bai S, Kolter JZ, Koltun V. An empirical evaluation of generic convolutional and recurrent networks for sequence modeling. arXiv:1803.01271. 2018.</a:t>
            </a:r>
            <a:endParaRPr lang="en-US" sz="1000" dirty="0"/>
          </a:p>
          <a:p>
            <a:pPr indent="0" marL="0">
              <a:spcAft>
                <a:spcPts val="400"/>
              </a:spcAft>
              <a:buNone/>
            </a:pPr>
            <a:r>
              <a:rPr lang="en-US" sz="1000" dirty="0">
                <a:solidFill>
                  <a:srgbClr val="1B1B1B"/>
                </a:solidFill>
              </a:rPr>
              <a:t>[39] Yeche H, Dresdner G, Locatello F, Huser M, Ratsch G. Neighborhood contrastive learning applied to online patient monitoring. International Conference on Machine Learning (ICML). 2021.</a:t>
            </a:r>
            <a:endParaRPr lang="en-US" sz="1000" dirty="0"/>
          </a:p>
          <a:p>
            <a:pPr indent="0" marL="0">
              <a:spcAft>
                <a:spcPts val="400"/>
              </a:spcAft>
              <a:buNone/>
            </a:pPr>
            <a:r>
              <a:rPr lang="en-US" sz="1000" dirty="0">
                <a:solidFill>
                  <a:srgbClr val="1B1B1B"/>
                </a:solidFill>
              </a:rPr>
              <a:t>[40] Yeche H, Pace A, Ratsch G, Kuznetsova R. Temporal label smoothing for early event prediction. International Conference on Machine Learning (ICML). 2023.</a:t>
            </a:r>
            <a:endParaRPr lang="en-US" sz="1000" dirty="0"/>
          </a:p>
          <a:p>
            <a:pPr indent="0" marL="0">
              <a:spcAft>
                <a:spcPts val="400"/>
              </a:spcAft>
              <a:buNone/>
            </a:pPr>
            <a:r>
              <a:rPr lang="en-US" sz="1000" dirty="0">
                <a:solidFill>
                  <a:srgbClr val="1B1B1B"/>
                </a:solidFill>
              </a:rPr>
              <a:t>[41] Elrggal ME, et al. Early sepsis warning on MIMIC-IV and eICU: preliminary development-split results, October 2026. Unpublished; manuscript in preparation.</a:t>
            </a:r>
            <a:endParaRPr lang="en-US" sz="1000" dirty="0"/>
          </a:p>
          <a:p>
            <a:pPr indent="0" marL="0">
              <a:spcAft>
                <a:spcPts val="400"/>
              </a:spcAft>
              <a:buNone/>
            </a:pPr>
            <a:r>
              <a:rPr lang="en-US" sz="1000" dirty="0">
                <a:solidFill>
                  <a:srgbClr val="1B1B1B"/>
                </a:solidFill>
              </a:rPr>
              <a:t>[42] Elrggal ME, et al. Temporal patterns and predictors of sepsis onset in ICU patients: a retrospective cohort study using PhysioNet data. Submitted, Front Med, 2026.</a:t>
            </a:r>
            <a:endParaRPr lang="en-US" sz="1000" dirty="0"/>
          </a:p>
          <a:p>
            <a:pPr indent="0" marL="0">
              <a:spcAft>
                <a:spcPts val="400"/>
              </a:spcAft>
              <a:buNone/>
            </a:pPr>
            <a:r>
              <a:rPr lang="en-US" sz="1000" dirty="0">
                <a:solidFill>
                  <a:srgbClr val="1B1B1B"/>
                </a:solidFill>
              </a:rPr>
              <a:t>[43] Elrggal ME, et al. Diagnostic applications of infrared thermography across infectious diseases: a systematic review with a subgroup meta-analysis. Submitted, JMIR, 2026.</a:t>
            </a:r>
            <a:endParaRPr lang="en-US" sz="1000" dirty="0"/>
          </a:p>
          <a:p>
            <a:pPr indent="0" marL="0">
              <a:spcAft>
                <a:spcPts val="400"/>
              </a:spcAft>
              <a:buNone/>
            </a:pPr>
            <a:r>
              <a:rPr lang="en-US" sz="1000" dirty="0">
                <a:solidFill>
                  <a:srgbClr val="1B1B1B"/>
                </a:solidFill>
              </a:rPr>
              <a:t>[44] Royal College of Physicians. National Early Warning Score (NEWS) 2: standardising the assessment of acute-illness severity in the NHS. London: RCP; 2017.</a:t>
            </a:r>
            <a:endParaRPr lang="en-US" sz="1000" dirty="0"/>
          </a:p>
          <a:p>
            <a:pPr indent="0" marL="0">
              <a:spcAft>
                <a:spcPts val="400"/>
              </a:spcAft>
              <a:buNone/>
            </a:pPr>
            <a:r>
              <a:rPr lang="en-US" sz="1000" dirty="0">
                <a:solidFill>
                  <a:srgbClr val="1B1B1B"/>
                </a:solidFill>
              </a:rPr>
              <a:t>[45] Kidney Disease: Improving Global Outcomes (KDIGO) AKI Work Group. KDIGO clinical practice guideline for acute kidney injury. Kidney Int Suppl. 2012;2:1-138.</a:t>
            </a:r>
            <a:endParaRPr lang="en-US" sz="100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25</a:t>
            </a:fld>
            <a:endParaRPr lang="en-US"/>
          </a:p>
        </p:txBody>
      </p:sp>
    </p:spTree>
  </p:cSld>
  <p:clrMapOvr>
    <a:masterClrMapping/>
  </p:clrMapOvr>
</p:sld>
</file>

<file path=ppt/theme/theme1.xml><?xml version="1.0" encoding="utf-8"?>
<a:theme xmlns:a="http://schemas.openxmlformats.org/drawingml/2006/main" name="ClinicalEditorial">
  <a:themeElements>
    <a:clrScheme name="ClinicalEditorial">
      <a:dk1>
        <a:srgbClr val="1B1B1B"/>
      </a:dk1>
      <a:lt1>
        <a:srgbClr val="FFFFFF"/>
      </a:lt1>
      <a:dk2>
        <a:srgbClr val="3A3A3A"/>
      </a:dk2>
      <a:lt2>
        <a:srgbClr val="F2F2F2"/>
      </a:lt2>
      <a:accent1>
        <a:srgbClr val="C8102E"/>
      </a:accent1>
      <a:accent2>
        <a:srgbClr val="3A3A3A"/>
      </a:accent2>
      <a:accent3>
        <a:srgbClr val="8C8C8C"/>
      </a:accent3>
      <a:accent4>
        <a:srgbClr val="1F4E9A"/>
      </a:accent4>
      <a:accent5>
        <a:srgbClr val="7A1020"/>
      </a:accent5>
      <a:accent6>
        <a:srgbClr val="D9A400"/>
      </a:accent6>
      <a:hlink>
        <a:srgbClr val="C8102E"/>
      </a:hlink>
      <a:folHlink>
        <a:srgbClr val="5E5E5E"/>
      </a:folHlink>
    </a:clrScheme>
    <a:fontScheme name="ClinicalEditorial">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Development of Novel AI Models for Early Detection and Prediction of Infectious Diseases, with a Focus on Sepsis</dc:title>
  <dc:subject>PptxGenJS Presentation</dc:subject>
  <dc:creator>Mahmoud Essam Elrggal</dc:creator>
  <cp:lastModifiedBy>Mahmoud Essam Elrggal</cp:lastModifiedBy>
  <cp:revision>1</cp:revision>
  <dcterms:created xsi:type="dcterms:W3CDTF">2026-10-19T06:19:02Z</dcterms:created>
  <dcterms:modified xsi:type="dcterms:W3CDTF">2026-10-19T06:19:02Z</dcterms:modified>
</cp:coreProperties>
</file>