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1bd875a1-9514-e5e1-068d-6a96299f9b55}">
          <p14:sldIdLst>
            <p14:sldId id="256"/>
            <p14:sldId id="257"/>
            <p14:sldId id="258"/>
            <p14:sldId id="259"/>
            <p14:sldId id="260"/>
          </p14:sldIdLst>
        </p14:section>
        <p14:section name="Question and approach" id="{587ad090-13a0-b4e0-dea1-5ad1fda654a0}">
          <p14:sldIdLst>
            <p14:sldId id="261"/>
            <p14:sldId id="262"/>
            <p14:sldId id="263"/>
            <p14:sldId id="264"/>
            <p14:sldId id="265"/>
          </p14:sldIdLst>
        </p14:section>
        <p14:section name="Preliminary results" id="{a521c475-c318-f49c-8ba1-39738fa92e94}">
          <p14:sldIdLst>
            <p14:sldId id="266"/>
            <p14:sldId id="267"/>
            <p14:sldId id="268"/>
          </p14:sldIdLst>
        </p14:section>
        <p14:section name="Contribution and next steps" id="{026fd597-d914-bb0c-cf88-155c577a996f}">
          <p14:sldIdLst>
            <p14:sldId id="269"/>
          </p14:sldIdLst>
        </p14:section>
        <p14:section name="Input" id="{4d04d5fa-b998-d075-37ed-8ea95c0d75f6}">
          <p14:sldIdLst>
            <p14:sldId id="270"/>
          </p14:sldIdLst>
        </p14:section>
        <p14:section name="Backup" id="{34c9ebca-1a47-2550-08ca-cb1076509013}">
          <p14:sldIdLst>
            <p14:sldId id="271"/>
            <p14:sldId id="272"/>
            <p14:sldId id="273"/>
            <p14:sldId id="274"/>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1 = perfect,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3A3A3A"/>
              </a:solidFill>
              <a:effectLst/>
            </c:spPr>
          </c:dPt>
          <c:dPt>
            <c:idx val="3"/>
            <c:invertIfNegative val="0"/>
            <c:bubble3D val="0"/>
            <c:spPr>
              <a:solidFill>
                <a:srgbClr val="C8102E"/>
              </a:solidFill>
              <a:effectLst/>
            </c:spPr>
          </c:dPt>
          <c:dPt>
            <c:idx val="4"/>
            <c:invertIfNegative val="0"/>
            <c:bubble3D val="0"/>
            <c:spPr>
              <a:solidFill>
                <a:srgbClr val="C8102E"/>
              </a:solidFill>
              <a:effectLst/>
            </c:spPr>
          </c:dPt>
          <c:cat>
            <c:multiLvlStrRef>
              <c:f>Sheet1!$A$2:$A$6</c:f>
              <c:multiLvlStrCache>
                <c:ptCount val="5"/>
                <c:lvl>
                  <c:pt idx="0">
                    <c:v>Winner, published: its 2 hospitals</c:v>
                  </c:pt>
                  <c:pt idx="1">
                    <c:v>Winner, published: unseen hospital</c:v>
                  </c:pt>
                  <c:pt idx="2">
                    <c:v>Winner's method, rebuilt here</c:v>
                  </c:pt>
                  <c:pt idx="3">
                    <c:v>OSTA (this project)</c:v>
                  </c:pt>
                  <c:pt idx="4">
                    <c:v>GRU-D (chosen on validation)</c:v>
                  </c:pt>
                </c:lvl>
              </c:multiLvlStrCache>
            </c:multiLvlStrRef>
          </c:cat>
          <c:val>
            <c:numRef>
              <c:f>Sheet1!$B$2:$B$6</c:f>
              <c:numCache>
                <c:formatCode>General</c:formatCode>
                <c:ptCount val="5"/>
                <c:pt idx="0">
                  <c:v>0.43</c:v>
                </c:pt>
                <c:pt idx="1">
                  <c:v>-0.12</c:v>
                </c:pt>
                <c:pt idx="2">
                  <c:v>0.15</c:v>
                </c:pt>
                <c:pt idx="3">
                  <c:v>0.23</c:v>
                </c:pt>
                <c:pt idx="4">
                  <c:v>0.19</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6"/>
          <c:min val="-0.4"/>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Grey is the published winner: 0.43 on its own hospitals, minus 0.12 on an unseen one. Dark grey is the winner's own method rebuilt in our causal pipeline on MIMIC-IV: 0.15. Red is this project: OSTA 0.23, and GRU-D, the model the prespecified rule chose on validation, 0.19. All 21 models have positive utility with confidence intervals above zero. The organ grouping did not beat the same model without it at this sample size; that is reported as found. Say: preliminary, one run, development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659,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method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is the biggest single correction</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sepsis onset labelled positive: the model learnt sepsis that had already started.</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the alarms are worth about a fifth of perfect alarms after paying for false alarms.</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on identical MIMIC-IV hours, all 21 models have positive utility, including the winner's method</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64008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932688" y="5486400"/>
            <a:ext cx="1737360" cy="274320"/>
          </a:xfrm>
          <a:prstGeom prst="rect">
            <a:avLst/>
          </a:prstGeom>
          <a:noFill/>
          <a:ln/>
        </p:spPr>
        <p:txBody>
          <a:bodyPr wrap="square" lIns="0" tIns="0" rIns="0" bIns="0" rtlCol="0" anchor="ctr"/>
          <a:lstStyle/>
          <a:p>
            <a:pPr algn="l" indent="0" marL="0">
              <a:buNone/>
            </a:pPr>
            <a:r>
              <a:rPr lang="en-US" sz="1200" dirty="0">
                <a:solidFill>
                  <a:srgbClr val="1B1B1B"/>
                </a:solidFill>
              </a:rPr>
              <a:t>Published [15, 21]</a:t>
            </a:r>
            <a:endParaRPr lang="en-US" sz="1200" dirty="0"/>
          </a:p>
        </p:txBody>
      </p:sp>
      <p:sp>
        <p:nvSpPr>
          <p:cNvPr id="9" name="legend swatch"/>
          <p:cNvSpPr/>
          <p:nvPr/>
        </p:nvSpPr>
        <p:spPr>
          <a:xfrm>
            <a:off x="2651760" y="5532120"/>
            <a:ext cx="228600" cy="182880"/>
          </a:xfrm>
          <a:prstGeom prst="rect">
            <a:avLst/>
          </a:prstGeom>
          <a:solidFill>
            <a:srgbClr val="3A3A3A"/>
          </a:solidFill>
          <a:ln w="12700">
            <a:solidFill>
              <a:srgbClr val="3A3A3A"/>
            </a:solidFill>
            <a:prstDash val="solid"/>
          </a:ln>
        </p:spPr>
      </p:sp>
      <p:sp>
        <p:nvSpPr>
          <p:cNvPr id="10" name="text"/>
          <p:cNvSpPr txBox="1"/>
          <p:nvPr/>
        </p:nvSpPr>
        <p:spPr>
          <a:xfrm>
            <a:off x="2944368" y="5486400"/>
            <a:ext cx="2286000" cy="274320"/>
          </a:xfrm>
          <a:prstGeom prst="rect">
            <a:avLst/>
          </a:prstGeom>
          <a:noFill/>
          <a:ln/>
        </p:spPr>
        <p:txBody>
          <a:bodyPr wrap="square" lIns="0" tIns="0" rIns="0" bIns="0" rtlCol="0" anchor="ctr"/>
          <a:lstStyle/>
          <a:p>
            <a:pPr algn="l" indent="0" marL="0">
              <a:buNone/>
            </a:pPr>
            <a:r>
              <a:rPr lang="en-US" sz="1200" dirty="0">
                <a:solidFill>
                  <a:srgbClr val="1B1B1B"/>
                </a:solidFill>
              </a:rPr>
              <a:t>Winner's method, our pipeline</a:t>
            </a:r>
            <a:endParaRPr lang="en-US" sz="1200" dirty="0"/>
          </a:p>
        </p:txBody>
      </p:sp>
      <p:sp>
        <p:nvSpPr>
          <p:cNvPr id="11" name="legend swatch"/>
          <p:cNvSpPr/>
          <p:nvPr/>
        </p:nvSpPr>
        <p:spPr>
          <a:xfrm>
            <a:off x="5212080" y="5532120"/>
            <a:ext cx="228600" cy="182880"/>
          </a:xfrm>
          <a:prstGeom prst="rect">
            <a:avLst/>
          </a:prstGeom>
          <a:solidFill>
            <a:srgbClr val="C8102E"/>
          </a:solidFill>
          <a:ln w="12700">
            <a:solidFill>
              <a:srgbClr val="C8102E"/>
            </a:solidFill>
            <a:prstDash val="solid"/>
          </a:ln>
        </p:spPr>
      </p:sp>
      <p:sp>
        <p:nvSpPr>
          <p:cNvPr id="12" name="text"/>
          <p:cNvSpPr txBox="1"/>
          <p:nvPr/>
        </p:nvSpPr>
        <p:spPr>
          <a:xfrm>
            <a:off x="5504688" y="5486400"/>
            <a:ext cx="182880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[41]</a:t>
            </a:r>
            <a:endParaRPr lang="en-US" sz="1200" dirty="0"/>
          </a:p>
        </p:txBody>
      </p:sp>
      <p:sp>
        <p:nvSpPr>
          <p:cNvPr id="13"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4"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5"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71 sepsis events, identical hours</a:t>
            </a:r>
            <a:endParaRPr lang="en-US" sz="1200" dirty="0"/>
          </a:p>
        </p:txBody>
      </p:sp>
      <p:sp>
        <p:nvSpPr>
          <p:cNvPr id="16" name="text"/>
          <p:cNvSpPr txBox="1"/>
          <p:nvPr/>
        </p:nvSpPr>
        <p:spPr>
          <a:xfrm>
            <a:off x="7726680"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21 / 21</a:t>
            </a:r>
            <a:endParaRPr lang="en-US" sz="2200" dirty="0"/>
          </a:p>
        </p:txBody>
      </p:sp>
      <p:sp>
        <p:nvSpPr>
          <p:cNvPr id="17" name="text"/>
          <p:cNvSpPr txBox="1"/>
          <p:nvPr/>
        </p:nvSpPr>
        <p:spPr>
          <a:xfrm>
            <a:off x="7726680"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models with utility above zero, every 95 % CI above zero</a:t>
            </a:r>
            <a:endParaRPr lang="en-US" sz="1150" dirty="0"/>
          </a:p>
        </p:txBody>
      </p:sp>
      <p:sp>
        <p:nvSpPr>
          <p:cNvPr id="18" name="text"/>
          <p:cNvSpPr txBox="1"/>
          <p:nvPr/>
        </p:nvSpPr>
        <p:spPr>
          <a:xfrm>
            <a:off x="9593428"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0.08-0.29</a:t>
            </a:r>
            <a:endParaRPr lang="en-US" sz="2200" dirty="0"/>
          </a:p>
        </p:txBody>
      </p:sp>
      <p:sp>
        <p:nvSpPr>
          <p:cNvPr id="19" name="text"/>
          <p:cNvSpPr txBox="1"/>
          <p:nvPr/>
        </p:nvSpPr>
        <p:spPr>
          <a:xfrm>
            <a:off x="9593428"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utility range across all models</a:t>
            </a:r>
            <a:endParaRPr lang="en-US" sz="1150" dirty="0"/>
          </a:p>
        </p:txBody>
      </p:sp>
      <p:sp>
        <p:nvSpPr>
          <p:cNvPr id="20" name="text"/>
          <p:cNvSpPr txBox="1"/>
          <p:nvPr/>
        </p:nvSpPr>
        <p:spPr>
          <a:xfrm>
            <a:off x="7726680"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0.23</a:t>
            </a:r>
            <a:endParaRPr lang="en-US" sz="2800" dirty="0"/>
          </a:p>
        </p:txBody>
      </p:sp>
      <p:sp>
        <p:nvSpPr>
          <p:cNvPr id="21" name="text"/>
          <p:cNvSpPr txBox="1"/>
          <p:nvPr/>
        </p:nvSpPr>
        <p:spPr>
          <a:xfrm>
            <a:off x="7726680"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OSTA, 95 % CI 0.13 to 0.34</a:t>
            </a:r>
            <a:endParaRPr lang="en-US" sz="1150" dirty="0"/>
          </a:p>
        </p:txBody>
      </p:sp>
      <p:sp>
        <p:nvSpPr>
          <p:cNvPr id="22" name="text"/>
          <p:cNvSpPr txBox="1"/>
          <p:nvPr/>
        </p:nvSpPr>
        <p:spPr>
          <a:xfrm>
            <a:off x="9593428"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0.15</a:t>
            </a:r>
            <a:endParaRPr lang="en-US" sz="2800" dirty="0"/>
          </a:p>
        </p:txBody>
      </p:sp>
      <p:sp>
        <p:nvSpPr>
          <p:cNvPr id="23" name="text"/>
          <p:cNvSpPr txBox="1"/>
          <p:nvPr/>
        </p:nvSpPr>
        <p:spPr>
          <a:xfrm>
            <a:off x="9593428"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winner's method, 95 % CI 0.06 to 0.22</a:t>
            </a:r>
            <a:endParaRPr lang="en-US" sz="1150" dirty="0"/>
          </a:p>
        </p:txBody>
      </p:sp>
      <p:sp>
        <p:nvSpPr>
          <p:cNvPr id="24" name="text"/>
          <p:cNvSpPr txBox="1"/>
          <p:nvPr/>
        </p:nvSpPr>
        <p:spPr>
          <a:xfrm>
            <a:off x="7726680" y="4709160"/>
            <a:ext cx="3733495" cy="1005840"/>
          </a:xfrm>
          <a:prstGeom prst="rect">
            <a:avLst/>
          </a:prstGeom>
          <a:noFill/>
          <a:ln/>
        </p:spPr>
        <p:txBody>
          <a:bodyPr wrap="square" lIns="0" tIns="0" rIns="0" bIns="0" rtlCol="0" anchor="t"/>
          <a:lstStyle/>
          <a:p>
            <a:pPr algn="l" indent="0" marL="0">
              <a:buNone/>
            </a:pPr>
            <a:r>
              <a:rPr lang="en-US" sz="1150" dirty="0">
                <a:solidFill>
                  <a:srgbClr val="5E5E5E"/>
                </a:solidFill>
              </a:rPr>
              <a:t>Rules fixed in advance, applied on validation: organ grouping did not beat the same model without it; GRU-D, TCN and flat OSTA shortlisted. Validation and test rankings disagree, so the full cohort decides.</a:t>
            </a:r>
            <a:endParaRPr lang="en-US" sz="1150" dirty="0"/>
          </a:p>
        </p:txBody>
      </p:sp>
      <p:sp>
        <p:nvSpPr>
          <p:cNvPr id="2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659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was recorded, with a measured flag and its age; no hour after onset used</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recorded, expires after 24 h; post-onset hours excluded</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659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659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(MIMIC-IV only),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(reserved for a planned fairness analysis);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How the models evolved: each stage was triggered by a finding from the one before</a:t>
            </a:r>
            <a:endParaRPr lang="en-US" sz="2400" dirty="0"/>
          </a:p>
        </p:txBody>
      </p:sp>
      <p:sp>
        <p:nvSpPr>
          <p:cNvPr id="4" name="box"/>
          <p:cNvSpPr/>
          <p:nvPr/>
        </p:nvSpPr>
        <p:spPr>
          <a:xfrm>
            <a:off x="548640" y="1463040"/>
            <a:ext cx="3429000" cy="457200"/>
          </a:xfrm>
          <a:prstGeom prst="rect">
            <a:avLst/>
          </a:prstGeom>
          <a:solidFill>
            <a:srgbClr val="1B1B1B"/>
          </a:solidFill>
          <a:ln w="12700">
            <a:solidFill>
              <a:srgbClr val="1B1B1B"/>
            </a:solidFill>
            <a:prstDash val="solid"/>
          </a:ln>
        </p:spPr>
      </p:sp>
      <p:sp>
        <p:nvSpPr>
          <p:cNvPr id="5" name="text"/>
          <p:cNvSpPr txBox="1"/>
          <p:nvPr/>
        </p:nvSpPr>
        <p:spPr>
          <a:xfrm>
            <a:off x="658368"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Earlier work: PhysioNet 2019</a:t>
            </a:r>
            <a:endParaRPr lang="en-US" sz="1350" dirty="0"/>
          </a:p>
        </p:txBody>
      </p:sp>
      <p:sp>
        <p:nvSpPr>
          <p:cNvPr id="6" name="box"/>
          <p:cNvSpPr/>
          <p:nvPr/>
        </p:nvSpPr>
        <p:spPr>
          <a:xfrm>
            <a:off x="548640" y="2029968"/>
            <a:ext cx="3429000" cy="886968"/>
          </a:xfrm>
          <a:prstGeom prst="rect">
            <a:avLst/>
          </a:prstGeom>
          <a:solidFill>
            <a:srgbClr val="F2F2F2"/>
          </a:solidFill>
          <a:ln w="12700">
            <a:solidFill>
              <a:srgbClr val="F2F2F2"/>
            </a:solidFill>
            <a:prstDash val="solid"/>
          </a:ln>
        </p:spPr>
      </p:sp>
      <p:sp>
        <p:nvSpPr>
          <p:cNvPr id="7" name="text"/>
          <p:cNvSpPr txBox="1"/>
          <p:nvPr/>
        </p:nvSpPr>
        <p:spPr>
          <a:xfrm>
            <a:off x="658368"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CNN-Transformer</a:t>
            </a:r>
            <a:endParaRPr lang="en-US" sz="1300" dirty="0"/>
          </a:p>
        </p:txBody>
      </p:sp>
      <p:sp>
        <p:nvSpPr>
          <p:cNvPr id="8" name="text"/>
          <p:cNvSpPr txBox="1"/>
          <p:nvPr/>
        </p:nvSpPr>
        <p:spPr>
          <a:xfrm>
            <a:off x="658368"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Convolution for local patterns, then attention; no clinical structure [36]</a:t>
            </a:r>
            <a:endParaRPr lang="en-US" sz="1150" dirty="0"/>
          </a:p>
        </p:txBody>
      </p:sp>
      <p:sp>
        <p:nvSpPr>
          <p:cNvPr id="9" name="box"/>
          <p:cNvSpPr/>
          <p:nvPr/>
        </p:nvSpPr>
        <p:spPr>
          <a:xfrm>
            <a:off x="548640" y="3008376"/>
            <a:ext cx="3429000" cy="886968"/>
          </a:xfrm>
          <a:prstGeom prst="rect">
            <a:avLst/>
          </a:prstGeom>
          <a:solidFill>
            <a:srgbClr val="F2F2F2"/>
          </a:solidFill>
          <a:ln w="12700">
            <a:solidFill>
              <a:srgbClr val="F2F2F2"/>
            </a:solidFill>
            <a:prstDash val="solid"/>
          </a:ln>
        </p:spPr>
      </p:sp>
      <p:sp>
        <p:nvSpPr>
          <p:cNvPr id="10" name="text"/>
          <p:cNvSpPr txBox="1"/>
          <p:nvPr/>
        </p:nvSpPr>
        <p:spPr>
          <a:xfrm>
            <a:off x="658368"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a:t>
            </a:r>
            <a:endParaRPr lang="en-US" sz="1300" dirty="0"/>
          </a:p>
        </p:txBody>
      </p:sp>
      <p:sp>
        <p:nvSpPr>
          <p:cNvPr id="11" name="text"/>
          <p:cNvSpPr txBox="1"/>
          <p:nvPr/>
        </p:nvSpPr>
        <p:spPr>
          <a:xfrm>
            <a:off x="658368"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Predictors grouped by organ, as SOFA does, with a risk per organ [7]</a:t>
            </a:r>
            <a:endParaRPr lang="en-US" sz="1150" dirty="0"/>
          </a:p>
        </p:txBody>
      </p:sp>
      <p:sp>
        <p:nvSpPr>
          <p:cNvPr id="12" name="box"/>
          <p:cNvSpPr/>
          <p:nvPr/>
        </p:nvSpPr>
        <p:spPr>
          <a:xfrm>
            <a:off x="548640" y="3986784"/>
            <a:ext cx="3429000" cy="886968"/>
          </a:xfrm>
          <a:prstGeom prst="rect">
            <a:avLst/>
          </a:prstGeom>
          <a:solidFill>
            <a:srgbClr val="F2F2F2"/>
          </a:solidFill>
          <a:ln w="12700">
            <a:solidFill>
              <a:srgbClr val="F2F2F2"/>
            </a:solidFill>
            <a:prstDash val="solid"/>
          </a:ln>
        </p:spPr>
      </p:sp>
      <p:sp>
        <p:nvSpPr>
          <p:cNvPr id="13" name="text"/>
          <p:cNvSpPr txBox="1"/>
          <p:nvPr/>
        </p:nvSpPr>
        <p:spPr>
          <a:xfrm>
            <a:off x="658368"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Leakage audit</a:t>
            </a:r>
            <a:endParaRPr lang="en-US" sz="1300" dirty="0"/>
          </a:p>
        </p:txBody>
      </p:sp>
      <p:sp>
        <p:nvSpPr>
          <p:cNvPr id="14" name="text"/>
          <p:cNvSpPr txBox="1"/>
          <p:nvPr/>
        </p:nvSpPr>
        <p:spPr>
          <a:xfrm>
            <a:off x="658368"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Future information found; both retired, OSTA rebuilt causally [18]</a:t>
            </a:r>
            <a:endParaRPr lang="en-US" sz="1150" dirty="0"/>
          </a:p>
        </p:txBody>
      </p:sp>
      <p:sp>
        <p:nvSpPr>
          <p:cNvPr id="15" name="box"/>
          <p:cNvSpPr/>
          <p:nvPr/>
        </p:nvSpPr>
        <p:spPr>
          <a:xfrm>
            <a:off x="548640" y="5029200"/>
            <a:ext cx="3429000" cy="731520"/>
          </a:xfrm>
          <a:prstGeom prst="rect">
            <a:avLst/>
          </a:prstGeom>
          <a:solidFill>
            <a:srgbClr val="FBE3E6"/>
          </a:solidFill>
          <a:ln w="12700">
            <a:solidFill>
              <a:srgbClr val="FBE3E6"/>
            </a:solidFill>
            <a:prstDash val="solid"/>
          </a:ln>
        </p:spPr>
      </p:sp>
      <p:sp>
        <p:nvSpPr>
          <p:cNvPr id="16" name="text"/>
          <p:cNvSpPr txBox="1"/>
          <p:nvPr/>
        </p:nvSpPr>
        <p:spPr>
          <a:xfrm>
            <a:off x="658368"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the honest baseline is modest (utility 0.22) [41]</a:t>
            </a:r>
            <a:endParaRPr lang="en-US" sz="1200" dirty="0"/>
          </a:p>
        </p:txBody>
      </p:sp>
      <p:sp>
        <p:nvSpPr>
          <p:cNvPr id="17" name="arrow"/>
          <p:cNvSpPr/>
          <p:nvPr/>
        </p:nvSpPr>
        <p:spPr>
          <a:xfrm>
            <a:off x="4014216" y="5394960"/>
            <a:ext cx="330556" cy="914"/>
          </a:xfrm>
          <a:prstGeom prst="line">
            <a:avLst/>
          </a:prstGeom>
          <a:noFill/>
          <a:ln w="25400">
            <a:solidFill>
              <a:srgbClr val="C8102E"/>
            </a:solidFill>
            <a:prstDash val="solid"/>
            <a:tailEnd type="triangle"/>
          </a:ln>
        </p:spPr>
      </p:sp>
      <p:sp>
        <p:nvSpPr>
          <p:cNvPr id="18" name="box"/>
          <p:cNvSpPr/>
          <p:nvPr/>
        </p:nvSpPr>
        <p:spPr>
          <a:xfrm>
            <a:off x="4381348" y="1463040"/>
            <a:ext cx="3429000" cy="457200"/>
          </a:xfrm>
          <a:prstGeom prst="rect">
            <a:avLst/>
          </a:prstGeom>
          <a:solidFill>
            <a:srgbClr val="1B1B1B"/>
          </a:solidFill>
          <a:ln w="12700">
            <a:solidFill>
              <a:srgbClr val="1B1B1B"/>
            </a:solidFill>
            <a:prstDash val="solid"/>
          </a:ln>
        </p:spPr>
      </p:sp>
      <p:sp>
        <p:nvSpPr>
          <p:cNvPr id="19" name="text"/>
          <p:cNvSpPr txBox="1"/>
          <p:nvPr/>
        </p:nvSpPr>
        <p:spPr>
          <a:xfrm>
            <a:off x="4491076"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V10: MIMIC-IV and eICU</a:t>
            </a:r>
            <a:endParaRPr lang="en-US" sz="1350" dirty="0"/>
          </a:p>
        </p:txBody>
      </p:sp>
      <p:sp>
        <p:nvSpPr>
          <p:cNvPr id="20" name="box"/>
          <p:cNvSpPr/>
          <p:nvPr/>
        </p:nvSpPr>
        <p:spPr>
          <a:xfrm>
            <a:off x="4381348" y="2029968"/>
            <a:ext cx="3429000" cy="886968"/>
          </a:xfrm>
          <a:prstGeom prst="rect">
            <a:avLst/>
          </a:prstGeom>
          <a:solidFill>
            <a:srgbClr val="F2F2F2"/>
          </a:solidFill>
          <a:ln w="12700">
            <a:solidFill>
              <a:srgbClr val="F2F2F2"/>
            </a:solidFill>
            <a:prstDash val="solid"/>
          </a:ln>
        </p:spPr>
      </p:sp>
      <p:sp>
        <p:nvSpPr>
          <p:cNvPr id="21" name="text"/>
          <p:cNvSpPr txBox="1"/>
          <p:nvPr/>
        </p:nvSpPr>
        <p:spPr>
          <a:xfrm>
            <a:off x="4491076"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 + per-organ observers</a:t>
            </a:r>
            <a:endParaRPr lang="en-US" sz="1300" dirty="0"/>
          </a:p>
        </p:txBody>
      </p:sp>
      <p:sp>
        <p:nvSpPr>
          <p:cNvPr id="22" name="text"/>
          <p:cNvSpPr txBox="1"/>
          <p:nvPr/>
        </p:nvSpPr>
        <p:spPr>
          <a:xfrm>
            <a:off x="4491076"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Small organ models trained on separate patients, like specialty consults</a:t>
            </a:r>
            <a:endParaRPr lang="en-US" sz="1150" dirty="0"/>
          </a:p>
        </p:txBody>
      </p:sp>
      <p:sp>
        <p:nvSpPr>
          <p:cNvPr id="23" name="box"/>
          <p:cNvSpPr/>
          <p:nvPr/>
        </p:nvSpPr>
        <p:spPr>
          <a:xfrm>
            <a:off x="4381348" y="3008376"/>
            <a:ext cx="3429000" cy="886968"/>
          </a:xfrm>
          <a:prstGeom prst="rect">
            <a:avLst/>
          </a:prstGeom>
          <a:solidFill>
            <a:srgbClr val="F2F2F2"/>
          </a:solidFill>
          <a:ln w="12700">
            <a:solidFill>
              <a:srgbClr val="F2F2F2"/>
            </a:solidFill>
            <a:prstDash val="solid"/>
          </a:ln>
        </p:spPr>
      </p:sp>
      <p:sp>
        <p:nvSpPr>
          <p:cNvPr id="24" name="text"/>
          <p:cNvSpPr txBox="1"/>
          <p:nvPr/>
        </p:nvSpPr>
        <p:spPr>
          <a:xfrm>
            <a:off x="4491076"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Four ways to use them</a:t>
            </a:r>
            <a:endParaRPr lang="en-US" sz="1300" dirty="0"/>
          </a:p>
        </p:txBody>
      </p:sp>
      <p:sp>
        <p:nvSpPr>
          <p:cNvPr id="25" name="text"/>
          <p:cNvSpPr txBox="1"/>
          <p:nvPr/>
        </p:nvSpPr>
        <p:spPr>
          <a:xfrm>
            <a:off x="4491076"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As inputs; added at the output (fusion); steering cross-organ attention, gated or ungated</a:t>
            </a:r>
            <a:endParaRPr lang="en-US" sz="1150" dirty="0"/>
          </a:p>
        </p:txBody>
      </p:sp>
      <p:sp>
        <p:nvSpPr>
          <p:cNvPr id="26" name="box"/>
          <p:cNvSpPr/>
          <p:nvPr/>
        </p:nvSpPr>
        <p:spPr>
          <a:xfrm>
            <a:off x="4381348" y="3986784"/>
            <a:ext cx="3429000" cy="886968"/>
          </a:xfrm>
          <a:prstGeom prst="rect">
            <a:avLst/>
          </a:prstGeom>
          <a:solidFill>
            <a:srgbClr val="F2F2F2"/>
          </a:solidFill>
          <a:ln w="12700">
            <a:solidFill>
              <a:srgbClr val="F2F2F2"/>
            </a:solidFill>
            <a:prstDash val="solid"/>
          </a:ln>
        </p:spPr>
      </p:sp>
      <p:sp>
        <p:nvSpPr>
          <p:cNvPr id="27" name="text"/>
          <p:cNvSpPr txBox="1"/>
          <p:nvPr/>
        </p:nvSpPr>
        <p:spPr>
          <a:xfrm>
            <a:off x="4491076"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Controls</a:t>
            </a:r>
            <a:endParaRPr lang="en-US" sz="1300" dirty="0"/>
          </a:p>
        </p:txBody>
      </p:sp>
      <p:sp>
        <p:nvSpPr>
          <p:cNvPr id="28" name="text"/>
          <p:cNvSpPr txBox="1"/>
          <p:nvPr/>
        </p:nvSpPr>
        <p:spPr>
          <a:xfrm>
            <a:off x="4491076"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Raw values only; extra labelled patients; the original OSTA loss restored</a:t>
            </a:r>
            <a:endParaRPr lang="en-US" sz="1150" dirty="0"/>
          </a:p>
        </p:txBody>
      </p:sp>
      <p:sp>
        <p:nvSpPr>
          <p:cNvPr id="29" name="box"/>
          <p:cNvSpPr/>
          <p:nvPr/>
        </p:nvSpPr>
        <p:spPr>
          <a:xfrm>
            <a:off x="4381348" y="5029200"/>
            <a:ext cx="3429000" cy="731520"/>
          </a:xfrm>
          <a:prstGeom prst="rect">
            <a:avLst/>
          </a:prstGeom>
          <a:solidFill>
            <a:srgbClr val="FBE3E6"/>
          </a:solidFill>
          <a:ln w="12700">
            <a:solidFill>
              <a:srgbClr val="FBE3E6"/>
            </a:solidFill>
            <a:prstDash val="solid"/>
          </a:ln>
        </p:spPr>
      </p:sp>
      <p:sp>
        <p:nvSpPr>
          <p:cNvPr id="30" name="text"/>
          <p:cNvSpPr txBox="1"/>
          <p:nvPr/>
        </p:nvSpPr>
        <p:spPr>
          <a:xfrm>
            <a:off x="4491076"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no variant beat OSTA; models peaked within 1 to 3 epochs [41]</a:t>
            </a:r>
            <a:endParaRPr lang="en-US" sz="1200" dirty="0"/>
          </a:p>
        </p:txBody>
      </p:sp>
      <p:sp>
        <p:nvSpPr>
          <p:cNvPr id="31" name="arrow"/>
          <p:cNvSpPr/>
          <p:nvPr/>
        </p:nvSpPr>
        <p:spPr>
          <a:xfrm>
            <a:off x="7846924" y="5394960"/>
            <a:ext cx="330556" cy="914"/>
          </a:xfrm>
          <a:prstGeom prst="line">
            <a:avLst/>
          </a:prstGeom>
          <a:noFill/>
          <a:ln w="25400">
            <a:solidFill>
              <a:srgbClr val="C8102E"/>
            </a:solidFill>
            <a:prstDash val="solid"/>
            <a:tailEnd type="triangle"/>
          </a:ln>
        </p:spPr>
      </p:sp>
      <p:sp>
        <p:nvSpPr>
          <p:cNvPr id="32" name="box"/>
          <p:cNvSpPr/>
          <p:nvPr/>
        </p:nvSpPr>
        <p:spPr>
          <a:xfrm>
            <a:off x="8214055" y="1463040"/>
            <a:ext cx="3429000" cy="457200"/>
          </a:xfrm>
          <a:prstGeom prst="rect">
            <a:avLst/>
          </a:prstGeom>
          <a:solidFill>
            <a:srgbClr val="1B1B1B"/>
          </a:solidFill>
          <a:ln w="12700">
            <a:solidFill>
              <a:srgbClr val="1B1B1B"/>
            </a:solidFill>
            <a:prstDash val="solid"/>
          </a:ln>
        </p:spPr>
      </p:sp>
      <p:sp>
        <p:nvSpPr>
          <p:cNvPr id="33" name="text"/>
          <p:cNvSpPr txBox="1"/>
          <p:nvPr/>
        </p:nvSpPr>
        <p:spPr>
          <a:xfrm>
            <a:off x="8323783"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V11: prespecified comparison</a:t>
            </a:r>
            <a:endParaRPr lang="en-US" sz="1350" dirty="0"/>
          </a:p>
        </p:txBody>
      </p:sp>
      <p:sp>
        <p:nvSpPr>
          <p:cNvPr id="34" name="box"/>
          <p:cNvSpPr/>
          <p:nvPr/>
        </p:nvSpPr>
        <p:spPr>
          <a:xfrm>
            <a:off x="8214055" y="2029968"/>
            <a:ext cx="3429000" cy="886968"/>
          </a:xfrm>
          <a:prstGeom prst="rect">
            <a:avLst/>
          </a:prstGeom>
          <a:solidFill>
            <a:srgbClr val="F2F2F2"/>
          </a:solidFill>
          <a:ln w="12700">
            <a:solidFill>
              <a:srgbClr val="F2F2F2"/>
            </a:solidFill>
            <a:prstDash val="solid"/>
          </a:ln>
        </p:spPr>
      </p:sp>
      <p:sp>
        <p:nvSpPr>
          <p:cNvPr id="35" name="text"/>
          <p:cNvSpPr txBox="1"/>
          <p:nvPr/>
        </p:nvSpPr>
        <p:spPr>
          <a:xfrm>
            <a:off x="8323783"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Test the organ idea</a:t>
            </a:r>
            <a:endParaRPr lang="en-US" sz="1300" dirty="0"/>
          </a:p>
        </p:txBody>
      </p:sp>
      <p:sp>
        <p:nvSpPr>
          <p:cNvPr id="36" name="text"/>
          <p:cNvSpPr txBox="1"/>
          <p:nvPr/>
        </p:nvSpPr>
        <p:spPr>
          <a:xfrm>
            <a:off x="8323783"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Flat OSTA: the same model without organ grouping</a:t>
            </a:r>
            <a:endParaRPr lang="en-US" sz="1150" dirty="0"/>
          </a:p>
        </p:txBody>
      </p:sp>
      <p:sp>
        <p:nvSpPr>
          <p:cNvPr id="37" name="box"/>
          <p:cNvSpPr/>
          <p:nvPr/>
        </p:nvSpPr>
        <p:spPr>
          <a:xfrm>
            <a:off x="8214055" y="3008376"/>
            <a:ext cx="3429000" cy="886968"/>
          </a:xfrm>
          <a:prstGeom prst="rect">
            <a:avLst/>
          </a:prstGeom>
          <a:solidFill>
            <a:srgbClr val="F2F2F2"/>
          </a:solidFill>
          <a:ln w="12700">
            <a:solidFill>
              <a:srgbClr val="F2F2F2"/>
            </a:solidFill>
            <a:prstDash val="solid"/>
          </a:ln>
        </p:spPr>
      </p:sp>
      <p:sp>
        <p:nvSpPr>
          <p:cNvPr id="38" name="text"/>
          <p:cNvSpPr txBox="1"/>
          <p:nvPr/>
        </p:nvSpPr>
        <p:spPr>
          <a:xfrm>
            <a:off x="8323783"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Learn from the literature</a:t>
            </a:r>
            <a:endParaRPr lang="en-US" sz="1300" dirty="0"/>
          </a:p>
        </p:txBody>
      </p:sp>
      <p:sp>
        <p:nvSpPr>
          <p:cNvPr id="39" name="text"/>
          <p:cNvSpPr txBox="1"/>
          <p:nvPr/>
        </p:nvSpPr>
        <p:spPr>
          <a:xfrm>
            <a:off x="8323783"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GRU-D, temporal CNN, the winner's method [37, 38, 21]</a:t>
            </a:r>
            <a:endParaRPr lang="en-US" sz="1150" dirty="0"/>
          </a:p>
        </p:txBody>
      </p:sp>
      <p:sp>
        <p:nvSpPr>
          <p:cNvPr id="40" name="box"/>
          <p:cNvSpPr/>
          <p:nvPr/>
        </p:nvSpPr>
        <p:spPr>
          <a:xfrm>
            <a:off x="8214055" y="3986784"/>
            <a:ext cx="3429000" cy="886968"/>
          </a:xfrm>
          <a:prstGeom prst="rect">
            <a:avLst/>
          </a:prstGeom>
          <a:solidFill>
            <a:srgbClr val="F2F2F2"/>
          </a:solidFill>
          <a:ln w="12700">
            <a:solidFill>
              <a:srgbClr val="F2F2F2"/>
            </a:solidFill>
            <a:prstDash val="solid"/>
          </a:ln>
        </p:spPr>
      </p:sp>
      <p:sp>
        <p:nvSpPr>
          <p:cNvPr id="41" name="text"/>
          <p:cNvSpPr txBox="1"/>
          <p:nvPr/>
        </p:nvSpPr>
        <p:spPr>
          <a:xfrm>
            <a:off x="8323783"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Use scarce labels better</a:t>
            </a:r>
            <a:endParaRPr lang="en-US" sz="1300" dirty="0"/>
          </a:p>
        </p:txBody>
      </p:sp>
      <p:sp>
        <p:nvSpPr>
          <p:cNvPr id="42" name="text"/>
          <p:cNvSpPr txBox="1"/>
          <p:nvPr/>
        </p:nvSpPr>
        <p:spPr>
          <a:xfrm>
            <a:off x="8323783"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Self-supervised pretraining, per-channel encoders, hazard head, utility-weighted loss [39]</a:t>
            </a:r>
            <a:endParaRPr lang="en-US" sz="1150" dirty="0"/>
          </a:p>
        </p:txBody>
      </p:sp>
      <p:sp>
        <p:nvSpPr>
          <p:cNvPr id="43" name="box"/>
          <p:cNvSpPr/>
          <p:nvPr/>
        </p:nvSpPr>
        <p:spPr>
          <a:xfrm>
            <a:off x="8214055" y="5029200"/>
            <a:ext cx="3429000" cy="731520"/>
          </a:xfrm>
          <a:prstGeom prst="rect">
            <a:avLst/>
          </a:prstGeom>
          <a:solidFill>
            <a:srgbClr val="FBE3E6"/>
          </a:solidFill>
          <a:ln w="12700">
            <a:solidFill>
              <a:srgbClr val="FBE3E6"/>
            </a:solidFill>
            <a:prstDash val="solid"/>
          </a:ln>
        </p:spPr>
      </p:sp>
      <p:sp>
        <p:nvSpPr>
          <p:cNvPr id="44" name="text"/>
          <p:cNvSpPr txBox="1"/>
          <p:nvPr/>
        </p:nvSpPr>
        <p:spPr>
          <a:xfrm>
            <a:off x="8323783"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all 21 models above zero; organ grouping not supported; scale decides [41]</a:t>
            </a:r>
            <a:endParaRPr lang="en-US" sz="1200" dirty="0"/>
          </a:p>
        </p:txBody>
      </p:sp>
      <p:sp>
        <p:nvSpPr>
          <p:cNvPr id="4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[18] Kapoor et al., Patterns 2023   [21] Morrill et al., Crit Care Med 2020   [36] Vaswani et al., NeurIPS 2017   [37] Che et al., Sci Rep 2018   [38] Bai et al., arXiv 2018   [39] Yeche et al., ICML 2021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method and sequence models</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method;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[37]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[38]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[46]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3"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[47]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[48]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[47] Horn et al., ICML 2020   [48]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4"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post-onset hours excluded;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models overfit fast and the validation split is too small to rank them</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659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6"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[46]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[47]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[48]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28</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2026-10-19T08:36:50Z</dcterms:created>
  <dcterms:modified xsi:type="dcterms:W3CDTF">2026-10-19T08:36:50Z</dcterms:modified>
</cp:coreProperties>
</file>