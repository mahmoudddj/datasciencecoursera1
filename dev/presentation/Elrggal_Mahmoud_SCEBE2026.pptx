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and problem" id="{a0fd0cd0-288c-c305-9c14-c22a493afc05}">
          <p14:sldIdLst>
            <p14:sldId id="256"/>
            <p14:sldId id="257"/>
            <p14:sldId id="258"/>
          </p14:sldIdLst>
        </p14:section>
        <p14:section name="Aims and approach" id="{f0d0c1eb-503f-1c19-2162-b058c27416d4}">
          <p14:sldIdLst>
            <p14:sldId id="259"/>
            <p14:sldId id="260"/>
            <p14:sldId id="261"/>
            <p14:sldId id="262"/>
            <p14:sldId id="263"/>
          </p14:sldIdLst>
        </p14:section>
        <p14:section name="Results and progress" id="{a772d89e-4883-bc33-a92b-0077d926b671}">
          <p14:sldIdLst>
            <p14:sldId id="264"/>
            <p14:sldId id="265"/>
            <p14:sldId id="266"/>
            <p14:sldId id="267"/>
          </p14:sldIdLst>
        </p14:section>
        <p14:section name="Contribution and next steps" id="{265d17b8-e7eb-cd95-95bb-777b3f35cc2f}">
          <p14:sldIdLst>
            <p14:sldId id="268"/>
            <p14:sldId id="269"/>
          </p14:sldIdLst>
        </p14:section>
        <p14:section name="Where I would like your input" id="{609b5cc2-1a72-9606-1436-639e0a4c3e25}">
          <p14:sldIdLst>
            <p14:sldId id="270"/>
          </p14:sldIdLst>
        </p14:section>
        <p14:section name="Backup" id="{a3f70a57-7f93-2b0b-064a-2e371279d416}">
          <p14:sldIdLst>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Share of patient-hours with a usable value (%)</a:t>
            </a:r>
          </a:p>
        </c:rich>
      </c:tx>
      <c:layout/>
      <c:overlay val="0"/>
    </c:title>
    <c:autoTitleDeleted val="0"/>
    <c:plotArea>
      <c:layout/>
      <c:barChart>
        <c:barDir val="col"/>
        <c:grouping val="clustered"/>
        <c:varyColors val="0"/>
        <c:ser>
          <c:idx val="0"/>
          <c:order val="0"/>
          <c:tx>
            <c:strRef>
              <c:f>Sheet1!$B$1</c:f>
              <c:strCache>
                <c:ptCount val="1"/>
                <c:pt idx="0">
                  <c:v>Before the extraction audit</c:v>
                </c:pt>
              </c:strCache>
            </c:strRef>
          </c:tx>
          <c:spPr>
            <a:solidFill>
              <a:srgbClr val="EB6834"/>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eICU temperature</c:v>
                  </c:pt>
                  <c:pt idx="1">
                    <c:v>eICU blood pressure</c:v>
                  </c:pt>
                  <c:pt idx="2">
                    <c:v>eICU weight</c:v>
                  </c:pt>
                  <c:pt idx="3">
                    <c:v>eICU GCS</c:v>
                  </c:pt>
                  <c:pt idx="4">
                    <c:v>MIMIC-IV urine rate</c:v>
                  </c:pt>
                  <c:pt idx="5">
                    <c:v>MIMIC-IV GCS</c:v>
                  </c:pt>
                </c:lvl>
              </c:multiLvlStrCache>
            </c:multiLvlStrRef>
          </c:cat>
          <c:val>
            <c:numRef>
              <c:f>Sheet1!$B$2:$B$7</c:f>
              <c:numCache>
                <c:formatCode>General</c:formatCode>
                <c:ptCount val="6"/>
                <c:pt idx="0">
                  <c:v>5</c:v>
                </c:pt>
                <c:pt idx="1">
                  <c:v>21</c:v>
                </c:pt>
                <c:pt idx="2">
                  <c:v>6</c:v>
                </c:pt>
                <c:pt idx="3">
                  <c:v>62</c:v>
                </c:pt>
                <c:pt idx="4">
                  <c:v>9</c:v>
                </c:pt>
                <c:pt idx="5">
                  <c:v>66</c:v>
                </c:pt>
              </c:numCache>
            </c:numRef>
          </c:val>
        </c:ser>
        <c:ser>
          <c:idx val="1"/>
          <c:order val="1"/>
          <c:tx>
            <c:strRef>
              <c:f>Sheet1!$C$1</c:f>
              <c:strCache>
                <c:ptCount val="1"/>
                <c:pt idx="0">
                  <c:v>After</c:v>
                </c:pt>
              </c:strCache>
            </c:strRef>
          </c:tx>
          <c:spPr>
            <a:solidFill>
              <a:srgbClr val="2A78D6"/>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eICU temperature</c:v>
                  </c:pt>
                  <c:pt idx="1">
                    <c:v>eICU blood pressure</c:v>
                  </c:pt>
                  <c:pt idx="2">
                    <c:v>eICU weight</c:v>
                  </c:pt>
                  <c:pt idx="3">
                    <c:v>eICU GCS</c:v>
                  </c:pt>
                  <c:pt idx="4">
                    <c:v>MIMIC-IV urine rate</c:v>
                  </c:pt>
                  <c:pt idx="5">
                    <c:v>MIMIC-IV GCS</c:v>
                  </c:pt>
                </c:lvl>
              </c:multiLvlStrCache>
            </c:multiLvlStrRef>
          </c:cat>
          <c:val>
            <c:numRef>
              <c:f>Sheet1!$C$2:$C$7</c:f>
              <c:numCache>
                <c:formatCode>General</c:formatCode>
                <c:ptCount val="6"/>
                <c:pt idx="0">
                  <c:v>94</c:v>
                </c:pt>
                <c:pt idx="1">
                  <c:v>99.5</c:v>
                </c:pt>
                <c:pt idx="2">
                  <c:v>96</c:v>
                </c:pt>
                <c:pt idx="3">
                  <c:v>83</c:v>
                </c:pt>
                <c:pt idx="4">
                  <c:v>44</c:v>
                </c:pt>
                <c:pt idx="5">
                  <c:v>78</c:v>
                </c:pt>
              </c:numCache>
            </c:numRef>
          </c:val>
        </c:ser>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77D"/>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Normalised utility (1 = perfect alarms, 0 = never alarming, below 0 = worse than silence)</a:t>
            </a:r>
          </a:p>
        </c:rich>
      </c:tx>
      <c:layout/>
      <c:overlay val="0"/>
    </c:title>
    <c:autoTitleDeleted val="0"/>
    <c:plotArea>
      <c:layout/>
      <c:barChart>
        <c:barDir val="bar"/>
        <c:grouping val="clustered"/>
        <c:varyColors val="0"/>
        <c:ser>
          <c:idx val="0"/>
          <c:order val="0"/>
          <c:tx>
            <c:strRef>
              <c:f>Sheet1!$B$1</c:f>
              <c:strCache>
                <c:ptCount val="1"/>
                <c:pt idx="0">
                  <c:v>Normalised utility</c:v>
                </c:pt>
              </c:strCache>
            </c:strRef>
          </c:tx>
          <c:spPr>
            <a:solidFill>
              <a:srgbClr val="EB6834"/>
            </a:solidFill>
            <a:effectLst/>
          </c:spPr>
          <c:invertIfNegative val="0"/>
          <c:dLbls>
            <c:numFmt formatCode="0.00" sourceLinked="0"/>
            <c:txPr>
              <a:bodyPr/>
              <a:lstStyle/>
              <a:p>
                <a:pPr>
                  <a:defRPr b="1"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2A78D6"/>
              </a:solidFill>
              <a:effectLst/>
            </c:spPr>
          </c:dPt>
          <c:cat>
            <c:multiLvlStrRef>
              <c:f>Sheet1!$A$2:$A$5</c:f>
              <c:multiLvlStrCache>
                <c:ptCount val="4"/>
                <c:lvl>
                  <c:pt idx="0">
                    <c:v>Challenge winner, hospitals in training</c:v>
                  </c:pt>
                  <c:pt idx="1">
                    <c:v>Challenge winner, hidden third hospital</c:v>
                  </c:pt>
                  <c:pt idx="2">
                    <c:v>Our causal OSTA, PhysioNet test</c:v>
                  </c:pt>
                  <c:pt idx="3">
                    <c:v>Our best model, MIMIC-IV development test</c:v>
                  </c:pt>
                </c:lvl>
              </c:multiLvlStrCache>
            </c:multiLvlStrRef>
          </c:cat>
          <c:val>
            <c:numRef>
              <c:f>Sheet1!$B$2:$B$5</c:f>
              <c:numCache>
                <c:formatCode>General</c:formatCode>
                <c:ptCount val="4"/>
                <c:pt idx="0">
                  <c:v>0.36</c:v>
                </c:pt>
                <c:pt idx="1">
                  <c:v>-0.12</c:v>
                </c:pt>
                <c:pt idx="2">
                  <c:v>0.22</c:v>
                </c:pt>
                <c:pt idx="3">
                  <c:v>0.18</c:v>
                </c:pt>
              </c:numCache>
            </c:numRef>
          </c:val>
        </c:ser>
        <c:dLbls>
          <c:numFmt formatCode="0.00" sourceLinked="0"/>
          <c:txPr>
            <a:bodyPr/>
            <a:lstStyle/>
            <a:p>
              <a:pPr>
                <a:defRPr b="1"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0.5"/>
          <c:min val="-0.2"/>
        </c:scaling>
        <c:delete val="0"/>
        <c:axPos val="b"/>
        <c:majorGridlines>
          <c:spPr>
            <a:ln w="6350" cap="flat">
              <a:solidFill>
                <a:srgbClr val="D5DCE4"/>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77D"/>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Hours relative to sepsis onset (negative = before onset)</a:t>
            </a:r>
          </a:p>
        </c:rich>
      </c:tx>
      <c:layout/>
      <c:overlay val="0"/>
    </c:title>
    <c:autoTitleDeleted val="0"/>
    <c:plotArea>
      <c:layout/>
      <c:lineChart>
        <c:varyColors val="0"/>
        <c:ser>
          <c:idx val="0"/>
          <c:order val="0"/>
          <c:tx>
            <c:strRef>
              <c:f>Sheet1!$B$1</c:f>
              <c:strCache>
                <c:ptCount val="1"/>
                <c:pt idx="0">
                  <c:v>Reward for an alarm (true positive)</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Sheet1!$A$2:$A$11</c:f>
              <c:multiLvlStrCache>
                <c:ptCount val="10"/>
                <c:lvl>
                  <c:pt idx="0">
                    <c:v>-14</c:v>
                  </c:pt>
                  <c:pt idx="1">
                    <c:v>-12</c:v>
                  </c:pt>
                  <c:pt idx="2">
                    <c:v>-10</c:v>
                  </c:pt>
                  <c:pt idx="3">
                    <c:v>-8</c:v>
                  </c:pt>
                  <c:pt idx="4">
                    <c:v>-6</c:v>
                  </c:pt>
                  <c:pt idx="5">
                    <c:v>-4</c:v>
                  </c:pt>
                  <c:pt idx="6">
                    <c:v>-2</c:v>
                  </c:pt>
                  <c:pt idx="7">
                    <c:v>0</c:v>
                  </c:pt>
                  <c:pt idx="8">
                    <c:v>+1</c:v>
                  </c:pt>
                  <c:pt idx="9">
                    <c:v>+3</c:v>
                  </c:pt>
                </c:lvl>
              </c:multiLvlStrCache>
            </c:multiLvlStrRef>
          </c:cat>
          <c:val>
            <c:numRef>
              <c:f>Sheet1!$B$2:$B$11</c:f>
              <c:numCache>
                <c:formatCode>General</c:formatCode>
                <c:ptCount val="10"/>
                <c:pt idx="0">
                  <c:v>0</c:v>
                </c:pt>
                <c:pt idx="1">
                  <c:v>0</c:v>
                </c:pt>
                <c:pt idx="2">
                  <c:v>0.33</c:v>
                </c:pt>
                <c:pt idx="3">
                  <c:v>0.67</c:v>
                </c:pt>
                <c:pt idx="4">
                  <c:v>1</c:v>
                </c:pt>
                <c:pt idx="5">
                  <c:v>0.78</c:v>
                </c:pt>
                <c:pt idx="6">
                  <c:v>0.56</c:v>
                </c:pt>
                <c:pt idx="7">
                  <c:v>0.33</c:v>
                </c:pt>
                <c:pt idx="8">
                  <c:v>0.22</c:v>
                </c:pt>
                <c:pt idx="9">
                  <c:v>0</c:v>
                </c:pt>
              </c:numCache>
            </c:numRef>
          </c:val>
          <c:smooth val="0"/>
        </c:ser>
        <c:ser>
          <c:idx val="1"/>
          <c:order val="1"/>
          <c:tx>
            <c:strRef>
              <c:f>Sheet1!$C$1</c:f>
              <c:strCache>
                <c:ptCount val="1"/>
                <c:pt idx="0">
                  <c:v>Penalty for silence (false negative)</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Sheet1!$A$2:$A$11</c:f>
              <c:multiLvlStrCache>
                <c:ptCount val="10"/>
                <c:lvl>
                  <c:pt idx="0">
                    <c:v>-14</c:v>
                  </c:pt>
                  <c:pt idx="1">
                    <c:v>-12</c:v>
                  </c:pt>
                  <c:pt idx="2">
                    <c:v>-10</c:v>
                  </c:pt>
                  <c:pt idx="3">
                    <c:v>-8</c:v>
                  </c:pt>
                  <c:pt idx="4">
                    <c:v>-6</c:v>
                  </c:pt>
                  <c:pt idx="5">
                    <c:v>-4</c:v>
                  </c:pt>
                  <c:pt idx="6">
                    <c:v>-2</c:v>
                  </c:pt>
                  <c:pt idx="7">
                    <c:v>0</c:v>
                  </c:pt>
                  <c:pt idx="8">
                    <c:v>+1</c:v>
                  </c:pt>
                  <c:pt idx="9">
                    <c:v>+3</c:v>
                  </c:pt>
                </c:lvl>
              </c:multiLvlStrCache>
            </c:multiLvlStrRef>
          </c:cat>
          <c:val>
            <c:numRef>
              <c:f>Sheet1!$C$2:$C$11</c:f>
              <c:numCache>
                <c:formatCode>General</c:formatCode>
                <c:ptCount val="10"/>
                <c:pt idx="0">
                  <c:v>0</c:v>
                </c:pt>
                <c:pt idx="1">
                  <c:v>0</c:v>
                </c:pt>
                <c:pt idx="2">
                  <c:v>0</c:v>
                </c:pt>
                <c:pt idx="3">
                  <c:v>0</c:v>
                </c:pt>
                <c:pt idx="4">
                  <c:v>0</c:v>
                </c:pt>
                <c:pt idx="5">
                  <c:v>-0.44</c:v>
                </c:pt>
                <c:pt idx="6">
                  <c:v>-0.89</c:v>
                </c:pt>
                <c:pt idx="7">
                  <c:v>-1.33</c:v>
                </c:pt>
                <c:pt idx="8">
                  <c:v>-1.56</c:v>
                </c:pt>
                <c:pt idx="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77D"/>
                </a:solidFill>
                <a:latin typeface="+mn-lt"/>
              </a:defRPr>
            </a:pPr>
            <a:endParaRPr lang="en-US"/>
          </a:p>
        </c:txPr>
        <c:crossAx val="2094734552"/>
        <c:crosses val="autoZero"/>
        <c:auto val="1"/>
        <c:lblAlgn val="ctr"/>
        <c:noMultiLvlLbl val="1"/>
      </c:catAx>
      <c:valAx>
        <c:axId val="2094734552"/>
        <c:scaling>
          <c:orientation val="minMax"/>
          <c:max val="1"/>
          <c:min val="-2"/>
        </c:scaling>
        <c:delete val="0"/>
        <c:axPos val="l"/>
        <c:majorGridlines>
          <c:spPr>
            <a:ln w="6350" cap="flat">
              <a:solidFill>
                <a:srgbClr val="D5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77D"/>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Who I am in one sentence: a pharmacist who treated infections before building models for them. One sentence of wider context: sepsis is how infection most often kills in hospital. The title is the question the whole talk answers; I will come back to it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Define three words for the engineers: SOFA (organ-failure score), onset (the hour infection plus organ dysfunction are both met) and the six-hour target. Then the pharmacist point: the aim is the right patients early, not antibiotics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gap. The best entry of the largest public competition went negative on a hospital it had not seen; the most deployed commercial model missed two thirds of sepsis in an independent test. The three reasons at the bottom are what my project is built to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question slowly; it is the one thing to remember. The field optimises a ranking score on one dataset; we ask about the alarm and about transfer. Three research questions follow: predictors, architecture, transfer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"why me" slide. Left: the data are generated by clinicians' decisions, so a model that does not know why a value exists learns the team's suspicion. Right: two concrete examples. Antibiotics: a pharmacist can tell prophylaxis from treatment by agent, timing and duration, and only prophylaxis is a safe predictor. Proxies: hydrocortisone and imaging orders are the team's suspicion; we report with and without them. Close: I can answer the clinical questions; the engineering questions are where I need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One row per choice. Point at rows 3 and 5 (causality, label-defining antibiotics) as the ones most published models get wrong, and row 4 as where the predictor list was written from the bedside. Do not read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Three phases, left to right. Now: the quantitative work on two databases. Next: a qualitative study with the ICU clinicians who would receive the alarm, on trust and what they would act on. Future direction: run the model silently on hospital patients, then a clinician-facing pilot. The bottom line is the reason it is mixed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Two diagrams, one message: OSTA is the architecture I proposed, and the honest way to defend it is to run the same model without the organ grouping on the same hours. The challenge winner's method is in the comparison as a benchmark, and the decision rules were written before the results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"preliminary" first. Be direct: we found leakage in our own earlier models and retired them. The causal version scores lower and is the one we stand behind. Explain the utility number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chart is coverage, not performance. Before the audit a third of eICU had no temperature at all; the values were in the nurses' charting table. The message: the transfer problem is largely a data-representation problem, and that is where a clinician reading the raw tables earns their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Orange is the published competition result; blue is ours. The point is not that 0.18 is high; it is that it is positive on a database built from raw tables, with every hour scored causally, whereas the best competition entry went negative the moment it left its training hospitals. State the caveats aloud: preliminary, development split, small sample, holdout sealed.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honest reading of the architecture comparison so far: on ten thousand stays nothing separates the models, because they all memorise 175 septic patients within a couple of epochs. So the next lever is data, and the sixteen-model comparison running this week treats architecture as a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Four cards. The contribution is methodological as much as it is a model: the pipeline and the evaluation are what make any later result believable. Mention the three submissions in one breath and say the main study is in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Left: the next six months, in order, ending with the holdout opened once and the clinician study. Right: the future direction the whole programme points at, a test on hospital patients, first silently, then with clinicians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Two concrete questions: which score decides the model, and how to study trust with clinicians. Then thank the audience and stop; backups are ready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2011680"/>
          </a:xfrm>
          <a:prstGeom prst="rect">
            <a:avLst/>
          </a:prstGeom>
          <a:noFill/>
          <a:ln/>
        </p:spPr>
        <p:txBody>
          <a:bodyPr wrap="square" rtlCol="0"/>
          <a:lstStyle>
            <a:lvl1pPr indent="0" marL="0">
              <a:buNone/>
              <a:defRPr lang="en-US" sz="3600" b="1" dirty="0">
                <a:solidFill>
                  <a:srgbClr val="FFFFFF"/>
                </a:solidFill>
              </a:defRPr>
            </a:lvl1pPr>
          </a:lstStyle>
          <a:p>
            <a:pPr indent="0" marL="0">
              <a:buNone/>
            </a:pPr>
            <a:endParaRPr lang="en-US" sz="3600" dirty="0"/>
          </a:p>
        </p:txBody>
      </p:sp>
      <p:sp>
        <p:nvSpPr>
          <p:cNvPr id="3" name="Text 0"/>
          <p:cNvSpPr/>
          <p:nvPr>
            <p:ph idx="101" type="body" hasCustomPrompt="1"/>
          </p:nvPr>
        </p:nvSpPr>
        <p:spPr>
          <a:xfrm>
            <a:off x="548640" y="3611880"/>
            <a:ext cx="11094415" cy="2651760"/>
          </a:xfrm>
          <a:prstGeom prst="rect">
            <a:avLst/>
          </a:prstGeom>
          <a:noFill/>
          <a:ln/>
        </p:spPr>
        <p:txBody>
          <a:bodyPr wrap="square" rtlCol="0"/>
          <a:lstStyle>
            <a:lvl1pPr indent="0" marL="0">
              <a:buNone/>
              <a:defRPr lang="en-US" sz="1600" dirty="0">
                <a:solidFill>
                  <a:srgbClr val="FFFFFF"/>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rtlCol="0"/>
          <a:lstStyle>
            <a:lvl1pPr indent="0" marL="0">
              <a:buNone/>
              <a:defRPr lang="en-US" sz="2600" b="1" dirty="0">
                <a:solidFill>
                  <a:srgbClr val="14213D"/>
                </a:solidFill>
              </a:defRPr>
            </a:lvl1pPr>
          </a:lstStyle>
          <a:p>
            <a:pPr indent="0" marL="0">
              <a:buNone/>
            </a:pPr>
            <a:endParaRPr lang="en-US" sz="2600" dirty="0"/>
          </a:p>
        </p:txBody>
      </p:sp>
      <p:sp>
        <p:nvSpPr>
          <p:cNvPr id="3" name="Text 0"/>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5C677D"/>
                </a:solidFill>
              </a:rPr>
              <a:t>Mahmoud Essam Elrggal  |  SCEBE Research Degree Conference, 20 October 2026</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545775" y="201168"/>
            <a:ext cx="1097280" cy="274320"/>
          </a:xfrm>
          <a:prstGeom prst="rect">
            <a:avLst/>
          </a:prstGeom>
          <a:noFill/>
          <a:ln/>
        </p:spPr>
        <p:txBody>
          <a:bodyPr wrap="square" lIns="0" tIns="0" rIns="0" bIns="0" rtlCol="0" anchor="ctr"/>
          <a:lstStyle/>
          <a:p>
            <a:pPr algn="r" indent="0" marL="0">
              <a:buNone/>
            </a:pPr>
            <a:r>
              <a:rPr lang="en-US" sz="1000" b="1" dirty="0">
                <a:solidFill>
                  <a:srgbClr val="0E7C86"/>
                </a:solidFill>
              </a:rPr>
              <a:t>BACKUP</a:t>
            </a:r>
            <a:endParaRPr lang="en-US" sz="1000" dirty="0"/>
          </a:p>
        </p:txBody>
      </p:sp>
      <p:sp>
        <p:nvSpPr>
          <p:cNvPr id="3" name="Text 1"/>
          <p:cNvSpPr/>
          <p:nvPr>
            <p:ph idx="101" type="title" hasCustomPrompt="1"/>
          </p:nvPr>
        </p:nvSpPr>
        <p:spPr>
          <a:xfrm>
            <a:off x="548640" y="292608"/>
            <a:ext cx="9905695" cy="960120"/>
          </a:xfrm>
          <a:prstGeom prst="rect">
            <a:avLst/>
          </a:prstGeom>
          <a:noFill/>
          <a:ln/>
        </p:spPr>
        <p:txBody>
          <a:bodyPr wrap="square" rtlCol="0"/>
          <a:lstStyle>
            <a:lvl1pPr indent="0" marL="0">
              <a:buNone/>
              <a:defRPr lang="en-US" sz="2600" b="1" dirty="0">
                <a:solidFill>
                  <a:srgbClr val="14213D"/>
                </a:solidFill>
              </a:defRPr>
            </a:lvl1pPr>
          </a:lstStyle>
          <a:p>
            <a:pPr indent="0" marL="0">
              <a:buNone/>
            </a:pPr>
            <a:endParaRPr lang="en-US" sz="2600" dirty="0"/>
          </a:p>
        </p:txBody>
      </p:sp>
      <p:sp>
        <p:nvSpPr>
          <p:cNvPr id="4" name="Text 1"/>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5C677D"/>
                </a:solidFill>
              </a:rPr>
              <a:t>Mahmoud Essam Elrggal  |  SCEBE Research Degree Conference, 20 October 2026</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914400"/>
          </a:xfrm>
          <a:prstGeom prst="rect">
            <a:avLst/>
          </a:prstGeom>
          <a:noFill/>
          <a:ln/>
        </p:spPr>
        <p:txBody>
          <a:bodyPr wrap="square" rtlCol="0"/>
          <a:lstStyle>
            <a:lvl1pPr indent="0" marL="0">
              <a:buNone/>
              <a:defRPr lang="en-US" sz="3000" b="1" dirty="0">
                <a:solidFill>
                  <a:srgbClr val="FFFFFF"/>
                </a:solidFill>
              </a:defRPr>
            </a:lvl1pPr>
          </a:lstStyle>
          <a:p>
            <a:pPr indent="0" marL="0">
              <a:buNone/>
            </a:pPr>
            <a:endParaRPr lang="en-US" sz="3000" dirty="0"/>
          </a:p>
        </p:txBody>
      </p:sp>
      <p:sp>
        <p:nvSpPr>
          <p:cNvPr id="3" name="Text 0"/>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B8C4D2"/>
                </a:solidFill>
              </a:rPr>
              <a:t>Mahmoud Essam Elrggal  |  SCEBE Research Degree Conference, 20 October 2026</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1"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5.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line"/>
          <p:cNvSpPr txBox="1"/>
          <p:nvPr/>
        </p:nvSpPr>
        <p:spPr>
          <a:xfrm>
            <a:off x="548640" y="685800"/>
            <a:ext cx="11094415" cy="320040"/>
          </a:xfrm>
          <a:prstGeom prst="rect">
            <a:avLst/>
          </a:prstGeom>
          <a:noFill/>
          <a:ln/>
        </p:spPr>
        <p:txBody>
          <a:bodyPr wrap="square" lIns="0" tIns="0" rIns="0" bIns="0" rtlCol="0" anchor="t"/>
          <a:lstStyle/>
          <a:p>
            <a:pPr algn="l" indent="0" marL="0">
              <a:buNone/>
            </a:pPr>
            <a:r>
              <a:rPr lang="en-US" sz="1200" b="1" dirty="0">
                <a:solidFill>
                  <a:srgbClr val="B8C4D2"/>
                </a:solidFill>
              </a:rPr>
              <a:t>SCEBE RESEARCH DEGREE CONFERENCE  |  20 OCTOBER 2026  |  MERCHISTON CAMPUS</a:t>
            </a:r>
            <a:endParaRPr lang="en-US" sz="1200" dirty="0"/>
          </a:p>
        </p:txBody>
      </p:sp>
      <p:sp>
        <p:nvSpPr>
          <p:cNvPr id="3" name="Text 0"/>
          <p:cNvSpPr/>
          <p:nvPr>
            <p:ph idx="100" type="title" hasCustomPrompt="1"/>
          </p:nvPr>
        </p:nvSpPr>
        <p:spPr>
          <a:xfrm>
            <a:off x="548640" y="1417320"/>
            <a:ext cx="11094415" cy="2011680"/>
          </a:xfrm>
          <a:prstGeom prst="rect">
            <a:avLst/>
          </a:prstGeom>
          <a:noFill/>
          <a:ln/>
        </p:spPr>
        <p:txBody>
          <a:bodyPr wrap="square" lIns="0" tIns="0" rIns="0" bIns="0" rtlCol="0" anchor="ctr"/>
          <a:lstStyle/>
          <a:p>
            <a:pPr indent="0" marL="0">
              <a:buNone/>
            </a:pPr>
            <a:r>
              <a:rPr lang="en-US" sz="3600" b="1" dirty="0">
                <a:solidFill>
                  <a:srgbClr val="FFFFFF"/>
                </a:solidFill>
              </a:rPr>
              <a:t>Can a sepsis warning built only from what clinicians knew at the time stay useful in a hospital it has never seen?</a:t>
            </a:r>
            <a:endParaRPr lang="en-US" sz="3600" dirty="0"/>
          </a:p>
        </p:txBody>
      </p:sp>
      <p:sp>
        <p:nvSpPr>
          <p:cNvPr id="4" name="Text 0"/>
          <p:cNvSpPr/>
          <p:nvPr>
            <p:ph idx="101" type="body" hasCustomPrompt="1"/>
          </p:nvPr>
        </p:nvSpPr>
        <p:spPr>
          <a:xfrm>
            <a:off x="548640" y="3611880"/>
            <a:ext cx="11094415" cy="2651760"/>
          </a:xfrm>
          <a:prstGeom prst="rect">
            <a:avLst/>
          </a:prstGeom>
          <a:noFill/>
          <a:ln/>
        </p:spPr>
        <p:txBody>
          <a:bodyPr wrap="square" lIns="0" tIns="0" rIns="0" bIns="0" rtlCol="0" anchor="t"/>
          <a:lstStyle/>
          <a:p>
            <a:pPr indent="0" marL="0">
              <a:spcAft>
                <a:spcPts val="1400"/>
              </a:spcAft>
              <a:buNone/>
            </a:pPr>
            <a:r>
              <a:rPr lang="en-US" sz="1600" i="1" dirty="0">
                <a:solidFill>
                  <a:srgbClr val="B8C4D2"/>
                </a:solidFill>
              </a:rPr>
              <a:t>PhD: Development of Novel AI Models for Early Detection and Prediction of Infectious Diseases, with a Focus on Sepsis</a:t>
            </a:r>
            <a:endParaRPr lang="en-US" sz="1600" dirty="0"/>
          </a:p>
          <a:p>
            <a:pPr indent="0" marL="0">
              <a:buNone/>
            </a:pPr>
            <a:r>
              <a:rPr lang="en-US" sz="2000" b="1" dirty="0">
                <a:solidFill>
                  <a:srgbClr val="FFFFFF"/>
                </a:solidFill>
              </a:rPr>
              <a:t>Mahmoud Essam Elrggal</a:t>
            </a:r>
            <a:endParaRPr lang="en-US" sz="1600" dirty="0"/>
          </a:p>
          <a:p>
            <a:pPr indent="0" marL="0">
              <a:spcAft>
                <a:spcPts val="1000"/>
              </a:spcAft>
              <a:buNone/>
            </a:pPr>
            <a:r>
              <a:rPr lang="en-US" sz="1400" dirty="0">
                <a:solidFill>
                  <a:srgbClr val="FFFFFF"/>
                </a:solidFill>
              </a:rPr>
              <a:t>Pharmacist  |  PhD candidate, School of Computing, Engineering and the Built Environment, Edinburgh Napier University</a:t>
            </a:r>
            <a:endParaRPr lang="en-US" sz="1600" dirty="0"/>
          </a:p>
          <a:p>
            <a:pPr indent="0" marL="0">
              <a:buNone/>
            </a:pPr>
            <a:r>
              <a:rPr lang="en-US" sz="1400" dirty="0">
                <a:solidFill>
                  <a:srgbClr val="FFFFFF"/>
                </a:solidFill>
              </a:rPr>
              <a:t>Director of Studies: Prof. Ahmed Al Dubai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Sepsis kills about 11 million people a year, and the hours before antibiotics decide who survives</a:t>
            </a:r>
            <a:endParaRPr lang="en-US" sz="2600" dirty="0"/>
          </a:p>
        </p:txBody>
      </p:sp>
      <p:sp>
        <p:nvSpPr>
          <p:cNvPr id="3" name="stat card"/>
          <p:cNvSpPr/>
          <p:nvPr/>
        </p:nvSpPr>
        <p:spPr>
          <a:xfrm>
            <a:off x="548640" y="1417320"/>
            <a:ext cx="2377440" cy="1325880"/>
          </a:xfrm>
          <a:prstGeom prst="roundRect">
            <a:avLst>
              <a:gd name="adj" fmla="val 5517"/>
            </a:avLst>
          </a:prstGeom>
          <a:solidFill>
            <a:srgbClr val="EEF3F7"/>
          </a:solidFill>
          <a:ln w="9525">
            <a:solidFill>
              <a:srgbClr val="EEF3F7"/>
            </a:solidFill>
            <a:prstDash val="solid"/>
          </a:ln>
        </p:spPr>
      </p:sp>
      <p:sp>
        <p:nvSpPr>
          <p:cNvPr id="4" name="stat number"/>
          <p:cNvSpPr txBox="1"/>
          <p:nvPr/>
        </p:nvSpPr>
        <p:spPr>
          <a:xfrm>
            <a:off x="731520" y="1554480"/>
            <a:ext cx="2011680" cy="662940"/>
          </a:xfrm>
          <a:prstGeom prst="rect">
            <a:avLst/>
          </a:prstGeom>
          <a:noFill/>
          <a:ln/>
        </p:spPr>
        <p:txBody>
          <a:bodyPr wrap="square" lIns="0" tIns="0" rIns="0" bIns="0" rtlCol="0" anchor="ctr"/>
          <a:lstStyle/>
          <a:p>
            <a:pPr algn="l" indent="0" marL="0">
              <a:buNone/>
            </a:pPr>
            <a:r>
              <a:rPr lang="en-US" sz="3400" b="1" dirty="0">
                <a:solidFill>
                  <a:srgbClr val="0E7C86"/>
                </a:solidFill>
                <a:latin typeface="Cambria" pitchFamily="34" charset="0"/>
                <a:ea typeface="Cambria" pitchFamily="34" charset="-122"/>
                <a:cs typeface="Cambria" pitchFamily="34" charset="-120"/>
              </a:rPr>
              <a:t>49 M</a:t>
            </a:r>
            <a:endParaRPr lang="en-US" sz="3400" dirty="0"/>
          </a:p>
        </p:txBody>
      </p:sp>
      <p:sp>
        <p:nvSpPr>
          <p:cNvPr id="5" name="stat label"/>
          <p:cNvSpPr txBox="1"/>
          <p:nvPr/>
        </p:nvSpPr>
        <p:spPr>
          <a:xfrm>
            <a:off x="731520" y="2189988"/>
            <a:ext cx="2011680" cy="434340"/>
          </a:xfrm>
          <a:prstGeom prst="rect">
            <a:avLst/>
          </a:prstGeom>
          <a:noFill/>
          <a:ln/>
        </p:spPr>
        <p:txBody>
          <a:bodyPr wrap="square" lIns="0" tIns="0" rIns="0" bIns="0" rtlCol="0" anchor="t"/>
          <a:lstStyle/>
          <a:p>
            <a:pPr algn="l" indent="0" marL="0">
              <a:buNone/>
            </a:pPr>
            <a:r>
              <a:rPr lang="en-US" sz="1200" dirty="0">
                <a:solidFill>
                  <a:srgbClr val="14213D"/>
                </a:solidFill>
              </a:rPr>
              <a:t>cases of sepsis each year worldwide</a:t>
            </a:r>
            <a:endParaRPr lang="en-US" sz="1200" dirty="0"/>
          </a:p>
        </p:txBody>
      </p:sp>
      <p:sp>
        <p:nvSpPr>
          <p:cNvPr id="6" name="stat card"/>
          <p:cNvSpPr/>
          <p:nvPr/>
        </p:nvSpPr>
        <p:spPr>
          <a:xfrm>
            <a:off x="3063240" y="1417320"/>
            <a:ext cx="2377440" cy="1325880"/>
          </a:xfrm>
          <a:prstGeom prst="roundRect">
            <a:avLst>
              <a:gd name="adj" fmla="val 5517"/>
            </a:avLst>
          </a:prstGeom>
          <a:solidFill>
            <a:srgbClr val="EEF3F7"/>
          </a:solidFill>
          <a:ln w="9525">
            <a:solidFill>
              <a:srgbClr val="EEF3F7"/>
            </a:solidFill>
            <a:prstDash val="solid"/>
          </a:ln>
        </p:spPr>
      </p:sp>
      <p:sp>
        <p:nvSpPr>
          <p:cNvPr id="7" name="stat number"/>
          <p:cNvSpPr txBox="1"/>
          <p:nvPr/>
        </p:nvSpPr>
        <p:spPr>
          <a:xfrm>
            <a:off x="3246120" y="1554480"/>
            <a:ext cx="2011680" cy="662940"/>
          </a:xfrm>
          <a:prstGeom prst="rect">
            <a:avLst/>
          </a:prstGeom>
          <a:noFill/>
          <a:ln/>
        </p:spPr>
        <p:txBody>
          <a:bodyPr wrap="square" lIns="0" tIns="0" rIns="0" bIns="0" rtlCol="0" anchor="ctr"/>
          <a:lstStyle/>
          <a:p>
            <a:pPr algn="l" indent="0" marL="0">
              <a:buNone/>
            </a:pPr>
            <a:r>
              <a:rPr lang="en-US" sz="3400" b="1" dirty="0">
                <a:solidFill>
                  <a:srgbClr val="0E7C86"/>
                </a:solidFill>
                <a:latin typeface="Cambria" pitchFamily="34" charset="0"/>
                <a:ea typeface="Cambria" pitchFamily="34" charset="-122"/>
                <a:cs typeface="Cambria" pitchFamily="34" charset="-120"/>
              </a:rPr>
              <a:t>11 M</a:t>
            </a:r>
            <a:endParaRPr lang="en-US" sz="3400" dirty="0"/>
          </a:p>
        </p:txBody>
      </p:sp>
      <p:sp>
        <p:nvSpPr>
          <p:cNvPr id="8" name="stat label"/>
          <p:cNvSpPr txBox="1"/>
          <p:nvPr/>
        </p:nvSpPr>
        <p:spPr>
          <a:xfrm>
            <a:off x="3246120" y="2189988"/>
            <a:ext cx="2011680" cy="434340"/>
          </a:xfrm>
          <a:prstGeom prst="rect">
            <a:avLst/>
          </a:prstGeom>
          <a:noFill/>
          <a:ln/>
        </p:spPr>
        <p:txBody>
          <a:bodyPr wrap="square" lIns="0" tIns="0" rIns="0" bIns="0" rtlCol="0" anchor="t"/>
          <a:lstStyle/>
          <a:p>
            <a:pPr algn="l" indent="0" marL="0">
              <a:buNone/>
            </a:pPr>
            <a:r>
              <a:rPr lang="en-US" sz="1200" dirty="0">
                <a:solidFill>
                  <a:srgbClr val="14213D"/>
                </a:solidFill>
              </a:rPr>
              <a:t>deaths each year, 1 in 5 of all deaths</a:t>
            </a:r>
            <a:endParaRPr lang="en-US" sz="1200" dirty="0"/>
          </a:p>
        </p:txBody>
      </p:sp>
      <p:sp>
        <p:nvSpPr>
          <p:cNvPr id="9" name="stat card"/>
          <p:cNvSpPr/>
          <p:nvPr/>
        </p:nvSpPr>
        <p:spPr>
          <a:xfrm>
            <a:off x="5577840" y="1417320"/>
            <a:ext cx="2377440" cy="1325880"/>
          </a:xfrm>
          <a:prstGeom prst="roundRect">
            <a:avLst>
              <a:gd name="adj" fmla="val 5517"/>
            </a:avLst>
          </a:prstGeom>
          <a:solidFill>
            <a:srgbClr val="EEF3F7"/>
          </a:solidFill>
          <a:ln w="9525">
            <a:solidFill>
              <a:srgbClr val="EEF3F7"/>
            </a:solidFill>
            <a:prstDash val="solid"/>
          </a:ln>
        </p:spPr>
      </p:sp>
      <p:sp>
        <p:nvSpPr>
          <p:cNvPr id="10" name="stat number"/>
          <p:cNvSpPr txBox="1"/>
          <p:nvPr/>
        </p:nvSpPr>
        <p:spPr>
          <a:xfrm>
            <a:off x="5760720" y="1554480"/>
            <a:ext cx="2011680" cy="662940"/>
          </a:xfrm>
          <a:prstGeom prst="rect">
            <a:avLst/>
          </a:prstGeom>
          <a:noFill/>
          <a:ln/>
        </p:spPr>
        <p:txBody>
          <a:bodyPr wrap="square" lIns="0" tIns="0" rIns="0" bIns="0" rtlCol="0" anchor="ctr"/>
          <a:lstStyle/>
          <a:p>
            <a:pPr algn="l" indent="0" marL="0">
              <a:buNone/>
            </a:pPr>
            <a:r>
              <a:rPr lang="en-US" sz="3400" b="1" dirty="0">
                <a:solidFill>
                  <a:srgbClr val="0E7C86"/>
                </a:solidFill>
                <a:latin typeface="Cambria" pitchFamily="34" charset="0"/>
                <a:ea typeface="Cambria" pitchFamily="34" charset="-122"/>
                <a:cs typeface="Cambria" pitchFamily="34" charset="-120"/>
              </a:rPr>
              <a:t>+4 to 8 %</a:t>
            </a:r>
            <a:endParaRPr lang="en-US" sz="3400" dirty="0"/>
          </a:p>
        </p:txBody>
      </p:sp>
      <p:sp>
        <p:nvSpPr>
          <p:cNvPr id="11" name="stat label"/>
          <p:cNvSpPr txBox="1"/>
          <p:nvPr/>
        </p:nvSpPr>
        <p:spPr>
          <a:xfrm>
            <a:off x="5760720" y="2189988"/>
            <a:ext cx="2011680" cy="434340"/>
          </a:xfrm>
          <a:prstGeom prst="rect">
            <a:avLst/>
          </a:prstGeom>
          <a:noFill/>
          <a:ln/>
        </p:spPr>
        <p:txBody>
          <a:bodyPr wrap="square" lIns="0" tIns="0" rIns="0" bIns="0" rtlCol="0" anchor="t"/>
          <a:lstStyle/>
          <a:p>
            <a:pPr algn="l" indent="0" marL="0">
              <a:buNone/>
            </a:pPr>
            <a:r>
              <a:rPr lang="en-US" sz="1200" dirty="0">
                <a:solidFill>
                  <a:srgbClr val="14213D"/>
                </a:solidFill>
              </a:rPr>
              <a:t>higher mortality for every hour antibiotics are delayed</a:t>
            </a:r>
            <a:endParaRPr lang="en-US" sz="1200" dirty="0"/>
          </a:p>
        </p:txBody>
      </p:sp>
      <p:sp>
        <p:nvSpPr>
          <p:cNvPr id="12" name="definition card"/>
          <p:cNvSpPr/>
          <p:nvPr/>
        </p:nvSpPr>
        <p:spPr>
          <a:xfrm>
            <a:off x="8183880" y="1417320"/>
            <a:ext cx="3459175" cy="1325880"/>
          </a:xfrm>
          <a:prstGeom prst="roundRect">
            <a:avLst>
              <a:gd name="adj" fmla="val 5517"/>
            </a:avLst>
          </a:prstGeom>
          <a:solidFill>
            <a:srgbClr val="14213D"/>
          </a:solidFill>
          <a:ln w="9525">
            <a:solidFill>
              <a:srgbClr val="14213D"/>
            </a:solidFill>
            <a:prstDash val="solid"/>
          </a:ln>
        </p:spPr>
      </p:sp>
      <p:sp>
        <p:nvSpPr>
          <p:cNvPr id="13" name="text"/>
          <p:cNvSpPr txBox="1"/>
          <p:nvPr/>
        </p:nvSpPr>
        <p:spPr>
          <a:xfrm>
            <a:off x="8366760" y="1508760"/>
            <a:ext cx="3108960" cy="274320"/>
          </a:xfrm>
          <a:prstGeom prst="rect">
            <a:avLst/>
          </a:prstGeom>
          <a:noFill/>
          <a:ln/>
        </p:spPr>
        <p:txBody>
          <a:bodyPr wrap="square" lIns="0" tIns="0" rIns="0" bIns="0" rtlCol="0" anchor="t"/>
          <a:lstStyle/>
          <a:p>
            <a:pPr algn="l" indent="0" marL="0">
              <a:buNone/>
            </a:pPr>
            <a:r>
              <a:rPr lang="en-US" sz="1200" b="1" dirty="0">
                <a:solidFill>
                  <a:srgbClr val="B8C4D2"/>
                </a:solidFill>
              </a:rPr>
              <a:t>Sepsis-3 definition</a:t>
            </a:r>
            <a:endParaRPr lang="en-US" sz="1200" dirty="0"/>
          </a:p>
        </p:txBody>
      </p:sp>
      <p:sp>
        <p:nvSpPr>
          <p:cNvPr id="14" name="text"/>
          <p:cNvSpPr txBox="1"/>
          <p:nvPr/>
        </p:nvSpPr>
        <p:spPr>
          <a:xfrm>
            <a:off x="8366760" y="1783080"/>
            <a:ext cx="3093415" cy="914400"/>
          </a:xfrm>
          <a:prstGeom prst="rect">
            <a:avLst/>
          </a:prstGeom>
          <a:noFill/>
          <a:ln/>
        </p:spPr>
        <p:txBody>
          <a:bodyPr wrap="square" lIns="0" tIns="0" rIns="0" bIns="0" rtlCol="0" anchor="t"/>
          <a:lstStyle/>
          <a:p>
            <a:pPr algn="l" indent="0" marL="0">
              <a:buNone/>
            </a:pPr>
            <a:r>
              <a:rPr lang="en-US" sz="1250" dirty="0">
                <a:solidFill>
                  <a:srgbClr val="FFFFFF"/>
                </a:solidFill>
              </a:rPr>
              <a:t>A suspected infection plus new organ dysfunction: a rise of 2 or more points on the SOFA organ-failure score. "Onset" is the hour both are met.</a:t>
            </a:r>
            <a:endParaRPr lang="en-US" sz="1250" dirty="0"/>
          </a:p>
        </p:txBody>
      </p:sp>
      <p:sp>
        <p:nvSpPr>
          <p:cNvPr id="15" name="timeline"/>
          <p:cNvSpPr/>
          <p:nvPr/>
        </p:nvSpPr>
        <p:spPr>
          <a:xfrm>
            <a:off x="1554480" y="3703320"/>
            <a:ext cx="9082735" cy="914"/>
          </a:xfrm>
          <a:prstGeom prst="line">
            <a:avLst/>
          </a:prstGeom>
          <a:noFill/>
          <a:ln w="38100">
            <a:solidFill>
              <a:srgbClr val="D5DCE4"/>
            </a:solidFill>
            <a:prstDash val="solid"/>
          </a:ln>
        </p:spPr>
      </p:sp>
      <p:sp>
        <p:nvSpPr>
          <p:cNvPr id="16" name="timeline point"/>
          <p:cNvSpPr/>
          <p:nvPr/>
        </p:nvSpPr>
        <p:spPr>
          <a:xfrm>
            <a:off x="1399032" y="3547872"/>
            <a:ext cx="310896" cy="310896"/>
          </a:xfrm>
          <a:prstGeom prst="ellipse">
            <a:avLst/>
          </a:prstGeom>
          <a:solidFill>
            <a:srgbClr val="5C677D"/>
          </a:solidFill>
          <a:ln w="25400">
            <a:solidFill>
              <a:srgbClr val="FFFFFF"/>
            </a:solidFill>
            <a:prstDash val="solid"/>
          </a:ln>
        </p:spPr>
      </p:sp>
      <p:sp>
        <p:nvSpPr>
          <p:cNvPr id="17" name="text"/>
          <p:cNvSpPr txBox="1"/>
          <p:nvPr/>
        </p:nvSpPr>
        <p:spPr>
          <a:xfrm>
            <a:off x="411480" y="3995928"/>
            <a:ext cx="2286000" cy="320040"/>
          </a:xfrm>
          <a:prstGeom prst="rect">
            <a:avLst/>
          </a:prstGeom>
          <a:noFill/>
          <a:ln/>
        </p:spPr>
        <p:txBody>
          <a:bodyPr wrap="square" lIns="0" tIns="0" rIns="0" bIns="0" rtlCol="0" anchor="t"/>
          <a:lstStyle/>
          <a:p>
            <a:pPr algn="ctr" indent="0" marL="0">
              <a:buNone/>
            </a:pPr>
            <a:r>
              <a:rPr lang="en-US" sz="1300" b="1" dirty="0">
                <a:solidFill>
                  <a:srgbClr val="14213D"/>
                </a:solidFill>
              </a:rPr>
              <a:t>Infection starts</a:t>
            </a:r>
            <a:endParaRPr lang="en-US" sz="1300" dirty="0"/>
          </a:p>
        </p:txBody>
      </p:sp>
      <p:sp>
        <p:nvSpPr>
          <p:cNvPr id="18" name="text"/>
          <p:cNvSpPr txBox="1"/>
          <p:nvPr/>
        </p:nvSpPr>
        <p:spPr>
          <a:xfrm>
            <a:off x="411480" y="4306824"/>
            <a:ext cx="2286000" cy="640080"/>
          </a:xfrm>
          <a:prstGeom prst="rect">
            <a:avLst/>
          </a:prstGeom>
          <a:noFill/>
          <a:ln/>
        </p:spPr>
        <p:txBody>
          <a:bodyPr wrap="square" lIns="0" tIns="0" rIns="0" bIns="0" rtlCol="0" anchor="t"/>
          <a:lstStyle/>
          <a:p>
            <a:pPr algn="ctr" indent="0" marL="0">
              <a:buNone/>
            </a:pPr>
            <a:r>
              <a:rPr lang="en-US" sz="1150" dirty="0">
                <a:solidFill>
                  <a:srgbClr val="5C677D"/>
                </a:solidFill>
              </a:rPr>
              <a:t>often unnoticed</a:t>
            </a:r>
            <a:endParaRPr lang="en-US" sz="1150" dirty="0"/>
          </a:p>
        </p:txBody>
      </p:sp>
      <p:sp>
        <p:nvSpPr>
          <p:cNvPr id="19" name="timeline point"/>
          <p:cNvSpPr/>
          <p:nvPr/>
        </p:nvSpPr>
        <p:spPr>
          <a:xfrm>
            <a:off x="3669716" y="3547872"/>
            <a:ext cx="310896" cy="310896"/>
          </a:xfrm>
          <a:prstGeom prst="ellipse">
            <a:avLst/>
          </a:prstGeom>
          <a:solidFill>
            <a:srgbClr val="0E7C86"/>
          </a:solidFill>
          <a:ln w="25400">
            <a:solidFill>
              <a:srgbClr val="FFFFFF"/>
            </a:solidFill>
            <a:prstDash val="solid"/>
          </a:ln>
        </p:spPr>
      </p:sp>
      <p:sp>
        <p:nvSpPr>
          <p:cNvPr id="20" name="text"/>
          <p:cNvSpPr txBox="1"/>
          <p:nvPr/>
        </p:nvSpPr>
        <p:spPr>
          <a:xfrm>
            <a:off x="2682164" y="3995928"/>
            <a:ext cx="2286000" cy="320040"/>
          </a:xfrm>
          <a:prstGeom prst="rect">
            <a:avLst/>
          </a:prstGeom>
          <a:noFill/>
          <a:ln/>
        </p:spPr>
        <p:txBody>
          <a:bodyPr wrap="square" lIns="0" tIns="0" rIns="0" bIns="0" rtlCol="0" anchor="t"/>
          <a:lstStyle/>
          <a:p>
            <a:pPr algn="ctr" indent="0" marL="0">
              <a:buNone/>
            </a:pPr>
            <a:r>
              <a:rPr lang="en-US" sz="1300" b="1" dirty="0">
                <a:solidFill>
                  <a:srgbClr val="0E7C86"/>
                </a:solidFill>
              </a:rPr>
              <a:t>Physiology drifts</a:t>
            </a:r>
            <a:endParaRPr lang="en-US" sz="1300" dirty="0"/>
          </a:p>
        </p:txBody>
      </p:sp>
      <p:sp>
        <p:nvSpPr>
          <p:cNvPr id="21" name="text"/>
          <p:cNvSpPr txBox="1"/>
          <p:nvPr/>
        </p:nvSpPr>
        <p:spPr>
          <a:xfrm>
            <a:off x="2682164" y="4306824"/>
            <a:ext cx="2286000" cy="640080"/>
          </a:xfrm>
          <a:prstGeom prst="rect">
            <a:avLst/>
          </a:prstGeom>
          <a:noFill/>
          <a:ln/>
        </p:spPr>
        <p:txBody>
          <a:bodyPr wrap="square" lIns="0" tIns="0" rIns="0" bIns="0" rtlCol="0" anchor="t"/>
          <a:lstStyle/>
          <a:p>
            <a:pPr algn="ctr" indent="0" marL="0">
              <a:buNone/>
            </a:pPr>
            <a:r>
              <a:rPr lang="en-US" sz="1150" dirty="0">
                <a:solidFill>
                  <a:srgbClr val="5C677D"/>
                </a:solidFill>
              </a:rPr>
              <a:t>heart rate, breathing, labs change hour by hour</a:t>
            </a:r>
            <a:endParaRPr lang="en-US" sz="1150" dirty="0"/>
          </a:p>
        </p:txBody>
      </p:sp>
      <p:sp>
        <p:nvSpPr>
          <p:cNvPr id="22" name="timeline point"/>
          <p:cNvSpPr/>
          <p:nvPr/>
        </p:nvSpPr>
        <p:spPr>
          <a:xfrm>
            <a:off x="5940400" y="3547872"/>
            <a:ext cx="310896" cy="310896"/>
          </a:xfrm>
          <a:prstGeom prst="ellipse">
            <a:avLst/>
          </a:prstGeom>
          <a:solidFill>
            <a:srgbClr val="2A78D6"/>
          </a:solidFill>
          <a:ln w="25400">
            <a:solidFill>
              <a:srgbClr val="FFFFFF"/>
            </a:solidFill>
            <a:prstDash val="solid"/>
          </a:ln>
        </p:spPr>
      </p:sp>
      <p:sp>
        <p:nvSpPr>
          <p:cNvPr id="23" name="text"/>
          <p:cNvSpPr txBox="1"/>
          <p:nvPr/>
        </p:nvSpPr>
        <p:spPr>
          <a:xfrm>
            <a:off x="4952848" y="3995928"/>
            <a:ext cx="2286000" cy="320040"/>
          </a:xfrm>
          <a:prstGeom prst="rect">
            <a:avLst/>
          </a:prstGeom>
          <a:noFill/>
          <a:ln/>
        </p:spPr>
        <p:txBody>
          <a:bodyPr wrap="square" lIns="0" tIns="0" rIns="0" bIns="0" rtlCol="0" anchor="t"/>
          <a:lstStyle/>
          <a:p>
            <a:pPr algn="ctr" indent="0" marL="0">
              <a:buNone/>
            </a:pPr>
            <a:r>
              <a:rPr lang="en-US" sz="1300" b="1" dirty="0">
                <a:solidFill>
                  <a:srgbClr val="2A78D6"/>
                </a:solidFill>
              </a:rPr>
              <a:t>Our warning target</a:t>
            </a:r>
            <a:endParaRPr lang="en-US" sz="1300" dirty="0"/>
          </a:p>
        </p:txBody>
      </p:sp>
      <p:sp>
        <p:nvSpPr>
          <p:cNvPr id="24" name="text"/>
          <p:cNvSpPr txBox="1"/>
          <p:nvPr/>
        </p:nvSpPr>
        <p:spPr>
          <a:xfrm>
            <a:off x="4952848" y="4306824"/>
            <a:ext cx="2286000" cy="640080"/>
          </a:xfrm>
          <a:prstGeom prst="rect">
            <a:avLst/>
          </a:prstGeom>
          <a:noFill/>
          <a:ln/>
        </p:spPr>
        <p:txBody>
          <a:bodyPr wrap="square" lIns="0" tIns="0" rIns="0" bIns="0" rtlCol="0" anchor="t"/>
          <a:lstStyle/>
          <a:p>
            <a:pPr algn="ctr" indent="0" marL="0">
              <a:buNone/>
            </a:pPr>
            <a:r>
              <a:rPr lang="en-US" sz="1150" dirty="0">
                <a:solidFill>
                  <a:srgbClr val="5C677D"/>
                </a:solidFill>
              </a:rPr>
              <a:t>6 hours before onset</a:t>
            </a:r>
            <a:endParaRPr lang="en-US" sz="1150" dirty="0"/>
          </a:p>
        </p:txBody>
      </p:sp>
      <p:sp>
        <p:nvSpPr>
          <p:cNvPr id="25" name="timeline point"/>
          <p:cNvSpPr/>
          <p:nvPr/>
        </p:nvSpPr>
        <p:spPr>
          <a:xfrm>
            <a:off x="8211083" y="3547872"/>
            <a:ext cx="310896" cy="310896"/>
          </a:xfrm>
          <a:prstGeom prst="ellipse">
            <a:avLst/>
          </a:prstGeom>
          <a:solidFill>
            <a:srgbClr val="EB6834"/>
          </a:solidFill>
          <a:ln w="25400">
            <a:solidFill>
              <a:srgbClr val="FFFFFF"/>
            </a:solidFill>
            <a:prstDash val="solid"/>
          </a:ln>
        </p:spPr>
      </p:sp>
      <p:sp>
        <p:nvSpPr>
          <p:cNvPr id="26" name="text"/>
          <p:cNvSpPr txBox="1"/>
          <p:nvPr/>
        </p:nvSpPr>
        <p:spPr>
          <a:xfrm>
            <a:off x="7223531" y="3995928"/>
            <a:ext cx="2286000" cy="320040"/>
          </a:xfrm>
          <a:prstGeom prst="rect">
            <a:avLst/>
          </a:prstGeom>
          <a:noFill/>
          <a:ln/>
        </p:spPr>
        <p:txBody>
          <a:bodyPr wrap="square" lIns="0" tIns="0" rIns="0" bIns="0" rtlCol="0" anchor="t"/>
          <a:lstStyle/>
          <a:p>
            <a:pPr algn="ctr" indent="0" marL="0">
              <a:buNone/>
            </a:pPr>
            <a:r>
              <a:rPr lang="en-US" sz="1300" b="1" dirty="0">
                <a:solidFill>
                  <a:srgbClr val="EB6834"/>
                </a:solidFill>
              </a:rPr>
              <a:t>Sepsis onset</a:t>
            </a:r>
            <a:endParaRPr lang="en-US" sz="1300" dirty="0"/>
          </a:p>
        </p:txBody>
      </p:sp>
      <p:sp>
        <p:nvSpPr>
          <p:cNvPr id="27" name="text"/>
          <p:cNvSpPr txBox="1"/>
          <p:nvPr/>
        </p:nvSpPr>
        <p:spPr>
          <a:xfrm>
            <a:off x="7223531" y="4306824"/>
            <a:ext cx="2286000" cy="640080"/>
          </a:xfrm>
          <a:prstGeom prst="rect">
            <a:avLst/>
          </a:prstGeom>
          <a:noFill/>
          <a:ln/>
        </p:spPr>
        <p:txBody>
          <a:bodyPr wrap="square" lIns="0" tIns="0" rIns="0" bIns="0" rtlCol="0" anchor="t"/>
          <a:lstStyle/>
          <a:p>
            <a:pPr algn="ctr" indent="0" marL="0">
              <a:buNone/>
            </a:pPr>
            <a:r>
              <a:rPr lang="en-US" sz="1150" dirty="0">
                <a:solidFill>
                  <a:srgbClr val="5C677D"/>
                </a:solidFill>
              </a:rPr>
              <a:t>organ dysfunction meets the definition</a:t>
            </a:r>
            <a:endParaRPr lang="en-US" sz="1150" dirty="0"/>
          </a:p>
        </p:txBody>
      </p:sp>
      <p:sp>
        <p:nvSpPr>
          <p:cNvPr id="28" name="timeline point"/>
          <p:cNvSpPr/>
          <p:nvPr/>
        </p:nvSpPr>
        <p:spPr>
          <a:xfrm>
            <a:off x="10481767" y="3547872"/>
            <a:ext cx="310896" cy="310896"/>
          </a:xfrm>
          <a:prstGeom prst="ellipse">
            <a:avLst/>
          </a:prstGeom>
          <a:solidFill>
            <a:srgbClr val="14213D"/>
          </a:solidFill>
          <a:ln w="25400">
            <a:solidFill>
              <a:srgbClr val="FFFFFF"/>
            </a:solidFill>
            <a:prstDash val="solid"/>
          </a:ln>
        </p:spPr>
      </p:sp>
      <p:sp>
        <p:nvSpPr>
          <p:cNvPr id="29" name="text"/>
          <p:cNvSpPr txBox="1"/>
          <p:nvPr/>
        </p:nvSpPr>
        <p:spPr>
          <a:xfrm>
            <a:off x="9494215" y="3995928"/>
            <a:ext cx="2286000" cy="320040"/>
          </a:xfrm>
          <a:prstGeom prst="rect">
            <a:avLst/>
          </a:prstGeom>
          <a:noFill/>
          <a:ln/>
        </p:spPr>
        <p:txBody>
          <a:bodyPr wrap="square" lIns="0" tIns="0" rIns="0" bIns="0" rtlCol="0" anchor="t"/>
          <a:lstStyle/>
          <a:p>
            <a:pPr algn="ctr" indent="0" marL="0">
              <a:buNone/>
            </a:pPr>
            <a:r>
              <a:rPr lang="en-US" sz="1300" b="1" dirty="0">
                <a:solidFill>
                  <a:srgbClr val="14213D"/>
                </a:solidFill>
              </a:rPr>
              <a:t>Recognition and antibiotics</a:t>
            </a:r>
            <a:endParaRPr lang="en-US" sz="1300" dirty="0"/>
          </a:p>
        </p:txBody>
      </p:sp>
      <p:sp>
        <p:nvSpPr>
          <p:cNvPr id="30" name="text"/>
          <p:cNvSpPr txBox="1"/>
          <p:nvPr/>
        </p:nvSpPr>
        <p:spPr>
          <a:xfrm>
            <a:off x="9494215" y="4306824"/>
            <a:ext cx="2286000" cy="640080"/>
          </a:xfrm>
          <a:prstGeom prst="rect">
            <a:avLst/>
          </a:prstGeom>
          <a:noFill/>
          <a:ln/>
        </p:spPr>
        <p:txBody>
          <a:bodyPr wrap="square" lIns="0" tIns="0" rIns="0" bIns="0" rtlCol="0" anchor="t"/>
          <a:lstStyle/>
          <a:p>
            <a:pPr algn="ctr" indent="0" marL="0">
              <a:buNone/>
            </a:pPr>
            <a:r>
              <a:rPr lang="en-US" sz="1150" dirty="0">
                <a:solidFill>
                  <a:srgbClr val="5C677D"/>
                </a:solidFill>
              </a:rPr>
              <a:t>the clock the mortality figures run on</a:t>
            </a:r>
            <a:endParaRPr lang="en-US" sz="1150" dirty="0"/>
          </a:p>
        </p:txBody>
      </p:sp>
      <p:sp>
        <p:nvSpPr>
          <p:cNvPr id="31" name="pharmacist note"/>
          <p:cNvSpPr/>
          <p:nvPr/>
        </p:nvSpPr>
        <p:spPr>
          <a:xfrm>
            <a:off x="548640" y="5166360"/>
            <a:ext cx="11094415" cy="868680"/>
          </a:xfrm>
          <a:prstGeom prst="roundRect">
            <a:avLst>
              <a:gd name="adj" fmla="val 8421"/>
            </a:avLst>
          </a:prstGeom>
          <a:solidFill>
            <a:srgbClr val="EEF3F7"/>
          </a:solidFill>
          <a:ln w="9525">
            <a:solidFill>
              <a:srgbClr val="EEF3F7"/>
            </a:solidFill>
            <a:prstDash val="solid"/>
          </a:ln>
        </p:spPr>
      </p:sp>
      <p:sp>
        <p:nvSpPr>
          <p:cNvPr id="32" name="icon circle"/>
          <p:cNvSpPr/>
          <p:nvPr/>
        </p:nvSpPr>
        <p:spPr>
          <a:xfrm>
            <a:off x="713232" y="5321808"/>
            <a:ext cx="548640" cy="548640"/>
          </a:xfrm>
          <a:prstGeom prst="ellipse">
            <a:avLst/>
          </a:prstGeom>
          <a:solidFill>
            <a:srgbClr val="0E7C86"/>
          </a:solidFill>
          <a:ln w="12700">
            <a:solidFill>
              <a:srgbClr val="0E7C86"/>
            </a:solidFill>
            <a:prstDash val="solid"/>
          </a:ln>
        </p:spPr>
      </p:sp>
      <p:pic>
        <p:nvPicPr>
          <p:cNvPr id="33" name="icon" descr="preencoded.png">    </p:cNvPr>
          <p:cNvPicPr>
            <a:picLocks noChangeAspect="1"/>
          </p:cNvPicPr>
          <p:nvPr/>
        </p:nvPicPr>
        <p:blipFill>
          <a:blip r:embed="rId1"/>
          <a:stretch>
            <a:fillRect/>
          </a:stretch>
        </p:blipFill>
        <p:spPr>
          <a:xfrm>
            <a:off x="844906" y="5453482"/>
            <a:ext cx="285293" cy="285293"/>
          </a:xfrm>
          <a:prstGeom prst="rect">
            <a:avLst/>
          </a:prstGeom>
        </p:spPr>
      </p:pic>
      <p:sp>
        <p:nvSpPr>
          <p:cNvPr id="34" name="text"/>
          <p:cNvSpPr txBox="1"/>
          <p:nvPr/>
        </p:nvSpPr>
        <p:spPr>
          <a:xfrm>
            <a:off x="1417320" y="5230368"/>
            <a:ext cx="10042855" cy="777240"/>
          </a:xfrm>
          <a:prstGeom prst="rect">
            <a:avLst/>
          </a:prstGeom>
          <a:noFill/>
          <a:ln/>
        </p:spPr>
        <p:txBody>
          <a:bodyPr wrap="square" lIns="0" tIns="0" rIns="0" bIns="0" rtlCol="0" anchor="ctr"/>
          <a:lstStyle/>
          <a:p>
            <a:pPr algn="l" indent="0" marL="0">
              <a:buNone/>
            </a:pPr>
            <a:r>
              <a:rPr lang="en-US" sz="1350" dirty="0">
                <a:solidFill>
                  <a:srgbClr val="14213D"/>
                </a:solidFill>
              </a:rPr>
              <a:t>The pharmacist's view: early antibiotics save lives, but antibiotics "just in case" for everyone breed resistance. A warning is only useful if it is right often enough to act on, and early enough to matter.</a:t>
            </a:r>
            <a:endParaRPr lang="en-US" sz="1350" dirty="0"/>
          </a:p>
        </p:txBody>
      </p:sp>
      <p:sp>
        <p:nvSpPr>
          <p:cNvPr id="35" name="sources"/>
          <p:cNvSpPr txBox="1"/>
          <p:nvPr/>
        </p:nvSpPr>
        <p:spPr>
          <a:xfrm>
            <a:off x="548640" y="6144768"/>
            <a:ext cx="11094415" cy="274320"/>
          </a:xfrm>
          <a:prstGeom prst="rect">
            <a:avLst/>
          </a:prstGeom>
          <a:noFill/>
          <a:ln/>
        </p:spPr>
        <p:txBody>
          <a:bodyPr wrap="square" lIns="0" tIns="0" rIns="0" bIns="0" rtlCol="0" anchor="t"/>
          <a:lstStyle/>
          <a:p>
            <a:pPr algn="l" indent="0" marL="0">
              <a:buNone/>
            </a:pPr>
            <a:r>
              <a:rPr lang="en-US" sz="900" i="1" dirty="0">
                <a:solidFill>
                  <a:srgbClr val="5C677D"/>
                </a:solidFill>
              </a:rPr>
              <a:t>Rudd et al., Lancet 2020 (global burden); Singer et al., JAMA 2016 (Sepsis-3); Kumar et al., Crit Care Med 2006 and Seymour et al., NEJM 2017 (hourly delay and mortality).</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Published sepsis AI scores well on its own data and fails where it matters: the next hospital</a:t>
            </a:r>
            <a:endParaRPr lang="en-US" sz="2600" dirty="0"/>
          </a:p>
        </p:txBody>
      </p:sp>
      <p:sp>
        <p:nvSpPr>
          <p:cNvPr id="3" name="evidence card 1"/>
          <p:cNvSpPr/>
          <p:nvPr/>
        </p:nvSpPr>
        <p:spPr>
          <a:xfrm>
            <a:off x="548640" y="1417320"/>
            <a:ext cx="5440680" cy="2331720"/>
          </a:xfrm>
          <a:prstGeom prst="roundRect">
            <a:avLst>
              <a:gd name="adj" fmla="val 3137"/>
            </a:avLst>
          </a:prstGeom>
          <a:solidFill>
            <a:srgbClr val="EEF3F7"/>
          </a:solidFill>
          <a:ln w="9525">
            <a:solidFill>
              <a:srgbClr val="EEF3F7"/>
            </a:solidFill>
            <a:prstDash val="solid"/>
          </a:ln>
        </p:spPr>
      </p:sp>
      <p:sp>
        <p:nvSpPr>
          <p:cNvPr id="4" name="text"/>
          <p:cNvSpPr txBox="1"/>
          <p:nvPr/>
        </p:nvSpPr>
        <p:spPr>
          <a:xfrm>
            <a:off x="777240" y="1536192"/>
            <a:ext cx="5029200" cy="320040"/>
          </a:xfrm>
          <a:prstGeom prst="rect">
            <a:avLst/>
          </a:prstGeom>
          <a:noFill/>
          <a:ln/>
        </p:spPr>
        <p:txBody>
          <a:bodyPr wrap="square" lIns="0" tIns="0" rIns="0" bIns="0" rtlCol="0" anchor="t"/>
          <a:lstStyle/>
          <a:p>
            <a:pPr algn="l" indent="0" marL="0">
              <a:buNone/>
            </a:pPr>
            <a:r>
              <a:rPr lang="en-US" sz="1400" b="1" dirty="0">
                <a:solidFill>
                  <a:srgbClr val="14213D"/>
                </a:solidFill>
              </a:rPr>
              <a:t>PhysioNet 2019 Challenge: 104 teams, one scoring rule</a:t>
            </a:r>
            <a:endParaRPr lang="en-US" sz="1400" dirty="0"/>
          </a:p>
        </p:txBody>
      </p:sp>
      <p:sp>
        <p:nvSpPr>
          <p:cNvPr id="5" name="text"/>
          <p:cNvSpPr txBox="1"/>
          <p:nvPr/>
        </p:nvSpPr>
        <p:spPr>
          <a:xfrm>
            <a:off x="777240" y="1920240"/>
            <a:ext cx="1554480" cy="731520"/>
          </a:xfrm>
          <a:prstGeom prst="rect">
            <a:avLst/>
          </a:prstGeom>
          <a:noFill/>
          <a:ln/>
        </p:spPr>
        <p:txBody>
          <a:bodyPr wrap="square" lIns="0" tIns="0" rIns="0" bIns="0" rtlCol="0" anchor="ctr"/>
          <a:lstStyle/>
          <a:p>
            <a:pPr algn="l" indent="0" marL="0">
              <a:buNone/>
            </a:pPr>
            <a:r>
              <a:rPr lang="en-US" sz="3800" b="1" dirty="0">
                <a:solidFill>
                  <a:srgbClr val="EB6834"/>
                </a:solidFill>
                <a:latin typeface="Cambria" pitchFamily="34" charset="0"/>
                <a:ea typeface="Cambria" pitchFamily="34" charset="-122"/>
                <a:cs typeface="Cambria" pitchFamily="34" charset="-120"/>
              </a:rPr>
              <a:t>0.36</a:t>
            </a:r>
            <a:endParaRPr lang="en-US" sz="3800" dirty="0"/>
          </a:p>
        </p:txBody>
      </p:sp>
      <p:sp>
        <p:nvSpPr>
          <p:cNvPr id="6" name="text"/>
          <p:cNvSpPr txBox="1"/>
          <p:nvPr/>
        </p:nvSpPr>
        <p:spPr>
          <a:xfrm>
            <a:off x="777240" y="2651760"/>
            <a:ext cx="2194560" cy="548640"/>
          </a:xfrm>
          <a:prstGeom prst="rect">
            <a:avLst/>
          </a:prstGeom>
          <a:noFill/>
          <a:ln/>
        </p:spPr>
        <p:txBody>
          <a:bodyPr wrap="square" lIns="0" tIns="0" rIns="0" bIns="0" rtlCol="0" anchor="t"/>
          <a:lstStyle/>
          <a:p>
            <a:pPr algn="l" indent="0" marL="0">
              <a:buNone/>
            </a:pPr>
            <a:r>
              <a:rPr lang="en-US" sz="1150" dirty="0">
                <a:solidFill>
                  <a:srgbClr val="5C677D"/>
                </a:solidFill>
              </a:rPr>
              <a:t>winning utility on the two hospitals in training</a:t>
            </a:r>
            <a:endParaRPr lang="en-US" sz="1150" dirty="0"/>
          </a:p>
        </p:txBody>
      </p:sp>
      <p:sp>
        <p:nvSpPr>
          <p:cNvPr id="7" name="text"/>
          <p:cNvSpPr txBox="1"/>
          <p:nvPr/>
        </p:nvSpPr>
        <p:spPr>
          <a:xfrm>
            <a:off x="3291840" y="1920240"/>
            <a:ext cx="1554480" cy="731520"/>
          </a:xfrm>
          <a:prstGeom prst="rect">
            <a:avLst/>
          </a:prstGeom>
          <a:noFill/>
          <a:ln/>
        </p:spPr>
        <p:txBody>
          <a:bodyPr wrap="square" lIns="0" tIns="0" rIns="0" bIns="0" rtlCol="0" anchor="ctr"/>
          <a:lstStyle/>
          <a:p>
            <a:pPr algn="l" indent="0" marL="0">
              <a:buNone/>
            </a:pPr>
            <a:r>
              <a:rPr lang="en-US" sz="3800" b="1" dirty="0">
                <a:solidFill>
                  <a:srgbClr val="EB6834"/>
                </a:solidFill>
                <a:latin typeface="Cambria" pitchFamily="34" charset="0"/>
                <a:ea typeface="Cambria" pitchFamily="34" charset="-122"/>
                <a:cs typeface="Cambria" pitchFamily="34" charset="-120"/>
              </a:rPr>
              <a:t>-0.12</a:t>
            </a:r>
            <a:endParaRPr lang="en-US" sz="3800" dirty="0"/>
          </a:p>
        </p:txBody>
      </p:sp>
      <p:sp>
        <p:nvSpPr>
          <p:cNvPr id="8" name="text"/>
          <p:cNvSpPr txBox="1"/>
          <p:nvPr/>
        </p:nvSpPr>
        <p:spPr>
          <a:xfrm>
            <a:off x="3291840" y="2651760"/>
            <a:ext cx="2514600" cy="731520"/>
          </a:xfrm>
          <a:prstGeom prst="rect">
            <a:avLst/>
          </a:prstGeom>
          <a:noFill/>
          <a:ln/>
        </p:spPr>
        <p:txBody>
          <a:bodyPr wrap="square" lIns="0" tIns="0" rIns="0" bIns="0" rtlCol="0" anchor="t"/>
          <a:lstStyle/>
          <a:p>
            <a:pPr algn="l" indent="0" marL="0">
              <a:buNone/>
            </a:pPr>
            <a:r>
              <a:rPr lang="en-US" sz="1150" dirty="0">
                <a:solidFill>
                  <a:srgbClr val="5C677D"/>
                </a:solidFill>
              </a:rPr>
              <a:t>same model on the hidden third hospital: worse than no alarm at all</a:t>
            </a:r>
            <a:endParaRPr lang="en-US" sz="1150" dirty="0"/>
          </a:p>
        </p:txBody>
      </p:sp>
      <p:sp>
        <p:nvSpPr>
          <p:cNvPr id="9" name="text"/>
          <p:cNvSpPr txBox="1"/>
          <p:nvPr/>
        </p:nvSpPr>
        <p:spPr>
          <a:xfrm>
            <a:off x="777240" y="3246120"/>
            <a:ext cx="5029200" cy="457200"/>
          </a:xfrm>
          <a:prstGeom prst="rect">
            <a:avLst/>
          </a:prstGeom>
          <a:noFill/>
          <a:ln/>
        </p:spPr>
        <p:txBody>
          <a:bodyPr wrap="square" lIns="0" tIns="0" rIns="0" bIns="0" rtlCol="0" anchor="t"/>
          <a:lstStyle/>
          <a:p>
            <a:pPr algn="l" indent="0" marL="0">
              <a:buNone/>
            </a:pPr>
            <a:r>
              <a:rPr lang="en-US" sz="1050" i="1" dirty="0">
                <a:solidFill>
                  <a:srgbClr val="5C677D"/>
                </a:solidFill>
              </a:rPr>
              <a:t>Utility: the challenge score that rewards an alarm 6 h before onset and penalises false alarms (0 = never alarming).</a:t>
            </a:r>
            <a:endParaRPr lang="en-US" sz="1050" dirty="0"/>
          </a:p>
        </p:txBody>
      </p:sp>
      <p:sp>
        <p:nvSpPr>
          <p:cNvPr id="10" name="evidence card 2"/>
          <p:cNvSpPr/>
          <p:nvPr/>
        </p:nvSpPr>
        <p:spPr>
          <a:xfrm>
            <a:off x="6172200" y="1417320"/>
            <a:ext cx="5470855" cy="2331720"/>
          </a:xfrm>
          <a:prstGeom prst="roundRect">
            <a:avLst>
              <a:gd name="adj" fmla="val 3137"/>
            </a:avLst>
          </a:prstGeom>
          <a:solidFill>
            <a:srgbClr val="EEF3F7"/>
          </a:solidFill>
          <a:ln w="9525">
            <a:solidFill>
              <a:srgbClr val="EEF3F7"/>
            </a:solidFill>
            <a:prstDash val="solid"/>
          </a:ln>
        </p:spPr>
      </p:sp>
      <p:sp>
        <p:nvSpPr>
          <p:cNvPr id="11" name="text"/>
          <p:cNvSpPr txBox="1"/>
          <p:nvPr/>
        </p:nvSpPr>
        <p:spPr>
          <a:xfrm>
            <a:off x="6400800" y="1536192"/>
            <a:ext cx="5120640" cy="320040"/>
          </a:xfrm>
          <a:prstGeom prst="rect">
            <a:avLst/>
          </a:prstGeom>
          <a:noFill/>
          <a:ln/>
        </p:spPr>
        <p:txBody>
          <a:bodyPr wrap="square" lIns="0" tIns="0" rIns="0" bIns="0" rtlCol="0" anchor="t"/>
          <a:lstStyle/>
          <a:p>
            <a:pPr algn="l" indent="0" marL="0">
              <a:buNone/>
            </a:pPr>
            <a:r>
              <a:rPr lang="en-US" sz="1400" b="1" dirty="0">
                <a:solidFill>
                  <a:srgbClr val="14213D"/>
                </a:solidFill>
              </a:rPr>
              <a:t>Epic Sepsis Model: deployed in hundreds of US hospitals</a:t>
            </a:r>
            <a:endParaRPr lang="en-US" sz="1400" dirty="0"/>
          </a:p>
        </p:txBody>
      </p:sp>
      <p:sp>
        <p:nvSpPr>
          <p:cNvPr id="12" name="text"/>
          <p:cNvSpPr txBox="1"/>
          <p:nvPr/>
        </p:nvSpPr>
        <p:spPr>
          <a:xfrm>
            <a:off x="6400800" y="1920240"/>
            <a:ext cx="1554480" cy="731520"/>
          </a:xfrm>
          <a:prstGeom prst="rect">
            <a:avLst/>
          </a:prstGeom>
          <a:noFill/>
          <a:ln/>
        </p:spPr>
        <p:txBody>
          <a:bodyPr wrap="square" lIns="0" tIns="0" rIns="0" bIns="0" rtlCol="0" anchor="ctr"/>
          <a:lstStyle/>
          <a:p>
            <a:pPr algn="l" indent="0" marL="0">
              <a:buNone/>
            </a:pPr>
            <a:r>
              <a:rPr lang="en-US" sz="3800" b="1" dirty="0">
                <a:solidFill>
                  <a:srgbClr val="EB6834"/>
                </a:solidFill>
                <a:latin typeface="Cambria" pitchFamily="34" charset="0"/>
                <a:ea typeface="Cambria" pitchFamily="34" charset="-122"/>
                <a:cs typeface="Cambria" pitchFamily="34" charset="-120"/>
              </a:rPr>
              <a:t>0.63</a:t>
            </a:r>
            <a:endParaRPr lang="en-US" sz="3800" dirty="0"/>
          </a:p>
        </p:txBody>
      </p:sp>
      <p:sp>
        <p:nvSpPr>
          <p:cNvPr id="13" name="text"/>
          <p:cNvSpPr txBox="1"/>
          <p:nvPr/>
        </p:nvSpPr>
        <p:spPr>
          <a:xfrm>
            <a:off x="6400800" y="2651760"/>
            <a:ext cx="2377440" cy="731520"/>
          </a:xfrm>
          <a:prstGeom prst="rect">
            <a:avLst/>
          </a:prstGeom>
          <a:noFill/>
          <a:ln/>
        </p:spPr>
        <p:txBody>
          <a:bodyPr wrap="square" lIns="0" tIns="0" rIns="0" bIns="0" rtlCol="0" anchor="t"/>
          <a:lstStyle/>
          <a:p>
            <a:pPr algn="l" indent="0" marL="0">
              <a:buNone/>
            </a:pPr>
            <a:r>
              <a:rPr lang="en-US" sz="1150" dirty="0">
                <a:solidFill>
                  <a:srgbClr val="5C677D"/>
                </a:solidFill>
              </a:rPr>
              <a:t>AUROC in independent validation, against 0.76 to 0.83 claimed by the vendor</a:t>
            </a:r>
            <a:endParaRPr lang="en-US" sz="1150" dirty="0"/>
          </a:p>
        </p:txBody>
      </p:sp>
      <p:sp>
        <p:nvSpPr>
          <p:cNvPr id="14" name="text"/>
          <p:cNvSpPr txBox="1"/>
          <p:nvPr/>
        </p:nvSpPr>
        <p:spPr>
          <a:xfrm>
            <a:off x="9098280" y="1920240"/>
            <a:ext cx="1554480" cy="731520"/>
          </a:xfrm>
          <a:prstGeom prst="rect">
            <a:avLst/>
          </a:prstGeom>
          <a:noFill/>
          <a:ln/>
        </p:spPr>
        <p:txBody>
          <a:bodyPr wrap="square" lIns="0" tIns="0" rIns="0" bIns="0" rtlCol="0" anchor="ctr"/>
          <a:lstStyle/>
          <a:p>
            <a:pPr algn="l" indent="0" marL="0">
              <a:buNone/>
            </a:pPr>
            <a:r>
              <a:rPr lang="en-US" sz="3800" b="1" dirty="0">
                <a:solidFill>
                  <a:srgbClr val="EB6834"/>
                </a:solidFill>
                <a:latin typeface="Cambria" pitchFamily="34" charset="0"/>
                <a:ea typeface="Cambria" pitchFamily="34" charset="-122"/>
                <a:cs typeface="Cambria" pitchFamily="34" charset="-120"/>
              </a:rPr>
              <a:t>67 %</a:t>
            </a:r>
            <a:endParaRPr lang="en-US" sz="3800" dirty="0"/>
          </a:p>
        </p:txBody>
      </p:sp>
      <p:sp>
        <p:nvSpPr>
          <p:cNvPr id="15" name="text"/>
          <p:cNvSpPr txBox="1"/>
          <p:nvPr/>
        </p:nvSpPr>
        <p:spPr>
          <a:xfrm>
            <a:off x="9098280" y="2651760"/>
            <a:ext cx="2377440" cy="731520"/>
          </a:xfrm>
          <a:prstGeom prst="rect">
            <a:avLst/>
          </a:prstGeom>
          <a:noFill/>
          <a:ln/>
        </p:spPr>
        <p:txBody>
          <a:bodyPr wrap="square" lIns="0" tIns="0" rIns="0" bIns="0" rtlCol="0" anchor="t"/>
          <a:lstStyle/>
          <a:p>
            <a:pPr algn="l" indent="0" marL="0">
              <a:buNone/>
            </a:pPr>
            <a:r>
              <a:rPr lang="en-US" sz="1150" dirty="0">
                <a:solidFill>
                  <a:srgbClr val="5C677D"/>
                </a:solidFill>
              </a:rPr>
              <a:t>of sepsis patients missed, while alerting on 18 % of all admissions</a:t>
            </a:r>
            <a:endParaRPr lang="en-US" sz="1150" dirty="0"/>
          </a:p>
        </p:txBody>
      </p:sp>
      <p:sp>
        <p:nvSpPr>
          <p:cNvPr id="16" name="text"/>
          <p:cNvSpPr txBox="1"/>
          <p:nvPr/>
        </p:nvSpPr>
        <p:spPr>
          <a:xfrm>
            <a:off x="6400800" y="3246120"/>
            <a:ext cx="5120640" cy="457200"/>
          </a:xfrm>
          <a:prstGeom prst="rect">
            <a:avLst/>
          </a:prstGeom>
          <a:noFill/>
          <a:ln/>
        </p:spPr>
        <p:txBody>
          <a:bodyPr wrap="square" lIns="0" tIns="0" rIns="0" bIns="0" rtlCol="0" anchor="t"/>
          <a:lstStyle/>
          <a:p>
            <a:pPr algn="l" indent="0" marL="0">
              <a:buNone/>
            </a:pPr>
            <a:r>
              <a:rPr lang="en-US" sz="1050" i="1" dirty="0">
                <a:solidFill>
                  <a:srgbClr val="5C677D"/>
                </a:solidFill>
              </a:rPr>
              <a:t>A systematic review of 28 models reports AUROC 0.68 to 0.99; almost none were tested prospectively.</a:t>
            </a:r>
            <a:endParaRPr lang="en-US" sz="1050" dirty="0"/>
          </a:p>
        </p:txBody>
      </p:sp>
      <p:sp>
        <p:nvSpPr>
          <p:cNvPr id="17" name="text"/>
          <p:cNvSpPr txBox="1"/>
          <p:nvPr/>
        </p:nvSpPr>
        <p:spPr>
          <a:xfrm>
            <a:off x="548640" y="3977640"/>
            <a:ext cx="7315200" cy="320040"/>
          </a:xfrm>
          <a:prstGeom prst="rect">
            <a:avLst/>
          </a:prstGeom>
          <a:noFill/>
          <a:ln/>
        </p:spPr>
        <p:txBody>
          <a:bodyPr wrap="square" lIns="0" tIns="0" rIns="0" bIns="0" rtlCol="0" anchor="t"/>
          <a:lstStyle/>
          <a:p>
            <a:pPr algn="l" indent="0" marL="0">
              <a:buNone/>
            </a:pPr>
            <a:r>
              <a:rPr lang="en-US" sz="1500" b="1" dirty="0">
                <a:solidFill>
                  <a:srgbClr val="14213D"/>
                </a:solidFill>
              </a:rPr>
              <a:t>Three things the literature rarely controls</a:t>
            </a:r>
            <a:endParaRPr lang="en-US" sz="1500" dirty="0"/>
          </a:p>
        </p:txBody>
      </p:sp>
      <p:sp>
        <p:nvSpPr>
          <p:cNvPr id="18" name="icon circle"/>
          <p:cNvSpPr/>
          <p:nvPr/>
        </p:nvSpPr>
        <p:spPr>
          <a:xfrm>
            <a:off x="548640" y="4434840"/>
            <a:ext cx="548640" cy="548640"/>
          </a:xfrm>
          <a:prstGeom prst="ellipse">
            <a:avLst/>
          </a:prstGeom>
          <a:solidFill>
            <a:srgbClr val="14213D"/>
          </a:solidFill>
          <a:ln w="12700">
            <a:solidFill>
              <a:srgbClr val="14213D"/>
            </a:solidFill>
            <a:prstDash val="solid"/>
          </a:ln>
        </p:spPr>
      </p:sp>
      <p:pic>
        <p:nvPicPr>
          <p:cNvPr id="19" name="icon" descr="preencoded.png">    </p:cNvPr>
          <p:cNvPicPr>
            <a:picLocks noChangeAspect="1"/>
          </p:cNvPicPr>
          <p:nvPr/>
        </p:nvPicPr>
        <p:blipFill>
          <a:blip r:embed="rId1"/>
          <a:stretch>
            <a:fillRect/>
          </a:stretch>
        </p:blipFill>
        <p:spPr>
          <a:xfrm>
            <a:off x="680314" y="4566514"/>
            <a:ext cx="285293" cy="285293"/>
          </a:xfrm>
          <a:prstGeom prst="rect">
            <a:avLst/>
          </a:prstGeom>
        </p:spPr>
      </p:pic>
      <p:sp>
        <p:nvSpPr>
          <p:cNvPr id="20" name="text"/>
          <p:cNvSpPr txBox="1"/>
          <p:nvPr/>
        </p:nvSpPr>
        <p:spPr>
          <a:xfrm>
            <a:off x="1234440" y="4407408"/>
            <a:ext cx="2926080" cy="457200"/>
          </a:xfrm>
          <a:prstGeom prst="rect">
            <a:avLst/>
          </a:prstGeom>
          <a:noFill/>
          <a:ln/>
        </p:spPr>
        <p:txBody>
          <a:bodyPr wrap="square" lIns="0" tIns="0" rIns="0" bIns="0" rtlCol="0" anchor="t"/>
          <a:lstStyle/>
          <a:p>
            <a:pPr algn="l" indent="0" marL="0">
              <a:buNone/>
            </a:pPr>
            <a:r>
              <a:rPr lang="en-US" sz="1300" b="1" dirty="0">
                <a:solidFill>
                  <a:srgbClr val="14213D"/>
                </a:solidFill>
              </a:rPr>
              <a:t>Future information leaks into training</a:t>
            </a:r>
            <a:endParaRPr lang="en-US" sz="1300" dirty="0"/>
          </a:p>
        </p:txBody>
      </p:sp>
      <p:sp>
        <p:nvSpPr>
          <p:cNvPr id="21" name="text"/>
          <p:cNvSpPr txBox="1"/>
          <p:nvPr/>
        </p:nvSpPr>
        <p:spPr>
          <a:xfrm>
            <a:off x="1234440" y="4846320"/>
            <a:ext cx="2926080" cy="1005840"/>
          </a:xfrm>
          <a:prstGeom prst="rect">
            <a:avLst/>
          </a:prstGeom>
          <a:noFill/>
          <a:ln/>
        </p:spPr>
        <p:txBody>
          <a:bodyPr wrap="square" lIns="0" tIns="0" rIns="0" bIns="0" rtlCol="0" anchor="t"/>
          <a:lstStyle/>
          <a:p>
            <a:pPr algn="l" indent="0" marL="0">
              <a:buNone/>
            </a:pPr>
            <a:r>
              <a:rPr lang="en-US" sz="1150" dirty="0">
                <a:solidFill>
                  <a:srgbClr val="5C677D"/>
                </a:solidFill>
              </a:rPr>
              <a:t>hours after onset labelled positive; values used before they were recorded; treatments that define the label used as inputs</a:t>
            </a:r>
            <a:endParaRPr lang="en-US" sz="1150" dirty="0"/>
          </a:p>
        </p:txBody>
      </p:sp>
      <p:sp>
        <p:nvSpPr>
          <p:cNvPr id="22" name="icon circle"/>
          <p:cNvSpPr/>
          <p:nvPr/>
        </p:nvSpPr>
        <p:spPr>
          <a:xfrm>
            <a:off x="4297680" y="4434840"/>
            <a:ext cx="548640" cy="548640"/>
          </a:xfrm>
          <a:prstGeom prst="ellipse">
            <a:avLst/>
          </a:prstGeom>
          <a:solidFill>
            <a:srgbClr val="14213D"/>
          </a:solidFill>
          <a:ln w="12700">
            <a:solidFill>
              <a:srgbClr val="14213D"/>
            </a:solidFill>
            <a:prstDash val="solid"/>
          </a:ln>
        </p:spPr>
      </p:sp>
      <p:pic>
        <p:nvPicPr>
          <p:cNvPr id="23" name="icon" descr="preencoded.png">    </p:cNvPr>
          <p:cNvPicPr>
            <a:picLocks noChangeAspect="1"/>
          </p:cNvPicPr>
          <p:nvPr/>
        </p:nvPicPr>
        <p:blipFill>
          <a:blip r:embed="rId2"/>
          <a:stretch>
            <a:fillRect/>
          </a:stretch>
        </p:blipFill>
        <p:spPr>
          <a:xfrm>
            <a:off x="4429354" y="4566514"/>
            <a:ext cx="285293" cy="285293"/>
          </a:xfrm>
          <a:prstGeom prst="rect">
            <a:avLst/>
          </a:prstGeom>
        </p:spPr>
      </p:pic>
      <p:sp>
        <p:nvSpPr>
          <p:cNvPr id="24" name="text"/>
          <p:cNvSpPr txBox="1"/>
          <p:nvPr/>
        </p:nvSpPr>
        <p:spPr>
          <a:xfrm>
            <a:off x="4983480" y="4407408"/>
            <a:ext cx="2926080" cy="457200"/>
          </a:xfrm>
          <a:prstGeom prst="rect">
            <a:avLst/>
          </a:prstGeom>
          <a:noFill/>
          <a:ln/>
        </p:spPr>
        <p:txBody>
          <a:bodyPr wrap="square" lIns="0" tIns="0" rIns="0" bIns="0" rtlCol="0" anchor="t"/>
          <a:lstStyle/>
          <a:p>
            <a:pPr algn="l" indent="0" marL="0">
              <a:buNone/>
            </a:pPr>
            <a:r>
              <a:rPr lang="en-US" sz="1300" b="1" dirty="0">
                <a:solidFill>
                  <a:srgbClr val="14213D"/>
                </a:solidFill>
              </a:rPr>
              <a:t>Scored by ranking, not by whether an alarm helps</a:t>
            </a:r>
            <a:endParaRPr lang="en-US" sz="1300" dirty="0"/>
          </a:p>
        </p:txBody>
      </p:sp>
      <p:sp>
        <p:nvSpPr>
          <p:cNvPr id="25" name="text"/>
          <p:cNvSpPr txBox="1"/>
          <p:nvPr/>
        </p:nvSpPr>
        <p:spPr>
          <a:xfrm>
            <a:off x="4983480" y="4846320"/>
            <a:ext cx="2926080" cy="1005840"/>
          </a:xfrm>
          <a:prstGeom prst="rect">
            <a:avLst/>
          </a:prstGeom>
          <a:noFill/>
          <a:ln/>
        </p:spPr>
        <p:txBody>
          <a:bodyPr wrap="square" lIns="0" tIns="0" rIns="0" bIns="0" rtlCol="0" anchor="t"/>
          <a:lstStyle/>
          <a:p>
            <a:pPr algn="l" indent="0" marL="0">
              <a:buNone/>
            </a:pPr>
            <a:r>
              <a:rPr lang="en-US" sz="1150" dirty="0">
                <a:solidFill>
                  <a:srgbClr val="5C677D"/>
                </a:solidFill>
              </a:rPr>
              <a:t>AUROC on one split of one database; no cost for false alarms, no credit for warning time</a:t>
            </a:r>
            <a:endParaRPr lang="en-US" sz="1150" dirty="0"/>
          </a:p>
        </p:txBody>
      </p:sp>
      <p:sp>
        <p:nvSpPr>
          <p:cNvPr id="26" name="icon circle"/>
          <p:cNvSpPr/>
          <p:nvPr/>
        </p:nvSpPr>
        <p:spPr>
          <a:xfrm>
            <a:off x="8046720" y="4434840"/>
            <a:ext cx="548640" cy="548640"/>
          </a:xfrm>
          <a:prstGeom prst="ellipse">
            <a:avLst/>
          </a:prstGeom>
          <a:solidFill>
            <a:srgbClr val="14213D"/>
          </a:solidFill>
          <a:ln w="12700">
            <a:solidFill>
              <a:srgbClr val="14213D"/>
            </a:solidFill>
            <a:prstDash val="solid"/>
          </a:ln>
        </p:spPr>
      </p:sp>
      <p:pic>
        <p:nvPicPr>
          <p:cNvPr id="27" name="icon" descr="preencoded.png">    </p:cNvPr>
          <p:cNvPicPr>
            <a:picLocks noChangeAspect="1"/>
          </p:cNvPicPr>
          <p:nvPr/>
        </p:nvPicPr>
        <p:blipFill>
          <a:blip r:embed="rId3"/>
          <a:stretch>
            <a:fillRect/>
          </a:stretch>
        </p:blipFill>
        <p:spPr>
          <a:xfrm>
            <a:off x="8178394" y="4566514"/>
            <a:ext cx="285293" cy="285293"/>
          </a:xfrm>
          <a:prstGeom prst="rect">
            <a:avLst/>
          </a:prstGeom>
        </p:spPr>
      </p:pic>
      <p:sp>
        <p:nvSpPr>
          <p:cNvPr id="28" name="text"/>
          <p:cNvSpPr txBox="1"/>
          <p:nvPr/>
        </p:nvSpPr>
        <p:spPr>
          <a:xfrm>
            <a:off x="8732520" y="4407408"/>
            <a:ext cx="2926080" cy="457200"/>
          </a:xfrm>
          <a:prstGeom prst="rect">
            <a:avLst/>
          </a:prstGeom>
          <a:noFill/>
          <a:ln/>
        </p:spPr>
        <p:txBody>
          <a:bodyPr wrap="square" lIns="0" tIns="0" rIns="0" bIns="0" rtlCol="0" anchor="t"/>
          <a:lstStyle/>
          <a:p>
            <a:pPr algn="l" indent="0" marL="0">
              <a:buNone/>
            </a:pPr>
            <a:r>
              <a:rPr lang="en-US" sz="1300" b="1" dirty="0">
                <a:solidFill>
                  <a:srgbClr val="14213D"/>
                </a:solidFill>
              </a:rPr>
              <a:t>Each study defines sepsis its own way</a:t>
            </a:r>
            <a:endParaRPr lang="en-US" sz="1300" dirty="0"/>
          </a:p>
        </p:txBody>
      </p:sp>
      <p:sp>
        <p:nvSpPr>
          <p:cNvPr id="29" name="text"/>
          <p:cNvSpPr txBox="1"/>
          <p:nvPr/>
        </p:nvSpPr>
        <p:spPr>
          <a:xfrm>
            <a:off x="8732520" y="4846320"/>
            <a:ext cx="2926080" cy="1005840"/>
          </a:xfrm>
          <a:prstGeom prst="rect">
            <a:avLst/>
          </a:prstGeom>
          <a:noFill/>
          <a:ln/>
        </p:spPr>
        <p:txBody>
          <a:bodyPr wrap="square" lIns="0" tIns="0" rIns="0" bIns="0" rtlCol="0" anchor="t"/>
          <a:lstStyle/>
          <a:p>
            <a:pPr algn="l" indent="0" marL="0">
              <a:buNone/>
            </a:pPr>
            <a:r>
              <a:rPr lang="en-US" sz="1150" dirty="0">
                <a:solidFill>
                  <a:srgbClr val="5C677D"/>
                </a:solidFill>
              </a:rPr>
              <a:t>results cannot be compared, and a model tuned to one definition fails under another</a:t>
            </a:r>
            <a:endParaRPr lang="en-US" sz="1150" dirty="0"/>
          </a:p>
        </p:txBody>
      </p:sp>
      <p:sp>
        <p:nvSpPr>
          <p:cNvPr id="30" name="sources"/>
          <p:cNvSpPr txBox="1"/>
          <p:nvPr/>
        </p:nvSpPr>
        <p:spPr>
          <a:xfrm>
            <a:off x="548640" y="6144768"/>
            <a:ext cx="11094415" cy="274320"/>
          </a:xfrm>
          <a:prstGeom prst="rect">
            <a:avLst/>
          </a:prstGeom>
          <a:noFill/>
          <a:ln/>
        </p:spPr>
        <p:txBody>
          <a:bodyPr wrap="square" lIns="0" tIns="0" rIns="0" bIns="0" rtlCol="0" anchor="t"/>
          <a:lstStyle/>
          <a:p>
            <a:pPr algn="l" indent="0" marL="0">
              <a:buNone/>
            </a:pPr>
            <a:r>
              <a:rPr lang="en-US" sz="900" i="1" dirty="0">
                <a:solidFill>
                  <a:srgbClr val="5C677D"/>
                </a:solidFill>
              </a:rPr>
              <a:t>Reyna et al., Crit Care Med 2020 (challenge results); Wong et al., JAMA Intern Med 2021 (Epic external validation); Fleuren et al., Intensive Care Med 2020 (review).</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The question the literature has not asked</a:t>
            </a:r>
            <a:endParaRPr lang="en-US" sz="2600" dirty="0"/>
          </a:p>
        </p:txBody>
      </p:sp>
      <p:sp>
        <p:nvSpPr>
          <p:cNvPr id="3" name="question card"/>
          <p:cNvSpPr/>
          <p:nvPr/>
        </p:nvSpPr>
        <p:spPr>
          <a:xfrm>
            <a:off x="548640" y="1371600"/>
            <a:ext cx="11094415" cy="1371600"/>
          </a:xfrm>
          <a:prstGeom prst="roundRect">
            <a:avLst>
              <a:gd name="adj" fmla="val 5333"/>
            </a:avLst>
          </a:prstGeom>
          <a:solidFill>
            <a:srgbClr val="14213D"/>
          </a:solidFill>
          <a:ln w="9525">
            <a:solidFill>
              <a:srgbClr val="14213D"/>
            </a:solidFill>
            <a:prstDash val="solid"/>
          </a:ln>
        </p:spPr>
      </p:sp>
      <p:sp>
        <p:nvSpPr>
          <p:cNvPr id="4" name="icon circle"/>
          <p:cNvSpPr/>
          <p:nvPr/>
        </p:nvSpPr>
        <p:spPr>
          <a:xfrm>
            <a:off x="777240" y="1764792"/>
            <a:ext cx="594360" cy="594360"/>
          </a:xfrm>
          <a:prstGeom prst="ellipse">
            <a:avLst/>
          </a:prstGeom>
          <a:solidFill>
            <a:srgbClr val="0E7C86"/>
          </a:solidFill>
          <a:ln w="12700">
            <a:solidFill>
              <a:srgbClr val="0E7C86"/>
            </a:solidFill>
            <a:prstDash val="solid"/>
          </a:ln>
        </p:spPr>
      </p:sp>
      <p:pic>
        <p:nvPicPr>
          <p:cNvPr id="5" name="icon" descr="preencoded.png">    </p:cNvPr>
          <p:cNvPicPr>
            <a:picLocks noChangeAspect="1"/>
          </p:cNvPicPr>
          <p:nvPr/>
        </p:nvPicPr>
        <p:blipFill>
          <a:blip r:embed="rId1"/>
          <a:stretch>
            <a:fillRect/>
          </a:stretch>
        </p:blipFill>
        <p:spPr>
          <a:xfrm>
            <a:off x="919886" y="1907438"/>
            <a:ext cx="309067" cy="309067"/>
          </a:xfrm>
          <a:prstGeom prst="rect">
            <a:avLst/>
          </a:prstGeom>
        </p:spPr>
      </p:pic>
      <p:sp>
        <p:nvSpPr>
          <p:cNvPr id="6" name="text"/>
          <p:cNvSpPr txBox="1"/>
          <p:nvPr/>
        </p:nvSpPr>
        <p:spPr>
          <a:xfrm>
            <a:off x="1554480" y="1481328"/>
            <a:ext cx="9859975" cy="1170432"/>
          </a:xfrm>
          <a:prstGeom prst="rect">
            <a:avLst/>
          </a:prstGeom>
          <a:noFill/>
          <a:ln/>
        </p:spPr>
        <p:txBody>
          <a:bodyPr wrap="square" lIns="0" tIns="0" rIns="0" bIns="0" rtlCol="0" anchor="ctr"/>
          <a:lstStyle/>
          <a:p>
            <a:pPr algn="l" indent="0" marL="0">
              <a:buNone/>
            </a:pPr>
            <a:r>
              <a:rPr lang="en-US" sz="1700" b="1" dirty="0">
                <a:solidFill>
                  <a:srgbClr val="FFFFFF"/>
                </a:solidFill>
              </a:rPr>
              <a:t>Using only the information a clinician could have seen at each hour, can a model warn of sepsis six hours ahead with positive clinical utility, and does that utility survive transfer to a hospital system it has never seen?</a:t>
            </a:r>
            <a:endParaRPr lang="en-US" sz="1700" dirty="0"/>
          </a:p>
        </p:txBody>
      </p:sp>
      <p:sp>
        <p:nvSpPr>
          <p:cNvPr id="7" name="asked before"/>
          <p:cNvSpPr/>
          <p:nvPr/>
        </p:nvSpPr>
        <p:spPr>
          <a:xfrm>
            <a:off x="548640" y="2926080"/>
            <a:ext cx="5394960" cy="1234440"/>
          </a:xfrm>
          <a:prstGeom prst="roundRect">
            <a:avLst>
              <a:gd name="adj" fmla="val 5926"/>
            </a:avLst>
          </a:prstGeom>
          <a:solidFill>
            <a:srgbClr val="EEF3F7"/>
          </a:solidFill>
          <a:ln w="9525">
            <a:solidFill>
              <a:srgbClr val="EEF3F7"/>
            </a:solidFill>
            <a:prstDash val="solid"/>
          </a:ln>
        </p:spPr>
      </p:sp>
      <p:sp>
        <p:nvSpPr>
          <p:cNvPr id="8" name="text"/>
          <p:cNvSpPr txBox="1"/>
          <p:nvPr/>
        </p:nvSpPr>
        <p:spPr>
          <a:xfrm>
            <a:off x="777240" y="3017520"/>
            <a:ext cx="4937760" cy="320040"/>
          </a:xfrm>
          <a:prstGeom prst="rect">
            <a:avLst/>
          </a:prstGeom>
          <a:noFill/>
          <a:ln/>
        </p:spPr>
        <p:txBody>
          <a:bodyPr wrap="square" lIns="0" tIns="0" rIns="0" bIns="0" rtlCol="0" anchor="t"/>
          <a:lstStyle/>
          <a:p>
            <a:pPr algn="l" indent="0" marL="0">
              <a:buNone/>
            </a:pPr>
            <a:r>
              <a:rPr lang="en-US" sz="1250" b="1" dirty="0">
                <a:solidFill>
                  <a:srgbClr val="EB6834"/>
                </a:solidFill>
              </a:rPr>
              <a:t>What has been asked</a:t>
            </a:r>
            <a:endParaRPr lang="en-US" sz="1250" dirty="0"/>
          </a:p>
        </p:txBody>
      </p:sp>
      <p:sp>
        <p:nvSpPr>
          <p:cNvPr id="9" name="text"/>
          <p:cNvSpPr txBox="1"/>
          <p:nvPr/>
        </p:nvSpPr>
        <p:spPr>
          <a:xfrm>
            <a:off x="777240" y="3337560"/>
            <a:ext cx="4937760" cy="777240"/>
          </a:xfrm>
          <a:prstGeom prst="rect">
            <a:avLst/>
          </a:prstGeom>
          <a:noFill/>
          <a:ln/>
        </p:spPr>
        <p:txBody>
          <a:bodyPr wrap="square" lIns="0" tIns="0" rIns="0" bIns="0" rtlCol="0" anchor="t"/>
          <a:lstStyle/>
          <a:p>
            <a:pPr algn="l" indent="0" marL="0">
              <a:buNone/>
            </a:pPr>
            <a:r>
              <a:rPr lang="en-US" sz="1300" dirty="0">
                <a:solidFill>
                  <a:srgbClr val="14213D"/>
                </a:solidFill>
              </a:rPr>
              <a:t>How high can the AUROC go on one prepared dataset, with one team's label definition and whatever inputs were available?</a:t>
            </a:r>
            <a:endParaRPr lang="en-US" sz="1300" dirty="0"/>
          </a:p>
        </p:txBody>
      </p:sp>
      <p:sp>
        <p:nvSpPr>
          <p:cNvPr id="10" name="we ask"/>
          <p:cNvSpPr/>
          <p:nvPr/>
        </p:nvSpPr>
        <p:spPr>
          <a:xfrm>
            <a:off x="6126480" y="2926080"/>
            <a:ext cx="5516575" cy="1234440"/>
          </a:xfrm>
          <a:prstGeom prst="roundRect">
            <a:avLst>
              <a:gd name="adj" fmla="val 5926"/>
            </a:avLst>
          </a:prstGeom>
          <a:solidFill>
            <a:srgbClr val="EEF3F7"/>
          </a:solidFill>
          <a:ln w="9525">
            <a:solidFill>
              <a:srgbClr val="EEF3F7"/>
            </a:solidFill>
            <a:prstDash val="solid"/>
          </a:ln>
        </p:spPr>
      </p:sp>
      <p:sp>
        <p:nvSpPr>
          <p:cNvPr id="11" name="text"/>
          <p:cNvSpPr txBox="1"/>
          <p:nvPr/>
        </p:nvSpPr>
        <p:spPr>
          <a:xfrm>
            <a:off x="6355080" y="3017520"/>
            <a:ext cx="5120640" cy="320040"/>
          </a:xfrm>
          <a:prstGeom prst="rect">
            <a:avLst/>
          </a:prstGeom>
          <a:noFill/>
          <a:ln/>
        </p:spPr>
        <p:txBody>
          <a:bodyPr wrap="square" lIns="0" tIns="0" rIns="0" bIns="0" rtlCol="0" anchor="t"/>
          <a:lstStyle/>
          <a:p>
            <a:pPr algn="l" indent="0" marL="0">
              <a:buNone/>
            </a:pPr>
            <a:r>
              <a:rPr lang="en-US" sz="1250" b="1" dirty="0">
                <a:solidFill>
                  <a:srgbClr val="2A78D6"/>
                </a:solidFill>
              </a:rPr>
              <a:t>What this project asks</a:t>
            </a:r>
            <a:endParaRPr lang="en-US" sz="1250" dirty="0"/>
          </a:p>
        </p:txBody>
      </p:sp>
      <p:sp>
        <p:nvSpPr>
          <p:cNvPr id="12" name="text"/>
          <p:cNvSpPr txBox="1"/>
          <p:nvPr/>
        </p:nvSpPr>
        <p:spPr>
          <a:xfrm>
            <a:off x="6355080" y="3337560"/>
            <a:ext cx="5120640" cy="777240"/>
          </a:xfrm>
          <a:prstGeom prst="rect">
            <a:avLst/>
          </a:prstGeom>
          <a:noFill/>
          <a:ln/>
        </p:spPr>
        <p:txBody>
          <a:bodyPr wrap="square" lIns="0" tIns="0" rIns="0" bIns="0" rtlCol="0" anchor="t"/>
          <a:lstStyle/>
          <a:p>
            <a:pPr algn="l" indent="0" marL="0">
              <a:buNone/>
            </a:pPr>
            <a:r>
              <a:rPr lang="en-US" sz="1300" dirty="0">
                <a:solidFill>
                  <a:srgbClr val="14213D"/>
                </a:solidFill>
              </a:rPr>
              <a:t>Would the alarm have helped this patient, at an acceptable false-alarm burden, and would it still help in the next hospital, under one shared definition of sepsis?</a:t>
            </a:r>
            <a:endParaRPr lang="en-US" sz="1300" dirty="0"/>
          </a:p>
        </p:txBody>
      </p:sp>
      <p:sp>
        <p:nvSpPr>
          <p:cNvPr id="13" name="rq card"/>
          <p:cNvSpPr/>
          <p:nvPr/>
        </p:nvSpPr>
        <p:spPr>
          <a:xfrm>
            <a:off x="548640" y="4343400"/>
            <a:ext cx="3566160" cy="1691640"/>
          </a:xfrm>
          <a:prstGeom prst="roundRect">
            <a:avLst>
              <a:gd name="adj" fmla="val 4324"/>
            </a:avLst>
          </a:prstGeom>
          <a:solidFill>
            <a:srgbClr val="FFFFFF"/>
          </a:solidFill>
          <a:ln w="9525">
            <a:solidFill>
              <a:srgbClr val="D5DCE4"/>
            </a:solidFill>
            <a:prstDash val="solid"/>
          </a:ln>
        </p:spPr>
      </p:sp>
      <p:sp>
        <p:nvSpPr>
          <p:cNvPr id="14" name="text"/>
          <p:cNvSpPr txBox="1"/>
          <p:nvPr/>
        </p:nvSpPr>
        <p:spPr>
          <a:xfrm>
            <a:off x="731520" y="4434840"/>
            <a:ext cx="3200400" cy="320040"/>
          </a:xfrm>
          <a:prstGeom prst="rect">
            <a:avLst/>
          </a:prstGeom>
          <a:noFill/>
          <a:ln/>
        </p:spPr>
        <p:txBody>
          <a:bodyPr wrap="square" lIns="0" tIns="0" rIns="0" bIns="0" rtlCol="0" anchor="t"/>
          <a:lstStyle/>
          <a:p>
            <a:pPr algn="l" indent="0" marL="0">
              <a:buNone/>
            </a:pPr>
            <a:r>
              <a:rPr lang="en-US" sz="1300" b="1" dirty="0">
                <a:solidFill>
                  <a:srgbClr val="0E7C86"/>
                </a:solidFill>
              </a:rPr>
              <a:t>RQ1  Predictors</a:t>
            </a:r>
            <a:endParaRPr lang="en-US" sz="1300" dirty="0"/>
          </a:p>
        </p:txBody>
      </p:sp>
      <p:sp>
        <p:nvSpPr>
          <p:cNvPr id="15" name="text"/>
          <p:cNvSpPr txBox="1"/>
          <p:nvPr/>
        </p:nvSpPr>
        <p:spPr>
          <a:xfrm>
            <a:off x="731520" y="4754880"/>
            <a:ext cx="3200400" cy="1234440"/>
          </a:xfrm>
          <a:prstGeom prst="rect">
            <a:avLst/>
          </a:prstGeom>
          <a:noFill/>
          <a:ln/>
        </p:spPr>
        <p:txBody>
          <a:bodyPr wrap="square" lIns="0" tIns="0" rIns="0" bIns="0" rtlCol="0" anchor="t"/>
          <a:lstStyle/>
          <a:p>
            <a:pPr algn="l" indent="0" marL="0">
              <a:buNone/>
            </a:pPr>
            <a:r>
              <a:rPr lang="en-US" sz="1200" dirty="0">
                <a:solidFill>
                  <a:srgbClr val="14213D"/>
                </a:solidFill>
              </a:rPr>
              <a:t>Which information known at hour t carries the signal: vital signs and laboratory values alone, or also treatments, devices, admission context and comorbidity that no public model uses?</a:t>
            </a:r>
            <a:endParaRPr lang="en-US" sz="1200" dirty="0"/>
          </a:p>
        </p:txBody>
      </p:sp>
      <p:sp>
        <p:nvSpPr>
          <p:cNvPr id="16" name="rq card"/>
          <p:cNvSpPr/>
          <p:nvPr/>
        </p:nvSpPr>
        <p:spPr>
          <a:xfrm>
            <a:off x="4297680" y="4343400"/>
            <a:ext cx="3566160" cy="1691640"/>
          </a:xfrm>
          <a:prstGeom prst="roundRect">
            <a:avLst>
              <a:gd name="adj" fmla="val 4324"/>
            </a:avLst>
          </a:prstGeom>
          <a:solidFill>
            <a:srgbClr val="FFFFFF"/>
          </a:solidFill>
          <a:ln w="9525">
            <a:solidFill>
              <a:srgbClr val="D5DCE4"/>
            </a:solidFill>
            <a:prstDash val="solid"/>
          </a:ln>
        </p:spPr>
      </p:sp>
      <p:sp>
        <p:nvSpPr>
          <p:cNvPr id="17" name="text"/>
          <p:cNvSpPr txBox="1"/>
          <p:nvPr/>
        </p:nvSpPr>
        <p:spPr>
          <a:xfrm>
            <a:off x="4480560" y="4434840"/>
            <a:ext cx="3200400" cy="320040"/>
          </a:xfrm>
          <a:prstGeom prst="rect">
            <a:avLst/>
          </a:prstGeom>
          <a:noFill/>
          <a:ln/>
        </p:spPr>
        <p:txBody>
          <a:bodyPr wrap="square" lIns="0" tIns="0" rIns="0" bIns="0" rtlCol="0" anchor="t"/>
          <a:lstStyle/>
          <a:p>
            <a:pPr algn="l" indent="0" marL="0">
              <a:buNone/>
            </a:pPr>
            <a:r>
              <a:rPr lang="en-US" sz="1300" b="1" dirty="0">
                <a:solidFill>
                  <a:srgbClr val="0E7C86"/>
                </a:solidFill>
              </a:rPr>
              <a:t>RQ2  Architecture</a:t>
            </a:r>
            <a:endParaRPr lang="en-US" sz="1300" dirty="0"/>
          </a:p>
        </p:txBody>
      </p:sp>
      <p:sp>
        <p:nvSpPr>
          <p:cNvPr id="18" name="text"/>
          <p:cNvSpPr txBox="1"/>
          <p:nvPr/>
        </p:nvSpPr>
        <p:spPr>
          <a:xfrm>
            <a:off x="4480560" y="4754880"/>
            <a:ext cx="3200400" cy="1234440"/>
          </a:xfrm>
          <a:prstGeom prst="rect">
            <a:avLst/>
          </a:prstGeom>
          <a:noFill/>
          <a:ln/>
        </p:spPr>
        <p:txBody>
          <a:bodyPr wrap="square" lIns="0" tIns="0" rIns="0" bIns="0" rtlCol="0" anchor="t"/>
          <a:lstStyle/>
          <a:p>
            <a:pPr algn="l" indent="0" marL="0">
              <a:buNone/>
            </a:pPr>
            <a:r>
              <a:rPr lang="en-US" sz="1200" dirty="0">
                <a:solidFill>
                  <a:srgbClr val="14213D"/>
                </a:solidFill>
              </a:rPr>
              <a:t>Once causality is enforced, does structuring the model around organ systems add anything over simpler sequence models? A hypothesis to test, not an assumption.</a:t>
            </a:r>
            <a:endParaRPr lang="en-US" sz="1200" dirty="0"/>
          </a:p>
        </p:txBody>
      </p:sp>
      <p:sp>
        <p:nvSpPr>
          <p:cNvPr id="19" name="rq card"/>
          <p:cNvSpPr/>
          <p:nvPr/>
        </p:nvSpPr>
        <p:spPr>
          <a:xfrm>
            <a:off x="8046720" y="4343400"/>
            <a:ext cx="3566160" cy="1691640"/>
          </a:xfrm>
          <a:prstGeom prst="roundRect">
            <a:avLst>
              <a:gd name="adj" fmla="val 4324"/>
            </a:avLst>
          </a:prstGeom>
          <a:solidFill>
            <a:srgbClr val="FFFFFF"/>
          </a:solidFill>
          <a:ln w="9525">
            <a:solidFill>
              <a:srgbClr val="D5DCE4"/>
            </a:solidFill>
            <a:prstDash val="solid"/>
          </a:ln>
        </p:spPr>
      </p:sp>
      <p:sp>
        <p:nvSpPr>
          <p:cNvPr id="20" name="text"/>
          <p:cNvSpPr txBox="1"/>
          <p:nvPr/>
        </p:nvSpPr>
        <p:spPr>
          <a:xfrm>
            <a:off x="8229600" y="4434840"/>
            <a:ext cx="3200400" cy="320040"/>
          </a:xfrm>
          <a:prstGeom prst="rect">
            <a:avLst/>
          </a:prstGeom>
          <a:noFill/>
          <a:ln/>
        </p:spPr>
        <p:txBody>
          <a:bodyPr wrap="square" lIns="0" tIns="0" rIns="0" bIns="0" rtlCol="0" anchor="t"/>
          <a:lstStyle/>
          <a:p>
            <a:pPr algn="l" indent="0" marL="0">
              <a:buNone/>
            </a:pPr>
            <a:r>
              <a:rPr lang="en-US" sz="1300" b="1" dirty="0">
                <a:solidFill>
                  <a:srgbClr val="0E7C86"/>
                </a:solidFill>
              </a:rPr>
              <a:t>RQ3  Transfer and trust</a:t>
            </a:r>
            <a:endParaRPr lang="en-US" sz="1300" dirty="0"/>
          </a:p>
        </p:txBody>
      </p:sp>
      <p:sp>
        <p:nvSpPr>
          <p:cNvPr id="21" name="text"/>
          <p:cNvSpPr txBox="1"/>
          <p:nvPr/>
        </p:nvSpPr>
        <p:spPr>
          <a:xfrm>
            <a:off x="8229600" y="4754880"/>
            <a:ext cx="3200400" cy="1234440"/>
          </a:xfrm>
          <a:prstGeom prst="rect">
            <a:avLst/>
          </a:prstGeom>
          <a:noFill/>
          <a:ln/>
        </p:spPr>
        <p:txBody>
          <a:bodyPr wrap="square" lIns="0" tIns="0" rIns="0" bIns="0" rtlCol="0" anchor="t"/>
          <a:lstStyle/>
          <a:p>
            <a:pPr algn="l" indent="0" marL="0">
              <a:buNone/>
            </a:pPr>
            <a:r>
              <a:rPr lang="en-US" sz="1200" dirty="0">
                <a:solidFill>
                  <a:srgbClr val="14213D"/>
                </a:solidFill>
              </a:rPr>
              <a:t>Does positive utility in one ICU database survive in another, and what would make the clinicians who receive the alarm act on it?</a:t>
            </a:r>
            <a:endParaRPr lang="en-US" sz="12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Why a clinician building the model changes what gets built</a:t>
            </a:r>
            <a:endParaRPr lang="en-US" sz="2600" dirty="0"/>
          </a:p>
        </p:txBody>
      </p:sp>
      <p:sp>
        <p:nvSpPr>
          <p:cNvPr id="3" name="premise card"/>
          <p:cNvSpPr/>
          <p:nvPr/>
        </p:nvSpPr>
        <p:spPr>
          <a:xfrm>
            <a:off x="548640" y="1371600"/>
            <a:ext cx="3566160" cy="4526280"/>
          </a:xfrm>
          <a:prstGeom prst="roundRect">
            <a:avLst>
              <a:gd name="adj" fmla="val 2051"/>
            </a:avLst>
          </a:prstGeom>
          <a:solidFill>
            <a:srgbClr val="14213D"/>
          </a:solidFill>
          <a:ln w="9525">
            <a:solidFill>
              <a:srgbClr val="14213D"/>
            </a:solidFill>
            <a:prstDash val="solid"/>
          </a:ln>
        </p:spPr>
      </p:sp>
      <p:sp>
        <p:nvSpPr>
          <p:cNvPr id="4" name="icon circle"/>
          <p:cNvSpPr/>
          <p:nvPr/>
        </p:nvSpPr>
        <p:spPr>
          <a:xfrm>
            <a:off x="777240" y="1554480"/>
            <a:ext cx="566928" cy="566928"/>
          </a:xfrm>
          <a:prstGeom prst="ellipse">
            <a:avLst/>
          </a:prstGeom>
          <a:solidFill>
            <a:srgbClr val="0E7C86"/>
          </a:solidFill>
          <a:ln w="12700">
            <a:solidFill>
              <a:srgbClr val="0E7C86"/>
            </a:solidFill>
            <a:prstDash val="solid"/>
          </a:ln>
        </p:spPr>
      </p:sp>
      <p:pic>
        <p:nvPicPr>
          <p:cNvPr id="5" name="icon" descr="preencoded.png">    </p:cNvPr>
          <p:cNvPicPr>
            <a:picLocks noChangeAspect="1"/>
          </p:cNvPicPr>
          <p:nvPr/>
        </p:nvPicPr>
        <p:blipFill>
          <a:blip r:embed="rId1"/>
          <a:stretch>
            <a:fillRect/>
          </a:stretch>
        </p:blipFill>
        <p:spPr>
          <a:xfrm>
            <a:off x="913303" y="1690543"/>
            <a:ext cx="294803" cy="294803"/>
          </a:xfrm>
          <a:prstGeom prst="rect">
            <a:avLst/>
          </a:prstGeom>
        </p:spPr>
      </p:pic>
      <p:sp>
        <p:nvSpPr>
          <p:cNvPr id="6" name="text"/>
          <p:cNvSpPr txBox="1"/>
          <p:nvPr/>
        </p:nvSpPr>
        <p:spPr>
          <a:xfrm>
            <a:off x="1463040" y="1572768"/>
            <a:ext cx="2514600" cy="548640"/>
          </a:xfrm>
          <a:prstGeom prst="rect">
            <a:avLst/>
          </a:prstGeom>
          <a:noFill/>
          <a:ln/>
        </p:spPr>
        <p:txBody>
          <a:bodyPr wrap="square" lIns="0" tIns="0" rIns="0" bIns="0" rtlCol="0" anchor="ctr"/>
          <a:lstStyle/>
          <a:p>
            <a:pPr algn="l" indent="0" marL="0">
              <a:buNone/>
            </a:pPr>
            <a:r>
              <a:rPr lang="en-US" sz="1350" b="1" dirty="0">
                <a:solidFill>
                  <a:srgbClr val="FFFFFF"/>
                </a:solidFill>
              </a:rPr>
              <a:t>The record is written by clinicians' decisions</a:t>
            </a:r>
            <a:endParaRPr lang="en-US" sz="1350" dirty="0"/>
          </a:p>
        </p:txBody>
      </p:sp>
      <p:sp>
        <p:nvSpPr>
          <p:cNvPr id="7" name="text"/>
          <p:cNvSpPr txBox="1"/>
          <p:nvPr/>
        </p:nvSpPr>
        <p:spPr>
          <a:xfrm>
            <a:off x="777240" y="2286000"/>
            <a:ext cx="3108960" cy="1737360"/>
          </a:xfrm>
          <a:prstGeom prst="rect">
            <a:avLst/>
          </a:prstGeom>
          <a:noFill/>
          <a:ln/>
        </p:spPr>
        <p:txBody>
          <a:bodyPr wrap="square" lIns="0" tIns="0" rIns="0" bIns="0" rtlCol="0" anchor="t"/>
          <a:lstStyle/>
          <a:p>
            <a:pPr algn="l" indent="0" marL="0">
              <a:buNone/>
            </a:pPr>
            <a:r>
              <a:rPr lang="en-US" sz="1200" dirty="0">
                <a:solidFill>
                  <a:srgbClr val="D7E0EA"/>
                </a:solidFill>
              </a:rPr>
              <a:t>Every order, culture and charted value exists because someone at the bedside decided to act. A model that does not know why a value exists learns the clinician's suspicion, not the patient's physiology, and that is exactly what fails in the next hospital.</a:t>
            </a:r>
            <a:endParaRPr lang="en-US" sz="1200" dirty="0"/>
          </a:p>
        </p:txBody>
      </p:sp>
      <p:sp>
        <p:nvSpPr>
          <p:cNvPr id="8" name="text"/>
          <p:cNvSpPr txBox="1"/>
          <p:nvPr/>
        </p:nvSpPr>
        <p:spPr>
          <a:xfrm>
            <a:off x="777240" y="4114800"/>
            <a:ext cx="3108960" cy="320040"/>
          </a:xfrm>
          <a:prstGeom prst="rect">
            <a:avLst/>
          </a:prstGeom>
          <a:noFill/>
          <a:ln/>
        </p:spPr>
        <p:txBody>
          <a:bodyPr wrap="square" lIns="0" tIns="0" rIns="0" bIns="0" rtlCol="0" anchor="t"/>
          <a:lstStyle/>
          <a:p>
            <a:pPr algn="l" indent="0" marL="0">
              <a:buNone/>
            </a:pPr>
            <a:r>
              <a:rPr lang="en-US" sz="1250" b="1" dirty="0">
                <a:solidFill>
                  <a:srgbClr val="FFFFFF"/>
                </a:solidFill>
              </a:rPr>
              <a:t>A pharmacist among engineers</a:t>
            </a:r>
            <a:endParaRPr lang="en-US" sz="1250" dirty="0"/>
          </a:p>
        </p:txBody>
      </p:sp>
      <p:sp>
        <p:nvSpPr>
          <p:cNvPr id="9" name="text"/>
          <p:cNvSpPr txBox="1"/>
          <p:nvPr/>
        </p:nvSpPr>
        <p:spPr>
          <a:xfrm>
            <a:off x="777240" y="4434840"/>
            <a:ext cx="3108960" cy="1371600"/>
          </a:xfrm>
          <a:prstGeom prst="rect">
            <a:avLst/>
          </a:prstGeom>
          <a:noFill/>
          <a:ln/>
        </p:spPr>
        <p:txBody>
          <a:bodyPr wrap="square" lIns="0" tIns="0" rIns="0" bIns="0" rtlCol="0" anchor="t"/>
          <a:lstStyle/>
          <a:p>
            <a:pPr algn="l" indent="0" marL="0">
              <a:buNone/>
            </a:pPr>
            <a:r>
              <a:rPr lang="en-US" sz="1150" dirty="0">
                <a:solidFill>
                  <a:srgbClr val="D7E0EA"/>
                </a:solidFill>
              </a:rPr>
              <a:t>I can answer the clinical questions myself: which inputs are safe, which leak the answer, which alarm a team would act on. The engineering questions are where I need this room.</a:t>
            </a:r>
            <a:endParaRPr lang="en-US" sz="1150" dirty="0"/>
          </a:p>
        </p:txBody>
      </p:sp>
      <p:sp>
        <p:nvSpPr>
          <p:cNvPr id="10" name="example card"/>
          <p:cNvSpPr/>
          <p:nvPr/>
        </p:nvSpPr>
        <p:spPr>
          <a:xfrm>
            <a:off x="4297680" y="1371600"/>
            <a:ext cx="7345375" cy="2194560"/>
          </a:xfrm>
          <a:prstGeom prst="roundRect">
            <a:avLst>
              <a:gd name="adj" fmla="val 3333"/>
            </a:avLst>
          </a:prstGeom>
          <a:solidFill>
            <a:srgbClr val="EEF3F7"/>
          </a:solidFill>
          <a:ln w="9525">
            <a:solidFill>
              <a:srgbClr val="EEF3F7"/>
            </a:solidFill>
            <a:prstDash val="solid"/>
          </a:ln>
        </p:spPr>
      </p:sp>
      <p:sp>
        <p:nvSpPr>
          <p:cNvPr id="11" name="icon circle"/>
          <p:cNvSpPr/>
          <p:nvPr/>
        </p:nvSpPr>
        <p:spPr>
          <a:xfrm>
            <a:off x="4480560" y="1554480"/>
            <a:ext cx="548640" cy="548640"/>
          </a:xfrm>
          <a:prstGeom prst="ellipse">
            <a:avLst/>
          </a:prstGeom>
          <a:solidFill>
            <a:srgbClr val="EB6834"/>
          </a:solidFill>
          <a:ln w="12700">
            <a:solidFill>
              <a:srgbClr val="EB6834"/>
            </a:solidFill>
            <a:prstDash val="solid"/>
          </a:ln>
        </p:spPr>
      </p:sp>
      <p:pic>
        <p:nvPicPr>
          <p:cNvPr id="12" name="icon" descr="preencoded.png">    </p:cNvPr>
          <p:cNvPicPr>
            <a:picLocks noChangeAspect="1"/>
          </p:cNvPicPr>
          <p:nvPr/>
        </p:nvPicPr>
        <p:blipFill>
          <a:blip r:embed="rId2"/>
          <a:stretch>
            <a:fillRect/>
          </a:stretch>
        </p:blipFill>
        <p:spPr>
          <a:xfrm>
            <a:off x="4612234" y="1686154"/>
            <a:ext cx="285293" cy="285293"/>
          </a:xfrm>
          <a:prstGeom prst="rect">
            <a:avLst/>
          </a:prstGeom>
        </p:spPr>
      </p:pic>
      <p:sp>
        <p:nvSpPr>
          <p:cNvPr id="13" name="text"/>
          <p:cNvSpPr txBox="1"/>
          <p:nvPr/>
        </p:nvSpPr>
        <p:spPr>
          <a:xfrm>
            <a:off x="5166360" y="1572768"/>
            <a:ext cx="6217920" cy="502920"/>
          </a:xfrm>
          <a:prstGeom prst="rect">
            <a:avLst/>
          </a:prstGeom>
          <a:noFill/>
          <a:ln/>
        </p:spPr>
        <p:txBody>
          <a:bodyPr wrap="square" lIns="0" tIns="0" rIns="0" bIns="0" rtlCol="0" anchor="ctr"/>
          <a:lstStyle/>
          <a:p>
            <a:pPr algn="l" indent="0" marL="0">
              <a:buNone/>
            </a:pPr>
            <a:r>
              <a:rPr lang="en-US" sz="1400" b="1" dirty="0">
                <a:solidFill>
                  <a:srgbClr val="14213D"/>
                </a:solidFill>
              </a:rPr>
              <a:t>Example 1: antibiotics</a:t>
            </a:r>
            <a:endParaRPr lang="en-US" sz="1400" dirty="0"/>
          </a:p>
        </p:txBody>
      </p:sp>
      <p:sp>
        <p:nvSpPr>
          <p:cNvPr id="14" name="text"/>
          <p:cNvSpPr txBox="1"/>
          <p:nvPr/>
        </p:nvSpPr>
        <p:spPr>
          <a:xfrm>
            <a:off x="4480560" y="2240280"/>
            <a:ext cx="3429000" cy="274320"/>
          </a:xfrm>
          <a:prstGeom prst="rect">
            <a:avLst/>
          </a:prstGeom>
          <a:noFill/>
          <a:ln/>
        </p:spPr>
        <p:txBody>
          <a:bodyPr wrap="square" lIns="0" tIns="0" rIns="0" bIns="0" rtlCol="0" anchor="t"/>
          <a:lstStyle/>
          <a:p>
            <a:pPr algn="l" indent="0" marL="0">
              <a:buNone/>
            </a:pPr>
            <a:r>
              <a:rPr lang="en-US" sz="1100" b="1" dirty="0">
                <a:solidFill>
                  <a:srgbClr val="EB6834"/>
                </a:solidFill>
              </a:rPr>
              <a:t>What is usually done</a:t>
            </a:r>
            <a:endParaRPr lang="en-US" sz="1100" dirty="0"/>
          </a:p>
        </p:txBody>
      </p:sp>
      <p:sp>
        <p:nvSpPr>
          <p:cNvPr id="15" name="text"/>
          <p:cNvSpPr txBox="1"/>
          <p:nvPr/>
        </p:nvSpPr>
        <p:spPr>
          <a:xfrm>
            <a:off x="4480560" y="2514600"/>
            <a:ext cx="3429000" cy="1005840"/>
          </a:xfrm>
          <a:prstGeom prst="rect">
            <a:avLst/>
          </a:prstGeom>
          <a:noFill/>
          <a:ln/>
        </p:spPr>
        <p:txBody>
          <a:bodyPr wrap="square" lIns="0" tIns="0" rIns="0" bIns="0" rtlCol="0" anchor="t"/>
          <a:lstStyle/>
          <a:p>
            <a:pPr algn="l" indent="0" marL="0">
              <a:buNone/>
            </a:pPr>
            <a:r>
              <a:rPr lang="en-US" sz="1100" dirty="0">
                <a:solidFill>
                  <a:srgbClr val="5C677D"/>
                </a:solidFill>
              </a:rPr>
              <a:t>Most pipelines either feed every antibiotic order to the model, which then predicts the label from itself because the label is defined by antibiotics plus cultures, or drop antibiotics altogether.</a:t>
            </a:r>
            <a:endParaRPr lang="en-US" sz="1100" dirty="0"/>
          </a:p>
        </p:txBody>
      </p:sp>
      <p:sp>
        <p:nvSpPr>
          <p:cNvPr id="16" name="text"/>
          <p:cNvSpPr txBox="1"/>
          <p:nvPr/>
        </p:nvSpPr>
        <p:spPr>
          <a:xfrm>
            <a:off x="8092440" y="2240280"/>
            <a:ext cx="3520440" cy="274320"/>
          </a:xfrm>
          <a:prstGeom prst="rect">
            <a:avLst/>
          </a:prstGeom>
          <a:noFill/>
          <a:ln/>
        </p:spPr>
        <p:txBody>
          <a:bodyPr wrap="square" lIns="0" tIns="0" rIns="0" bIns="0" rtlCol="0" anchor="t"/>
          <a:lstStyle/>
          <a:p>
            <a:pPr algn="l" indent="0" marL="0">
              <a:buNone/>
            </a:pPr>
            <a:r>
              <a:rPr lang="en-US" sz="1100" b="1" dirty="0">
                <a:solidFill>
                  <a:srgbClr val="2A78D6"/>
                </a:solidFill>
              </a:rPr>
              <a:t>What we do instead</a:t>
            </a:r>
            <a:endParaRPr lang="en-US" sz="1100" dirty="0"/>
          </a:p>
        </p:txBody>
      </p:sp>
      <p:sp>
        <p:nvSpPr>
          <p:cNvPr id="17" name="text"/>
          <p:cNvSpPr txBox="1"/>
          <p:nvPr/>
        </p:nvSpPr>
        <p:spPr>
          <a:xfrm>
            <a:off x="8092440" y="2514600"/>
            <a:ext cx="3520440" cy="1005840"/>
          </a:xfrm>
          <a:prstGeom prst="rect">
            <a:avLst/>
          </a:prstGeom>
          <a:noFill/>
          <a:ln/>
        </p:spPr>
        <p:txBody>
          <a:bodyPr wrap="square" lIns="0" tIns="0" rIns="0" bIns="0" rtlCol="0" anchor="t"/>
          <a:lstStyle/>
          <a:p>
            <a:pPr algn="l" indent="0" marL="0">
              <a:buNone/>
            </a:pPr>
            <a:r>
              <a:rPr lang="en-US" sz="1100" dirty="0">
                <a:solidFill>
                  <a:srgbClr val="14213D"/>
                </a:solidFill>
              </a:rPr>
              <a:t>A pharmacist reads the order: cefazolin at induction of anaesthesia, stopped within 24 hours, no culture sent, is surgical prophylaxis, not suspicion of sepsis. We keep prophylaxis as a predictor by a guideline rule and exclude empirical and culture-directed antibiotics.</a:t>
            </a:r>
            <a:endParaRPr lang="en-US" sz="1100" dirty="0"/>
          </a:p>
        </p:txBody>
      </p:sp>
      <p:sp>
        <p:nvSpPr>
          <p:cNvPr id="18" name="example card"/>
          <p:cNvSpPr/>
          <p:nvPr/>
        </p:nvSpPr>
        <p:spPr>
          <a:xfrm>
            <a:off x="4297680" y="3703320"/>
            <a:ext cx="7345375" cy="2194560"/>
          </a:xfrm>
          <a:prstGeom prst="roundRect">
            <a:avLst>
              <a:gd name="adj" fmla="val 3333"/>
            </a:avLst>
          </a:prstGeom>
          <a:solidFill>
            <a:srgbClr val="EEF3F7"/>
          </a:solidFill>
          <a:ln w="9525">
            <a:solidFill>
              <a:srgbClr val="EEF3F7"/>
            </a:solidFill>
            <a:prstDash val="solid"/>
          </a:ln>
        </p:spPr>
      </p:sp>
      <p:sp>
        <p:nvSpPr>
          <p:cNvPr id="19" name="icon circle"/>
          <p:cNvSpPr/>
          <p:nvPr/>
        </p:nvSpPr>
        <p:spPr>
          <a:xfrm>
            <a:off x="4480560" y="3886200"/>
            <a:ext cx="548640" cy="548640"/>
          </a:xfrm>
          <a:prstGeom prst="ellipse">
            <a:avLst/>
          </a:prstGeom>
          <a:solidFill>
            <a:srgbClr val="EB6834"/>
          </a:solidFill>
          <a:ln w="12700">
            <a:solidFill>
              <a:srgbClr val="EB6834"/>
            </a:solidFill>
            <a:prstDash val="solid"/>
          </a:ln>
        </p:spPr>
      </p:sp>
      <p:pic>
        <p:nvPicPr>
          <p:cNvPr id="20" name="icon" descr="preencoded.png">    </p:cNvPr>
          <p:cNvPicPr>
            <a:picLocks noChangeAspect="1"/>
          </p:cNvPicPr>
          <p:nvPr/>
        </p:nvPicPr>
        <p:blipFill>
          <a:blip r:embed="rId3"/>
          <a:stretch>
            <a:fillRect/>
          </a:stretch>
        </p:blipFill>
        <p:spPr>
          <a:xfrm>
            <a:off x="4612234" y="4017874"/>
            <a:ext cx="285293" cy="285293"/>
          </a:xfrm>
          <a:prstGeom prst="rect">
            <a:avLst/>
          </a:prstGeom>
        </p:spPr>
      </p:pic>
      <p:sp>
        <p:nvSpPr>
          <p:cNvPr id="21" name="text"/>
          <p:cNvSpPr txBox="1"/>
          <p:nvPr/>
        </p:nvSpPr>
        <p:spPr>
          <a:xfrm>
            <a:off x="5166360" y="3904488"/>
            <a:ext cx="6217920" cy="502920"/>
          </a:xfrm>
          <a:prstGeom prst="rect">
            <a:avLst/>
          </a:prstGeom>
          <a:noFill/>
          <a:ln/>
        </p:spPr>
        <p:txBody>
          <a:bodyPr wrap="square" lIns="0" tIns="0" rIns="0" bIns="0" rtlCol="0" anchor="ctr"/>
          <a:lstStyle/>
          <a:p>
            <a:pPr algn="l" indent="0" marL="0">
              <a:buNone/>
            </a:pPr>
            <a:r>
              <a:rPr lang="en-US" sz="1400" b="1" dirty="0">
                <a:solidFill>
                  <a:srgbClr val="14213D"/>
                </a:solidFill>
              </a:rPr>
              <a:t>Example 2: clinician-suspicion proxies</a:t>
            </a:r>
            <a:endParaRPr lang="en-US" sz="1400" dirty="0"/>
          </a:p>
        </p:txBody>
      </p:sp>
      <p:sp>
        <p:nvSpPr>
          <p:cNvPr id="22" name="text"/>
          <p:cNvSpPr txBox="1"/>
          <p:nvPr/>
        </p:nvSpPr>
        <p:spPr>
          <a:xfrm>
            <a:off x="4480560" y="4572000"/>
            <a:ext cx="3429000" cy="274320"/>
          </a:xfrm>
          <a:prstGeom prst="rect">
            <a:avLst/>
          </a:prstGeom>
          <a:noFill/>
          <a:ln/>
        </p:spPr>
        <p:txBody>
          <a:bodyPr wrap="square" lIns="0" tIns="0" rIns="0" bIns="0" rtlCol="0" anchor="t"/>
          <a:lstStyle/>
          <a:p>
            <a:pPr algn="l" indent="0" marL="0">
              <a:buNone/>
            </a:pPr>
            <a:r>
              <a:rPr lang="en-US" sz="1100" b="1" dirty="0">
                <a:solidFill>
                  <a:srgbClr val="EB6834"/>
                </a:solidFill>
              </a:rPr>
              <a:t>What is usually done</a:t>
            </a:r>
            <a:endParaRPr lang="en-US" sz="1100" dirty="0"/>
          </a:p>
        </p:txBody>
      </p:sp>
      <p:sp>
        <p:nvSpPr>
          <p:cNvPr id="23" name="text"/>
          <p:cNvSpPr txBox="1"/>
          <p:nvPr/>
        </p:nvSpPr>
        <p:spPr>
          <a:xfrm>
            <a:off x="4480560" y="4846320"/>
            <a:ext cx="3429000" cy="1005840"/>
          </a:xfrm>
          <a:prstGeom prst="rect">
            <a:avLst/>
          </a:prstGeom>
          <a:noFill/>
          <a:ln/>
        </p:spPr>
        <p:txBody>
          <a:bodyPr wrap="square" lIns="0" tIns="0" rIns="0" bIns="0" rtlCol="0" anchor="t"/>
          <a:lstStyle/>
          <a:p>
            <a:pPr algn="l" indent="0" marL="0">
              <a:buNone/>
            </a:pPr>
            <a:r>
              <a:rPr lang="en-US" sz="1100" dirty="0">
                <a:solidFill>
                  <a:srgbClr val="5C677D"/>
                </a:solidFill>
              </a:rPr>
              <a:t>A stress-dose hydrocortisone order or a chest X-ray request often means the team already suspects sepsis. To an engineer these are two strong predictors.</a:t>
            </a:r>
            <a:endParaRPr lang="en-US" sz="1100" dirty="0"/>
          </a:p>
        </p:txBody>
      </p:sp>
      <p:sp>
        <p:nvSpPr>
          <p:cNvPr id="24" name="text"/>
          <p:cNvSpPr txBox="1"/>
          <p:nvPr/>
        </p:nvSpPr>
        <p:spPr>
          <a:xfrm>
            <a:off x="8092440" y="4572000"/>
            <a:ext cx="3520440" cy="274320"/>
          </a:xfrm>
          <a:prstGeom prst="rect">
            <a:avLst/>
          </a:prstGeom>
          <a:noFill/>
          <a:ln/>
        </p:spPr>
        <p:txBody>
          <a:bodyPr wrap="square" lIns="0" tIns="0" rIns="0" bIns="0" rtlCol="0" anchor="t"/>
          <a:lstStyle/>
          <a:p>
            <a:pPr algn="l" indent="0" marL="0">
              <a:buNone/>
            </a:pPr>
            <a:r>
              <a:rPr lang="en-US" sz="1100" b="1" dirty="0">
                <a:solidFill>
                  <a:srgbClr val="2A78D6"/>
                </a:solidFill>
              </a:rPr>
              <a:t>What we do instead</a:t>
            </a:r>
            <a:endParaRPr lang="en-US" sz="1100" dirty="0"/>
          </a:p>
        </p:txBody>
      </p:sp>
      <p:sp>
        <p:nvSpPr>
          <p:cNvPr id="25" name="text"/>
          <p:cNvSpPr txBox="1"/>
          <p:nvPr/>
        </p:nvSpPr>
        <p:spPr>
          <a:xfrm>
            <a:off x="8092440" y="4846320"/>
            <a:ext cx="3520440" cy="1005840"/>
          </a:xfrm>
          <a:prstGeom prst="rect">
            <a:avLst/>
          </a:prstGeom>
          <a:noFill/>
          <a:ln/>
        </p:spPr>
        <p:txBody>
          <a:bodyPr wrap="square" lIns="0" tIns="0" rIns="0" bIns="0" rtlCol="0" anchor="t"/>
          <a:lstStyle/>
          <a:p>
            <a:pPr algn="l" indent="0" marL="0">
              <a:buNone/>
            </a:pPr>
            <a:r>
              <a:rPr lang="en-US" sz="1100" dirty="0">
                <a:solidFill>
                  <a:srgbClr val="14213D"/>
                </a:solidFill>
              </a:rPr>
              <a:t>To a clinician they are the answer leaking in through the back door. We keep them, label them as proxies, and report every result with and without them, so the reader can see how much of the signal is the patient and how much is the team.</a:t>
            </a:r>
            <a:endParaRPr lang="en-US" sz="1100" dirty="0"/>
          </a:p>
        </p:txBody>
      </p:sp>
      <p:sp>
        <p:nvSpPr>
          <p:cNvPr id="26" name="sources"/>
          <p:cNvSpPr txBox="1"/>
          <p:nvPr/>
        </p:nvSpPr>
        <p:spPr>
          <a:xfrm>
            <a:off x="548640" y="6144768"/>
            <a:ext cx="11094415" cy="274320"/>
          </a:xfrm>
          <a:prstGeom prst="rect">
            <a:avLst/>
          </a:prstGeom>
          <a:noFill/>
          <a:ln/>
        </p:spPr>
        <p:txBody>
          <a:bodyPr wrap="square" lIns="0" tIns="0" rIns="0" bIns="0" rtlCol="0" anchor="t"/>
          <a:lstStyle/>
          <a:p>
            <a:pPr algn="l" indent="0" marL="0">
              <a:buNone/>
            </a:pPr>
            <a:r>
              <a:rPr lang="en-US" sz="900" i="1" dirty="0">
                <a:solidFill>
                  <a:srgbClr val="5C677D"/>
                </a:solidFill>
              </a:rPr>
              <a:t>Prophylaxis rule from the ASHP / IDSA / SIS / SHEA surgical prophylaxis guidelines (2013) and the Surviving Sepsis Campaign (2021). The proxy sensitivity analysis is prespecified in the running comparison.</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Why this way: six choices that go against common practice</a:t>
            </a:r>
            <a:endParaRPr lang="en-US" sz="2600" dirty="0"/>
          </a:p>
        </p:txBody>
      </p:sp>
      <p:graphicFrame>
        <p:nvGraphicFramePr>
          <p:cNvPr id="7" name="choic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926080"/>
                <a:gridCol w="5120640"/>
                <a:gridCol w="304495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Common practice</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This project</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r>
              <a:tr h="658368">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Challenge-prepared tables: PhysioNet 2019, 40 variables, two hospitals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Raw MIMIC-IV 3.1 (one US academic centre, about 94,000 ICU stays) and eICU-CRD 2.0 (about 200 US hospitals, about 201,000 stays)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Different hospitals and charting systems make the transfer test real</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Each study defines sepsis its own way</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One Sepsis-3 definition applied identically to both databases (YAIB / ricu, Seymour suspicion window)</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Results are comparable across databases and with the benchmark literature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713232">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Values carried forward; hours after onset labelled positive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Strict causality: each value used only from the hour it was recorded, expires after 24 h, with "measured?" and "how old?" channels; hours after onset excluded</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 information from the future reaches the model</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8229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40 to 125 variables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655 clinician-defined predictors: vitals, labs, blood gases, SOFA / qSOFA / NEWS2, ventilation, vasopressor dose, fluids, urine output, devices, drug exposures, imaging orders, admission context, comorbidities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The whole clinical picture, defined by someone who has treated these patients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66928">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Antibiotics used as predictors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Antibiotics and cultures that define the label are excluded; prophylactic antibiotics are separated by a guideline rule and kept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Avoids predicting the label from itself</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658368">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AUROC on one split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Utility, sensitivity at 0.5 or fewer false alarms per patient-day, warning time, calibration; 20 % of patients sealed and opened once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Measures what would help patients, and cannot be tuned to the test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4" name="sources"/>
          <p:cNvSpPr txBox="1"/>
          <p:nvPr/>
        </p:nvSpPr>
        <p:spPr>
          <a:xfrm>
            <a:off x="548640" y="6144768"/>
            <a:ext cx="11094415" cy="274320"/>
          </a:xfrm>
          <a:prstGeom prst="rect">
            <a:avLst/>
          </a:prstGeom>
          <a:noFill/>
          <a:ln/>
        </p:spPr>
        <p:txBody>
          <a:bodyPr wrap="square" lIns="0" tIns="0" rIns="0" bIns="0" rtlCol="0" anchor="t"/>
          <a:lstStyle/>
          <a:p>
            <a:pPr algn="l" indent="0" marL="0">
              <a:buNone/>
            </a:pPr>
            <a:r>
              <a:rPr lang="en-US" sz="900" i="1" dirty="0">
                <a:solidFill>
                  <a:srgbClr val="5C677D"/>
                </a:solidFill>
              </a:rPr>
              <a:t>Key literature shaping these choices: Reyna 2020 (utility score); Seymour 2016 (suspicion window); van de Water 2024 (YAIB benchmark); Moor et al., eClinicalMedicine 2023 (training across sites improves transfer).</a:t>
            </a:r>
            <a:endParaRPr lang="en-US" sz="9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A mixed-methods design: the model, the clinicians who would use it, then hospital patients</a:t>
            </a:r>
            <a:endParaRPr lang="en-US" sz="2600" dirty="0"/>
          </a:p>
        </p:txBody>
      </p:sp>
      <p:sp>
        <p:nvSpPr>
          <p:cNvPr id="3" name="phase card"/>
          <p:cNvSpPr/>
          <p:nvPr/>
        </p:nvSpPr>
        <p:spPr>
          <a:xfrm>
            <a:off x="548640" y="1417320"/>
            <a:ext cx="3566160" cy="3429000"/>
          </a:xfrm>
          <a:prstGeom prst="roundRect">
            <a:avLst>
              <a:gd name="adj" fmla="val 2133"/>
            </a:avLst>
          </a:prstGeom>
          <a:solidFill>
            <a:srgbClr val="FFFFFF"/>
          </a:solidFill>
          <a:ln w="9525">
            <a:solidFill>
              <a:srgbClr val="D5DCE4"/>
            </a:solidFill>
            <a:prstDash val="solid"/>
          </a:ln>
        </p:spPr>
      </p:sp>
      <p:sp>
        <p:nvSpPr>
          <p:cNvPr id="4" name="phase header"/>
          <p:cNvSpPr/>
          <p:nvPr/>
        </p:nvSpPr>
        <p:spPr>
          <a:xfrm>
            <a:off x="548640" y="1417320"/>
            <a:ext cx="3566160" cy="685800"/>
          </a:xfrm>
          <a:prstGeom prst="roundRect">
            <a:avLst>
              <a:gd name="adj" fmla="val 10667"/>
            </a:avLst>
          </a:prstGeom>
          <a:solidFill>
            <a:srgbClr val="0E7C86"/>
          </a:solidFill>
          <a:ln w="12700">
            <a:solidFill>
              <a:srgbClr val="0E7C86"/>
            </a:solidFill>
            <a:prstDash val="solid"/>
          </a:ln>
        </p:spPr>
      </p:sp>
      <p:sp>
        <p:nvSpPr>
          <p:cNvPr id="5" name="icon circle"/>
          <p:cNvSpPr/>
          <p:nvPr/>
        </p:nvSpPr>
        <p:spPr>
          <a:xfrm>
            <a:off x="685800" y="1490472"/>
            <a:ext cx="530352" cy="530352"/>
          </a:xfrm>
          <a:prstGeom prst="ellipse">
            <a:avLst/>
          </a:prstGeom>
          <a:solidFill>
            <a:srgbClr val="14213D"/>
          </a:solidFill>
          <a:ln w="12700">
            <a:solidFill>
              <a:srgbClr val="14213D"/>
            </a:solidFill>
            <a:prstDash val="solid"/>
          </a:ln>
        </p:spPr>
      </p:sp>
      <p:pic>
        <p:nvPicPr>
          <p:cNvPr id="6" name="icon" descr="preencoded.png">    </p:cNvPr>
          <p:cNvPicPr>
            <a:picLocks noChangeAspect="1"/>
          </p:cNvPicPr>
          <p:nvPr/>
        </p:nvPicPr>
        <p:blipFill>
          <a:blip r:embed="rId1"/>
          <a:stretch>
            <a:fillRect/>
          </a:stretch>
        </p:blipFill>
        <p:spPr>
          <a:xfrm>
            <a:off x="813084" y="1617756"/>
            <a:ext cx="275783" cy="275783"/>
          </a:xfrm>
          <a:prstGeom prst="rect">
            <a:avLst/>
          </a:prstGeom>
        </p:spPr>
      </p:pic>
      <p:sp>
        <p:nvSpPr>
          <p:cNvPr id="7" name="text"/>
          <p:cNvSpPr txBox="1"/>
          <p:nvPr/>
        </p:nvSpPr>
        <p:spPr>
          <a:xfrm>
            <a:off x="1325880" y="1417320"/>
            <a:ext cx="2743200" cy="685800"/>
          </a:xfrm>
          <a:prstGeom prst="rect">
            <a:avLst/>
          </a:prstGeom>
          <a:noFill/>
          <a:ln/>
        </p:spPr>
        <p:txBody>
          <a:bodyPr wrap="square" lIns="0" tIns="0" rIns="0" bIns="0" rtlCol="0" anchor="ctr"/>
          <a:lstStyle/>
          <a:p>
            <a:pPr algn="l" indent="0" marL="0">
              <a:buNone/>
            </a:pPr>
            <a:r>
              <a:rPr lang="en-US" sz="1300" b="1" dirty="0">
                <a:solidFill>
                  <a:srgbClr val="FFFFFF"/>
                </a:solidFill>
              </a:rPr>
              <a:t>Phase 1  |  Quantitative (now)</a:t>
            </a:r>
            <a:endParaRPr lang="en-US" sz="1300" dirty="0"/>
          </a:p>
        </p:txBody>
      </p:sp>
      <p:sp>
        <p:nvSpPr>
          <p:cNvPr id="8" name="text"/>
          <p:cNvSpPr txBox="1"/>
          <p:nvPr/>
        </p:nvSpPr>
        <p:spPr>
          <a:xfrm>
            <a:off x="731520" y="2240280"/>
            <a:ext cx="3200400" cy="1783080"/>
          </a:xfrm>
          <a:prstGeom prst="rect">
            <a:avLst/>
          </a:prstGeom>
          <a:noFill/>
          <a:ln/>
        </p:spPr>
        <p:txBody>
          <a:bodyPr wrap="square" lIns="0" tIns="0" rIns="0" bIns="0" rtlCol="0" anchor="t"/>
          <a:lstStyle/>
          <a:p>
            <a:pPr algn="l" indent="0" marL="0">
              <a:buNone/>
            </a:pPr>
            <a:r>
              <a:rPr lang="en-US" sz="1150" dirty="0">
                <a:solidFill>
                  <a:srgbClr val="14213D"/>
                </a:solidFill>
              </a:rPr>
              <a:t>Causal modelling on MIMIC-IV and eICU: one label definition, 655 predictors, transfer between databases, utility and false-alarm burden, a sealed holdout opened once.</a:t>
            </a:r>
            <a:endParaRPr lang="en-US" sz="1150" dirty="0"/>
          </a:p>
        </p:txBody>
      </p:sp>
      <p:sp>
        <p:nvSpPr>
          <p:cNvPr id="9" name="text"/>
          <p:cNvSpPr txBox="1"/>
          <p:nvPr/>
        </p:nvSpPr>
        <p:spPr>
          <a:xfrm>
            <a:off x="731520" y="4069080"/>
            <a:ext cx="3200400" cy="685800"/>
          </a:xfrm>
          <a:prstGeom prst="rect">
            <a:avLst/>
          </a:prstGeom>
          <a:noFill/>
          <a:ln/>
        </p:spPr>
        <p:txBody>
          <a:bodyPr wrap="square" lIns="0" tIns="0" rIns="0" bIns="0" rtlCol="0" anchor="t"/>
          <a:lstStyle/>
          <a:p>
            <a:pPr algn="l" indent="0" marL="0">
              <a:buNone/>
            </a:pPr>
            <a:r>
              <a:rPr lang="en-US" sz="1150" b="1" dirty="0">
                <a:solidFill>
                  <a:srgbClr val="0E7C86"/>
                </a:solidFill>
              </a:rPr>
              <a:t>Output: a warning with measured utility and its alarm policy.</a:t>
            </a:r>
            <a:endParaRPr lang="en-US" sz="1150" dirty="0"/>
          </a:p>
        </p:txBody>
      </p:sp>
      <p:sp>
        <p:nvSpPr>
          <p:cNvPr id="10" name="arrow"/>
          <p:cNvSpPr/>
          <p:nvPr/>
        </p:nvSpPr>
        <p:spPr>
          <a:xfrm>
            <a:off x="4114800" y="3108960"/>
            <a:ext cx="182880" cy="914"/>
          </a:xfrm>
          <a:prstGeom prst="line">
            <a:avLst/>
          </a:prstGeom>
          <a:noFill/>
          <a:ln w="25400">
            <a:solidFill>
              <a:srgbClr val="5C677D"/>
            </a:solidFill>
            <a:prstDash val="solid"/>
            <a:tailEnd type="triangle"/>
          </a:ln>
        </p:spPr>
      </p:sp>
      <p:sp>
        <p:nvSpPr>
          <p:cNvPr id="11" name="phase card"/>
          <p:cNvSpPr/>
          <p:nvPr/>
        </p:nvSpPr>
        <p:spPr>
          <a:xfrm>
            <a:off x="4297680" y="1417320"/>
            <a:ext cx="3566160" cy="3429000"/>
          </a:xfrm>
          <a:prstGeom prst="roundRect">
            <a:avLst>
              <a:gd name="adj" fmla="val 2133"/>
            </a:avLst>
          </a:prstGeom>
          <a:solidFill>
            <a:srgbClr val="FFFFFF"/>
          </a:solidFill>
          <a:ln w="9525">
            <a:solidFill>
              <a:srgbClr val="D5DCE4"/>
            </a:solidFill>
            <a:prstDash val="solid"/>
          </a:ln>
        </p:spPr>
      </p:sp>
      <p:sp>
        <p:nvSpPr>
          <p:cNvPr id="12" name="phase header"/>
          <p:cNvSpPr/>
          <p:nvPr/>
        </p:nvSpPr>
        <p:spPr>
          <a:xfrm>
            <a:off x="4297680" y="1417320"/>
            <a:ext cx="3566160" cy="685800"/>
          </a:xfrm>
          <a:prstGeom prst="roundRect">
            <a:avLst>
              <a:gd name="adj" fmla="val 10667"/>
            </a:avLst>
          </a:prstGeom>
          <a:solidFill>
            <a:srgbClr val="2A78D6"/>
          </a:solidFill>
          <a:ln w="12700">
            <a:solidFill>
              <a:srgbClr val="2A78D6"/>
            </a:solidFill>
            <a:prstDash val="solid"/>
          </a:ln>
        </p:spPr>
      </p:sp>
      <p:sp>
        <p:nvSpPr>
          <p:cNvPr id="13" name="icon circle"/>
          <p:cNvSpPr/>
          <p:nvPr/>
        </p:nvSpPr>
        <p:spPr>
          <a:xfrm>
            <a:off x="4434840" y="1490472"/>
            <a:ext cx="530352" cy="530352"/>
          </a:xfrm>
          <a:prstGeom prst="ellipse">
            <a:avLst/>
          </a:prstGeom>
          <a:solidFill>
            <a:srgbClr val="14213D"/>
          </a:solidFill>
          <a:ln w="12700">
            <a:solidFill>
              <a:srgbClr val="14213D"/>
            </a:solidFill>
            <a:prstDash val="solid"/>
          </a:ln>
        </p:spPr>
      </p:sp>
      <p:pic>
        <p:nvPicPr>
          <p:cNvPr id="14" name="icon" descr="preencoded.png">    </p:cNvPr>
          <p:cNvPicPr>
            <a:picLocks noChangeAspect="1"/>
          </p:cNvPicPr>
          <p:nvPr/>
        </p:nvPicPr>
        <p:blipFill>
          <a:blip r:embed="rId2"/>
          <a:stretch>
            <a:fillRect/>
          </a:stretch>
        </p:blipFill>
        <p:spPr>
          <a:xfrm>
            <a:off x="4562124" y="1617756"/>
            <a:ext cx="275783" cy="275783"/>
          </a:xfrm>
          <a:prstGeom prst="rect">
            <a:avLst/>
          </a:prstGeom>
        </p:spPr>
      </p:pic>
      <p:sp>
        <p:nvSpPr>
          <p:cNvPr id="15" name="text"/>
          <p:cNvSpPr txBox="1"/>
          <p:nvPr/>
        </p:nvSpPr>
        <p:spPr>
          <a:xfrm>
            <a:off x="5074920" y="1417320"/>
            <a:ext cx="2743200" cy="685800"/>
          </a:xfrm>
          <a:prstGeom prst="rect">
            <a:avLst/>
          </a:prstGeom>
          <a:noFill/>
          <a:ln/>
        </p:spPr>
        <p:txBody>
          <a:bodyPr wrap="square" lIns="0" tIns="0" rIns="0" bIns="0" rtlCol="0" anchor="ctr"/>
          <a:lstStyle/>
          <a:p>
            <a:pPr algn="l" indent="0" marL="0">
              <a:buNone/>
            </a:pPr>
            <a:r>
              <a:rPr lang="en-US" sz="1300" b="1" dirty="0">
                <a:solidFill>
                  <a:srgbClr val="FFFFFF"/>
                </a:solidFill>
              </a:rPr>
              <a:t>Phase 2  |  Qualitative (2027)</a:t>
            </a:r>
            <a:endParaRPr lang="en-US" sz="1300" dirty="0"/>
          </a:p>
        </p:txBody>
      </p:sp>
      <p:sp>
        <p:nvSpPr>
          <p:cNvPr id="16" name="text"/>
          <p:cNvSpPr txBox="1"/>
          <p:nvPr/>
        </p:nvSpPr>
        <p:spPr>
          <a:xfrm>
            <a:off x="4480560" y="2240280"/>
            <a:ext cx="3200400" cy="1783080"/>
          </a:xfrm>
          <a:prstGeom prst="rect">
            <a:avLst/>
          </a:prstGeom>
          <a:noFill/>
          <a:ln/>
        </p:spPr>
        <p:txBody>
          <a:bodyPr wrap="square" lIns="0" tIns="0" rIns="0" bIns="0" rtlCol="0" anchor="t"/>
          <a:lstStyle/>
          <a:p>
            <a:pPr algn="l" indent="0" marL="0">
              <a:buNone/>
            </a:pPr>
            <a:r>
              <a:rPr lang="en-US" sz="1150" dirty="0">
                <a:solidFill>
                  <a:srgbClr val="14213D"/>
                </a:solidFill>
              </a:rPr>
              <a:t>Interviews and a survey with ICU doctors, nurses and pharmacists: would they act on this alarm, what explanation do they need (overall risk or risk per organ), what false-alarm rate would they tolerate, what would make them trust or ignore it.</a:t>
            </a:r>
            <a:endParaRPr lang="en-US" sz="1150" dirty="0"/>
          </a:p>
        </p:txBody>
      </p:sp>
      <p:sp>
        <p:nvSpPr>
          <p:cNvPr id="17" name="text"/>
          <p:cNvSpPr txBox="1"/>
          <p:nvPr/>
        </p:nvSpPr>
        <p:spPr>
          <a:xfrm>
            <a:off x="4480560" y="4069080"/>
            <a:ext cx="3200400" cy="685800"/>
          </a:xfrm>
          <a:prstGeom prst="rect">
            <a:avLst/>
          </a:prstGeom>
          <a:noFill/>
          <a:ln/>
        </p:spPr>
        <p:txBody>
          <a:bodyPr wrap="square" lIns="0" tIns="0" rIns="0" bIns="0" rtlCol="0" anchor="t"/>
          <a:lstStyle/>
          <a:p>
            <a:pPr algn="l" indent="0" marL="0">
              <a:buNone/>
            </a:pPr>
            <a:r>
              <a:rPr lang="en-US" sz="1150" b="1" dirty="0">
                <a:solidFill>
                  <a:srgbClr val="2A78D6"/>
                </a:solidFill>
              </a:rPr>
              <a:t>Output: the alarm policy and the explanation the model must meet.</a:t>
            </a:r>
            <a:endParaRPr lang="en-US" sz="1150" dirty="0"/>
          </a:p>
        </p:txBody>
      </p:sp>
      <p:sp>
        <p:nvSpPr>
          <p:cNvPr id="18" name="arrow"/>
          <p:cNvSpPr/>
          <p:nvPr/>
        </p:nvSpPr>
        <p:spPr>
          <a:xfrm>
            <a:off x="7863840" y="3108960"/>
            <a:ext cx="182880" cy="914"/>
          </a:xfrm>
          <a:prstGeom prst="line">
            <a:avLst/>
          </a:prstGeom>
          <a:noFill/>
          <a:ln w="25400">
            <a:solidFill>
              <a:srgbClr val="5C677D"/>
            </a:solidFill>
            <a:prstDash val="solid"/>
            <a:tailEnd type="triangle"/>
          </a:ln>
        </p:spPr>
      </p:sp>
      <p:sp>
        <p:nvSpPr>
          <p:cNvPr id="19" name="phase card"/>
          <p:cNvSpPr/>
          <p:nvPr/>
        </p:nvSpPr>
        <p:spPr>
          <a:xfrm>
            <a:off x="8046720" y="1417320"/>
            <a:ext cx="3566160" cy="3429000"/>
          </a:xfrm>
          <a:prstGeom prst="roundRect">
            <a:avLst>
              <a:gd name="adj" fmla="val 2133"/>
            </a:avLst>
          </a:prstGeom>
          <a:solidFill>
            <a:srgbClr val="FFFFFF"/>
          </a:solidFill>
          <a:ln w="9525">
            <a:solidFill>
              <a:srgbClr val="D5DCE4"/>
            </a:solidFill>
            <a:prstDash val="solid"/>
          </a:ln>
        </p:spPr>
      </p:sp>
      <p:sp>
        <p:nvSpPr>
          <p:cNvPr id="20" name="phase header"/>
          <p:cNvSpPr/>
          <p:nvPr/>
        </p:nvSpPr>
        <p:spPr>
          <a:xfrm>
            <a:off x="8046720" y="1417320"/>
            <a:ext cx="3566160" cy="685800"/>
          </a:xfrm>
          <a:prstGeom prst="roundRect">
            <a:avLst>
              <a:gd name="adj" fmla="val 10667"/>
            </a:avLst>
          </a:prstGeom>
          <a:solidFill>
            <a:srgbClr val="EB6834"/>
          </a:solidFill>
          <a:ln w="12700">
            <a:solidFill>
              <a:srgbClr val="EB6834"/>
            </a:solidFill>
            <a:prstDash val="solid"/>
          </a:ln>
        </p:spPr>
      </p:sp>
      <p:sp>
        <p:nvSpPr>
          <p:cNvPr id="21" name="icon circle"/>
          <p:cNvSpPr/>
          <p:nvPr/>
        </p:nvSpPr>
        <p:spPr>
          <a:xfrm>
            <a:off x="8183880" y="1490472"/>
            <a:ext cx="530352" cy="530352"/>
          </a:xfrm>
          <a:prstGeom prst="ellipse">
            <a:avLst/>
          </a:prstGeom>
          <a:solidFill>
            <a:srgbClr val="14213D"/>
          </a:solidFill>
          <a:ln w="12700">
            <a:solidFill>
              <a:srgbClr val="14213D"/>
            </a:solidFill>
            <a:prstDash val="solid"/>
          </a:ln>
        </p:spPr>
      </p:sp>
      <p:pic>
        <p:nvPicPr>
          <p:cNvPr id="22" name="icon" descr="preencoded.png">    </p:cNvPr>
          <p:cNvPicPr>
            <a:picLocks noChangeAspect="1"/>
          </p:cNvPicPr>
          <p:nvPr/>
        </p:nvPicPr>
        <p:blipFill>
          <a:blip r:embed="rId3"/>
          <a:stretch>
            <a:fillRect/>
          </a:stretch>
        </p:blipFill>
        <p:spPr>
          <a:xfrm>
            <a:off x="8311164" y="1617756"/>
            <a:ext cx="275783" cy="275783"/>
          </a:xfrm>
          <a:prstGeom prst="rect">
            <a:avLst/>
          </a:prstGeom>
        </p:spPr>
      </p:pic>
      <p:sp>
        <p:nvSpPr>
          <p:cNvPr id="23" name="text"/>
          <p:cNvSpPr txBox="1"/>
          <p:nvPr/>
        </p:nvSpPr>
        <p:spPr>
          <a:xfrm>
            <a:off x="8823960" y="1417320"/>
            <a:ext cx="2743200" cy="685800"/>
          </a:xfrm>
          <a:prstGeom prst="rect">
            <a:avLst/>
          </a:prstGeom>
          <a:noFill/>
          <a:ln/>
        </p:spPr>
        <p:txBody>
          <a:bodyPr wrap="square" lIns="0" tIns="0" rIns="0" bIns="0" rtlCol="0" anchor="ctr"/>
          <a:lstStyle/>
          <a:p>
            <a:pPr algn="l" indent="0" marL="0">
              <a:buNone/>
            </a:pPr>
            <a:r>
              <a:rPr lang="en-US" sz="1300" b="1" dirty="0">
                <a:solidFill>
                  <a:srgbClr val="FFFFFF"/>
                </a:solidFill>
              </a:rPr>
              <a:t>Phase 3  |  Future direction</a:t>
            </a:r>
            <a:endParaRPr lang="en-US" sz="1300" dirty="0"/>
          </a:p>
        </p:txBody>
      </p:sp>
      <p:sp>
        <p:nvSpPr>
          <p:cNvPr id="24" name="text"/>
          <p:cNvSpPr txBox="1"/>
          <p:nvPr/>
        </p:nvSpPr>
        <p:spPr>
          <a:xfrm>
            <a:off x="8229600" y="2240280"/>
            <a:ext cx="3200400" cy="1783080"/>
          </a:xfrm>
          <a:prstGeom prst="rect">
            <a:avLst/>
          </a:prstGeom>
          <a:noFill/>
          <a:ln/>
        </p:spPr>
        <p:txBody>
          <a:bodyPr wrap="square" lIns="0" tIns="0" rIns="0" bIns="0" rtlCol="0" anchor="t"/>
          <a:lstStyle/>
          <a:p>
            <a:pPr algn="l" indent="0" marL="0">
              <a:buNone/>
            </a:pPr>
            <a:r>
              <a:rPr lang="en-US" sz="1150" dirty="0">
                <a:solidFill>
                  <a:srgbClr val="14213D"/>
                </a:solidFill>
              </a:rPr>
              <a:t>Test on hospital patients: the model runs silently on live ICU data, alarms are recorded but not shown, and compared with what happened. Then a clinician-facing pilot, with ethics approval and a data-governance agreement.</a:t>
            </a:r>
            <a:endParaRPr lang="en-US" sz="1150" dirty="0"/>
          </a:p>
        </p:txBody>
      </p:sp>
      <p:sp>
        <p:nvSpPr>
          <p:cNvPr id="25" name="text"/>
          <p:cNvSpPr txBox="1"/>
          <p:nvPr/>
        </p:nvSpPr>
        <p:spPr>
          <a:xfrm>
            <a:off x="8229600" y="4069080"/>
            <a:ext cx="3200400" cy="685800"/>
          </a:xfrm>
          <a:prstGeom prst="rect">
            <a:avLst/>
          </a:prstGeom>
          <a:noFill/>
          <a:ln/>
        </p:spPr>
        <p:txBody>
          <a:bodyPr wrap="square" lIns="0" tIns="0" rIns="0" bIns="0" rtlCol="0" anchor="t"/>
          <a:lstStyle/>
          <a:p>
            <a:pPr algn="l" indent="0" marL="0">
              <a:buNone/>
            </a:pPr>
            <a:r>
              <a:rPr lang="en-US" sz="1150" b="1" dirty="0">
                <a:solidFill>
                  <a:srgbClr val="EB6834"/>
                </a:solidFill>
              </a:rPr>
              <a:t>Output: evidence from real patients, in real time, in a hospital the model never trained on.</a:t>
            </a:r>
            <a:endParaRPr lang="en-US" sz="1150" dirty="0"/>
          </a:p>
        </p:txBody>
      </p:sp>
      <p:sp>
        <p:nvSpPr>
          <p:cNvPr id="26" name="why mixed"/>
          <p:cNvSpPr/>
          <p:nvPr/>
        </p:nvSpPr>
        <p:spPr>
          <a:xfrm>
            <a:off x="548640" y="5074920"/>
            <a:ext cx="11094415" cy="777240"/>
          </a:xfrm>
          <a:prstGeom prst="roundRect">
            <a:avLst>
              <a:gd name="adj" fmla="val 9412"/>
            </a:avLst>
          </a:prstGeom>
          <a:solidFill>
            <a:srgbClr val="EEF3F7"/>
          </a:solidFill>
          <a:ln w="9525">
            <a:solidFill>
              <a:srgbClr val="EEF3F7"/>
            </a:solidFill>
            <a:prstDash val="solid"/>
          </a:ln>
        </p:spPr>
      </p:sp>
      <p:sp>
        <p:nvSpPr>
          <p:cNvPr id="27" name="text"/>
          <p:cNvSpPr txBox="1"/>
          <p:nvPr/>
        </p:nvSpPr>
        <p:spPr>
          <a:xfrm>
            <a:off x="731520" y="5074920"/>
            <a:ext cx="10728655" cy="777240"/>
          </a:xfrm>
          <a:prstGeom prst="rect">
            <a:avLst/>
          </a:prstGeom>
          <a:noFill/>
          <a:ln/>
        </p:spPr>
        <p:txBody>
          <a:bodyPr wrap="square" lIns="0" tIns="0" rIns="0" bIns="0" rtlCol="0" anchor="ctr"/>
          <a:lstStyle/>
          <a:p>
            <a:pPr algn="l" indent="0" marL="0">
              <a:buNone/>
            </a:pPr>
            <a:r>
              <a:rPr lang="en-US" sz="1250" dirty="0">
                <a:solidFill>
                  <a:srgbClr val="14213D"/>
                </a:solidFill>
              </a:rPr>
              <a:t>Why mixed: an alarm nobody trusts saves nobody. The clinicians' answers set the false-alarm budget and the explanation that the quantitative model has to meet before it reaches a patient. The pharmacist on the team can run that conversation in the ward's own language.</a:t>
            </a:r>
            <a:endParaRPr lang="en-US" sz="12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Organ-structured attention is a hypothesis we test, not an assumption</a:t>
            </a:r>
            <a:endParaRPr lang="en-US" sz="2600" dirty="0"/>
          </a:p>
        </p:txBody>
      </p:sp>
      <p:sp>
        <p:nvSpPr>
          <p:cNvPr id="3" name="text"/>
          <p:cNvSpPr txBox="1"/>
          <p:nvPr/>
        </p:nvSpPr>
        <p:spPr>
          <a:xfrm>
            <a:off x="548640" y="1371600"/>
            <a:ext cx="5760720" cy="320040"/>
          </a:xfrm>
          <a:prstGeom prst="rect">
            <a:avLst/>
          </a:prstGeom>
          <a:noFill/>
          <a:ln/>
        </p:spPr>
        <p:txBody>
          <a:bodyPr wrap="square" lIns="0" tIns="0" rIns="0" bIns="0" rtlCol="0" anchor="t"/>
          <a:lstStyle/>
          <a:p>
            <a:pPr algn="l" indent="0" marL="0">
              <a:buNone/>
            </a:pPr>
            <a:r>
              <a:rPr lang="en-US" sz="1350" b="1" dirty="0">
                <a:solidFill>
                  <a:srgbClr val="0E7C86"/>
                </a:solidFill>
              </a:rPr>
              <a:t>OSTA: organ-system-aware temporal attention (my architecture)</a:t>
            </a:r>
            <a:endParaRPr lang="en-US" sz="1350" dirty="0"/>
          </a:p>
        </p:txBody>
      </p:sp>
      <p:sp>
        <p:nvSpPr>
          <p:cNvPr id="4" name="organ box"/>
          <p:cNvSpPr/>
          <p:nvPr/>
        </p:nvSpPr>
        <p:spPr>
          <a:xfrm>
            <a:off x="548640" y="1783080"/>
            <a:ext cx="1920240" cy="384048"/>
          </a:xfrm>
          <a:prstGeom prst="roundRect">
            <a:avLst>
              <a:gd name="adj" fmla="val 14286"/>
            </a:avLst>
          </a:prstGeom>
          <a:solidFill>
            <a:srgbClr val="EEF3F7"/>
          </a:solidFill>
          <a:ln w="9525">
            <a:solidFill>
              <a:srgbClr val="D5DCE4"/>
            </a:solidFill>
            <a:prstDash val="solid"/>
          </a:ln>
        </p:spPr>
      </p:sp>
      <p:sp>
        <p:nvSpPr>
          <p:cNvPr id="5" name="text"/>
          <p:cNvSpPr txBox="1"/>
          <p:nvPr/>
        </p:nvSpPr>
        <p:spPr>
          <a:xfrm>
            <a:off x="640080" y="1783080"/>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Respiratory</a:t>
            </a:r>
            <a:endParaRPr lang="en-US" sz="1100" dirty="0"/>
          </a:p>
        </p:txBody>
      </p:sp>
      <p:sp>
        <p:nvSpPr>
          <p:cNvPr id="6" name="arrow"/>
          <p:cNvSpPr/>
          <p:nvPr/>
        </p:nvSpPr>
        <p:spPr>
          <a:xfrm>
            <a:off x="2468880" y="1975104"/>
            <a:ext cx="320040" cy="914"/>
          </a:xfrm>
          <a:prstGeom prst="line">
            <a:avLst/>
          </a:prstGeom>
          <a:noFill/>
          <a:ln w="12700">
            <a:solidFill>
              <a:srgbClr val="5C677D"/>
            </a:solidFill>
            <a:prstDash val="solid"/>
            <a:tailEnd type="triangle"/>
          </a:ln>
        </p:spPr>
      </p:sp>
      <p:sp>
        <p:nvSpPr>
          <p:cNvPr id="7" name="organ attention"/>
          <p:cNvSpPr/>
          <p:nvPr/>
        </p:nvSpPr>
        <p:spPr>
          <a:xfrm>
            <a:off x="2788920" y="1783080"/>
            <a:ext cx="1234440" cy="384048"/>
          </a:xfrm>
          <a:prstGeom prst="roundRect">
            <a:avLst>
              <a:gd name="adj" fmla="val 14286"/>
            </a:avLst>
          </a:prstGeom>
          <a:solidFill>
            <a:srgbClr val="D6EEF0"/>
          </a:solidFill>
          <a:ln w="9525">
            <a:solidFill>
              <a:srgbClr val="0E7C86"/>
            </a:solidFill>
            <a:prstDash val="solid"/>
          </a:ln>
        </p:spPr>
      </p:sp>
      <p:sp>
        <p:nvSpPr>
          <p:cNvPr id="8" name="text"/>
          <p:cNvSpPr txBox="1"/>
          <p:nvPr/>
        </p:nvSpPr>
        <p:spPr>
          <a:xfrm>
            <a:off x="2834640" y="1783080"/>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9" name="organ box"/>
          <p:cNvSpPr/>
          <p:nvPr/>
        </p:nvSpPr>
        <p:spPr>
          <a:xfrm>
            <a:off x="548640" y="2258568"/>
            <a:ext cx="1920240" cy="384048"/>
          </a:xfrm>
          <a:prstGeom prst="roundRect">
            <a:avLst>
              <a:gd name="adj" fmla="val 14286"/>
            </a:avLst>
          </a:prstGeom>
          <a:solidFill>
            <a:srgbClr val="EEF3F7"/>
          </a:solidFill>
          <a:ln w="9525">
            <a:solidFill>
              <a:srgbClr val="D5DCE4"/>
            </a:solidFill>
            <a:prstDash val="solid"/>
          </a:ln>
        </p:spPr>
      </p:sp>
      <p:sp>
        <p:nvSpPr>
          <p:cNvPr id="10" name="text"/>
          <p:cNvSpPr txBox="1"/>
          <p:nvPr/>
        </p:nvSpPr>
        <p:spPr>
          <a:xfrm>
            <a:off x="640080" y="2258568"/>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Cardiovascular</a:t>
            </a:r>
            <a:endParaRPr lang="en-US" sz="1100" dirty="0"/>
          </a:p>
        </p:txBody>
      </p:sp>
      <p:sp>
        <p:nvSpPr>
          <p:cNvPr id="11" name="arrow"/>
          <p:cNvSpPr/>
          <p:nvPr/>
        </p:nvSpPr>
        <p:spPr>
          <a:xfrm>
            <a:off x="2468880" y="2450592"/>
            <a:ext cx="320040" cy="914"/>
          </a:xfrm>
          <a:prstGeom prst="line">
            <a:avLst/>
          </a:prstGeom>
          <a:noFill/>
          <a:ln w="12700">
            <a:solidFill>
              <a:srgbClr val="5C677D"/>
            </a:solidFill>
            <a:prstDash val="solid"/>
            <a:tailEnd type="triangle"/>
          </a:ln>
        </p:spPr>
      </p:sp>
      <p:sp>
        <p:nvSpPr>
          <p:cNvPr id="12" name="organ attention"/>
          <p:cNvSpPr/>
          <p:nvPr/>
        </p:nvSpPr>
        <p:spPr>
          <a:xfrm>
            <a:off x="2788920" y="2258568"/>
            <a:ext cx="1234440" cy="384048"/>
          </a:xfrm>
          <a:prstGeom prst="roundRect">
            <a:avLst>
              <a:gd name="adj" fmla="val 14286"/>
            </a:avLst>
          </a:prstGeom>
          <a:solidFill>
            <a:srgbClr val="D6EEF0"/>
          </a:solidFill>
          <a:ln w="9525">
            <a:solidFill>
              <a:srgbClr val="0E7C86"/>
            </a:solidFill>
            <a:prstDash val="solid"/>
          </a:ln>
        </p:spPr>
      </p:sp>
      <p:sp>
        <p:nvSpPr>
          <p:cNvPr id="13" name="text"/>
          <p:cNvSpPr txBox="1"/>
          <p:nvPr/>
        </p:nvSpPr>
        <p:spPr>
          <a:xfrm>
            <a:off x="2834640" y="2258568"/>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14" name="organ box"/>
          <p:cNvSpPr/>
          <p:nvPr/>
        </p:nvSpPr>
        <p:spPr>
          <a:xfrm>
            <a:off x="548640" y="2734056"/>
            <a:ext cx="1920240" cy="384048"/>
          </a:xfrm>
          <a:prstGeom prst="roundRect">
            <a:avLst>
              <a:gd name="adj" fmla="val 14286"/>
            </a:avLst>
          </a:prstGeom>
          <a:solidFill>
            <a:srgbClr val="EEF3F7"/>
          </a:solidFill>
          <a:ln w="9525">
            <a:solidFill>
              <a:srgbClr val="D5DCE4"/>
            </a:solidFill>
            <a:prstDash val="solid"/>
          </a:ln>
        </p:spPr>
      </p:sp>
      <p:sp>
        <p:nvSpPr>
          <p:cNvPr id="15" name="text"/>
          <p:cNvSpPr txBox="1"/>
          <p:nvPr/>
        </p:nvSpPr>
        <p:spPr>
          <a:xfrm>
            <a:off x="640080" y="2734056"/>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Renal</a:t>
            </a:r>
            <a:endParaRPr lang="en-US" sz="1100" dirty="0"/>
          </a:p>
        </p:txBody>
      </p:sp>
      <p:sp>
        <p:nvSpPr>
          <p:cNvPr id="16" name="arrow"/>
          <p:cNvSpPr/>
          <p:nvPr/>
        </p:nvSpPr>
        <p:spPr>
          <a:xfrm>
            <a:off x="2468880" y="2926080"/>
            <a:ext cx="320040" cy="914"/>
          </a:xfrm>
          <a:prstGeom prst="line">
            <a:avLst/>
          </a:prstGeom>
          <a:noFill/>
          <a:ln w="12700">
            <a:solidFill>
              <a:srgbClr val="5C677D"/>
            </a:solidFill>
            <a:prstDash val="solid"/>
            <a:tailEnd type="triangle"/>
          </a:ln>
        </p:spPr>
      </p:sp>
      <p:sp>
        <p:nvSpPr>
          <p:cNvPr id="17" name="organ attention"/>
          <p:cNvSpPr/>
          <p:nvPr/>
        </p:nvSpPr>
        <p:spPr>
          <a:xfrm>
            <a:off x="2788920" y="2734056"/>
            <a:ext cx="1234440" cy="384048"/>
          </a:xfrm>
          <a:prstGeom prst="roundRect">
            <a:avLst>
              <a:gd name="adj" fmla="val 14286"/>
            </a:avLst>
          </a:prstGeom>
          <a:solidFill>
            <a:srgbClr val="D6EEF0"/>
          </a:solidFill>
          <a:ln w="9525">
            <a:solidFill>
              <a:srgbClr val="0E7C86"/>
            </a:solidFill>
            <a:prstDash val="solid"/>
          </a:ln>
        </p:spPr>
      </p:sp>
      <p:sp>
        <p:nvSpPr>
          <p:cNvPr id="18" name="text"/>
          <p:cNvSpPr txBox="1"/>
          <p:nvPr/>
        </p:nvSpPr>
        <p:spPr>
          <a:xfrm>
            <a:off x="2834640" y="2734056"/>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19" name="organ box"/>
          <p:cNvSpPr/>
          <p:nvPr/>
        </p:nvSpPr>
        <p:spPr>
          <a:xfrm>
            <a:off x="548640" y="3209544"/>
            <a:ext cx="1920240" cy="384048"/>
          </a:xfrm>
          <a:prstGeom prst="roundRect">
            <a:avLst>
              <a:gd name="adj" fmla="val 14286"/>
            </a:avLst>
          </a:prstGeom>
          <a:solidFill>
            <a:srgbClr val="EEF3F7"/>
          </a:solidFill>
          <a:ln w="9525">
            <a:solidFill>
              <a:srgbClr val="D5DCE4"/>
            </a:solidFill>
            <a:prstDash val="solid"/>
          </a:ln>
        </p:spPr>
      </p:sp>
      <p:sp>
        <p:nvSpPr>
          <p:cNvPr id="20" name="text"/>
          <p:cNvSpPr txBox="1"/>
          <p:nvPr/>
        </p:nvSpPr>
        <p:spPr>
          <a:xfrm>
            <a:off x="640080" y="3209544"/>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Hepatic</a:t>
            </a:r>
            <a:endParaRPr lang="en-US" sz="1100" dirty="0"/>
          </a:p>
        </p:txBody>
      </p:sp>
      <p:sp>
        <p:nvSpPr>
          <p:cNvPr id="21" name="arrow"/>
          <p:cNvSpPr/>
          <p:nvPr/>
        </p:nvSpPr>
        <p:spPr>
          <a:xfrm>
            <a:off x="2468880" y="3401568"/>
            <a:ext cx="320040" cy="914"/>
          </a:xfrm>
          <a:prstGeom prst="line">
            <a:avLst/>
          </a:prstGeom>
          <a:noFill/>
          <a:ln w="12700">
            <a:solidFill>
              <a:srgbClr val="5C677D"/>
            </a:solidFill>
            <a:prstDash val="solid"/>
            <a:tailEnd type="triangle"/>
          </a:ln>
        </p:spPr>
      </p:sp>
      <p:sp>
        <p:nvSpPr>
          <p:cNvPr id="22" name="organ attention"/>
          <p:cNvSpPr/>
          <p:nvPr/>
        </p:nvSpPr>
        <p:spPr>
          <a:xfrm>
            <a:off x="2788920" y="3209544"/>
            <a:ext cx="1234440" cy="384048"/>
          </a:xfrm>
          <a:prstGeom prst="roundRect">
            <a:avLst>
              <a:gd name="adj" fmla="val 14286"/>
            </a:avLst>
          </a:prstGeom>
          <a:solidFill>
            <a:srgbClr val="D6EEF0"/>
          </a:solidFill>
          <a:ln w="9525">
            <a:solidFill>
              <a:srgbClr val="0E7C86"/>
            </a:solidFill>
            <a:prstDash val="solid"/>
          </a:ln>
        </p:spPr>
      </p:sp>
      <p:sp>
        <p:nvSpPr>
          <p:cNvPr id="23" name="text"/>
          <p:cNvSpPr txBox="1"/>
          <p:nvPr/>
        </p:nvSpPr>
        <p:spPr>
          <a:xfrm>
            <a:off x="2834640" y="3209544"/>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24" name="organ box"/>
          <p:cNvSpPr/>
          <p:nvPr/>
        </p:nvSpPr>
        <p:spPr>
          <a:xfrm>
            <a:off x="548640" y="3685032"/>
            <a:ext cx="1920240" cy="384048"/>
          </a:xfrm>
          <a:prstGeom prst="roundRect">
            <a:avLst>
              <a:gd name="adj" fmla="val 14286"/>
            </a:avLst>
          </a:prstGeom>
          <a:solidFill>
            <a:srgbClr val="EEF3F7"/>
          </a:solidFill>
          <a:ln w="9525">
            <a:solidFill>
              <a:srgbClr val="D5DCE4"/>
            </a:solidFill>
            <a:prstDash val="solid"/>
          </a:ln>
        </p:spPr>
      </p:sp>
      <p:sp>
        <p:nvSpPr>
          <p:cNvPr id="25" name="text"/>
          <p:cNvSpPr txBox="1"/>
          <p:nvPr/>
        </p:nvSpPr>
        <p:spPr>
          <a:xfrm>
            <a:off x="640080" y="3685032"/>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Coagulation</a:t>
            </a:r>
            <a:endParaRPr lang="en-US" sz="1100" dirty="0"/>
          </a:p>
        </p:txBody>
      </p:sp>
      <p:sp>
        <p:nvSpPr>
          <p:cNvPr id="26" name="arrow"/>
          <p:cNvSpPr/>
          <p:nvPr/>
        </p:nvSpPr>
        <p:spPr>
          <a:xfrm>
            <a:off x="2468880" y="3877056"/>
            <a:ext cx="320040" cy="914"/>
          </a:xfrm>
          <a:prstGeom prst="line">
            <a:avLst/>
          </a:prstGeom>
          <a:noFill/>
          <a:ln w="12700">
            <a:solidFill>
              <a:srgbClr val="5C677D"/>
            </a:solidFill>
            <a:prstDash val="solid"/>
            <a:tailEnd type="triangle"/>
          </a:ln>
        </p:spPr>
      </p:sp>
      <p:sp>
        <p:nvSpPr>
          <p:cNvPr id="27" name="organ attention"/>
          <p:cNvSpPr/>
          <p:nvPr/>
        </p:nvSpPr>
        <p:spPr>
          <a:xfrm>
            <a:off x="2788920" y="3685032"/>
            <a:ext cx="1234440" cy="384048"/>
          </a:xfrm>
          <a:prstGeom prst="roundRect">
            <a:avLst>
              <a:gd name="adj" fmla="val 14286"/>
            </a:avLst>
          </a:prstGeom>
          <a:solidFill>
            <a:srgbClr val="D6EEF0"/>
          </a:solidFill>
          <a:ln w="9525">
            <a:solidFill>
              <a:srgbClr val="0E7C86"/>
            </a:solidFill>
            <a:prstDash val="solid"/>
          </a:ln>
        </p:spPr>
      </p:sp>
      <p:sp>
        <p:nvSpPr>
          <p:cNvPr id="28" name="text"/>
          <p:cNvSpPr txBox="1"/>
          <p:nvPr/>
        </p:nvSpPr>
        <p:spPr>
          <a:xfrm>
            <a:off x="2834640" y="3685032"/>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29" name="organ box"/>
          <p:cNvSpPr/>
          <p:nvPr/>
        </p:nvSpPr>
        <p:spPr>
          <a:xfrm>
            <a:off x="548640" y="4160520"/>
            <a:ext cx="1920240" cy="384048"/>
          </a:xfrm>
          <a:prstGeom prst="roundRect">
            <a:avLst>
              <a:gd name="adj" fmla="val 14286"/>
            </a:avLst>
          </a:prstGeom>
          <a:solidFill>
            <a:srgbClr val="EEF3F7"/>
          </a:solidFill>
          <a:ln w="9525">
            <a:solidFill>
              <a:srgbClr val="D5DCE4"/>
            </a:solidFill>
            <a:prstDash val="solid"/>
          </a:ln>
        </p:spPr>
      </p:sp>
      <p:sp>
        <p:nvSpPr>
          <p:cNvPr id="30" name="text"/>
          <p:cNvSpPr txBox="1"/>
          <p:nvPr/>
        </p:nvSpPr>
        <p:spPr>
          <a:xfrm>
            <a:off x="640080" y="4160520"/>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Neurological</a:t>
            </a:r>
            <a:endParaRPr lang="en-US" sz="1100" dirty="0"/>
          </a:p>
        </p:txBody>
      </p:sp>
      <p:sp>
        <p:nvSpPr>
          <p:cNvPr id="31" name="arrow"/>
          <p:cNvSpPr/>
          <p:nvPr/>
        </p:nvSpPr>
        <p:spPr>
          <a:xfrm>
            <a:off x="2468880" y="4352544"/>
            <a:ext cx="320040" cy="914"/>
          </a:xfrm>
          <a:prstGeom prst="line">
            <a:avLst/>
          </a:prstGeom>
          <a:noFill/>
          <a:ln w="12700">
            <a:solidFill>
              <a:srgbClr val="5C677D"/>
            </a:solidFill>
            <a:prstDash val="solid"/>
            <a:tailEnd type="triangle"/>
          </a:ln>
        </p:spPr>
      </p:sp>
      <p:sp>
        <p:nvSpPr>
          <p:cNvPr id="32" name="organ attention"/>
          <p:cNvSpPr/>
          <p:nvPr/>
        </p:nvSpPr>
        <p:spPr>
          <a:xfrm>
            <a:off x="2788920" y="4160520"/>
            <a:ext cx="1234440" cy="384048"/>
          </a:xfrm>
          <a:prstGeom prst="roundRect">
            <a:avLst>
              <a:gd name="adj" fmla="val 14286"/>
            </a:avLst>
          </a:prstGeom>
          <a:solidFill>
            <a:srgbClr val="D6EEF0"/>
          </a:solidFill>
          <a:ln w="9525">
            <a:solidFill>
              <a:srgbClr val="0E7C86"/>
            </a:solidFill>
            <a:prstDash val="solid"/>
          </a:ln>
        </p:spPr>
      </p:sp>
      <p:sp>
        <p:nvSpPr>
          <p:cNvPr id="33" name="text"/>
          <p:cNvSpPr txBox="1"/>
          <p:nvPr/>
        </p:nvSpPr>
        <p:spPr>
          <a:xfrm>
            <a:off x="2834640" y="4160520"/>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34" name="organ box"/>
          <p:cNvSpPr/>
          <p:nvPr/>
        </p:nvSpPr>
        <p:spPr>
          <a:xfrm>
            <a:off x="548640" y="4636008"/>
            <a:ext cx="1920240" cy="384048"/>
          </a:xfrm>
          <a:prstGeom prst="roundRect">
            <a:avLst>
              <a:gd name="adj" fmla="val 14286"/>
            </a:avLst>
          </a:prstGeom>
          <a:solidFill>
            <a:srgbClr val="EEF3F7"/>
          </a:solidFill>
          <a:ln w="9525">
            <a:solidFill>
              <a:srgbClr val="D5DCE4"/>
            </a:solidFill>
            <a:prstDash val="solid"/>
          </a:ln>
        </p:spPr>
      </p:sp>
      <p:sp>
        <p:nvSpPr>
          <p:cNvPr id="35" name="text"/>
          <p:cNvSpPr txBox="1"/>
          <p:nvPr/>
        </p:nvSpPr>
        <p:spPr>
          <a:xfrm>
            <a:off x="640080" y="4636008"/>
            <a:ext cx="1783080" cy="384048"/>
          </a:xfrm>
          <a:prstGeom prst="rect">
            <a:avLst/>
          </a:prstGeom>
          <a:noFill/>
          <a:ln/>
        </p:spPr>
        <p:txBody>
          <a:bodyPr wrap="square" lIns="0" tIns="0" rIns="0" bIns="0" rtlCol="0" anchor="ctr"/>
          <a:lstStyle/>
          <a:p>
            <a:pPr algn="l" indent="0" marL="0">
              <a:buNone/>
            </a:pPr>
            <a:r>
              <a:rPr lang="en-US" sz="1100" dirty="0">
                <a:solidFill>
                  <a:srgbClr val="14213D"/>
                </a:solidFill>
              </a:rPr>
              <a:t>Infection, treatment, context</a:t>
            </a:r>
            <a:endParaRPr lang="en-US" sz="1100" dirty="0"/>
          </a:p>
        </p:txBody>
      </p:sp>
      <p:sp>
        <p:nvSpPr>
          <p:cNvPr id="36" name="arrow"/>
          <p:cNvSpPr/>
          <p:nvPr/>
        </p:nvSpPr>
        <p:spPr>
          <a:xfrm>
            <a:off x="2468880" y="4828032"/>
            <a:ext cx="320040" cy="914"/>
          </a:xfrm>
          <a:prstGeom prst="line">
            <a:avLst/>
          </a:prstGeom>
          <a:noFill/>
          <a:ln w="12700">
            <a:solidFill>
              <a:srgbClr val="5C677D"/>
            </a:solidFill>
            <a:prstDash val="solid"/>
            <a:tailEnd type="triangle"/>
          </a:ln>
        </p:spPr>
      </p:sp>
      <p:sp>
        <p:nvSpPr>
          <p:cNvPr id="37" name="organ attention"/>
          <p:cNvSpPr/>
          <p:nvPr/>
        </p:nvSpPr>
        <p:spPr>
          <a:xfrm>
            <a:off x="2788920" y="4636008"/>
            <a:ext cx="1234440" cy="384048"/>
          </a:xfrm>
          <a:prstGeom prst="roundRect">
            <a:avLst>
              <a:gd name="adj" fmla="val 14286"/>
            </a:avLst>
          </a:prstGeom>
          <a:solidFill>
            <a:srgbClr val="D6EEF0"/>
          </a:solidFill>
          <a:ln w="9525">
            <a:solidFill>
              <a:srgbClr val="0E7C86"/>
            </a:solidFill>
            <a:prstDash val="solid"/>
          </a:ln>
        </p:spPr>
      </p:sp>
      <p:sp>
        <p:nvSpPr>
          <p:cNvPr id="38" name="text"/>
          <p:cNvSpPr txBox="1"/>
          <p:nvPr/>
        </p:nvSpPr>
        <p:spPr>
          <a:xfrm>
            <a:off x="2834640" y="4636008"/>
            <a:ext cx="1143000" cy="384048"/>
          </a:xfrm>
          <a:prstGeom prst="rect">
            <a:avLst/>
          </a:prstGeom>
          <a:noFill/>
          <a:ln/>
        </p:spPr>
        <p:txBody>
          <a:bodyPr wrap="square" lIns="0" tIns="0" rIns="0" bIns="0" rtlCol="0" anchor="ctr"/>
          <a:lstStyle/>
          <a:p>
            <a:pPr algn="ctr" indent="0" marL="0">
              <a:buNone/>
            </a:pPr>
            <a:r>
              <a:rPr lang="en-US" sz="950" dirty="0">
                <a:solidFill>
                  <a:srgbClr val="0E7C86"/>
                </a:solidFill>
              </a:rPr>
              <a:t>attention over hours</a:t>
            </a:r>
            <a:endParaRPr lang="en-US" sz="950" dirty="0"/>
          </a:p>
        </p:txBody>
      </p:sp>
      <p:sp>
        <p:nvSpPr>
          <p:cNvPr id="39" name="arrow"/>
          <p:cNvSpPr/>
          <p:nvPr/>
        </p:nvSpPr>
        <p:spPr>
          <a:xfrm>
            <a:off x="4023360" y="3401568"/>
            <a:ext cx="320040" cy="914"/>
          </a:xfrm>
          <a:prstGeom prst="line">
            <a:avLst/>
          </a:prstGeom>
          <a:noFill/>
          <a:ln w="19050">
            <a:solidFill>
              <a:srgbClr val="5C677D"/>
            </a:solidFill>
            <a:prstDash val="solid"/>
            <a:tailEnd type="triangle"/>
          </a:ln>
        </p:spPr>
      </p:sp>
      <p:sp>
        <p:nvSpPr>
          <p:cNvPr id="40" name="cross organ"/>
          <p:cNvSpPr/>
          <p:nvPr/>
        </p:nvSpPr>
        <p:spPr>
          <a:xfrm>
            <a:off x="4343400" y="2715768"/>
            <a:ext cx="960120" cy="1371600"/>
          </a:xfrm>
          <a:prstGeom prst="roundRect">
            <a:avLst>
              <a:gd name="adj" fmla="val 5714"/>
            </a:avLst>
          </a:prstGeom>
          <a:solidFill>
            <a:srgbClr val="0E7C86"/>
          </a:solidFill>
          <a:ln w="12700">
            <a:solidFill>
              <a:srgbClr val="0E7C86"/>
            </a:solidFill>
            <a:prstDash val="solid"/>
          </a:ln>
        </p:spPr>
      </p:sp>
      <p:sp>
        <p:nvSpPr>
          <p:cNvPr id="41" name="text"/>
          <p:cNvSpPr txBox="1"/>
          <p:nvPr/>
        </p:nvSpPr>
        <p:spPr>
          <a:xfrm>
            <a:off x="4389120" y="2715768"/>
            <a:ext cx="868680" cy="1371600"/>
          </a:xfrm>
          <a:prstGeom prst="rect">
            <a:avLst/>
          </a:prstGeom>
          <a:noFill/>
          <a:ln/>
        </p:spPr>
        <p:txBody>
          <a:bodyPr wrap="square" lIns="0" tIns="0" rIns="0" bIns="0" rtlCol="0" anchor="ctr"/>
          <a:lstStyle/>
          <a:p>
            <a:pPr algn="ctr" indent="0" marL="0">
              <a:buNone/>
            </a:pPr>
            <a:r>
              <a:rPr lang="en-US" sz="1050" b="1" dirty="0">
                <a:solidFill>
                  <a:srgbClr val="FFFFFF"/>
                </a:solidFill>
              </a:rPr>
              <a:t>cross-organ attention</a:t>
            </a:r>
            <a:endParaRPr lang="en-US" sz="1050" dirty="0"/>
          </a:p>
        </p:txBody>
      </p:sp>
      <p:sp>
        <p:nvSpPr>
          <p:cNvPr id="42" name="arrow"/>
          <p:cNvSpPr/>
          <p:nvPr/>
        </p:nvSpPr>
        <p:spPr>
          <a:xfrm>
            <a:off x="5303520" y="3401568"/>
            <a:ext cx="274320" cy="914"/>
          </a:xfrm>
          <a:prstGeom prst="line">
            <a:avLst/>
          </a:prstGeom>
          <a:noFill/>
          <a:ln w="19050">
            <a:solidFill>
              <a:srgbClr val="5C677D"/>
            </a:solidFill>
            <a:prstDash val="solid"/>
            <a:tailEnd type="triangle"/>
          </a:ln>
        </p:spPr>
      </p:sp>
      <p:sp>
        <p:nvSpPr>
          <p:cNvPr id="43" name="osta output"/>
          <p:cNvSpPr/>
          <p:nvPr/>
        </p:nvSpPr>
        <p:spPr>
          <a:xfrm>
            <a:off x="5577840" y="2715768"/>
            <a:ext cx="914400" cy="1371600"/>
          </a:xfrm>
          <a:prstGeom prst="roundRect">
            <a:avLst>
              <a:gd name="adj" fmla="val 6000"/>
            </a:avLst>
          </a:prstGeom>
          <a:solidFill>
            <a:srgbClr val="14213D"/>
          </a:solidFill>
          <a:ln w="12700">
            <a:solidFill>
              <a:srgbClr val="14213D"/>
            </a:solidFill>
            <a:prstDash val="solid"/>
          </a:ln>
        </p:spPr>
      </p:sp>
      <p:sp>
        <p:nvSpPr>
          <p:cNvPr id="44" name="text"/>
          <p:cNvSpPr txBox="1"/>
          <p:nvPr/>
        </p:nvSpPr>
        <p:spPr>
          <a:xfrm>
            <a:off x="5623560" y="2715768"/>
            <a:ext cx="822960" cy="1371600"/>
          </a:xfrm>
          <a:prstGeom prst="rect">
            <a:avLst/>
          </a:prstGeom>
          <a:noFill/>
          <a:ln/>
        </p:spPr>
        <p:txBody>
          <a:bodyPr wrap="square" lIns="0" tIns="0" rIns="0" bIns="0" rtlCol="0" anchor="ctr"/>
          <a:lstStyle/>
          <a:p>
            <a:pPr algn="ctr" indent="0" marL="0">
              <a:buNone/>
            </a:pPr>
            <a:r>
              <a:rPr lang="en-US" sz="1000" b="1" dirty="0">
                <a:solidFill>
                  <a:srgbClr val="FFFFFF"/>
                </a:solidFill>
              </a:rPr>
              <a:t>risk in the next 6 h, plus a risk per organ</a:t>
            </a:r>
            <a:endParaRPr lang="en-US" sz="1000" dirty="0"/>
          </a:p>
        </p:txBody>
      </p:sp>
      <p:sp>
        <p:nvSpPr>
          <p:cNvPr id="45" name="text"/>
          <p:cNvSpPr txBox="1"/>
          <p:nvPr/>
        </p:nvSpPr>
        <p:spPr>
          <a:xfrm>
            <a:off x="548640" y="5257800"/>
            <a:ext cx="5943600" cy="822960"/>
          </a:xfrm>
          <a:prstGeom prst="rect">
            <a:avLst/>
          </a:prstGeom>
          <a:noFill/>
          <a:ln/>
        </p:spPr>
        <p:txBody>
          <a:bodyPr wrap="square" lIns="0" tIns="0" rIns="0" bIns="0" rtlCol="0" anchor="t"/>
          <a:lstStyle/>
          <a:p>
            <a:pPr algn="l" indent="0" marL="0">
              <a:buNone/>
            </a:pPr>
            <a:r>
              <a:rPr lang="en-US" sz="1150" dirty="0">
                <a:solidFill>
                  <a:srgbClr val="5C677D"/>
                </a:solidFill>
              </a:rPr>
              <a:t>Each organ group is read by its own attention module, then the groups exchange information, mirroring how an ICU team reasons. Output: one overall risk and a risk per organ, so a warning can say which system is failing.</a:t>
            </a:r>
            <a:endParaRPr lang="en-US" sz="1150" dirty="0"/>
          </a:p>
        </p:txBody>
      </p:sp>
      <p:sp>
        <p:nvSpPr>
          <p:cNvPr id="46" name="text"/>
          <p:cNvSpPr txBox="1"/>
          <p:nvPr/>
        </p:nvSpPr>
        <p:spPr>
          <a:xfrm>
            <a:off x="6949440" y="1371600"/>
            <a:ext cx="4846320" cy="320040"/>
          </a:xfrm>
          <a:prstGeom prst="rect">
            <a:avLst/>
          </a:prstGeom>
          <a:noFill/>
          <a:ln/>
        </p:spPr>
        <p:txBody>
          <a:bodyPr wrap="square" lIns="0" tIns="0" rIns="0" bIns="0" rtlCol="0" anchor="t"/>
          <a:lstStyle/>
          <a:p>
            <a:pPr algn="l" indent="0" marL="0">
              <a:buNone/>
            </a:pPr>
            <a:r>
              <a:rPr lang="en-US" sz="1350" b="1" dirty="0">
                <a:solidFill>
                  <a:srgbClr val="2A78D6"/>
                </a:solidFill>
              </a:rPr>
              <a:t>CNN-Transformer (my earlier architecture)</a:t>
            </a:r>
            <a:endParaRPr lang="en-US" sz="1350" dirty="0"/>
          </a:p>
        </p:txBody>
      </p:sp>
      <p:sp>
        <p:nvSpPr>
          <p:cNvPr id="47" name="cnn stage"/>
          <p:cNvSpPr/>
          <p:nvPr/>
        </p:nvSpPr>
        <p:spPr>
          <a:xfrm>
            <a:off x="6949440" y="1783080"/>
            <a:ext cx="4846320" cy="457200"/>
          </a:xfrm>
          <a:prstGeom prst="roundRect">
            <a:avLst>
              <a:gd name="adj" fmla="val 12000"/>
            </a:avLst>
          </a:prstGeom>
          <a:solidFill>
            <a:srgbClr val="EEF3F7"/>
          </a:solidFill>
          <a:ln w="9525">
            <a:solidFill>
              <a:srgbClr val="D5DCE4"/>
            </a:solidFill>
            <a:prstDash val="solid"/>
          </a:ln>
        </p:spPr>
      </p:sp>
      <p:sp>
        <p:nvSpPr>
          <p:cNvPr id="48" name="text"/>
          <p:cNvSpPr txBox="1"/>
          <p:nvPr/>
        </p:nvSpPr>
        <p:spPr>
          <a:xfrm>
            <a:off x="7086600" y="1783080"/>
            <a:ext cx="4572000" cy="457200"/>
          </a:xfrm>
          <a:prstGeom prst="rect">
            <a:avLst/>
          </a:prstGeom>
          <a:noFill/>
          <a:ln/>
        </p:spPr>
        <p:txBody>
          <a:bodyPr wrap="square" lIns="0" tIns="0" rIns="0" bIns="0" rtlCol="0" anchor="ctr"/>
          <a:lstStyle/>
          <a:p>
            <a:pPr algn="ctr" indent="0" marL="0">
              <a:buNone/>
            </a:pPr>
            <a:r>
              <a:rPr lang="en-US" sz="1200" dirty="0">
                <a:solidFill>
                  <a:srgbClr val="14213D"/>
                </a:solidFill>
              </a:rPr>
              <a:t>hourly inputs</a:t>
            </a:r>
            <a:endParaRPr lang="en-US" sz="1200" dirty="0"/>
          </a:p>
        </p:txBody>
      </p:sp>
      <p:sp>
        <p:nvSpPr>
          <p:cNvPr id="49" name="arrow"/>
          <p:cNvSpPr/>
          <p:nvPr/>
        </p:nvSpPr>
        <p:spPr>
          <a:xfrm>
            <a:off x="9372600" y="2240280"/>
            <a:ext cx="914" cy="256032"/>
          </a:xfrm>
          <a:prstGeom prst="line">
            <a:avLst/>
          </a:prstGeom>
          <a:noFill/>
          <a:ln w="12700">
            <a:solidFill>
              <a:srgbClr val="5C677D"/>
            </a:solidFill>
            <a:prstDash val="solid"/>
            <a:tailEnd type="triangle"/>
          </a:ln>
        </p:spPr>
      </p:sp>
      <p:sp>
        <p:nvSpPr>
          <p:cNvPr id="50" name="cnn stage"/>
          <p:cNvSpPr/>
          <p:nvPr/>
        </p:nvSpPr>
        <p:spPr>
          <a:xfrm>
            <a:off x="6949440" y="2496312"/>
            <a:ext cx="4846320" cy="457200"/>
          </a:xfrm>
          <a:prstGeom prst="roundRect">
            <a:avLst>
              <a:gd name="adj" fmla="val 12000"/>
            </a:avLst>
          </a:prstGeom>
          <a:solidFill>
            <a:srgbClr val="DCE6F7"/>
          </a:solidFill>
          <a:ln w="9525">
            <a:solidFill>
              <a:srgbClr val="DCE6F7"/>
            </a:solidFill>
            <a:prstDash val="solid"/>
          </a:ln>
        </p:spPr>
      </p:sp>
      <p:sp>
        <p:nvSpPr>
          <p:cNvPr id="51" name="text"/>
          <p:cNvSpPr txBox="1"/>
          <p:nvPr/>
        </p:nvSpPr>
        <p:spPr>
          <a:xfrm>
            <a:off x="7086600" y="2496312"/>
            <a:ext cx="4572000" cy="457200"/>
          </a:xfrm>
          <a:prstGeom prst="rect">
            <a:avLst/>
          </a:prstGeom>
          <a:noFill/>
          <a:ln/>
        </p:spPr>
        <p:txBody>
          <a:bodyPr wrap="square" lIns="0" tIns="0" rIns="0" bIns="0" rtlCol="0" anchor="ctr"/>
          <a:lstStyle/>
          <a:p>
            <a:pPr algn="ctr" indent="0" marL="0">
              <a:buNone/>
            </a:pPr>
            <a:r>
              <a:rPr lang="en-US" sz="1200" dirty="0">
                <a:solidFill>
                  <a:srgbClr val="2A78D6"/>
                </a:solidFill>
              </a:rPr>
              <a:t>causal convolutions: patterns over 1 to 12 h</a:t>
            </a:r>
            <a:endParaRPr lang="en-US" sz="1200" dirty="0"/>
          </a:p>
        </p:txBody>
      </p:sp>
      <p:sp>
        <p:nvSpPr>
          <p:cNvPr id="52" name="arrow"/>
          <p:cNvSpPr/>
          <p:nvPr/>
        </p:nvSpPr>
        <p:spPr>
          <a:xfrm>
            <a:off x="9372600" y="2953512"/>
            <a:ext cx="914" cy="256032"/>
          </a:xfrm>
          <a:prstGeom prst="line">
            <a:avLst/>
          </a:prstGeom>
          <a:noFill/>
          <a:ln w="12700">
            <a:solidFill>
              <a:srgbClr val="5C677D"/>
            </a:solidFill>
            <a:prstDash val="solid"/>
            <a:tailEnd type="triangle"/>
          </a:ln>
        </p:spPr>
      </p:sp>
      <p:sp>
        <p:nvSpPr>
          <p:cNvPr id="53" name="cnn stage"/>
          <p:cNvSpPr/>
          <p:nvPr/>
        </p:nvSpPr>
        <p:spPr>
          <a:xfrm>
            <a:off x="6949440" y="3209544"/>
            <a:ext cx="4846320" cy="457200"/>
          </a:xfrm>
          <a:prstGeom prst="roundRect">
            <a:avLst>
              <a:gd name="adj" fmla="val 12000"/>
            </a:avLst>
          </a:prstGeom>
          <a:solidFill>
            <a:srgbClr val="DCE6F7"/>
          </a:solidFill>
          <a:ln w="9525">
            <a:solidFill>
              <a:srgbClr val="DCE6F7"/>
            </a:solidFill>
            <a:prstDash val="solid"/>
          </a:ln>
        </p:spPr>
      </p:sp>
      <p:sp>
        <p:nvSpPr>
          <p:cNvPr id="54" name="text"/>
          <p:cNvSpPr txBox="1"/>
          <p:nvPr/>
        </p:nvSpPr>
        <p:spPr>
          <a:xfrm>
            <a:off x="7086600" y="3209544"/>
            <a:ext cx="4572000" cy="457200"/>
          </a:xfrm>
          <a:prstGeom prst="rect">
            <a:avLst/>
          </a:prstGeom>
          <a:noFill/>
          <a:ln/>
        </p:spPr>
        <p:txBody>
          <a:bodyPr wrap="square" lIns="0" tIns="0" rIns="0" bIns="0" rtlCol="0" anchor="ctr"/>
          <a:lstStyle/>
          <a:p>
            <a:pPr algn="ctr" indent="0" marL="0">
              <a:buNone/>
            </a:pPr>
            <a:r>
              <a:rPr lang="en-US" sz="1200" dirty="0">
                <a:solidFill>
                  <a:srgbClr val="2A78D6"/>
                </a:solidFill>
              </a:rPr>
              <a:t>attention over the whole stay</a:t>
            </a:r>
            <a:endParaRPr lang="en-US" sz="1200" dirty="0"/>
          </a:p>
        </p:txBody>
      </p:sp>
      <p:sp>
        <p:nvSpPr>
          <p:cNvPr id="55" name="arrow"/>
          <p:cNvSpPr/>
          <p:nvPr/>
        </p:nvSpPr>
        <p:spPr>
          <a:xfrm>
            <a:off x="9372600" y="3666744"/>
            <a:ext cx="914" cy="256032"/>
          </a:xfrm>
          <a:prstGeom prst="line">
            <a:avLst/>
          </a:prstGeom>
          <a:noFill/>
          <a:ln w="12700">
            <a:solidFill>
              <a:srgbClr val="5C677D"/>
            </a:solidFill>
            <a:prstDash val="solid"/>
            <a:tailEnd type="triangle"/>
          </a:ln>
        </p:spPr>
      </p:sp>
      <p:sp>
        <p:nvSpPr>
          <p:cNvPr id="56" name="cnn stage"/>
          <p:cNvSpPr/>
          <p:nvPr/>
        </p:nvSpPr>
        <p:spPr>
          <a:xfrm>
            <a:off x="6949440" y="3922776"/>
            <a:ext cx="4846320" cy="457200"/>
          </a:xfrm>
          <a:prstGeom prst="roundRect">
            <a:avLst>
              <a:gd name="adj" fmla="val 12000"/>
            </a:avLst>
          </a:prstGeom>
          <a:solidFill>
            <a:srgbClr val="14213D"/>
          </a:solidFill>
          <a:ln w="9525">
            <a:solidFill>
              <a:srgbClr val="14213D"/>
            </a:solidFill>
            <a:prstDash val="solid"/>
          </a:ln>
        </p:spPr>
      </p:sp>
      <p:sp>
        <p:nvSpPr>
          <p:cNvPr id="57" name="text"/>
          <p:cNvSpPr txBox="1"/>
          <p:nvPr/>
        </p:nvSpPr>
        <p:spPr>
          <a:xfrm>
            <a:off x="7086600" y="3922776"/>
            <a:ext cx="4572000" cy="457200"/>
          </a:xfrm>
          <a:prstGeom prst="rect">
            <a:avLst/>
          </a:prstGeom>
          <a:noFill/>
          <a:ln/>
        </p:spPr>
        <p:txBody>
          <a:bodyPr wrap="square" lIns="0" tIns="0" rIns="0" bIns="0" rtlCol="0" anchor="ctr"/>
          <a:lstStyle/>
          <a:p>
            <a:pPr algn="ctr" indent="0" marL="0">
              <a:buNone/>
            </a:pPr>
            <a:r>
              <a:rPr lang="en-US" sz="1200" b="1" dirty="0">
                <a:solidFill>
                  <a:srgbClr val="FFFFFF"/>
                </a:solidFill>
              </a:rPr>
              <a:t>risk in the next 6 h</a:t>
            </a:r>
            <a:endParaRPr lang="en-US" sz="1200" dirty="0"/>
          </a:p>
        </p:txBody>
      </p:sp>
      <p:sp>
        <p:nvSpPr>
          <p:cNvPr id="58" name="comparison card"/>
          <p:cNvSpPr/>
          <p:nvPr/>
        </p:nvSpPr>
        <p:spPr>
          <a:xfrm>
            <a:off x="6949440" y="4709160"/>
            <a:ext cx="4846320" cy="1371600"/>
          </a:xfrm>
          <a:prstGeom prst="roundRect">
            <a:avLst>
              <a:gd name="adj" fmla="val 5333"/>
            </a:avLst>
          </a:prstGeom>
          <a:solidFill>
            <a:srgbClr val="EEF3F7"/>
          </a:solidFill>
          <a:ln w="9525">
            <a:solidFill>
              <a:srgbClr val="EEF3F7"/>
            </a:solidFill>
            <a:prstDash val="solid"/>
          </a:ln>
        </p:spPr>
      </p:sp>
      <p:sp>
        <p:nvSpPr>
          <p:cNvPr id="59" name="text"/>
          <p:cNvSpPr txBox="1"/>
          <p:nvPr/>
        </p:nvSpPr>
        <p:spPr>
          <a:xfrm>
            <a:off x="7132320" y="4773168"/>
            <a:ext cx="4572000" cy="274320"/>
          </a:xfrm>
          <a:prstGeom prst="rect">
            <a:avLst/>
          </a:prstGeom>
          <a:noFill/>
          <a:ln/>
        </p:spPr>
        <p:txBody>
          <a:bodyPr wrap="square" lIns="0" tIns="0" rIns="0" bIns="0" rtlCol="0" anchor="t"/>
          <a:lstStyle/>
          <a:p>
            <a:pPr algn="l" indent="0" marL="0">
              <a:buNone/>
            </a:pPr>
            <a:r>
              <a:rPr lang="en-US" sz="1200" b="1" dirty="0">
                <a:solidFill>
                  <a:srgbClr val="14213D"/>
                </a:solidFill>
              </a:rPr>
              <a:t>Compared on identical hours, decision rules fixed in advance</a:t>
            </a:r>
            <a:endParaRPr lang="en-US" sz="1200" dirty="0"/>
          </a:p>
        </p:txBody>
      </p:sp>
      <p:sp>
        <p:nvSpPr>
          <p:cNvPr id="60" name="text"/>
          <p:cNvSpPr txBox="1"/>
          <p:nvPr/>
        </p:nvSpPr>
        <p:spPr>
          <a:xfrm>
            <a:off x="7132320" y="5047488"/>
            <a:ext cx="4572000" cy="1005840"/>
          </a:xfrm>
          <a:prstGeom prst="rect">
            <a:avLst/>
          </a:prstGeom>
          <a:noFill/>
          <a:ln/>
        </p:spPr>
        <p:txBody>
          <a:bodyPr wrap="square" lIns="0" tIns="0" rIns="0" bIns="0" rtlCol="0" anchor="t"/>
          <a:lstStyle/>
          <a:p>
            <a:pPr algn="l" indent="0" marL="0">
              <a:buNone/>
            </a:pPr>
            <a:r>
              <a:rPr lang="en-US" sz="1100" dirty="0">
                <a:solidFill>
                  <a:srgbClr val="14213D"/>
                </a:solidFill>
              </a:rPr>
              <a:t>OSTA with and without organ grouping (the ablation that decides), GRU-D, temporal CNN, logistic regression, boosted trees, the challenge winner's method (path signatures + boosted trees), and self-supervised pretraining on 150,000 unlabelled stays. Organ structure is kept only if it beats the flat model on the validation split.</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reliminary tag"/>
          <p:cNvSpPr/>
          <p:nvPr/>
        </p:nvSpPr>
        <p:spPr>
          <a:xfrm>
            <a:off x="6979615" y="73152"/>
            <a:ext cx="4663440" cy="246888"/>
          </a:xfrm>
          <a:prstGeom prst="roundRect">
            <a:avLst>
              <a:gd name="adj" fmla="val 48148"/>
            </a:avLst>
          </a:prstGeom>
          <a:solidFill>
            <a:srgbClr val="FBE9E1"/>
          </a:solidFill>
          <a:ln w="12700">
            <a:solidFill>
              <a:srgbClr val="FBE9E1"/>
            </a:solidFill>
            <a:prstDash val="solid"/>
          </a:ln>
        </p:spPr>
      </p:sp>
      <p:sp>
        <p:nvSpPr>
          <p:cNvPr id="3" name="preliminary text"/>
          <p:cNvSpPr txBox="1"/>
          <p:nvPr/>
        </p:nvSpPr>
        <p:spPr>
          <a:xfrm>
            <a:off x="7071055" y="73152"/>
            <a:ext cx="4480560" cy="246888"/>
          </a:xfrm>
          <a:prstGeom prst="rect">
            <a:avLst/>
          </a:prstGeom>
          <a:noFill/>
          <a:ln/>
        </p:spPr>
        <p:txBody>
          <a:bodyPr wrap="square" lIns="0" tIns="0" rIns="0" bIns="0" rtlCol="0" anchor="ctr"/>
          <a:lstStyle/>
          <a:p>
            <a:pPr algn="ctr" indent="0" marL="0">
              <a:buNone/>
            </a:pPr>
            <a:r>
              <a:rPr lang="en-US" sz="900" b="1" dirty="0">
                <a:solidFill>
                  <a:srgbClr val="EB6834"/>
                </a:solidFill>
              </a:rPr>
              <a:t>PRELIMINARY  |  development split  |  full results in the manuscript in preparation</a:t>
            </a:r>
            <a:endParaRPr lang="en-US" sz="900" dirty="0"/>
          </a:p>
        </p:txBody>
      </p:sp>
      <p:sp>
        <p:nvSpPr>
          <p:cNvPr id="4"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Preliminary result 1: removing information from the future is the biggest single correction</a:t>
            </a:r>
            <a:endParaRPr lang="en-US" sz="2600" dirty="0"/>
          </a:p>
        </p:txBody>
      </p:sp>
      <p:sp>
        <p:nvSpPr>
          <p:cNvPr id="5" name="leak card"/>
          <p:cNvSpPr/>
          <p:nvPr/>
        </p:nvSpPr>
        <p:spPr>
          <a:xfrm>
            <a:off x="548640" y="1371600"/>
            <a:ext cx="5120640" cy="4526280"/>
          </a:xfrm>
          <a:prstGeom prst="roundRect">
            <a:avLst>
              <a:gd name="adj" fmla="val 1616"/>
            </a:avLst>
          </a:prstGeom>
          <a:solidFill>
            <a:srgbClr val="EEF3F7"/>
          </a:solidFill>
          <a:ln w="9525">
            <a:solidFill>
              <a:srgbClr val="EEF3F7"/>
            </a:solidFill>
            <a:prstDash val="solid"/>
          </a:ln>
        </p:spPr>
      </p:sp>
      <p:sp>
        <p:nvSpPr>
          <p:cNvPr id="6" name="icon circle"/>
          <p:cNvSpPr/>
          <p:nvPr/>
        </p:nvSpPr>
        <p:spPr>
          <a:xfrm>
            <a:off x="777240" y="1554480"/>
            <a:ext cx="548640" cy="548640"/>
          </a:xfrm>
          <a:prstGeom prst="ellipse">
            <a:avLst/>
          </a:prstGeom>
          <a:solidFill>
            <a:srgbClr val="EB6834"/>
          </a:solidFill>
          <a:ln w="12700">
            <a:solidFill>
              <a:srgbClr val="EB6834"/>
            </a:solidFill>
            <a:prstDash val="solid"/>
          </a:ln>
        </p:spPr>
      </p:sp>
      <p:pic>
        <p:nvPicPr>
          <p:cNvPr id="7" name="icon" descr="preencoded.png">    </p:cNvPr>
          <p:cNvPicPr>
            <a:picLocks noChangeAspect="1"/>
          </p:cNvPicPr>
          <p:nvPr/>
        </p:nvPicPr>
        <p:blipFill>
          <a:blip r:embed="rId1"/>
          <a:stretch>
            <a:fillRect/>
          </a:stretch>
        </p:blipFill>
        <p:spPr>
          <a:xfrm>
            <a:off x="908914" y="1686154"/>
            <a:ext cx="285293" cy="285293"/>
          </a:xfrm>
          <a:prstGeom prst="rect">
            <a:avLst/>
          </a:prstGeom>
        </p:spPr>
      </p:pic>
      <p:sp>
        <p:nvSpPr>
          <p:cNvPr id="8" name="text"/>
          <p:cNvSpPr txBox="1"/>
          <p:nvPr/>
        </p:nvSpPr>
        <p:spPr>
          <a:xfrm>
            <a:off x="1463040" y="1572768"/>
            <a:ext cx="4023360" cy="502920"/>
          </a:xfrm>
          <a:prstGeom prst="rect">
            <a:avLst/>
          </a:prstGeom>
          <a:noFill/>
          <a:ln/>
        </p:spPr>
        <p:txBody>
          <a:bodyPr wrap="square" lIns="0" tIns="0" rIns="0" bIns="0" rtlCol="0" anchor="ctr"/>
          <a:lstStyle/>
          <a:p>
            <a:pPr algn="l" indent="0" marL="0">
              <a:buNone/>
            </a:pPr>
            <a:r>
              <a:rPr lang="en-US" sz="1400" b="1" dirty="0">
                <a:solidFill>
                  <a:srgbClr val="14213D"/>
                </a:solidFill>
              </a:rPr>
              <a:t>What an audit of our own pipeline found</a:t>
            </a:r>
            <a:endParaRPr lang="en-US" sz="1400" dirty="0"/>
          </a:p>
        </p:txBody>
      </p:sp>
      <p:sp>
        <p:nvSpPr>
          <p:cNvPr id="9" name="bullets"/>
          <p:cNvSpPr txBox="1"/>
          <p:nvPr/>
        </p:nvSpPr>
        <p:spPr>
          <a:xfrm>
            <a:off x="777240" y="2240280"/>
            <a:ext cx="4663440" cy="27432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4213D"/>
                </a:solidFill>
              </a:rPr>
              <a:t>Hours after sepsis onset were labelled positive, so the model learnt to recognise sepsis that had already started.</a:t>
            </a:r>
            <a:endParaRPr lang="en-US" sz="1250" dirty="0"/>
          </a:p>
          <a:p>
            <a:pPr marL="177800" indent="-177800">
              <a:spcAft>
                <a:spcPts val="800"/>
              </a:spcAft>
              <a:buSzPct val="100000"/>
              <a:buChar char="•"/>
            </a:pPr>
            <a:r>
              <a:rPr lang="en-US" sz="1250" dirty="0">
                <a:solidFill>
                  <a:srgbClr val="14213D"/>
                </a:solidFill>
              </a:rPr>
              <a:t>Measurements were carried forward from the time they were taken, not from the time they were available.</a:t>
            </a:r>
            <a:endParaRPr lang="en-US" sz="1250" dirty="0"/>
          </a:p>
          <a:p>
            <a:pPr marL="177800" indent="-177800">
              <a:spcAft>
                <a:spcPts val="800"/>
              </a:spcAft>
              <a:buSzPct val="100000"/>
              <a:buChar char="•"/>
            </a:pPr>
            <a:r>
              <a:rPr lang="en-US" sz="1250" dirty="0">
                <a:solidFill>
                  <a:srgbClr val="14213D"/>
                </a:solidFill>
              </a:rPr>
              <a:t>Treatments that are part of the label (antibiotics, cultures) were present among the inputs.</a:t>
            </a:r>
            <a:endParaRPr lang="en-US" sz="1250" dirty="0"/>
          </a:p>
          <a:p>
            <a:pPr marL="177800" indent="-177800">
              <a:spcAft>
                <a:spcPts val="800"/>
              </a:spcAft>
              <a:buSzPct val="100000"/>
              <a:buChar char="•"/>
            </a:pPr>
            <a:r>
              <a:rPr lang="en-US" sz="1250" dirty="0">
                <a:solidFill>
                  <a:srgbClr val="14213D"/>
                </a:solidFill>
              </a:rPr>
              <a:t>Earlier versions of our models were trained this way; they were retired and are not reported.</a:t>
            </a:r>
            <a:endParaRPr lang="en-US" sz="1250" dirty="0"/>
          </a:p>
        </p:txBody>
      </p:sp>
      <p:sp>
        <p:nvSpPr>
          <p:cNvPr id="10" name="text"/>
          <p:cNvSpPr txBox="1"/>
          <p:nvPr/>
        </p:nvSpPr>
        <p:spPr>
          <a:xfrm>
            <a:off x="777240" y="5120640"/>
            <a:ext cx="4663440" cy="640080"/>
          </a:xfrm>
          <a:prstGeom prst="rect">
            <a:avLst/>
          </a:prstGeom>
          <a:noFill/>
          <a:ln/>
        </p:spPr>
        <p:txBody>
          <a:bodyPr wrap="square" lIns="0" tIns="0" rIns="0" bIns="0" rtlCol="0" anchor="t"/>
          <a:lstStyle/>
          <a:p>
            <a:pPr algn="l" indent="0" marL="0">
              <a:buNone/>
            </a:pPr>
            <a:r>
              <a:rPr lang="en-US" sz="1250" b="1" i="1" dirty="0">
                <a:solidFill>
                  <a:srgbClr val="14213D"/>
                </a:solidFill>
              </a:rPr>
              <a:t>Numbers in the 0.9s in the literature should be read with this in mind.</a:t>
            </a:r>
            <a:endParaRPr lang="en-US" sz="1250" dirty="0"/>
          </a:p>
        </p:txBody>
      </p:sp>
      <p:sp>
        <p:nvSpPr>
          <p:cNvPr id="11" name="text"/>
          <p:cNvSpPr txBox="1"/>
          <p:nvPr/>
        </p:nvSpPr>
        <p:spPr>
          <a:xfrm>
            <a:off x="5897880" y="1371600"/>
            <a:ext cx="5745175" cy="365760"/>
          </a:xfrm>
          <a:prstGeom prst="rect">
            <a:avLst/>
          </a:prstGeom>
          <a:noFill/>
          <a:ln/>
        </p:spPr>
        <p:txBody>
          <a:bodyPr wrap="square" lIns="0" tIns="0" rIns="0" bIns="0" rtlCol="0" anchor="t"/>
          <a:lstStyle/>
          <a:p>
            <a:pPr algn="l" indent="0" marL="0">
              <a:buNone/>
            </a:pPr>
            <a:r>
              <a:rPr lang="en-US" sz="1350" b="1" dirty="0">
                <a:solidFill>
                  <a:srgbClr val="0E7C86"/>
                </a:solidFill>
              </a:rPr>
              <a:t>Rebuilt causally: OSTA on the PhysioNet 2019 test set (3-seed ensemble)</a:t>
            </a:r>
            <a:endParaRPr lang="en-US" sz="1350" dirty="0"/>
          </a:p>
        </p:txBody>
      </p:sp>
      <p:sp>
        <p:nvSpPr>
          <p:cNvPr id="12" name="stat card"/>
          <p:cNvSpPr/>
          <p:nvPr/>
        </p:nvSpPr>
        <p:spPr>
          <a:xfrm>
            <a:off x="5897880" y="1828800"/>
            <a:ext cx="1828800" cy="1371600"/>
          </a:xfrm>
          <a:prstGeom prst="roundRect">
            <a:avLst>
              <a:gd name="adj" fmla="val 5333"/>
            </a:avLst>
          </a:prstGeom>
          <a:solidFill>
            <a:srgbClr val="EEF3F7"/>
          </a:solidFill>
          <a:ln w="9525">
            <a:solidFill>
              <a:srgbClr val="EEF3F7"/>
            </a:solidFill>
            <a:prstDash val="solid"/>
          </a:ln>
        </p:spPr>
      </p:sp>
      <p:sp>
        <p:nvSpPr>
          <p:cNvPr id="13" name="stat number"/>
          <p:cNvSpPr txBox="1"/>
          <p:nvPr/>
        </p:nvSpPr>
        <p:spPr>
          <a:xfrm>
            <a:off x="6080760" y="1965960"/>
            <a:ext cx="1463040" cy="685800"/>
          </a:xfrm>
          <a:prstGeom prst="rect">
            <a:avLst/>
          </a:prstGeom>
          <a:noFill/>
          <a:ln/>
        </p:spPr>
        <p:txBody>
          <a:bodyPr wrap="square" lIns="0" tIns="0" rIns="0" bIns="0" rtlCol="0" anchor="ctr"/>
          <a:lstStyle/>
          <a:p>
            <a:pPr algn="l" indent="0" marL="0">
              <a:buNone/>
            </a:pPr>
            <a:r>
              <a:rPr lang="en-US" sz="3400" b="1" dirty="0">
                <a:solidFill>
                  <a:srgbClr val="2A78D6"/>
                </a:solidFill>
                <a:latin typeface="Cambria" pitchFamily="34" charset="0"/>
                <a:ea typeface="Cambria" pitchFamily="34" charset="-122"/>
                <a:cs typeface="Cambria" pitchFamily="34" charset="-120"/>
              </a:rPr>
              <a:t>0.81</a:t>
            </a:r>
            <a:endParaRPr lang="en-US" sz="3400" dirty="0"/>
          </a:p>
        </p:txBody>
      </p:sp>
      <p:sp>
        <p:nvSpPr>
          <p:cNvPr id="14" name="stat label"/>
          <p:cNvSpPr txBox="1"/>
          <p:nvPr/>
        </p:nvSpPr>
        <p:spPr>
          <a:xfrm>
            <a:off x="6080760" y="2624328"/>
            <a:ext cx="1463040" cy="457200"/>
          </a:xfrm>
          <a:prstGeom prst="rect">
            <a:avLst/>
          </a:prstGeom>
          <a:noFill/>
          <a:ln/>
        </p:spPr>
        <p:txBody>
          <a:bodyPr wrap="square" lIns="0" tIns="0" rIns="0" bIns="0" rtlCol="0" anchor="t"/>
          <a:lstStyle/>
          <a:p>
            <a:pPr algn="l" indent="0" marL="0">
              <a:buNone/>
            </a:pPr>
            <a:r>
              <a:rPr lang="en-US" sz="1200" dirty="0">
                <a:solidFill>
                  <a:srgbClr val="14213D"/>
                </a:solidFill>
              </a:rPr>
              <a:t>patient-level AUROC</a:t>
            </a:r>
            <a:endParaRPr lang="en-US" sz="1200" dirty="0"/>
          </a:p>
        </p:txBody>
      </p:sp>
      <p:sp>
        <p:nvSpPr>
          <p:cNvPr id="15" name="stat card"/>
          <p:cNvSpPr/>
          <p:nvPr/>
        </p:nvSpPr>
        <p:spPr>
          <a:xfrm>
            <a:off x="7854696" y="1828800"/>
            <a:ext cx="1828800" cy="1371600"/>
          </a:xfrm>
          <a:prstGeom prst="roundRect">
            <a:avLst>
              <a:gd name="adj" fmla="val 5333"/>
            </a:avLst>
          </a:prstGeom>
          <a:solidFill>
            <a:srgbClr val="EEF3F7"/>
          </a:solidFill>
          <a:ln w="9525">
            <a:solidFill>
              <a:srgbClr val="EEF3F7"/>
            </a:solidFill>
            <a:prstDash val="solid"/>
          </a:ln>
        </p:spPr>
      </p:sp>
      <p:sp>
        <p:nvSpPr>
          <p:cNvPr id="16" name="stat number"/>
          <p:cNvSpPr txBox="1"/>
          <p:nvPr/>
        </p:nvSpPr>
        <p:spPr>
          <a:xfrm>
            <a:off x="8037576" y="1965960"/>
            <a:ext cx="1463040" cy="685800"/>
          </a:xfrm>
          <a:prstGeom prst="rect">
            <a:avLst/>
          </a:prstGeom>
          <a:noFill/>
          <a:ln/>
        </p:spPr>
        <p:txBody>
          <a:bodyPr wrap="square" lIns="0" tIns="0" rIns="0" bIns="0" rtlCol="0" anchor="ctr"/>
          <a:lstStyle/>
          <a:p>
            <a:pPr algn="l" indent="0" marL="0">
              <a:buNone/>
            </a:pPr>
            <a:r>
              <a:rPr lang="en-US" sz="3400" b="1" dirty="0">
                <a:solidFill>
                  <a:srgbClr val="2A78D6"/>
                </a:solidFill>
                <a:latin typeface="Cambria" pitchFamily="34" charset="0"/>
                <a:ea typeface="Cambria" pitchFamily="34" charset="-122"/>
                <a:cs typeface="Cambria" pitchFamily="34" charset="-120"/>
              </a:rPr>
              <a:t>0.80</a:t>
            </a:r>
            <a:endParaRPr lang="en-US" sz="3400" dirty="0"/>
          </a:p>
        </p:txBody>
      </p:sp>
      <p:sp>
        <p:nvSpPr>
          <p:cNvPr id="17" name="stat label"/>
          <p:cNvSpPr txBox="1"/>
          <p:nvPr/>
        </p:nvSpPr>
        <p:spPr>
          <a:xfrm>
            <a:off x="8037576" y="2624328"/>
            <a:ext cx="1463040" cy="457200"/>
          </a:xfrm>
          <a:prstGeom prst="rect">
            <a:avLst/>
          </a:prstGeom>
          <a:noFill/>
          <a:ln/>
        </p:spPr>
        <p:txBody>
          <a:bodyPr wrap="square" lIns="0" tIns="0" rIns="0" bIns="0" rtlCol="0" anchor="t"/>
          <a:lstStyle/>
          <a:p>
            <a:pPr algn="l" indent="0" marL="0">
              <a:buNone/>
            </a:pPr>
            <a:r>
              <a:rPr lang="en-US" sz="1200" dirty="0">
                <a:solidFill>
                  <a:srgbClr val="14213D"/>
                </a:solidFill>
              </a:rPr>
              <a:t>hourly AUROC</a:t>
            </a:r>
            <a:endParaRPr lang="en-US" sz="1200" dirty="0"/>
          </a:p>
        </p:txBody>
      </p:sp>
      <p:sp>
        <p:nvSpPr>
          <p:cNvPr id="18" name="stat card"/>
          <p:cNvSpPr/>
          <p:nvPr/>
        </p:nvSpPr>
        <p:spPr>
          <a:xfrm>
            <a:off x="9811512" y="1828800"/>
            <a:ext cx="1828800" cy="1371600"/>
          </a:xfrm>
          <a:prstGeom prst="roundRect">
            <a:avLst>
              <a:gd name="adj" fmla="val 5333"/>
            </a:avLst>
          </a:prstGeom>
          <a:solidFill>
            <a:srgbClr val="EEF3F7"/>
          </a:solidFill>
          <a:ln w="9525">
            <a:solidFill>
              <a:srgbClr val="EEF3F7"/>
            </a:solidFill>
            <a:prstDash val="solid"/>
          </a:ln>
        </p:spPr>
      </p:sp>
      <p:sp>
        <p:nvSpPr>
          <p:cNvPr id="19" name="stat number"/>
          <p:cNvSpPr txBox="1"/>
          <p:nvPr/>
        </p:nvSpPr>
        <p:spPr>
          <a:xfrm>
            <a:off x="9994392" y="1965960"/>
            <a:ext cx="1463040" cy="685800"/>
          </a:xfrm>
          <a:prstGeom prst="rect">
            <a:avLst/>
          </a:prstGeom>
          <a:noFill/>
          <a:ln/>
        </p:spPr>
        <p:txBody>
          <a:bodyPr wrap="square" lIns="0" tIns="0" rIns="0" bIns="0" rtlCol="0" anchor="ctr"/>
          <a:lstStyle/>
          <a:p>
            <a:pPr algn="l" indent="0" marL="0">
              <a:buNone/>
            </a:pPr>
            <a:r>
              <a:rPr lang="en-US" sz="3400" b="1" dirty="0">
                <a:solidFill>
                  <a:srgbClr val="2A78D6"/>
                </a:solidFill>
                <a:latin typeface="Cambria" pitchFamily="34" charset="0"/>
                <a:ea typeface="Cambria" pitchFamily="34" charset="-122"/>
                <a:cs typeface="Cambria" pitchFamily="34" charset="-120"/>
              </a:rPr>
              <a:t>0.22</a:t>
            </a:r>
            <a:endParaRPr lang="en-US" sz="3400" dirty="0"/>
          </a:p>
        </p:txBody>
      </p:sp>
      <p:sp>
        <p:nvSpPr>
          <p:cNvPr id="20" name="stat label"/>
          <p:cNvSpPr txBox="1"/>
          <p:nvPr/>
        </p:nvSpPr>
        <p:spPr>
          <a:xfrm>
            <a:off x="9994392" y="2624328"/>
            <a:ext cx="1463040" cy="457200"/>
          </a:xfrm>
          <a:prstGeom prst="rect">
            <a:avLst/>
          </a:prstGeom>
          <a:noFill/>
          <a:ln/>
        </p:spPr>
        <p:txBody>
          <a:bodyPr wrap="square" lIns="0" tIns="0" rIns="0" bIns="0" rtlCol="0" anchor="t"/>
          <a:lstStyle/>
          <a:p>
            <a:pPr algn="l" indent="0" marL="0">
              <a:buNone/>
            </a:pPr>
            <a:r>
              <a:rPr lang="en-US" sz="1100" dirty="0">
                <a:solidFill>
                  <a:srgbClr val="14213D"/>
                </a:solidFill>
              </a:rPr>
              <a:t>normalised utility (0.30 at the conformal threshold)</a:t>
            </a:r>
            <a:endParaRPr lang="en-US" sz="1100" dirty="0"/>
          </a:p>
        </p:txBody>
      </p:sp>
      <p:sp>
        <p:nvSpPr>
          <p:cNvPr id="21" name="reading card"/>
          <p:cNvSpPr/>
          <p:nvPr/>
        </p:nvSpPr>
        <p:spPr>
          <a:xfrm>
            <a:off x="5897880" y="3429000"/>
            <a:ext cx="5745175" cy="2468880"/>
          </a:xfrm>
          <a:prstGeom prst="roundRect">
            <a:avLst>
              <a:gd name="adj" fmla="val 2963"/>
            </a:avLst>
          </a:prstGeom>
          <a:solidFill>
            <a:srgbClr val="FFFFFF"/>
          </a:solidFill>
          <a:ln w="9525">
            <a:solidFill>
              <a:srgbClr val="D5DCE4"/>
            </a:solidFill>
            <a:prstDash val="solid"/>
          </a:ln>
        </p:spPr>
      </p:sp>
      <p:sp>
        <p:nvSpPr>
          <p:cNvPr id="22" name="text"/>
          <p:cNvSpPr txBox="1"/>
          <p:nvPr/>
        </p:nvSpPr>
        <p:spPr>
          <a:xfrm>
            <a:off x="6080760" y="3520440"/>
            <a:ext cx="5486400" cy="320040"/>
          </a:xfrm>
          <a:prstGeom prst="rect">
            <a:avLst/>
          </a:prstGeom>
          <a:noFill/>
          <a:ln/>
        </p:spPr>
        <p:txBody>
          <a:bodyPr wrap="square" lIns="0" tIns="0" rIns="0" bIns="0" rtlCol="0" anchor="t"/>
          <a:lstStyle/>
          <a:p>
            <a:pPr algn="l" indent="0" marL="0">
              <a:buNone/>
            </a:pPr>
            <a:r>
              <a:rPr lang="en-US" sz="1300" b="1" dirty="0">
                <a:solidFill>
                  <a:srgbClr val="14213D"/>
                </a:solidFill>
              </a:rPr>
              <a:t>How to read these numbers</a:t>
            </a:r>
            <a:endParaRPr lang="en-US" sz="1300" dirty="0"/>
          </a:p>
        </p:txBody>
      </p:sp>
      <p:sp>
        <p:nvSpPr>
          <p:cNvPr id="23" name="bullets"/>
          <p:cNvSpPr txBox="1"/>
          <p:nvPr/>
        </p:nvSpPr>
        <p:spPr>
          <a:xfrm>
            <a:off x="6080760" y="3886200"/>
            <a:ext cx="5333695"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4213D"/>
                </a:solidFill>
              </a:rPr>
              <a:t>Positive hours are 1.6 % of all hours: ranking scores look modest even for a useful model.</a:t>
            </a:r>
            <a:endParaRPr lang="en-US" sz="1200" dirty="0"/>
          </a:p>
          <a:p>
            <a:pPr marL="177800" indent="-177800">
              <a:spcAft>
                <a:spcPts val="600"/>
              </a:spcAft>
              <a:buSzPct val="100000"/>
              <a:buChar char="•"/>
            </a:pPr>
            <a:r>
              <a:rPr lang="en-US" sz="1200" dirty="0">
                <a:solidFill>
                  <a:srgbClr val="14213D"/>
                </a:solidFill>
              </a:rPr>
              <a:t>Utility 0.22 means the alarms are worth about a fifth of a perfect alarm system, after paying for false alarms; at the conformal threshold (sensitivity 0.70, specificity 0.72) it is 0.30. The challenge winner scored 0.36 in-sample and below zero out of sample.</a:t>
            </a:r>
            <a:endParaRPr lang="en-US" sz="1200" dirty="0"/>
          </a:p>
          <a:p>
            <a:pPr marL="177800" indent="-177800">
              <a:spcAft>
                <a:spcPts val="600"/>
              </a:spcAft>
              <a:buSzPct val="100000"/>
              <a:buChar char="•"/>
            </a:pPr>
            <a:r>
              <a:rPr lang="en-US" sz="1200" dirty="0">
                <a:solidFill>
                  <a:srgbClr val="14213D"/>
                </a:solidFill>
              </a:rPr>
              <a:t>This is the honest starting point from which every later number is measured.</a:t>
            </a:r>
            <a:endParaRPr lang="en-US" sz="12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reliminary tag"/>
          <p:cNvSpPr/>
          <p:nvPr/>
        </p:nvSpPr>
        <p:spPr>
          <a:xfrm>
            <a:off x="6979615" y="73152"/>
            <a:ext cx="4663440" cy="246888"/>
          </a:xfrm>
          <a:prstGeom prst="roundRect">
            <a:avLst>
              <a:gd name="adj" fmla="val 48148"/>
            </a:avLst>
          </a:prstGeom>
          <a:solidFill>
            <a:srgbClr val="FBE9E1"/>
          </a:solidFill>
          <a:ln w="12700">
            <a:solidFill>
              <a:srgbClr val="FBE9E1"/>
            </a:solidFill>
            <a:prstDash val="solid"/>
          </a:ln>
        </p:spPr>
      </p:sp>
      <p:sp>
        <p:nvSpPr>
          <p:cNvPr id="3" name="preliminary text"/>
          <p:cNvSpPr txBox="1"/>
          <p:nvPr/>
        </p:nvSpPr>
        <p:spPr>
          <a:xfrm>
            <a:off x="7071055" y="73152"/>
            <a:ext cx="4480560" cy="246888"/>
          </a:xfrm>
          <a:prstGeom prst="rect">
            <a:avLst/>
          </a:prstGeom>
          <a:noFill/>
          <a:ln/>
        </p:spPr>
        <p:txBody>
          <a:bodyPr wrap="square" lIns="0" tIns="0" rIns="0" bIns="0" rtlCol="0" anchor="ctr"/>
          <a:lstStyle/>
          <a:p>
            <a:pPr algn="ctr" indent="0" marL="0">
              <a:buNone/>
            </a:pPr>
            <a:r>
              <a:rPr lang="en-US" sz="900" b="1" dirty="0">
                <a:solidFill>
                  <a:srgbClr val="EB6834"/>
                </a:solidFill>
              </a:rPr>
              <a:t>PRELIMINARY  |  development split  |  full results in the manuscript in preparation</a:t>
            </a:r>
            <a:endParaRPr lang="en-US" sz="900" dirty="0"/>
          </a:p>
        </p:txBody>
      </p:sp>
      <p:sp>
        <p:nvSpPr>
          <p:cNvPr id="4"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Preliminary result 2: making two raw databases speak the same language was most of the work</a:t>
            </a:r>
            <a:endParaRPr lang="en-US" sz="2600" dirty="0"/>
          </a:p>
        </p:txBody>
      </p:sp>
      <p:graphicFrame>
        <p:nvGraphicFramePr>
          <p:cNvPr id="5" name="coverage chart"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coverage notes"/>
          <p:cNvSpPr/>
          <p:nvPr/>
        </p:nvSpPr>
        <p:spPr>
          <a:xfrm>
            <a:off x="7726680" y="1371600"/>
            <a:ext cx="3916375" cy="4480560"/>
          </a:xfrm>
          <a:prstGeom prst="roundRect">
            <a:avLst>
              <a:gd name="adj" fmla="val 1868"/>
            </a:avLst>
          </a:prstGeom>
          <a:solidFill>
            <a:srgbClr val="EEF3F7"/>
          </a:solidFill>
          <a:ln w="9525">
            <a:solidFill>
              <a:srgbClr val="EEF3F7"/>
            </a:solidFill>
            <a:prstDash val="solid"/>
          </a:ln>
        </p:spPr>
      </p:sp>
      <p:sp>
        <p:nvSpPr>
          <p:cNvPr id="7" name="text"/>
          <p:cNvSpPr txBox="1"/>
          <p:nvPr/>
        </p:nvSpPr>
        <p:spPr>
          <a:xfrm>
            <a:off x="7909560" y="1481328"/>
            <a:ext cx="3657600" cy="320040"/>
          </a:xfrm>
          <a:prstGeom prst="rect">
            <a:avLst/>
          </a:prstGeom>
          <a:noFill/>
          <a:ln/>
        </p:spPr>
        <p:txBody>
          <a:bodyPr wrap="square" lIns="0" tIns="0" rIns="0" bIns="0" rtlCol="0" anchor="t"/>
          <a:lstStyle/>
          <a:p>
            <a:pPr algn="l" indent="0" marL="0">
              <a:buNone/>
            </a:pPr>
            <a:r>
              <a:rPr lang="en-US" sz="1400" b="1" dirty="0">
                <a:solidFill>
                  <a:srgbClr val="14213D"/>
                </a:solidFill>
              </a:rPr>
              <a:t>What the audit changed</a:t>
            </a:r>
            <a:endParaRPr lang="en-US" sz="1400" dirty="0"/>
          </a:p>
        </p:txBody>
      </p:sp>
      <p:sp>
        <p:nvSpPr>
          <p:cNvPr id="8" name="bullets"/>
          <p:cNvSpPr txBox="1"/>
          <p:nvPr/>
        </p:nvSpPr>
        <p:spPr>
          <a:xfrm>
            <a:off x="7909560" y="1874520"/>
            <a:ext cx="3550615" cy="38404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4213D"/>
                </a:solidFill>
              </a:rPr>
              <a:t>Samples of 10,000 ICU stays per database: 8,795 MIMIC-IV and 5,710 eICU stays after the benchmark's exclusions.</a:t>
            </a:r>
            <a:endParaRPr lang="en-US" sz="1200" dirty="0"/>
          </a:p>
          <a:p>
            <a:pPr marL="177800" indent="-177800">
              <a:spcAft>
                <a:spcPts val="700"/>
              </a:spcAft>
              <a:buSzPct val="100000"/>
              <a:buChar char="•"/>
            </a:pPr>
            <a:r>
              <a:rPr lang="en-US" sz="1200" dirty="0">
                <a:solidFill>
                  <a:srgbClr val="14213D"/>
                </a:solidFill>
              </a:rPr>
              <a:t>76 raw measurement channels mapped item by item, with every mapping checked against row counts and a unit audit.</a:t>
            </a:r>
            <a:endParaRPr lang="en-US" sz="1200" dirty="0"/>
          </a:p>
          <a:p>
            <a:pPr marL="177800" indent="-177800">
              <a:spcAft>
                <a:spcPts val="700"/>
              </a:spcAft>
              <a:buSzPct val="100000"/>
              <a:buChar char="•"/>
            </a:pPr>
            <a:r>
              <a:rPr lang="en-US" sz="1200" dirty="0">
                <a:solidFill>
                  <a:srgbClr val="14213D"/>
                </a:solidFill>
              </a:rPr>
              <a:t>eICU nurse-charted vitals, cuff pressures and weights were in different tables from the ones most pipelines read: knowing how nurses chart found them.</a:t>
            </a:r>
            <a:endParaRPr lang="en-US" sz="1200" dirty="0"/>
          </a:p>
          <a:p>
            <a:pPr marL="177800" indent="-177800">
              <a:spcAft>
                <a:spcPts val="700"/>
              </a:spcAft>
              <a:buSzPct val="100000"/>
              <a:buChar char="•"/>
            </a:pPr>
            <a:r>
              <a:rPr lang="en-US" sz="1200" dirty="0">
                <a:solidFill>
                  <a:srgbClr val="14213D"/>
                </a:solidFill>
              </a:rPr>
              <a:t>Urine output became a rate per kg only once each record was tied to the interval it covered, as the kidney criteria require.</a:t>
            </a:r>
            <a:endParaRPr lang="en-US" sz="1200" dirty="0"/>
          </a:p>
          <a:p>
            <a:pPr marL="177800" indent="-177800">
              <a:spcAft>
                <a:spcPts val="700"/>
              </a:spcAft>
              <a:buSzPct val="100000"/>
              <a:buChar char="•"/>
            </a:pPr>
            <a:r>
              <a:rPr lang="en-US" sz="1200" dirty="0">
                <a:solidFill>
                  <a:srgbClr val="14213D"/>
                </a:solidFill>
              </a:rPr>
              <a:t>Nothing here is a model change; it is where the transfer problem actually lives.</a:t>
            </a:r>
            <a:endParaRPr lang="en-US" sz="12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reliminary tag"/>
          <p:cNvSpPr/>
          <p:nvPr/>
        </p:nvSpPr>
        <p:spPr>
          <a:xfrm>
            <a:off x="6979615" y="73152"/>
            <a:ext cx="4663440" cy="246888"/>
          </a:xfrm>
          <a:prstGeom prst="roundRect">
            <a:avLst>
              <a:gd name="adj" fmla="val 48148"/>
            </a:avLst>
          </a:prstGeom>
          <a:solidFill>
            <a:srgbClr val="FBE9E1"/>
          </a:solidFill>
          <a:ln w="12700">
            <a:solidFill>
              <a:srgbClr val="FBE9E1"/>
            </a:solidFill>
            <a:prstDash val="solid"/>
          </a:ln>
        </p:spPr>
      </p:sp>
      <p:sp>
        <p:nvSpPr>
          <p:cNvPr id="3" name="preliminary text"/>
          <p:cNvSpPr txBox="1"/>
          <p:nvPr/>
        </p:nvSpPr>
        <p:spPr>
          <a:xfrm>
            <a:off x="7071055" y="73152"/>
            <a:ext cx="4480560" cy="246888"/>
          </a:xfrm>
          <a:prstGeom prst="rect">
            <a:avLst/>
          </a:prstGeom>
          <a:noFill/>
          <a:ln/>
        </p:spPr>
        <p:txBody>
          <a:bodyPr wrap="square" lIns="0" tIns="0" rIns="0" bIns="0" rtlCol="0" anchor="ctr"/>
          <a:lstStyle/>
          <a:p>
            <a:pPr algn="ctr" indent="0" marL="0">
              <a:buNone/>
            </a:pPr>
            <a:r>
              <a:rPr lang="en-US" sz="900" b="1" dirty="0">
                <a:solidFill>
                  <a:srgbClr val="EB6834"/>
                </a:solidFill>
              </a:rPr>
              <a:t>PRELIMINARY  |  development split  |  full results in the manuscript in preparation</a:t>
            </a:r>
            <a:endParaRPr lang="en-US" sz="900" dirty="0"/>
          </a:p>
        </p:txBody>
      </p:sp>
      <p:sp>
        <p:nvSpPr>
          <p:cNvPr id="4"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Preliminary result 3: on MIMIC-IV the warning has positive utility, where the challenge winner collapsed on an unseen hospital</a:t>
            </a:r>
            <a:endParaRPr lang="en-US" sz="2600" dirty="0"/>
          </a:p>
        </p:txBody>
      </p:sp>
      <p:graphicFrame>
        <p:nvGraphicFramePr>
          <p:cNvPr id="5" name="utility chart" descr=""/>
          <p:cNvGraphicFramePr/>
          <p:nvPr/>
        </p:nvGraphicFramePr>
        <p:xfrm>
          <a:off x="548640" y="137160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6" name="legend swatch"/>
          <p:cNvSpPr/>
          <p:nvPr/>
        </p:nvSpPr>
        <p:spPr>
          <a:xfrm>
            <a:off x="822960" y="5669280"/>
            <a:ext cx="256032" cy="182880"/>
          </a:xfrm>
          <a:prstGeom prst="rect">
            <a:avLst/>
          </a:prstGeom>
          <a:solidFill>
            <a:srgbClr val="EB6834"/>
          </a:solidFill>
          <a:ln w="12700">
            <a:solidFill>
              <a:srgbClr val="EB6834"/>
            </a:solidFill>
            <a:prstDash val="solid"/>
          </a:ln>
        </p:spPr>
      </p:sp>
      <p:sp>
        <p:nvSpPr>
          <p:cNvPr id="7" name="text"/>
          <p:cNvSpPr txBox="1"/>
          <p:nvPr/>
        </p:nvSpPr>
        <p:spPr>
          <a:xfrm>
            <a:off x="1170432" y="5614416"/>
            <a:ext cx="3017520" cy="292608"/>
          </a:xfrm>
          <a:prstGeom prst="rect">
            <a:avLst/>
          </a:prstGeom>
          <a:noFill/>
          <a:ln/>
        </p:spPr>
        <p:txBody>
          <a:bodyPr wrap="square" lIns="0" tIns="0" rIns="0" bIns="0" rtlCol="0" anchor="ctr"/>
          <a:lstStyle/>
          <a:p>
            <a:pPr algn="l" indent="0" marL="0">
              <a:buNone/>
            </a:pPr>
            <a:r>
              <a:rPr lang="en-US" sz="1100" dirty="0">
                <a:solidFill>
                  <a:srgbClr val="14213D"/>
                </a:solidFill>
              </a:rPr>
              <a:t>Published challenge entry (Reyna et al. 2020)</a:t>
            </a:r>
            <a:endParaRPr lang="en-US" sz="1100" dirty="0"/>
          </a:p>
        </p:txBody>
      </p:sp>
      <p:sp>
        <p:nvSpPr>
          <p:cNvPr id="8" name="legend swatch"/>
          <p:cNvSpPr/>
          <p:nvPr/>
        </p:nvSpPr>
        <p:spPr>
          <a:xfrm>
            <a:off x="4297680" y="5669280"/>
            <a:ext cx="256032" cy="182880"/>
          </a:xfrm>
          <a:prstGeom prst="rect">
            <a:avLst/>
          </a:prstGeom>
          <a:solidFill>
            <a:srgbClr val="2A78D6"/>
          </a:solidFill>
          <a:ln w="12700">
            <a:solidFill>
              <a:srgbClr val="2A78D6"/>
            </a:solidFill>
            <a:prstDash val="solid"/>
          </a:ln>
        </p:spPr>
      </p:sp>
      <p:sp>
        <p:nvSpPr>
          <p:cNvPr id="9" name="text"/>
          <p:cNvSpPr txBox="1"/>
          <p:nvPr/>
        </p:nvSpPr>
        <p:spPr>
          <a:xfrm>
            <a:off x="4645152" y="5614416"/>
            <a:ext cx="2560320" cy="292608"/>
          </a:xfrm>
          <a:prstGeom prst="rect">
            <a:avLst/>
          </a:prstGeom>
          <a:noFill/>
          <a:ln/>
        </p:spPr>
        <p:txBody>
          <a:bodyPr wrap="square" lIns="0" tIns="0" rIns="0" bIns="0" rtlCol="0" anchor="ctr"/>
          <a:lstStyle/>
          <a:p>
            <a:pPr algn="l" indent="0" marL="0">
              <a:buNone/>
            </a:pPr>
            <a:r>
              <a:rPr lang="en-US" sz="1100" dirty="0">
                <a:solidFill>
                  <a:srgbClr val="14213D"/>
                </a:solidFill>
              </a:rPr>
              <a:t>This project (causal evaluation)</a:t>
            </a:r>
            <a:endParaRPr lang="en-US" sz="1100" dirty="0"/>
          </a:p>
        </p:txBody>
      </p:sp>
      <p:sp>
        <p:nvSpPr>
          <p:cNvPr id="10" name="mimic panel"/>
          <p:cNvSpPr/>
          <p:nvPr/>
        </p:nvSpPr>
        <p:spPr>
          <a:xfrm>
            <a:off x="7452360" y="1371600"/>
            <a:ext cx="4190695" cy="4480560"/>
          </a:xfrm>
          <a:prstGeom prst="roundRect">
            <a:avLst>
              <a:gd name="adj" fmla="val 1746"/>
            </a:avLst>
          </a:prstGeom>
          <a:solidFill>
            <a:srgbClr val="EEF3F7"/>
          </a:solidFill>
          <a:ln w="9525">
            <a:solidFill>
              <a:srgbClr val="EEF3F7"/>
            </a:solidFill>
            <a:prstDash val="solid"/>
          </a:ln>
        </p:spPr>
      </p:sp>
      <p:sp>
        <p:nvSpPr>
          <p:cNvPr id="11" name="text"/>
          <p:cNvSpPr txBox="1"/>
          <p:nvPr/>
        </p:nvSpPr>
        <p:spPr>
          <a:xfrm>
            <a:off x="7635240" y="1463040"/>
            <a:ext cx="3931920" cy="320040"/>
          </a:xfrm>
          <a:prstGeom prst="rect">
            <a:avLst/>
          </a:prstGeom>
          <a:noFill/>
          <a:ln/>
        </p:spPr>
        <p:txBody>
          <a:bodyPr wrap="square" lIns="0" tIns="0" rIns="0" bIns="0" rtlCol="0" anchor="t"/>
          <a:lstStyle/>
          <a:p>
            <a:pPr algn="l" indent="0" marL="0">
              <a:buNone/>
            </a:pPr>
            <a:r>
              <a:rPr lang="en-US" sz="1400" b="1" dirty="0">
                <a:solidFill>
                  <a:srgbClr val="14213D"/>
                </a:solidFill>
              </a:rPr>
              <a:t>MIMIC-IV development test split</a:t>
            </a:r>
            <a:endParaRPr lang="en-US" sz="1400" dirty="0"/>
          </a:p>
        </p:txBody>
      </p:sp>
      <p:sp>
        <p:nvSpPr>
          <p:cNvPr id="12" name="text"/>
          <p:cNvSpPr txBox="1"/>
          <p:nvPr/>
        </p:nvSpPr>
        <p:spPr>
          <a:xfrm>
            <a:off x="7635240" y="1783080"/>
            <a:ext cx="3931920" cy="457200"/>
          </a:xfrm>
          <a:prstGeom prst="rect">
            <a:avLst/>
          </a:prstGeom>
          <a:noFill/>
          <a:ln/>
        </p:spPr>
        <p:txBody>
          <a:bodyPr wrap="square" lIns="0" tIns="0" rIns="0" bIns="0" rtlCol="0" anchor="t"/>
          <a:lstStyle/>
          <a:p>
            <a:pPr algn="l" indent="0" marL="0">
              <a:buNone/>
            </a:pPr>
            <a:r>
              <a:rPr lang="en-US" sz="1150" dirty="0">
                <a:solidFill>
                  <a:srgbClr val="5C677D"/>
                </a:solidFill>
              </a:rPr>
              <a:t>1,422 stays, 63,488 hours, 71 sepsis events; 0.65 % of hours are positive</a:t>
            </a:r>
            <a:endParaRPr lang="en-US" sz="1150" dirty="0"/>
          </a:p>
        </p:txBody>
      </p:sp>
      <p:sp>
        <p:nvSpPr>
          <p:cNvPr id="13" name="stat card"/>
          <p:cNvSpPr/>
          <p:nvPr/>
        </p:nvSpPr>
        <p:spPr>
          <a:xfrm>
            <a:off x="7635240" y="2286000"/>
            <a:ext cx="1874520" cy="1143000"/>
          </a:xfrm>
          <a:prstGeom prst="roundRect">
            <a:avLst>
              <a:gd name="adj" fmla="val 6400"/>
            </a:avLst>
          </a:prstGeom>
          <a:solidFill>
            <a:srgbClr val="FFFFFF"/>
          </a:solidFill>
          <a:ln w="9525">
            <a:solidFill>
              <a:srgbClr val="FFFFFF"/>
            </a:solidFill>
            <a:prstDash val="solid"/>
          </a:ln>
        </p:spPr>
      </p:sp>
      <p:sp>
        <p:nvSpPr>
          <p:cNvPr id="14" name="stat number"/>
          <p:cNvSpPr txBox="1"/>
          <p:nvPr/>
        </p:nvSpPr>
        <p:spPr>
          <a:xfrm>
            <a:off x="7818120" y="2423160"/>
            <a:ext cx="1508760" cy="571500"/>
          </a:xfrm>
          <a:prstGeom prst="rect">
            <a:avLst/>
          </a:prstGeom>
          <a:noFill/>
          <a:ln/>
        </p:spPr>
        <p:txBody>
          <a:bodyPr wrap="square" lIns="0" tIns="0" rIns="0" bIns="0" rtlCol="0" anchor="ctr"/>
          <a:lstStyle/>
          <a:p>
            <a:pPr algn="l" indent="0" marL="0">
              <a:buNone/>
            </a:pPr>
            <a:r>
              <a:rPr lang="en-US" sz="2800" b="1" dirty="0">
                <a:solidFill>
                  <a:srgbClr val="2A78D6"/>
                </a:solidFill>
                <a:latin typeface="Cambria" pitchFamily="34" charset="0"/>
                <a:ea typeface="Cambria" pitchFamily="34" charset="-122"/>
                <a:cs typeface="Cambria" pitchFamily="34" charset="-120"/>
              </a:rPr>
              <a:t>0.81</a:t>
            </a:r>
            <a:endParaRPr lang="en-US" sz="2800" dirty="0"/>
          </a:p>
        </p:txBody>
      </p:sp>
      <p:sp>
        <p:nvSpPr>
          <p:cNvPr id="15" name="stat label"/>
          <p:cNvSpPr txBox="1"/>
          <p:nvPr/>
        </p:nvSpPr>
        <p:spPr>
          <a:xfrm>
            <a:off x="7818120" y="2967228"/>
            <a:ext cx="1508760" cy="342900"/>
          </a:xfrm>
          <a:prstGeom prst="rect">
            <a:avLst/>
          </a:prstGeom>
          <a:noFill/>
          <a:ln/>
        </p:spPr>
        <p:txBody>
          <a:bodyPr wrap="square" lIns="0" tIns="0" rIns="0" bIns="0" rtlCol="0" anchor="t"/>
          <a:lstStyle/>
          <a:p>
            <a:pPr algn="l" indent="0" marL="0">
              <a:buNone/>
            </a:pPr>
            <a:r>
              <a:rPr lang="en-US" sz="1050" dirty="0">
                <a:solidFill>
                  <a:srgbClr val="14213D"/>
                </a:solidFill>
              </a:rPr>
              <a:t>hourly AUROC, 3 seeds (SD 0.01)</a:t>
            </a:r>
            <a:endParaRPr lang="en-US" sz="1050" dirty="0"/>
          </a:p>
        </p:txBody>
      </p:sp>
      <p:sp>
        <p:nvSpPr>
          <p:cNvPr id="16" name="stat card"/>
          <p:cNvSpPr/>
          <p:nvPr/>
        </p:nvSpPr>
        <p:spPr>
          <a:xfrm>
            <a:off x="9646920" y="2286000"/>
            <a:ext cx="1828800" cy="1143000"/>
          </a:xfrm>
          <a:prstGeom prst="roundRect">
            <a:avLst>
              <a:gd name="adj" fmla="val 6400"/>
            </a:avLst>
          </a:prstGeom>
          <a:solidFill>
            <a:srgbClr val="FFFFFF"/>
          </a:solidFill>
          <a:ln w="9525">
            <a:solidFill>
              <a:srgbClr val="FFFFFF"/>
            </a:solidFill>
            <a:prstDash val="solid"/>
          </a:ln>
        </p:spPr>
      </p:sp>
      <p:sp>
        <p:nvSpPr>
          <p:cNvPr id="17" name="stat number"/>
          <p:cNvSpPr txBox="1"/>
          <p:nvPr/>
        </p:nvSpPr>
        <p:spPr>
          <a:xfrm>
            <a:off x="9829800" y="2423160"/>
            <a:ext cx="1463040" cy="571500"/>
          </a:xfrm>
          <a:prstGeom prst="rect">
            <a:avLst/>
          </a:prstGeom>
          <a:noFill/>
          <a:ln/>
        </p:spPr>
        <p:txBody>
          <a:bodyPr wrap="square" lIns="0" tIns="0" rIns="0" bIns="0" rtlCol="0" anchor="ctr"/>
          <a:lstStyle/>
          <a:p>
            <a:pPr algn="l" indent="0" marL="0">
              <a:buNone/>
            </a:pPr>
            <a:r>
              <a:rPr lang="en-US" sz="2800" b="1" dirty="0">
                <a:solidFill>
                  <a:srgbClr val="2A78D6"/>
                </a:solidFill>
                <a:latin typeface="Cambria" pitchFamily="34" charset="0"/>
                <a:ea typeface="Cambria" pitchFamily="34" charset="-122"/>
                <a:cs typeface="Cambria" pitchFamily="34" charset="-120"/>
              </a:rPr>
              <a:t>5 h</a:t>
            </a:r>
            <a:endParaRPr lang="en-US" sz="2800" dirty="0"/>
          </a:p>
        </p:txBody>
      </p:sp>
      <p:sp>
        <p:nvSpPr>
          <p:cNvPr id="18" name="stat label"/>
          <p:cNvSpPr txBox="1"/>
          <p:nvPr/>
        </p:nvSpPr>
        <p:spPr>
          <a:xfrm>
            <a:off x="9829800" y="2967228"/>
            <a:ext cx="1463040" cy="342900"/>
          </a:xfrm>
          <a:prstGeom prst="rect">
            <a:avLst/>
          </a:prstGeom>
          <a:noFill/>
          <a:ln/>
        </p:spPr>
        <p:txBody>
          <a:bodyPr wrap="square" lIns="0" tIns="0" rIns="0" bIns="0" rtlCol="0" anchor="t"/>
          <a:lstStyle/>
          <a:p>
            <a:pPr algn="l" indent="0" marL="0">
              <a:buNone/>
            </a:pPr>
            <a:r>
              <a:rPr lang="en-US" sz="1050" dirty="0">
                <a:solidFill>
                  <a:srgbClr val="14213D"/>
                </a:solidFill>
              </a:rPr>
              <a:t>median warning before onset</a:t>
            </a:r>
            <a:endParaRPr lang="en-US" sz="1050" dirty="0"/>
          </a:p>
        </p:txBody>
      </p:sp>
      <p:sp>
        <p:nvSpPr>
          <p:cNvPr id="19" name="stat card"/>
          <p:cNvSpPr/>
          <p:nvPr/>
        </p:nvSpPr>
        <p:spPr>
          <a:xfrm>
            <a:off x="7635240" y="3566160"/>
            <a:ext cx="1874520" cy="1143000"/>
          </a:xfrm>
          <a:prstGeom prst="roundRect">
            <a:avLst>
              <a:gd name="adj" fmla="val 6400"/>
            </a:avLst>
          </a:prstGeom>
          <a:solidFill>
            <a:srgbClr val="FFFFFF"/>
          </a:solidFill>
          <a:ln w="9525">
            <a:solidFill>
              <a:srgbClr val="FFFFFF"/>
            </a:solidFill>
            <a:prstDash val="solid"/>
          </a:ln>
        </p:spPr>
      </p:sp>
      <p:sp>
        <p:nvSpPr>
          <p:cNvPr id="20" name="stat number"/>
          <p:cNvSpPr txBox="1"/>
          <p:nvPr/>
        </p:nvSpPr>
        <p:spPr>
          <a:xfrm>
            <a:off x="7818120" y="3703320"/>
            <a:ext cx="1508760" cy="571500"/>
          </a:xfrm>
          <a:prstGeom prst="rect">
            <a:avLst/>
          </a:prstGeom>
          <a:noFill/>
          <a:ln/>
        </p:spPr>
        <p:txBody>
          <a:bodyPr wrap="square" lIns="0" tIns="0" rIns="0" bIns="0" rtlCol="0" anchor="ctr"/>
          <a:lstStyle/>
          <a:p>
            <a:pPr algn="l" indent="0" marL="0">
              <a:buNone/>
            </a:pPr>
            <a:r>
              <a:rPr lang="en-US" sz="2800" b="1" dirty="0">
                <a:solidFill>
                  <a:srgbClr val="2A78D6"/>
                </a:solidFill>
                <a:latin typeface="Cambria" pitchFamily="34" charset="0"/>
                <a:ea typeface="Cambria" pitchFamily="34" charset="-122"/>
                <a:cs typeface="Cambria" pitchFamily="34" charset="-120"/>
              </a:rPr>
              <a:t>1 in 2</a:t>
            </a:r>
            <a:endParaRPr lang="en-US" sz="2800" dirty="0"/>
          </a:p>
        </p:txBody>
      </p:sp>
      <p:sp>
        <p:nvSpPr>
          <p:cNvPr id="21" name="stat label"/>
          <p:cNvSpPr txBox="1"/>
          <p:nvPr/>
        </p:nvSpPr>
        <p:spPr>
          <a:xfrm>
            <a:off x="7818120" y="4247388"/>
            <a:ext cx="1508760" cy="342900"/>
          </a:xfrm>
          <a:prstGeom prst="rect">
            <a:avLst/>
          </a:prstGeom>
          <a:noFill/>
          <a:ln/>
        </p:spPr>
        <p:txBody>
          <a:bodyPr wrap="square" lIns="0" tIns="0" rIns="0" bIns="0" rtlCol="0" anchor="t"/>
          <a:lstStyle/>
          <a:p>
            <a:pPr algn="l" indent="0" marL="0">
              <a:buNone/>
            </a:pPr>
            <a:r>
              <a:rPr lang="en-US" sz="1050" dirty="0">
                <a:solidFill>
                  <a:srgbClr val="14213D"/>
                </a:solidFill>
              </a:rPr>
              <a:t>sepsis events caught at 0.5 false alarms per patient-day</a:t>
            </a:r>
            <a:endParaRPr lang="en-US" sz="1050" dirty="0"/>
          </a:p>
        </p:txBody>
      </p:sp>
      <p:sp>
        <p:nvSpPr>
          <p:cNvPr id="22" name="stat card"/>
          <p:cNvSpPr/>
          <p:nvPr/>
        </p:nvSpPr>
        <p:spPr>
          <a:xfrm>
            <a:off x="9646920" y="3566160"/>
            <a:ext cx="1828800" cy="1143000"/>
          </a:xfrm>
          <a:prstGeom prst="roundRect">
            <a:avLst>
              <a:gd name="adj" fmla="val 6400"/>
            </a:avLst>
          </a:prstGeom>
          <a:solidFill>
            <a:srgbClr val="FFFFFF"/>
          </a:solidFill>
          <a:ln w="9525">
            <a:solidFill>
              <a:srgbClr val="FFFFFF"/>
            </a:solidFill>
            <a:prstDash val="solid"/>
          </a:ln>
        </p:spPr>
      </p:sp>
      <p:sp>
        <p:nvSpPr>
          <p:cNvPr id="23" name="stat number"/>
          <p:cNvSpPr txBox="1"/>
          <p:nvPr/>
        </p:nvSpPr>
        <p:spPr>
          <a:xfrm>
            <a:off x="9829800" y="3703320"/>
            <a:ext cx="1463040" cy="571500"/>
          </a:xfrm>
          <a:prstGeom prst="rect">
            <a:avLst/>
          </a:prstGeom>
          <a:noFill/>
          <a:ln/>
        </p:spPr>
        <p:txBody>
          <a:bodyPr wrap="square" lIns="0" tIns="0" rIns="0" bIns="0" rtlCol="0" anchor="ctr"/>
          <a:lstStyle/>
          <a:p>
            <a:pPr algn="l" indent="0" marL="0">
              <a:buNone/>
            </a:pPr>
            <a:r>
              <a:rPr lang="en-US" sz="2800" b="1" dirty="0">
                <a:solidFill>
                  <a:srgbClr val="2A78D6"/>
                </a:solidFill>
                <a:latin typeface="Cambria" pitchFamily="34" charset="0"/>
                <a:ea typeface="Cambria" pitchFamily="34" charset="-122"/>
                <a:cs typeface="Cambria" pitchFamily="34" charset="-120"/>
              </a:rPr>
              <a:t>0.18</a:t>
            </a:r>
            <a:endParaRPr lang="en-US" sz="2800" dirty="0"/>
          </a:p>
        </p:txBody>
      </p:sp>
      <p:sp>
        <p:nvSpPr>
          <p:cNvPr id="24" name="stat label"/>
          <p:cNvSpPr txBox="1"/>
          <p:nvPr/>
        </p:nvSpPr>
        <p:spPr>
          <a:xfrm>
            <a:off x="9829800" y="4247388"/>
            <a:ext cx="1463040" cy="342900"/>
          </a:xfrm>
          <a:prstGeom prst="rect">
            <a:avLst/>
          </a:prstGeom>
          <a:noFill/>
          <a:ln/>
        </p:spPr>
        <p:txBody>
          <a:bodyPr wrap="square" lIns="0" tIns="0" rIns="0" bIns="0" rtlCol="0" anchor="t"/>
          <a:lstStyle/>
          <a:p>
            <a:pPr algn="l" indent="0" marL="0">
              <a:buNone/>
            </a:pPr>
            <a:r>
              <a:rPr lang="en-US" sz="1050" dirty="0">
                <a:solidFill>
                  <a:srgbClr val="14213D"/>
                </a:solidFill>
              </a:rPr>
              <a:t>utility, 95 % CI 0.08 to 0.27</a:t>
            </a:r>
            <a:endParaRPr lang="en-US" sz="1050" dirty="0"/>
          </a:p>
        </p:txBody>
      </p:sp>
      <p:sp>
        <p:nvSpPr>
          <p:cNvPr id="25" name="text"/>
          <p:cNvSpPr txBox="1"/>
          <p:nvPr/>
        </p:nvSpPr>
        <p:spPr>
          <a:xfrm>
            <a:off x="7635240" y="4846320"/>
            <a:ext cx="3824935" cy="914400"/>
          </a:xfrm>
          <a:prstGeom prst="rect">
            <a:avLst/>
          </a:prstGeom>
          <a:noFill/>
          <a:ln/>
        </p:spPr>
        <p:txBody>
          <a:bodyPr wrap="square" lIns="0" tIns="0" rIns="0" bIns="0" rtlCol="0" anchor="t"/>
          <a:lstStyle/>
          <a:p>
            <a:pPr algn="l" indent="0" marL="0">
              <a:buNone/>
            </a:pPr>
            <a:r>
              <a:rPr lang="en-US" sz="1050" i="1" dirty="0">
                <a:solidFill>
                  <a:srgbClr val="5C677D"/>
                </a:solidFill>
              </a:rPr>
              <a:t>Development split of a 10,000-stay sample, 1 to 3 seeds. The sealed 20 % holdout has not been opened. Our run of the winner's own method on MIMIC-IV is in progress.</a:t>
            </a:r>
            <a:endParaRPr lang="en-US" sz="10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reliminary tag"/>
          <p:cNvSpPr/>
          <p:nvPr/>
        </p:nvSpPr>
        <p:spPr>
          <a:xfrm>
            <a:off x="6979615" y="73152"/>
            <a:ext cx="4663440" cy="246888"/>
          </a:xfrm>
          <a:prstGeom prst="roundRect">
            <a:avLst>
              <a:gd name="adj" fmla="val 48148"/>
            </a:avLst>
          </a:prstGeom>
          <a:solidFill>
            <a:srgbClr val="FBE9E1"/>
          </a:solidFill>
          <a:ln w="12700">
            <a:solidFill>
              <a:srgbClr val="FBE9E1"/>
            </a:solidFill>
            <a:prstDash val="solid"/>
          </a:ln>
        </p:spPr>
      </p:sp>
      <p:sp>
        <p:nvSpPr>
          <p:cNvPr id="3" name="preliminary text"/>
          <p:cNvSpPr txBox="1"/>
          <p:nvPr/>
        </p:nvSpPr>
        <p:spPr>
          <a:xfrm>
            <a:off x="7071055" y="73152"/>
            <a:ext cx="4480560" cy="246888"/>
          </a:xfrm>
          <a:prstGeom prst="rect">
            <a:avLst/>
          </a:prstGeom>
          <a:noFill/>
          <a:ln/>
        </p:spPr>
        <p:txBody>
          <a:bodyPr wrap="square" lIns="0" tIns="0" rIns="0" bIns="0" rtlCol="0" anchor="ctr"/>
          <a:lstStyle/>
          <a:p>
            <a:pPr algn="ctr" indent="0" marL="0">
              <a:buNone/>
            </a:pPr>
            <a:r>
              <a:rPr lang="en-US" sz="900" b="1" dirty="0">
                <a:solidFill>
                  <a:srgbClr val="EB6834"/>
                </a:solidFill>
              </a:rPr>
              <a:t>PRELIMINARY  |  development split  |  full results in the manuscript in preparation</a:t>
            </a:r>
            <a:endParaRPr lang="en-US" sz="900" dirty="0"/>
          </a:p>
        </p:txBody>
      </p:sp>
      <p:sp>
        <p:nvSpPr>
          <p:cNvPr id="4"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Preliminary result 4: on 10,000 stays every architecture overfits within three epochs, so the next lever is scale</a:t>
            </a:r>
            <a:endParaRPr lang="en-US" sz="2600" dirty="0"/>
          </a:p>
        </p:txBody>
      </p:sp>
      <p:sp>
        <p:nvSpPr>
          <p:cNvPr id="5" name="evidence card"/>
          <p:cNvSpPr/>
          <p:nvPr/>
        </p:nvSpPr>
        <p:spPr>
          <a:xfrm>
            <a:off x="548640" y="1371600"/>
            <a:ext cx="5486400" cy="4480560"/>
          </a:xfrm>
          <a:prstGeom prst="roundRect">
            <a:avLst>
              <a:gd name="adj" fmla="val 1633"/>
            </a:avLst>
          </a:prstGeom>
          <a:solidFill>
            <a:srgbClr val="EEF3F7"/>
          </a:solidFill>
          <a:ln w="9525">
            <a:solidFill>
              <a:srgbClr val="EEF3F7"/>
            </a:solidFill>
            <a:prstDash val="solid"/>
          </a:ln>
        </p:spPr>
      </p:sp>
      <p:sp>
        <p:nvSpPr>
          <p:cNvPr id="6" name="text"/>
          <p:cNvSpPr txBox="1"/>
          <p:nvPr/>
        </p:nvSpPr>
        <p:spPr>
          <a:xfrm>
            <a:off x="731520" y="1481328"/>
            <a:ext cx="5120640" cy="320040"/>
          </a:xfrm>
          <a:prstGeom prst="rect">
            <a:avLst/>
          </a:prstGeom>
          <a:noFill/>
          <a:ln/>
        </p:spPr>
        <p:txBody>
          <a:bodyPr wrap="square" lIns="0" tIns="0" rIns="0" bIns="0" rtlCol="0" anchor="t"/>
          <a:lstStyle/>
          <a:p>
            <a:pPr algn="l" indent="0" marL="0">
              <a:buNone/>
            </a:pPr>
            <a:r>
              <a:rPr lang="en-US" sz="1400" b="1" dirty="0">
                <a:solidFill>
                  <a:srgbClr val="14213D"/>
                </a:solidFill>
              </a:rPr>
              <a:t>What the training records show</a:t>
            </a:r>
            <a:endParaRPr lang="en-US" sz="1400" dirty="0"/>
          </a:p>
        </p:txBody>
      </p:sp>
      <p:sp>
        <p:nvSpPr>
          <p:cNvPr id="7" name="text"/>
          <p:cNvSpPr txBox="1"/>
          <p:nvPr/>
        </p:nvSpPr>
        <p:spPr>
          <a:xfrm>
            <a:off x="731520" y="1920240"/>
            <a:ext cx="1463040" cy="731520"/>
          </a:xfrm>
          <a:prstGeom prst="rect">
            <a:avLst/>
          </a:prstGeom>
          <a:noFill/>
          <a:ln/>
        </p:spPr>
        <p:txBody>
          <a:bodyPr wrap="square" lIns="0" tIns="0" rIns="0" bIns="0" rtlCol="0" anchor="ctr"/>
          <a:lstStyle/>
          <a:p>
            <a:pPr algn="l" indent="0" marL="0">
              <a:buNone/>
            </a:pPr>
            <a:r>
              <a:rPr lang="en-US" sz="2200" b="1" dirty="0">
                <a:solidFill>
                  <a:srgbClr val="EB6834"/>
                </a:solidFill>
                <a:latin typeface="Cambria" pitchFamily="34" charset="0"/>
                <a:ea typeface="Cambria" pitchFamily="34" charset="-122"/>
                <a:cs typeface="Cambria" pitchFamily="34" charset="-120"/>
              </a:rPr>
              <a:t>1 to 3</a:t>
            </a:r>
            <a:endParaRPr lang="en-US" sz="2200" dirty="0"/>
          </a:p>
        </p:txBody>
      </p:sp>
      <p:sp>
        <p:nvSpPr>
          <p:cNvPr id="8" name="text"/>
          <p:cNvSpPr txBox="1"/>
          <p:nvPr/>
        </p:nvSpPr>
        <p:spPr>
          <a:xfrm>
            <a:off x="2286000" y="1920240"/>
            <a:ext cx="3566160" cy="868680"/>
          </a:xfrm>
          <a:prstGeom prst="rect">
            <a:avLst/>
          </a:prstGeom>
          <a:noFill/>
          <a:ln/>
        </p:spPr>
        <p:txBody>
          <a:bodyPr wrap="square" lIns="0" tIns="0" rIns="0" bIns="0" rtlCol="0" anchor="ctr"/>
          <a:lstStyle/>
          <a:p>
            <a:pPr algn="l" indent="0" marL="0">
              <a:buNone/>
            </a:pPr>
            <a:r>
              <a:rPr lang="en-US" sz="1200" dirty="0">
                <a:solidFill>
                  <a:srgbClr val="14213D"/>
                </a:solidFill>
              </a:rPr>
              <a:t>epochs to the best validation score for every rich-feature neural model, while training loss keeps falling</a:t>
            </a:r>
            <a:endParaRPr lang="en-US" sz="1200" dirty="0"/>
          </a:p>
        </p:txBody>
      </p:sp>
      <p:sp>
        <p:nvSpPr>
          <p:cNvPr id="9" name="text"/>
          <p:cNvSpPr txBox="1"/>
          <p:nvPr/>
        </p:nvSpPr>
        <p:spPr>
          <a:xfrm>
            <a:off x="731520" y="2880360"/>
            <a:ext cx="1463040" cy="731520"/>
          </a:xfrm>
          <a:prstGeom prst="rect">
            <a:avLst/>
          </a:prstGeom>
          <a:noFill/>
          <a:ln/>
        </p:spPr>
        <p:txBody>
          <a:bodyPr wrap="square" lIns="0" tIns="0" rIns="0" bIns="0" rtlCol="0" anchor="ctr"/>
          <a:lstStyle/>
          <a:p>
            <a:pPr algn="l" indent="0" marL="0">
              <a:buNone/>
            </a:pPr>
            <a:r>
              <a:rPr lang="en-US" sz="2200" b="1" dirty="0">
                <a:solidFill>
                  <a:srgbClr val="EB6834"/>
                </a:solidFill>
                <a:latin typeface="Cambria" pitchFamily="34" charset="0"/>
                <a:ea typeface="Cambria" pitchFamily="34" charset="-122"/>
                <a:cs typeface="Cambria" pitchFamily="34" charset="-120"/>
              </a:rPr>
              <a:t>175</a:t>
            </a:r>
            <a:endParaRPr lang="en-US" sz="2200" dirty="0"/>
          </a:p>
        </p:txBody>
      </p:sp>
      <p:sp>
        <p:nvSpPr>
          <p:cNvPr id="10" name="text"/>
          <p:cNvSpPr txBox="1"/>
          <p:nvPr/>
        </p:nvSpPr>
        <p:spPr>
          <a:xfrm>
            <a:off x="2286000" y="2880360"/>
            <a:ext cx="3566160" cy="868680"/>
          </a:xfrm>
          <a:prstGeom prst="rect">
            <a:avLst/>
          </a:prstGeom>
          <a:noFill/>
          <a:ln/>
        </p:spPr>
        <p:txBody>
          <a:bodyPr wrap="square" lIns="0" tIns="0" rIns="0" bIns="0" rtlCol="0" anchor="ctr"/>
          <a:lstStyle/>
          <a:p>
            <a:pPr algn="l" indent="0" marL="0">
              <a:buNone/>
            </a:pPr>
            <a:r>
              <a:rPr lang="en-US" sz="1200" dirty="0">
                <a:solidFill>
                  <a:srgbClr val="14213D"/>
                </a:solidFill>
              </a:rPr>
              <a:t>septic stays in a training split: too few for 300 to 600 predictors</a:t>
            </a:r>
            <a:endParaRPr lang="en-US" sz="1200" dirty="0"/>
          </a:p>
        </p:txBody>
      </p:sp>
      <p:sp>
        <p:nvSpPr>
          <p:cNvPr id="11" name="text"/>
          <p:cNvSpPr txBox="1"/>
          <p:nvPr/>
        </p:nvSpPr>
        <p:spPr>
          <a:xfrm>
            <a:off x="731520" y="3840480"/>
            <a:ext cx="1463040" cy="731520"/>
          </a:xfrm>
          <a:prstGeom prst="rect">
            <a:avLst/>
          </a:prstGeom>
          <a:noFill/>
          <a:ln/>
        </p:spPr>
        <p:txBody>
          <a:bodyPr wrap="square" lIns="0" tIns="0" rIns="0" bIns="0" rtlCol="0" anchor="ctr"/>
          <a:lstStyle/>
          <a:p>
            <a:pPr algn="l" indent="0" marL="0">
              <a:buNone/>
            </a:pPr>
            <a:r>
              <a:rPr lang="en-US" sz="2200" b="1" dirty="0">
                <a:solidFill>
                  <a:srgbClr val="EB6834"/>
                </a:solidFill>
                <a:latin typeface="Cambria" pitchFamily="34" charset="0"/>
                <a:ea typeface="Cambria" pitchFamily="34" charset="-122"/>
                <a:cs typeface="Cambria" pitchFamily="34" charset="-120"/>
              </a:rPr>
              <a:t>0.80 to 0.81</a:t>
            </a:r>
            <a:endParaRPr lang="en-US" sz="2200" dirty="0"/>
          </a:p>
        </p:txBody>
      </p:sp>
      <p:sp>
        <p:nvSpPr>
          <p:cNvPr id="12" name="text"/>
          <p:cNvSpPr txBox="1"/>
          <p:nvPr/>
        </p:nvSpPr>
        <p:spPr>
          <a:xfrm>
            <a:off x="2286000" y="3840480"/>
            <a:ext cx="3566160" cy="868680"/>
          </a:xfrm>
          <a:prstGeom prst="rect">
            <a:avLst/>
          </a:prstGeom>
          <a:noFill/>
          <a:ln/>
        </p:spPr>
        <p:txBody>
          <a:bodyPr wrap="square" lIns="0" tIns="0" rIns="0" bIns="0" rtlCol="0" anchor="ctr"/>
          <a:lstStyle/>
          <a:p>
            <a:pPr algn="l" indent="0" marL="0">
              <a:buNone/>
            </a:pPr>
            <a:r>
              <a:rPr lang="en-US" sz="1200" dirty="0">
                <a:solidFill>
                  <a:srgbClr val="14213D"/>
                </a:solidFill>
              </a:rPr>
              <a:t>AUROC for OSTA, CNN-Transformer, output fusion and gated variants: differences smaller than seed noise (SD 0.012)</a:t>
            </a:r>
            <a:endParaRPr lang="en-US" sz="1200" dirty="0"/>
          </a:p>
        </p:txBody>
      </p:sp>
      <p:sp>
        <p:nvSpPr>
          <p:cNvPr id="13" name="text"/>
          <p:cNvSpPr txBox="1"/>
          <p:nvPr/>
        </p:nvSpPr>
        <p:spPr>
          <a:xfrm>
            <a:off x="731520" y="4800600"/>
            <a:ext cx="1463040" cy="731520"/>
          </a:xfrm>
          <a:prstGeom prst="rect">
            <a:avLst/>
          </a:prstGeom>
          <a:noFill/>
          <a:ln/>
        </p:spPr>
        <p:txBody>
          <a:bodyPr wrap="square" lIns="0" tIns="0" rIns="0" bIns="0" rtlCol="0" anchor="ctr"/>
          <a:lstStyle/>
          <a:p>
            <a:pPr algn="l" indent="0" marL="0">
              <a:buNone/>
            </a:pPr>
            <a:r>
              <a:rPr lang="en-US" sz="2200" b="1" dirty="0">
                <a:solidFill>
                  <a:srgbClr val="EB6834"/>
                </a:solidFill>
                <a:latin typeface="Cambria" pitchFamily="34" charset="0"/>
                <a:ea typeface="Cambria" pitchFamily="34" charset="-122"/>
                <a:cs typeface="Cambria" pitchFamily="34" charset="-120"/>
              </a:rPr>
              <a:t>= 0</a:t>
            </a:r>
            <a:endParaRPr lang="en-US" sz="2200" dirty="0"/>
          </a:p>
        </p:txBody>
      </p:sp>
      <p:sp>
        <p:nvSpPr>
          <p:cNvPr id="14" name="text"/>
          <p:cNvSpPr txBox="1"/>
          <p:nvPr/>
        </p:nvSpPr>
        <p:spPr>
          <a:xfrm>
            <a:off x="2286000" y="4800600"/>
            <a:ext cx="3566160" cy="868680"/>
          </a:xfrm>
          <a:prstGeom prst="rect">
            <a:avLst/>
          </a:prstGeom>
          <a:noFill/>
          <a:ln/>
        </p:spPr>
        <p:txBody>
          <a:bodyPr wrap="square" lIns="0" tIns="0" rIns="0" bIns="0" rtlCol="0" anchor="ctr"/>
          <a:lstStyle/>
          <a:p>
            <a:pPr algn="l" indent="0" marL="0">
              <a:buNone/>
            </a:pPr>
            <a:r>
              <a:rPr lang="en-US" sz="1200" dirty="0">
                <a:solidFill>
                  <a:srgbClr val="14213D"/>
                </a:solidFill>
              </a:rPr>
              <a:t>difference between OSTA with and without attention gates: the checkpoint is the first epoch either way</a:t>
            </a:r>
            <a:endParaRPr lang="en-US" sz="1200" dirty="0"/>
          </a:p>
        </p:txBody>
      </p:sp>
      <p:sp>
        <p:nvSpPr>
          <p:cNvPr id="15" name="response card"/>
          <p:cNvSpPr/>
          <p:nvPr/>
        </p:nvSpPr>
        <p:spPr>
          <a:xfrm>
            <a:off x="6263640" y="1371600"/>
            <a:ext cx="5379415" cy="4480560"/>
          </a:xfrm>
          <a:prstGeom prst="roundRect">
            <a:avLst>
              <a:gd name="adj" fmla="val 1633"/>
            </a:avLst>
          </a:prstGeom>
          <a:solidFill>
            <a:srgbClr val="FFFFFF"/>
          </a:solidFill>
          <a:ln w="9525">
            <a:solidFill>
              <a:srgbClr val="D5DCE4"/>
            </a:solidFill>
            <a:prstDash val="solid"/>
          </a:ln>
        </p:spPr>
      </p:sp>
      <p:sp>
        <p:nvSpPr>
          <p:cNvPr id="16" name="text"/>
          <p:cNvSpPr txBox="1"/>
          <p:nvPr/>
        </p:nvSpPr>
        <p:spPr>
          <a:xfrm>
            <a:off x="6446520" y="1481328"/>
            <a:ext cx="5029200" cy="320040"/>
          </a:xfrm>
          <a:prstGeom prst="rect">
            <a:avLst/>
          </a:prstGeom>
          <a:noFill/>
          <a:ln/>
        </p:spPr>
        <p:txBody>
          <a:bodyPr wrap="square" lIns="0" tIns="0" rIns="0" bIns="0" rtlCol="0" anchor="t"/>
          <a:lstStyle/>
          <a:p>
            <a:pPr algn="l" indent="0" marL="0">
              <a:buNone/>
            </a:pPr>
            <a:r>
              <a:rPr lang="en-US" sz="1400" b="1" dirty="0">
                <a:solidFill>
                  <a:srgbClr val="14213D"/>
                </a:solidFill>
              </a:rPr>
              <a:t>What this changes</a:t>
            </a:r>
            <a:endParaRPr lang="en-US" sz="1400" dirty="0"/>
          </a:p>
        </p:txBody>
      </p:sp>
      <p:sp>
        <p:nvSpPr>
          <p:cNvPr id="17" name="icon circle"/>
          <p:cNvSpPr/>
          <p:nvPr/>
        </p:nvSpPr>
        <p:spPr>
          <a:xfrm>
            <a:off x="6446520" y="2029968"/>
            <a:ext cx="530352" cy="530352"/>
          </a:xfrm>
          <a:prstGeom prst="ellipse">
            <a:avLst/>
          </a:prstGeom>
          <a:solidFill>
            <a:srgbClr val="0E7C86"/>
          </a:solidFill>
          <a:ln w="12700">
            <a:solidFill>
              <a:srgbClr val="0E7C86"/>
            </a:solidFill>
            <a:prstDash val="solid"/>
          </a:ln>
        </p:spPr>
      </p:sp>
      <p:pic>
        <p:nvPicPr>
          <p:cNvPr id="18" name="icon" descr="preencoded.png">    </p:cNvPr>
          <p:cNvPicPr>
            <a:picLocks noChangeAspect="1"/>
          </p:cNvPicPr>
          <p:nvPr/>
        </p:nvPicPr>
        <p:blipFill>
          <a:blip r:embed="rId1"/>
          <a:stretch>
            <a:fillRect/>
          </a:stretch>
        </p:blipFill>
        <p:spPr>
          <a:xfrm>
            <a:off x="6573804" y="2157252"/>
            <a:ext cx="275783" cy="275783"/>
          </a:xfrm>
          <a:prstGeom prst="rect">
            <a:avLst/>
          </a:prstGeom>
        </p:spPr>
      </p:pic>
      <p:sp>
        <p:nvSpPr>
          <p:cNvPr id="19" name="text"/>
          <p:cNvSpPr txBox="1"/>
          <p:nvPr/>
        </p:nvSpPr>
        <p:spPr>
          <a:xfrm>
            <a:off x="7132320" y="1920240"/>
            <a:ext cx="4297680" cy="292608"/>
          </a:xfrm>
          <a:prstGeom prst="rect">
            <a:avLst/>
          </a:prstGeom>
          <a:noFill/>
          <a:ln/>
        </p:spPr>
        <p:txBody>
          <a:bodyPr wrap="square" lIns="0" tIns="0" rIns="0" bIns="0" rtlCol="0" anchor="t"/>
          <a:lstStyle/>
          <a:p>
            <a:pPr algn="l" indent="0" marL="0">
              <a:buNone/>
            </a:pPr>
            <a:r>
              <a:rPr lang="en-US" sz="1250" b="1" dirty="0">
                <a:solidFill>
                  <a:srgbClr val="14213D"/>
                </a:solidFill>
              </a:rPr>
              <a:t>Full cohort</a:t>
            </a:r>
            <a:endParaRPr lang="en-US" sz="1250" dirty="0"/>
          </a:p>
        </p:txBody>
      </p:sp>
      <p:sp>
        <p:nvSpPr>
          <p:cNvPr id="20" name="text"/>
          <p:cNvSpPr txBox="1"/>
          <p:nvPr/>
        </p:nvSpPr>
        <p:spPr>
          <a:xfrm>
            <a:off x="7132320" y="2212848"/>
            <a:ext cx="4297680" cy="640080"/>
          </a:xfrm>
          <a:prstGeom prst="rect">
            <a:avLst/>
          </a:prstGeom>
          <a:noFill/>
          <a:ln/>
        </p:spPr>
        <p:txBody>
          <a:bodyPr wrap="square" lIns="0" tIns="0" rIns="0" bIns="0" rtlCol="0" anchor="t"/>
          <a:lstStyle/>
          <a:p>
            <a:pPr algn="l" indent="0" marL="0">
              <a:buNone/>
            </a:pPr>
            <a:r>
              <a:rPr lang="en-US" sz="1100" dirty="0">
                <a:solidFill>
                  <a:srgbClr val="5C677D"/>
                </a:solidFill>
              </a:rPr>
              <a:t>about 94,000 MIMIC-IV and 201,000 eICU stays: roughly nine times more sepsis cases than the samples used so far, three seeds</a:t>
            </a:r>
            <a:endParaRPr lang="en-US" sz="1100" dirty="0"/>
          </a:p>
        </p:txBody>
      </p:sp>
      <p:sp>
        <p:nvSpPr>
          <p:cNvPr id="21" name="icon circle"/>
          <p:cNvSpPr/>
          <p:nvPr/>
        </p:nvSpPr>
        <p:spPr>
          <a:xfrm>
            <a:off x="6446520" y="2990088"/>
            <a:ext cx="530352" cy="530352"/>
          </a:xfrm>
          <a:prstGeom prst="ellipse">
            <a:avLst/>
          </a:prstGeom>
          <a:solidFill>
            <a:srgbClr val="0E7C86"/>
          </a:solidFill>
          <a:ln w="12700">
            <a:solidFill>
              <a:srgbClr val="0E7C86"/>
            </a:solidFill>
            <a:prstDash val="solid"/>
          </a:ln>
        </p:spPr>
      </p:sp>
      <p:pic>
        <p:nvPicPr>
          <p:cNvPr id="22" name="icon" descr="preencoded.png">    </p:cNvPr>
          <p:cNvPicPr>
            <a:picLocks noChangeAspect="1"/>
          </p:cNvPicPr>
          <p:nvPr/>
        </p:nvPicPr>
        <p:blipFill>
          <a:blip r:embed="rId2"/>
          <a:stretch>
            <a:fillRect/>
          </a:stretch>
        </p:blipFill>
        <p:spPr>
          <a:xfrm>
            <a:off x="6573804" y="3117372"/>
            <a:ext cx="275783" cy="275783"/>
          </a:xfrm>
          <a:prstGeom prst="rect">
            <a:avLst/>
          </a:prstGeom>
        </p:spPr>
      </p:pic>
      <p:sp>
        <p:nvSpPr>
          <p:cNvPr id="23" name="text"/>
          <p:cNvSpPr txBox="1"/>
          <p:nvPr/>
        </p:nvSpPr>
        <p:spPr>
          <a:xfrm>
            <a:off x="7132320" y="2880360"/>
            <a:ext cx="4297680" cy="292608"/>
          </a:xfrm>
          <a:prstGeom prst="rect">
            <a:avLst/>
          </a:prstGeom>
          <a:noFill/>
          <a:ln/>
        </p:spPr>
        <p:txBody>
          <a:bodyPr wrap="square" lIns="0" tIns="0" rIns="0" bIns="0" rtlCol="0" anchor="t"/>
          <a:lstStyle/>
          <a:p>
            <a:pPr algn="l" indent="0" marL="0">
              <a:buNone/>
            </a:pPr>
            <a:r>
              <a:rPr lang="en-US" sz="1250" b="1" dirty="0">
                <a:solidFill>
                  <a:srgbClr val="14213D"/>
                </a:solidFill>
              </a:rPr>
              <a:t>Self-supervised pretraining</a:t>
            </a:r>
            <a:endParaRPr lang="en-US" sz="1250" dirty="0"/>
          </a:p>
        </p:txBody>
      </p:sp>
      <p:sp>
        <p:nvSpPr>
          <p:cNvPr id="24" name="text"/>
          <p:cNvSpPr txBox="1"/>
          <p:nvPr/>
        </p:nvSpPr>
        <p:spPr>
          <a:xfrm>
            <a:off x="7132320" y="3172968"/>
            <a:ext cx="4297680" cy="640080"/>
          </a:xfrm>
          <a:prstGeom prst="rect">
            <a:avLst/>
          </a:prstGeom>
          <a:noFill/>
          <a:ln/>
        </p:spPr>
        <p:txBody>
          <a:bodyPr wrap="square" lIns="0" tIns="0" rIns="0" bIns="0" rtlCol="0" anchor="t"/>
          <a:lstStyle/>
          <a:p>
            <a:pPr algn="l" indent="0" marL="0">
              <a:buNone/>
            </a:pPr>
            <a:r>
              <a:rPr lang="en-US" sz="1100" dirty="0">
                <a:solidFill>
                  <a:srgbClr val="5C677D"/>
                </a:solidFill>
              </a:rPr>
              <a:t>the encoder first learns from up to 150,000 unlabelled stays to forecast the next value and organ worsening, without sepsis labels</a:t>
            </a:r>
            <a:endParaRPr lang="en-US" sz="1100" dirty="0"/>
          </a:p>
        </p:txBody>
      </p:sp>
      <p:sp>
        <p:nvSpPr>
          <p:cNvPr id="25" name="icon circle"/>
          <p:cNvSpPr/>
          <p:nvPr/>
        </p:nvSpPr>
        <p:spPr>
          <a:xfrm>
            <a:off x="6446520" y="3950208"/>
            <a:ext cx="530352" cy="530352"/>
          </a:xfrm>
          <a:prstGeom prst="ellipse">
            <a:avLst/>
          </a:prstGeom>
          <a:solidFill>
            <a:srgbClr val="0E7C86"/>
          </a:solidFill>
          <a:ln w="12700">
            <a:solidFill>
              <a:srgbClr val="0E7C86"/>
            </a:solidFill>
            <a:prstDash val="solid"/>
          </a:ln>
        </p:spPr>
      </p:sp>
      <p:pic>
        <p:nvPicPr>
          <p:cNvPr id="26" name="icon" descr="preencoded.png">    </p:cNvPr>
          <p:cNvPicPr>
            <a:picLocks noChangeAspect="1"/>
          </p:cNvPicPr>
          <p:nvPr/>
        </p:nvPicPr>
        <p:blipFill>
          <a:blip r:embed="rId3"/>
          <a:stretch>
            <a:fillRect/>
          </a:stretch>
        </p:blipFill>
        <p:spPr>
          <a:xfrm>
            <a:off x="6573804" y="4077492"/>
            <a:ext cx="275783" cy="275783"/>
          </a:xfrm>
          <a:prstGeom prst="rect">
            <a:avLst/>
          </a:prstGeom>
        </p:spPr>
      </p:pic>
      <p:sp>
        <p:nvSpPr>
          <p:cNvPr id="27" name="text"/>
          <p:cNvSpPr txBox="1"/>
          <p:nvPr/>
        </p:nvSpPr>
        <p:spPr>
          <a:xfrm>
            <a:off x="7132320" y="3840480"/>
            <a:ext cx="4297680" cy="292608"/>
          </a:xfrm>
          <a:prstGeom prst="rect">
            <a:avLst/>
          </a:prstGeom>
          <a:noFill/>
          <a:ln/>
        </p:spPr>
        <p:txBody>
          <a:bodyPr wrap="square" lIns="0" tIns="0" rIns="0" bIns="0" rtlCol="0" anchor="t"/>
          <a:lstStyle/>
          <a:p>
            <a:pPr algn="l" indent="0" marL="0">
              <a:buNone/>
            </a:pPr>
            <a:r>
              <a:rPr lang="en-US" sz="1250" b="1" dirty="0">
                <a:solidFill>
                  <a:srgbClr val="14213D"/>
                </a:solidFill>
              </a:rPr>
              <a:t>Loss chosen by utility</a:t>
            </a:r>
            <a:endParaRPr lang="en-US" sz="1250" dirty="0"/>
          </a:p>
        </p:txBody>
      </p:sp>
      <p:sp>
        <p:nvSpPr>
          <p:cNvPr id="28" name="text"/>
          <p:cNvSpPr txBox="1"/>
          <p:nvPr/>
        </p:nvSpPr>
        <p:spPr>
          <a:xfrm>
            <a:off x="7132320" y="4133088"/>
            <a:ext cx="4297680" cy="640080"/>
          </a:xfrm>
          <a:prstGeom prst="rect">
            <a:avLst/>
          </a:prstGeom>
          <a:noFill/>
          <a:ln/>
        </p:spPr>
        <p:txBody>
          <a:bodyPr wrap="square" lIns="0" tIns="0" rIns="0" bIns="0" rtlCol="0" anchor="t"/>
          <a:lstStyle/>
          <a:p>
            <a:pPr algn="l" indent="0" marL="0">
              <a:buNone/>
            </a:pPr>
            <a:r>
              <a:rPr lang="en-US" sz="1100" dirty="0">
                <a:solidFill>
                  <a:srgbClr val="5C677D"/>
                </a:solidFill>
              </a:rPr>
              <a:t>utility-weighted training against plain and time-smoothed losses, selected on the validation split by a rule written in advance</a:t>
            </a:r>
            <a:endParaRPr lang="en-US" sz="1100" dirty="0"/>
          </a:p>
        </p:txBody>
      </p:sp>
      <p:sp>
        <p:nvSpPr>
          <p:cNvPr id="29" name="icon circle"/>
          <p:cNvSpPr/>
          <p:nvPr/>
        </p:nvSpPr>
        <p:spPr>
          <a:xfrm>
            <a:off x="6446520" y="4910328"/>
            <a:ext cx="530352" cy="530352"/>
          </a:xfrm>
          <a:prstGeom prst="ellipse">
            <a:avLst/>
          </a:prstGeom>
          <a:solidFill>
            <a:srgbClr val="0E7C86"/>
          </a:solidFill>
          <a:ln w="12700">
            <a:solidFill>
              <a:srgbClr val="0E7C86"/>
            </a:solidFill>
            <a:prstDash val="solid"/>
          </a:ln>
        </p:spPr>
      </p:sp>
      <p:pic>
        <p:nvPicPr>
          <p:cNvPr id="30" name="icon" descr="preencoded.png">    </p:cNvPr>
          <p:cNvPicPr>
            <a:picLocks noChangeAspect="1"/>
          </p:cNvPicPr>
          <p:nvPr/>
        </p:nvPicPr>
        <p:blipFill>
          <a:blip r:embed="rId4"/>
          <a:stretch>
            <a:fillRect/>
          </a:stretch>
        </p:blipFill>
        <p:spPr>
          <a:xfrm>
            <a:off x="6573804" y="5037612"/>
            <a:ext cx="275783" cy="275783"/>
          </a:xfrm>
          <a:prstGeom prst="rect">
            <a:avLst/>
          </a:prstGeom>
        </p:spPr>
      </p:pic>
      <p:sp>
        <p:nvSpPr>
          <p:cNvPr id="31" name="text"/>
          <p:cNvSpPr txBox="1"/>
          <p:nvPr/>
        </p:nvSpPr>
        <p:spPr>
          <a:xfrm>
            <a:off x="7132320" y="4800600"/>
            <a:ext cx="4297680" cy="292608"/>
          </a:xfrm>
          <a:prstGeom prst="rect">
            <a:avLst/>
          </a:prstGeom>
          <a:noFill/>
          <a:ln/>
        </p:spPr>
        <p:txBody>
          <a:bodyPr wrap="square" lIns="0" tIns="0" rIns="0" bIns="0" rtlCol="0" anchor="t"/>
          <a:lstStyle/>
          <a:p>
            <a:pPr algn="l" indent="0" marL="0">
              <a:buNone/>
            </a:pPr>
            <a:r>
              <a:rPr lang="en-US" sz="1250" b="1" dirty="0">
                <a:solidFill>
                  <a:srgbClr val="14213D"/>
                </a:solidFill>
              </a:rPr>
              <a:t>Running now</a:t>
            </a:r>
            <a:endParaRPr lang="en-US" sz="1250" dirty="0"/>
          </a:p>
        </p:txBody>
      </p:sp>
      <p:sp>
        <p:nvSpPr>
          <p:cNvPr id="32" name="text"/>
          <p:cNvSpPr txBox="1"/>
          <p:nvPr/>
        </p:nvSpPr>
        <p:spPr>
          <a:xfrm>
            <a:off x="7132320" y="5093208"/>
            <a:ext cx="4297680" cy="640080"/>
          </a:xfrm>
          <a:prstGeom prst="rect">
            <a:avLst/>
          </a:prstGeom>
          <a:noFill/>
          <a:ln/>
        </p:spPr>
        <p:txBody>
          <a:bodyPr wrap="square" lIns="0" tIns="0" rIns="0" bIns="0" rtlCol="0" anchor="t"/>
          <a:lstStyle/>
          <a:p>
            <a:pPr algn="l" indent="0" marL="0">
              <a:buNone/>
            </a:pPr>
            <a:r>
              <a:rPr lang="en-US" sz="1100" dirty="0">
                <a:solidFill>
                  <a:srgbClr val="5C677D"/>
                </a:solidFill>
              </a:rPr>
              <a:t>sixteen architectures, the organ-structure ablation and the challenge winner's method, on identical hours</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The contribution so far is an honest, transferable test of sepsis warnings, built by a clinician</a:t>
            </a:r>
            <a:endParaRPr lang="en-US" sz="2600" dirty="0"/>
          </a:p>
        </p:txBody>
      </p:sp>
      <p:sp>
        <p:nvSpPr>
          <p:cNvPr id="3" name="contribution card"/>
          <p:cNvSpPr/>
          <p:nvPr/>
        </p:nvSpPr>
        <p:spPr>
          <a:xfrm>
            <a:off x="548640" y="1463040"/>
            <a:ext cx="5440680" cy="2011680"/>
          </a:xfrm>
          <a:prstGeom prst="roundRect">
            <a:avLst>
              <a:gd name="adj" fmla="val 3636"/>
            </a:avLst>
          </a:prstGeom>
          <a:solidFill>
            <a:srgbClr val="EEF3F7"/>
          </a:solidFill>
          <a:ln w="9525">
            <a:solidFill>
              <a:srgbClr val="EEF3F7"/>
            </a:solidFill>
            <a:prstDash val="solid"/>
          </a:ln>
        </p:spPr>
      </p:sp>
      <p:sp>
        <p:nvSpPr>
          <p:cNvPr id="4" name="icon circle"/>
          <p:cNvSpPr/>
          <p:nvPr/>
        </p:nvSpPr>
        <p:spPr>
          <a:xfrm>
            <a:off x="731520" y="1664208"/>
            <a:ext cx="548640" cy="548640"/>
          </a:xfrm>
          <a:prstGeom prst="ellipse">
            <a:avLst/>
          </a:prstGeom>
          <a:solidFill>
            <a:srgbClr val="14213D"/>
          </a:solidFill>
          <a:ln w="12700">
            <a:solidFill>
              <a:srgbClr val="14213D"/>
            </a:solidFill>
            <a:prstDash val="solid"/>
          </a:ln>
        </p:spPr>
      </p:sp>
      <p:pic>
        <p:nvPicPr>
          <p:cNvPr id="5" name="icon" descr="preencoded.png">    </p:cNvPr>
          <p:cNvPicPr>
            <a:picLocks noChangeAspect="1"/>
          </p:cNvPicPr>
          <p:nvPr/>
        </p:nvPicPr>
        <p:blipFill>
          <a:blip r:embed="rId1"/>
          <a:stretch>
            <a:fillRect/>
          </a:stretch>
        </p:blipFill>
        <p:spPr>
          <a:xfrm>
            <a:off x="863194" y="1795882"/>
            <a:ext cx="285293" cy="285293"/>
          </a:xfrm>
          <a:prstGeom prst="rect">
            <a:avLst/>
          </a:prstGeom>
        </p:spPr>
      </p:pic>
      <p:sp>
        <p:nvSpPr>
          <p:cNvPr id="6" name="text"/>
          <p:cNvSpPr txBox="1"/>
          <p:nvPr/>
        </p:nvSpPr>
        <p:spPr>
          <a:xfrm>
            <a:off x="1417320" y="1645920"/>
            <a:ext cx="4389120" cy="594360"/>
          </a:xfrm>
          <a:prstGeom prst="rect">
            <a:avLst/>
          </a:prstGeom>
          <a:noFill/>
          <a:ln/>
        </p:spPr>
        <p:txBody>
          <a:bodyPr wrap="square" lIns="0" tIns="0" rIns="0" bIns="0" rtlCol="0" anchor="ctr"/>
          <a:lstStyle/>
          <a:p>
            <a:pPr algn="l" indent="0" marL="0">
              <a:buNone/>
            </a:pPr>
            <a:r>
              <a:rPr lang="en-US" sz="1400" b="1" dirty="0">
                <a:solidFill>
                  <a:srgbClr val="14213D"/>
                </a:solidFill>
              </a:rPr>
              <a:t>A causal, cross-database pipeline</a:t>
            </a:r>
            <a:endParaRPr lang="en-US" sz="1400" dirty="0"/>
          </a:p>
        </p:txBody>
      </p:sp>
      <p:sp>
        <p:nvSpPr>
          <p:cNvPr id="7" name="text"/>
          <p:cNvSpPr txBox="1"/>
          <p:nvPr/>
        </p:nvSpPr>
        <p:spPr>
          <a:xfrm>
            <a:off x="731520" y="2331720"/>
            <a:ext cx="5074920" cy="1097280"/>
          </a:xfrm>
          <a:prstGeom prst="rect">
            <a:avLst/>
          </a:prstGeom>
          <a:noFill/>
          <a:ln/>
        </p:spPr>
        <p:txBody>
          <a:bodyPr wrap="square" lIns="0" tIns="0" rIns="0" bIns="0" rtlCol="0" anchor="t"/>
          <a:lstStyle/>
          <a:p>
            <a:pPr algn="l" indent="0" marL="0">
              <a:buNone/>
            </a:pPr>
            <a:r>
              <a:rPr lang="en-US" sz="1150" dirty="0">
                <a:solidFill>
                  <a:srgbClr val="5C677D"/>
                </a:solidFill>
              </a:rPr>
              <a:t>one Sepsis-3 definition on two raw ICU databases; every value used from the hour it was known; 655 clinician-defined predictors; antibiotics handled by a guideline rule; proxies declared</a:t>
            </a:r>
            <a:endParaRPr lang="en-US" sz="1150" dirty="0"/>
          </a:p>
        </p:txBody>
      </p:sp>
      <p:sp>
        <p:nvSpPr>
          <p:cNvPr id="8" name="contribution card"/>
          <p:cNvSpPr/>
          <p:nvPr/>
        </p:nvSpPr>
        <p:spPr>
          <a:xfrm>
            <a:off x="6172200" y="1463040"/>
            <a:ext cx="5440680" cy="2011680"/>
          </a:xfrm>
          <a:prstGeom prst="roundRect">
            <a:avLst>
              <a:gd name="adj" fmla="val 3636"/>
            </a:avLst>
          </a:prstGeom>
          <a:solidFill>
            <a:srgbClr val="EEF3F7"/>
          </a:solidFill>
          <a:ln w="9525">
            <a:solidFill>
              <a:srgbClr val="EEF3F7"/>
            </a:solidFill>
            <a:prstDash val="solid"/>
          </a:ln>
        </p:spPr>
      </p:sp>
      <p:sp>
        <p:nvSpPr>
          <p:cNvPr id="9" name="icon circle"/>
          <p:cNvSpPr/>
          <p:nvPr/>
        </p:nvSpPr>
        <p:spPr>
          <a:xfrm>
            <a:off x="6355080" y="1664208"/>
            <a:ext cx="548640" cy="548640"/>
          </a:xfrm>
          <a:prstGeom prst="ellipse">
            <a:avLst/>
          </a:prstGeom>
          <a:solidFill>
            <a:srgbClr val="14213D"/>
          </a:solidFill>
          <a:ln w="12700">
            <a:solidFill>
              <a:srgbClr val="14213D"/>
            </a:solidFill>
            <a:prstDash val="solid"/>
          </a:ln>
        </p:spPr>
      </p:sp>
      <p:pic>
        <p:nvPicPr>
          <p:cNvPr id="10" name="icon" descr="preencoded.png">    </p:cNvPr>
          <p:cNvPicPr>
            <a:picLocks noChangeAspect="1"/>
          </p:cNvPicPr>
          <p:nvPr/>
        </p:nvPicPr>
        <p:blipFill>
          <a:blip r:embed="rId2"/>
          <a:stretch>
            <a:fillRect/>
          </a:stretch>
        </p:blipFill>
        <p:spPr>
          <a:xfrm>
            <a:off x="6486754" y="1795882"/>
            <a:ext cx="285293" cy="285293"/>
          </a:xfrm>
          <a:prstGeom prst="rect">
            <a:avLst/>
          </a:prstGeom>
        </p:spPr>
      </p:pic>
      <p:sp>
        <p:nvSpPr>
          <p:cNvPr id="11" name="text"/>
          <p:cNvSpPr txBox="1"/>
          <p:nvPr/>
        </p:nvSpPr>
        <p:spPr>
          <a:xfrm>
            <a:off x="7040880" y="1645920"/>
            <a:ext cx="4389120" cy="594360"/>
          </a:xfrm>
          <a:prstGeom prst="rect">
            <a:avLst/>
          </a:prstGeom>
          <a:noFill/>
          <a:ln/>
        </p:spPr>
        <p:txBody>
          <a:bodyPr wrap="square" lIns="0" tIns="0" rIns="0" bIns="0" rtlCol="0" anchor="ctr"/>
          <a:lstStyle/>
          <a:p>
            <a:pPr algn="l" indent="0" marL="0">
              <a:buNone/>
            </a:pPr>
            <a:r>
              <a:rPr lang="en-US" sz="1400" b="1" dirty="0">
                <a:solidFill>
                  <a:srgbClr val="14213D"/>
                </a:solidFill>
              </a:rPr>
              <a:t>Evaluation by what helps patients</a:t>
            </a:r>
            <a:endParaRPr lang="en-US" sz="1400" dirty="0"/>
          </a:p>
        </p:txBody>
      </p:sp>
      <p:sp>
        <p:nvSpPr>
          <p:cNvPr id="12" name="text"/>
          <p:cNvSpPr txBox="1"/>
          <p:nvPr/>
        </p:nvSpPr>
        <p:spPr>
          <a:xfrm>
            <a:off x="6355080" y="2331720"/>
            <a:ext cx="5074920" cy="1097280"/>
          </a:xfrm>
          <a:prstGeom prst="rect">
            <a:avLst/>
          </a:prstGeom>
          <a:noFill/>
          <a:ln/>
        </p:spPr>
        <p:txBody>
          <a:bodyPr wrap="square" lIns="0" tIns="0" rIns="0" bIns="0" rtlCol="0" anchor="t"/>
          <a:lstStyle/>
          <a:p>
            <a:pPr algn="l" indent="0" marL="0">
              <a:buNone/>
            </a:pPr>
            <a:r>
              <a:rPr lang="en-US" sz="1150" dirty="0">
                <a:solidFill>
                  <a:srgbClr val="5C677D"/>
                </a:solidFill>
              </a:rPr>
              <a:t>utility, false alarms per patient-day and warning time with patient-level confidence intervals; a 20 % holdout sealed until the protocol is frozen; nothing tuned on test data</a:t>
            </a:r>
            <a:endParaRPr lang="en-US" sz="1150" dirty="0"/>
          </a:p>
        </p:txBody>
      </p:sp>
      <p:sp>
        <p:nvSpPr>
          <p:cNvPr id="13" name="contribution card"/>
          <p:cNvSpPr/>
          <p:nvPr/>
        </p:nvSpPr>
        <p:spPr>
          <a:xfrm>
            <a:off x="548640" y="3657600"/>
            <a:ext cx="5440680" cy="2011680"/>
          </a:xfrm>
          <a:prstGeom prst="roundRect">
            <a:avLst>
              <a:gd name="adj" fmla="val 3636"/>
            </a:avLst>
          </a:prstGeom>
          <a:solidFill>
            <a:srgbClr val="EEF3F7"/>
          </a:solidFill>
          <a:ln w="9525">
            <a:solidFill>
              <a:srgbClr val="EEF3F7"/>
            </a:solidFill>
            <a:prstDash val="solid"/>
          </a:ln>
        </p:spPr>
      </p:sp>
      <p:sp>
        <p:nvSpPr>
          <p:cNvPr id="14" name="icon circle"/>
          <p:cNvSpPr/>
          <p:nvPr/>
        </p:nvSpPr>
        <p:spPr>
          <a:xfrm>
            <a:off x="731520" y="3858768"/>
            <a:ext cx="548640" cy="548640"/>
          </a:xfrm>
          <a:prstGeom prst="ellipse">
            <a:avLst/>
          </a:prstGeom>
          <a:solidFill>
            <a:srgbClr val="14213D"/>
          </a:solidFill>
          <a:ln w="12700">
            <a:solidFill>
              <a:srgbClr val="14213D"/>
            </a:solidFill>
            <a:prstDash val="solid"/>
          </a:ln>
        </p:spPr>
      </p:sp>
      <p:pic>
        <p:nvPicPr>
          <p:cNvPr id="15" name="icon" descr="preencoded.png">    </p:cNvPr>
          <p:cNvPicPr>
            <a:picLocks noChangeAspect="1"/>
          </p:cNvPicPr>
          <p:nvPr/>
        </p:nvPicPr>
        <p:blipFill>
          <a:blip r:embed="rId3"/>
          <a:stretch>
            <a:fillRect/>
          </a:stretch>
        </p:blipFill>
        <p:spPr>
          <a:xfrm>
            <a:off x="863194" y="3990442"/>
            <a:ext cx="285293" cy="285293"/>
          </a:xfrm>
          <a:prstGeom prst="rect">
            <a:avLst/>
          </a:prstGeom>
        </p:spPr>
      </p:pic>
      <p:sp>
        <p:nvSpPr>
          <p:cNvPr id="16" name="text"/>
          <p:cNvSpPr txBox="1"/>
          <p:nvPr/>
        </p:nvSpPr>
        <p:spPr>
          <a:xfrm>
            <a:off x="1417320" y="3840480"/>
            <a:ext cx="4389120" cy="594360"/>
          </a:xfrm>
          <a:prstGeom prst="rect">
            <a:avLst/>
          </a:prstGeom>
          <a:noFill/>
          <a:ln/>
        </p:spPr>
        <p:txBody>
          <a:bodyPr wrap="square" lIns="0" tIns="0" rIns="0" bIns="0" rtlCol="0" anchor="ctr"/>
          <a:lstStyle/>
          <a:p>
            <a:pPr algn="l" indent="0" marL="0">
              <a:buNone/>
            </a:pPr>
            <a:r>
              <a:rPr lang="en-US" sz="1400" b="1" dirty="0">
                <a:solidFill>
                  <a:srgbClr val="14213D"/>
                </a:solidFill>
              </a:rPr>
              <a:t>Three findings</a:t>
            </a:r>
            <a:endParaRPr lang="en-US" sz="1400" dirty="0"/>
          </a:p>
        </p:txBody>
      </p:sp>
      <p:sp>
        <p:nvSpPr>
          <p:cNvPr id="17" name="text"/>
          <p:cNvSpPr txBox="1"/>
          <p:nvPr/>
        </p:nvSpPr>
        <p:spPr>
          <a:xfrm>
            <a:off x="731520" y="4526280"/>
            <a:ext cx="5074920" cy="1097280"/>
          </a:xfrm>
          <a:prstGeom prst="rect">
            <a:avLst/>
          </a:prstGeom>
          <a:noFill/>
          <a:ln/>
        </p:spPr>
        <p:txBody>
          <a:bodyPr wrap="square" lIns="0" tIns="0" rIns="0" bIns="0" rtlCol="0" anchor="t"/>
          <a:lstStyle/>
          <a:p>
            <a:pPr algn="l" indent="0" marL="0">
              <a:buNone/>
            </a:pPr>
            <a:r>
              <a:rPr lang="en-US" sz="1150" dirty="0">
                <a:solidFill>
                  <a:srgbClr val="5C677D"/>
                </a:solidFill>
              </a:rPr>
              <a:t>leakage inflates published scores; data coverage drives transfer more than architecture; models overfit small samples within epochs</a:t>
            </a:r>
            <a:endParaRPr lang="en-US" sz="1150" dirty="0"/>
          </a:p>
        </p:txBody>
      </p:sp>
      <p:sp>
        <p:nvSpPr>
          <p:cNvPr id="18" name="contribution card"/>
          <p:cNvSpPr/>
          <p:nvPr/>
        </p:nvSpPr>
        <p:spPr>
          <a:xfrm>
            <a:off x="6172200" y="3657600"/>
            <a:ext cx="5440680" cy="2011680"/>
          </a:xfrm>
          <a:prstGeom prst="roundRect">
            <a:avLst>
              <a:gd name="adj" fmla="val 3636"/>
            </a:avLst>
          </a:prstGeom>
          <a:solidFill>
            <a:srgbClr val="EEF3F7"/>
          </a:solidFill>
          <a:ln w="9525">
            <a:solidFill>
              <a:srgbClr val="EEF3F7"/>
            </a:solidFill>
            <a:prstDash val="solid"/>
          </a:ln>
        </p:spPr>
      </p:sp>
      <p:sp>
        <p:nvSpPr>
          <p:cNvPr id="19" name="icon circle"/>
          <p:cNvSpPr/>
          <p:nvPr/>
        </p:nvSpPr>
        <p:spPr>
          <a:xfrm>
            <a:off x="6355080" y="3858768"/>
            <a:ext cx="548640" cy="548640"/>
          </a:xfrm>
          <a:prstGeom prst="ellipse">
            <a:avLst/>
          </a:prstGeom>
          <a:solidFill>
            <a:srgbClr val="14213D"/>
          </a:solidFill>
          <a:ln w="12700">
            <a:solidFill>
              <a:srgbClr val="14213D"/>
            </a:solidFill>
            <a:prstDash val="solid"/>
          </a:ln>
        </p:spPr>
      </p:sp>
      <p:pic>
        <p:nvPicPr>
          <p:cNvPr id="20" name="icon" descr="preencoded.png">    </p:cNvPr>
          <p:cNvPicPr>
            <a:picLocks noChangeAspect="1"/>
          </p:cNvPicPr>
          <p:nvPr/>
        </p:nvPicPr>
        <p:blipFill>
          <a:blip r:embed="rId4"/>
          <a:stretch>
            <a:fillRect/>
          </a:stretch>
        </p:blipFill>
        <p:spPr>
          <a:xfrm>
            <a:off x="6486754" y="3990442"/>
            <a:ext cx="285293" cy="285293"/>
          </a:xfrm>
          <a:prstGeom prst="rect">
            <a:avLst/>
          </a:prstGeom>
        </p:spPr>
      </p:pic>
      <p:sp>
        <p:nvSpPr>
          <p:cNvPr id="21" name="text"/>
          <p:cNvSpPr txBox="1"/>
          <p:nvPr/>
        </p:nvSpPr>
        <p:spPr>
          <a:xfrm>
            <a:off x="7040880" y="3840480"/>
            <a:ext cx="4389120" cy="594360"/>
          </a:xfrm>
          <a:prstGeom prst="rect">
            <a:avLst/>
          </a:prstGeom>
          <a:noFill/>
          <a:ln/>
        </p:spPr>
        <p:txBody>
          <a:bodyPr wrap="square" lIns="0" tIns="0" rIns="0" bIns="0" rtlCol="0" anchor="ctr"/>
          <a:lstStyle/>
          <a:p>
            <a:pPr algn="l" indent="0" marL="0">
              <a:buNone/>
            </a:pPr>
            <a:r>
              <a:rPr lang="en-US" sz="1400" b="1" dirty="0">
                <a:solidFill>
                  <a:srgbClr val="14213D"/>
                </a:solidFill>
              </a:rPr>
              <a:t>Three manuscripts submitted in 2026</a:t>
            </a:r>
            <a:endParaRPr lang="en-US" sz="1400" dirty="0"/>
          </a:p>
        </p:txBody>
      </p:sp>
      <p:sp>
        <p:nvSpPr>
          <p:cNvPr id="22" name="text"/>
          <p:cNvSpPr txBox="1"/>
          <p:nvPr/>
        </p:nvSpPr>
        <p:spPr>
          <a:xfrm>
            <a:off x="6355080" y="4526280"/>
            <a:ext cx="5074920" cy="1097280"/>
          </a:xfrm>
          <a:prstGeom prst="rect">
            <a:avLst/>
          </a:prstGeom>
          <a:noFill/>
          <a:ln/>
        </p:spPr>
        <p:txBody>
          <a:bodyPr wrap="square" lIns="0" tIns="0" rIns="0" bIns="0" rtlCol="0" anchor="t"/>
          <a:lstStyle/>
          <a:p>
            <a:pPr algn="l" indent="0" marL="0">
              <a:buNone/>
            </a:pPr>
            <a:r>
              <a:rPr lang="en-US" sz="1150" dirty="0">
                <a:solidFill>
                  <a:srgbClr val="5C677D"/>
                </a:solidFill>
              </a:rPr>
              <a:t>AI in antimicrobial-resistance diagnostics (Int J Antimicrob Agents, Oct); temporal patterns and predictors of sepsis onset in 27,101 ICU admissions (Frontiers in Medicine, Sep); infrared thermography in infectious disease, systematic review with meta-analysis (JMIR, Jul)</a:t>
            </a:r>
            <a:endParaRPr lang="en-US" sz="1150" dirty="0"/>
          </a:p>
        </p:txBody>
      </p:sp>
      <p:sp>
        <p:nvSpPr>
          <p:cNvPr id="23" name="text"/>
          <p:cNvSpPr txBox="1"/>
          <p:nvPr/>
        </p:nvSpPr>
        <p:spPr>
          <a:xfrm>
            <a:off x="548640" y="5897880"/>
            <a:ext cx="11094415" cy="320040"/>
          </a:xfrm>
          <a:prstGeom prst="rect">
            <a:avLst/>
          </a:prstGeom>
          <a:noFill/>
          <a:ln/>
        </p:spPr>
        <p:txBody>
          <a:bodyPr wrap="square" lIns="0" tIns="0" rIns="0" bIns="0" rtlCol="0" anchor="t"/>
          <a:lstStyle/>
          <a:p>
            <a:pPr algn="l" indent="0" marL="0">
              <a:buNone/>
            </a:pPr>
            <a:r>
              <a:rPr lang="en-US" sz="1150" i="1" dirty="0">
                <a:solidFill>
                  <a:srgbClr val="14213D"/>
                </a:solidFill>
              </a:rPr>
              <a:t>The main study, on MIMIC-IV and eICU, is being written up for submission; the numbers shown today are its preliminary, development-split results.</a:t>
            </a:r>
            <a:endParaRPr lang="en-US" sz="11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960120"/>
          </a:xfrm>
          <a:prstGeom prst="rect">
            <a:avLst/>
          </a:prstGeom>
          <a:noFill/>
          <a:ln/>
        </p:spPr>
        <p:txBody>
          <a:bodyPr wrap="square" lIns="0" tIns="0" rIns="0" bIns="0" rtlCol="0" anchor="ctr"/>
          <a:lstStyle/>
          <a:p>
            <a:pPr indent="0" marL="0">
              <a:buNone/>
            </a:pPr>
            <a:r>
              <a:rPr lang="en-US" sz="2600" b="1" dirty="0">
                <a:solidFill>
                  <a:srgbClr val="14213D"/>
                </a:solidFill>
              </a:rPr>
              <a:t>Next steps: scale, the sealed holdout, the clinicians, and then hospital patients</a:t>
            </a:r>
            <a:endParaRPr lang="en-US" sz="2600" dirty="0"/>
          </a:p>
        </p:txBody>
      </p:sp>
      <p:sp>
        <p:nvSpPr>
          <p:cNvPr id="3" name="plan date"/>
          <p:cNvSpPr/>
          <p:nvPr/>
        </p:nvSpPr>
        <p:spPr>
          <a:xfrm>
            <a:off x="548640" y="1463040"/>
            <a:ext cx="1554480" cy="502920"/>
          </a:xfrm>
          <a:prstGeom prst="roundRect">
            <a:avLst>
              <a:gd name="adj" fmla="val 10909"/>
            </a:avLst>
          </a:prstGeom>
          <a:solidFill>
            <a:srgbClr val="0E7C86"/>
          </a:solidFill>
          <a:ln w="12700">
            <a:solidFill>
              <a:srgbClr val="0E7C86"/>
            </a:solidFill>
            <a:prstDash val="solid"/>
          </a:ln>
        </p:spPr>
      </p:sp>
      <p:sp>
        <p:nvSpPr>
          <p:cNvPr id="4" name="text"/>
          <p:cNvSpPr txBox="1"/>
          <p:nvPr/>
        </p:nvSpPr>
        <p:spPr>
          <a:xfrm>
            <a:off x="594360" y="1463040"/>
            <a:ext cx="1463040" cy="502920"/>
          </a:xfrm>
          <a:prstGeom prst="rect">
            <a:avLst/>
          </a:prstGeom>
          <a:noFill/>
          <a:ln/>
        </p:spPr>
        <p:txBody>
          <a:bodyPr wrap="square" lIns="0" tIns="0" rIns="0" bIns="0" rtlCol="0" anchor="ctr"/>
          <a:lstStyle/>
          <a:p>
            <a:pPr algn="ctr" indent="0" marL="0">
              <a:buNone/>
            </a:pPr>
            <a:r>
              <a:rPr lang="en-US" sz="1100" b="1" dirty="0">
                <a:solidFill>
                  <a:srgbClr val="FFFFFF"/>
                </a:solidFill>
              </a:rPr>
              <a:t>Oct to Nov 2026</a:t>
            </a:r>
            <a:endParaRPr lang="en-US" sz="1100" dirty="0"/>
          </a:p>
        </p:txBody>
      </p:sp>
      <p:sp>
        <p:nvSpPr>
          <p:cNvPr id="5" name="text"/>
          <p:cNvSpPr txBox="1"/>
          <p:nvPr/>
        </p:nvSpPr>
        <p:spPr>
          <a:xfrm>
            <a:off x="2286000" y="1417320"/>
            <a:ext cx="5486400" cy="822960"/>
          </a:xfrm>
          <a:prstGeom prst="rect">
            <a:avLst/>
          </a:prstGeom>
          <a:noFill/>
          <a:ln/>
        </p:spPr>
        <p:txBody>
          <a:bodyPr wrap="square" lIns="0" tIns="0" rIns="0" bIns="0" rtlCol="0" anchor="t"/>
          <a:lstStyle/>
          <a:p>
            <a:pPr algn="l" indent="0" marL="0">
              <a:buNone/>
            </a:pPr>
            <a:r>
              <a:rPr lang="en-US" sz="1200" dirty="0">
                <a:solidFill>
                  <a:srgbClr val="14213D"/>
                </a:solidFill>
              </a:rPr>
              <a:t>Sixteen-model comparison on identical hours; shortlist by the prespecified validation rule; full results into the manuscript</a:t>
            </a:r>
            <a:endParaRPr lang="en-US" sz="1200" dirty="0"/>
          </a:p>
        </p:txBody>
      </p:sp>
      <p:sp>
        <p:nvSpPr>
          <p:cNvPr id="6" name="plan connector"/>
          <p:cNvSpPr/>
          <p:nvPr/>
        </p:nvSpPr>
        <p:spPr>
          <a:xfrm>
            <a:off x="1325880" y="2011680"/>
            <a:ext cx="914" cy="301752"/>
          </a:xfrm>
          <a:prstGeom prst="line">
            <a:avLst/>
          </a:prstGeom>
          <a:noFill/>
          <a:ln w="19050">
            <a:solidFill>
              <a:srgbClr val="D5DCE4"/>
            </a:solidFill>
            <a:prstDash val="solid"/>
          </a:ln>
        </p:spPr>
      </p:sp>
      <p:sp>
        <p:nvSpPr>
          <p:cNvPr id="7" name="plan date"/>
          <p:cNvSpPr/>
          <p:nvPr/>
        </p:nvSpPr>
        <p:spPr>
          <a:xfrm>
            <a:off x="548640" y="2359152"/>
            <a:ext cx="1554480" cy="502920"/>
          </a:xfrm>
          <a:prstGeom prst="roundRect">
            <a:avLst>
              <a:gd name="adj" fmla="val 10909"/>
            </a:avLst>
          </a:prstGeom>
          <a:solidFill>
            <a:srgbClr val="0E7C86"/>
          </a:solidFill>
          <a:ln w="12700">
            <a:solidFill>
              <a:srgbClr val="0E7C86"/>
            </a:solidFill>
            <a:prstDash val="solid"/>
          </a:ln>
        </p:spPr>
      </p:sp>
      <p:sp>
        <p:nvSpPr>
          <p:cNvPr id="8" name="text"/>
          <p:cNvSpPr txBox="1"/>
          <p:nvPr/>
        </p:nvSpPr>
        <p:spPr>
          <a:xfrm>
            <a:off x="594360" y="2359152"/>
            <a:ext cx="1463040" cy="502920"/>
          </a:xfrm>
          <a:prstGeom prst="rect">
            <a:avLst/>
          </a:prstGeom>
          <a:noFill/>
          <a:ln/>
        </p:spPr>
        <p:txBody>
          <a:bodyPr wrap="square" lIns="0" tIns="0" rIns="0" bIns="0" rtlCol="0" anchor="ctr"/>
          <a:lstStyle/>
          <a:p>
            <a:pPr algn="ctr" indent="0" marL="0">
              <a:buNone/>
            </a:pPr>
            <a:r>
              <a:rPr lang="en-US" sz="1100" b="1" dirty="0">
                <a:solidFill>
                  <a:srgbClr val="FFFFFF"/>
                </a:solidFill>
              </a:rPr>
              <a:t>Nov to Dec 2026</a:t>
            </a:r>
            <a:endParaRPr lang="en-US" sz="1100" dirty="0"/>
          </a:p>
        </p:txBody>
      </p:sp>
      <p:sp>
        <p:nvSpPr>
          <p:cNvPr id="9" name="text"/>
          <p:cNvSpPr txBox="1"/>
          <p:nvPr/>
        </p:nvSpPr>
        <p:spPr>
          <a:xfrm>
            <a:off x="2286000" y="2313432"/>
            <a:ext cx="5486400" cy="822960"/>
          </a:xfrm>
          <a:prstGeom prst="rect">
            <a:avLst/>
          </a:prstGeom>
          <a:noFill/>
          <a:ln/>
        </p:spPr>
        <p:txBody>
          <a:bodyPr wrap="square" lIns="0" tIns="0" rIns="0" bIns="0" rtlCol="0" anchor="t"/>
          <a:lstStyle/>
          <a:p>
            <a:pPr algn="l" indent="0" marL="0">
              <a:buNone/>
            </a:pPr>
            <a:r>
              <a:rPr lang="en-US" sz="1200" dirty="0">
                <a:solidFill>
                  <a:srgbClr val="14213D"/>
                </a:solidFill>
              </a:rPr>
              <a:t>Full cohort (about 94,000 + 201,000 stays), three seeds; leave-hospital-out evaluation across eICU's hospitals; pooled multi-site training</a:t>
            </a:r>
            <a:endParaRPr lang="en-US" sz="1200" dirty="0"/>
          </a:p>
        </p:txBody>
      </p:sp>
      <p:sp>
        <p:nvSpPr>
          <p:cNvPr id="10" name="plan connector"/>
          <p:cNvSpPr/>
          <p:nvPr/>
        </p:nvSpPr>
        <p:spPr>
          <a:xfrm>
            <a:off x="1325880" y="2907792"/>
            <a:ext cx="914" cy="301752"/>
          </a:xfrm>
          <a:prstGeom prst="line">
            <a:avLst/>
          </a:prstGeom>
          <a:noFill/>
          <a:ln w="19050">
            <a:solidFill>
              <a:srgbClr val="D5DCE4"/>
            </a:solidFill>
            <a:prstDash val="solid"/>
          </a:ln>
        </p:spPr>
      </p:sp>
      <p:sp>
        <p:nvSpPr>
          <p:cNvPr id="11" name="plan date"/>
          <p:cNvSpPr/>
          <p:nvPr/>
        </p:nvSpPr>
        <p:spPr>
          <a:xfrm>
            <a:off x="548640" y="3255264"/>
            <a:ext cx="1554480" cy="502920"/>
          </a:xfrm>
          <a:prstGeom prst="roundRect">
            <a:avLst>
              <a:gd name="adj" fmla="val 10909"/>
            </a:avLst>
          </a:prstGeom>
          <a:solidFill>
            <a:srgbClr val="0E7C86"/>
          </a:solidFill>
          <a:ln w="12700">
            <a:solidFill>
              <a:srgbClr val="0E7C86"/>
            </a:solidFill>
            <a:prstDash val="solid"/>
          </a:ln>
        </p:spPr>
      </p:sp>
      <p:sp>
        <p:nvSpPr>
          <p:cNvPr id="12" name="text"/>
          <p:cNvSpPr txBox="1"/>
          <p:nvPr/>
        </p:nvSpPr>
        <p:spPr>
          <a:xfrm>
            <a:off x="594360" y="3255264"/>
            <a:ext cx="1463040" cy="502920"/>
          </a:xfrm>
          <a:prstGeom prst="rect">
            <a:avLst/>
          </a:prstGeom>
          <a:noFill/>
          <a:ln/>
        </p:spPr>
        <p:txBody>
          <a:bodyPr wrap="square" lIns="0" tIns="0" rIns="0" bIns="0" rtlCol="0" anchor="ctr"/>
          <a:lstStyle/>
          <a:p>
            <a:pPr algn="ctr" indent="0" marL="0">
              <a:buNone/>
            </a:pPr>
            <a:r>
              <a:rPr lang="en-US" sz="1100" b="1" dirty="0">
                <a:solidFill>
                  <a:srgbClr val="FFFFFF"/>
                </a:solidFill>
              </a:rPr>
              <a:t>Jan 2027</a:t>
            </a:r>
            <a:endParaRPr lang="en-US" sz="1100" dirty="0"/>
          </a:p>
        </p:txBody>
      </p:sp>
      <p:sp>
        <p:nvSpPr>
          <p:cNvPr id="13" name="text"/>
          <p:cNvSpPr txBox="1"/>
          <p:nvPr/>
        </p:nvSpPr>
        <p:spPr>
          <a:xfrm>
            <a:off x="2286000" y="3209544"/>
            <a:ext cx="5486400" cy="822960"/>
          </a:xfrm>
          <a:prstGeom prst="rect">
            <a:avLst/>
          </a:prstGeom>
          <a:noFill/>
          <a:ln/>
        </p:spPr>
        <p:txBody>
          <a:bodyPr wrap="square" lIns="0" tIns="0" rIns="0" bIns="0" rtlCol="0" anchor="t"/>
          <a:lstStyle/>
          <a:p>
            <a:pPr algn="l" indent="0" marL="0">
              <a:buNone/>
            </a:pPr>
            <a:r>
              <a:rPr lang="en-US" sz="1200" dirty="0">
                <a:solidFill>
                  <a:srgbClr val="14213D"/>
                </a:solidFill>
              </a:rPr>
              <a:t>Freeze the protocol and open the sealed holdout once; fix the alarm policy (sensitivity against false alarms per patient-day)</a:t>
            </a:r>
            <a:endParaRPr lang="en-US" sz="1200" dirty="0"/>
          </a:p>
        </p:txBody>
      </p:sp>
      <p:sp>
        <p:nvSpPr>
          <p:cNvPr id="14" name="plan connector"/>
          <p:cNvSpPr/>
          <p:nvPr/>
        </p:nvSpPr>
        <p:spPr>
          <a:xfrm>
            <a:off x="1325880" y="3803904"/>
            <a:ext cx="914" cy="301752"/>
          </a:xfrm>
          <a:prstGeom prst="line">
            <a:avLst/>
          </a:prstGeom>
          <a:noFill/>
          <a:ln w="19050">
            <a:solidFill>
              <a:srgbClr val="D5DCE4"/>
            </a:solidFill>
            <a:prstDash val="solid"/>
          </a:ln>
        </p:spPr>
      </p:sp>
      <p:sp>
        <p:nvSpPr>
          <p:cNvPr id="15" name="plan date"/>
          <p:cNvSpPr/>
          <p:nvPr/>
        </p:nvSpPr>
        <p:spPr>
          <a:xfrm>
            <a:off x="548640" y="4151376"/>
            <a:ext cx="1554480" cy="502920"/>
          </a:xfrm>
          <a:prstGeom prst="roundRect">
            <a:avLst>
              <a:gd name="adj" fmla="val 10909"/>
            </a:avLst>
          </a:prstGeom>
          <a:solidFill>
            <a:srgbClr val="0E7C86"/>
          </a:solidFill>
          <a:ln w="12700">
            <a:solidFill>
              <a:srgbClr val="0E7C86"/>
            </a:solidFill>
            <a:prstDash val="solid"/>
          </a:ln>
        </p:spPr>
      </p:sp>
      <p:sp>
        <p:nvSpPr>
          <p:cNvPr id="16" name="text"/>
          <p:cNvSpPr txBox="1"/>
          <p:nvPr/>
        </p:nvSpPr>
        <p:spPr>
          <a:xfrm>
            <a:off x="594360" y="4151376"/>
            <a:ext cx="1463040" cy="502920"/>
          </a:xfrm>
          <a:prstGeom prst="rect">
            <a:avLst/>
          </a:prstGeom>
          <a:noFill/>
          <a:ln/>
        </p:spPr>
        <p:txBody>
          <a:bodyPr wrap="square" lIns="0" tIns="0" rIns="0" bIns="0" rtlCol="0" anchor="ctr"/>
          <a:lstStyle/>
          <a:p>
            <a:pPr algn="ctr" indent="0" marL="0">
              <a:buNone/>
            </a:pPr>
            <a:r>
              <a:rPr lang="en-US" sz="1100" b="1" dirty="0">
                <a:solidFill>
                  <a:srgbClr val="FFFFFF"/>
                </a:solidFill>
              </a:rPr>
              <a:t>Feb to Apr 2027</a:t>
            </a:r>
            <a:endParaRPr lang="en-US" sz="1100" dirty="0"/>
          </a:p>
        </p:txBody>
      </p:sp>
      <p:sp>
        <p:nvSpPr>
          <p:cNvPr id="17" name="text"/>
          <p:cNvSpPr txBox="1"/>
          <p:nvPr/>
        </p:nvSpPr>
        <p:spPr>
          <a:xfrm>
            <a:off x="2286000" y="4105656"/>
            <a:ext cx="5486400" cy="822960"/>
          </a:xfrm>
          <a:prstGeom prst="rect">
            <a:avLst/>
          </a:prstGeom>
          <a:noFill/>
          <a:ln/>
        </p:spPr>
        <p:txBody>
          <a:bodyPr wrap="square" lIns="0" tIns="0" rIns="0" bIns="0" rtlCol="0" anchor="t"/>
          <a:lstStyle/>
          <a:p>
            <a:pPr algn="l" indent="0" marL="0">
              <a:buNone/>
            </a:pPr>
            <a:r>
              <a:rPr lang="en-US" sz="1200" dirty="0">
                <a:solidFill>
                  <a:srgbClr val="14213D"/>
                </a:solidFill>
              </a:rPr>
              <a:t>Qualitative study: interviews and a survey with ICU doctors, nurses and pharmacists on trust, explanation and the alarm burden they would accept</a:t>
            </a:r>
            <a:endParaRPr lang="en-US" sz="1200" dirty="0"/>
          </a:p>
        </p:txBody>
      </p:sp>
      <p:sp>
        <p:nvSpPr>
          <p:cNvPr id="18" name="plan connector"/>
          <p:cNvSpPr/>
          <p:nvPr/>
        </p:nvSpPr>
        <p:spPr>
          <a:xfrm>
            <a:off x="1325880" y="4700016"/>
            <a:ext cx="914" cy="301752"/>
          </a:xfrm>
          <a:prstGeom prst="line">
            <a:avLst/>
          </a:prstGeom>
          <a:noFill/>
          <a:ln w="19050">
            <a:solidFill>
              <a:srgbClr val="D5DCE4"/>
            </a:solidFill>
            <a:prstDash val="solid"/>
          </a:ln>
        </p:spPr>
      </p:sp>
      <p:sp>
        <p:nvSpPr>
          <p:cNvPr id="19" name="plan date"/>
          <p:cNvSpPr/>
          <p:nvPr/>
        </p:nvSpPr>
        <p:spPr>
          <a:xfrm>
            <a:off x="548640" y="5047488"/>
            <a:ext cx="1554480" cy="502920"/>
          </a:xfrm>
          <a:prstGeom prst="roundRect">
            <a:avLst>
              <a:gd name="adj" fmla="val 10909"/>
            </a:avLst>
          </a:prstGeom>
          <a:solidFill>
            <a:srgbClr val="EB6834"/>
          </a:solidFill>
          <a:ln w="12700">
            <a:solidFill>
              <a:srgbClr val="EB6834"/>
            </a:solidFill>
            <a:prstDash val="solid"/>
          </a:ln>
        </p:spPr>
      </p:sp>
      <p:sp>
        <p:nvSpPr>
          <p:cNvPr id="20" name="text"/>
          <p:cNvSpPr txBox="1"/>
          <p:nvPr/>
        </p:nvSpPr>
        <p:spPr>
          <a:xfrm>
            <a:off x="594360" y="5047488"/>
            <a:ext cx="1463040" cy="502920"/>
          </a:xfrm>
          <a:prstGeom prst="rect">
            <a:avLst/>
          </a:prstGeom>
          <a:noFill/>
          <a:ln/>
        </p:spPr>
        <p:txBody>
          <a:bodyPr wrap="square" lIns="0" tIns="0" rIns="0" bIns="0" rtlCol="0" anchor="ctr"/>
          <a:lstStyle/>
          <a:p>
            <a:pPr algn="ctr" indent="0" marL="0">
              <a:buNone/>
            </a:pPr>
            <a:r>
              <a:rPr lang="en-US" sz="1100" b="1" dirty="0">
                <a:solidFill>
                  <a:srgbClr val="FFFFFF"/>
                </a:solidFill>
              </a:rPr>
              <a:t>2027 onward</a:t>
            </a:r>
            <a:endParaRPr lang="en-US" sz="1100" dirty="0"/>
          </a:p>
        </p:txBody>
      </p:sp>
      <p:sp>
        <p:nvSpPr>
          <p:cNvPr id="21" name="text"/>
          <p:cNvSpPr txBox="1"/>
          <p:nvPr/>
        </p:nvSpPr>
        <p:spPr>
          <a:xfrm>
            <a:off x="2286000" y="5001768"/>
            <a:ext cx="5486400" cy="822960"/>
          </a:xfrm>
          <a:prstGeom prst="rect">
            <a:avLst/>
          </a:prstGeom>
          <a:noFill/>
          <a:ln/>
        </p:spPr>
        <p:txBody>
          <a:bodyPr wrap="square" lIns="0" tIns="0" rIns="0" bIns="0" rtlCol="0" anchor="t"/>
          <a:lstStyle/>
          <a:p>
            <a:pPr algn="l" indent="0" marL="0">
              <a:buNone/>
            </a:pPr>
            <a:r>
              <a:rPr lang="en-US" sz="1200" dirty="0">
                <a:solidFill>
                  <a:srgbClr val="14213D"/>
                </a:solidFill>
              </a:rPr>
              <a:t>Radiology reports as predictors (MIMIC-IV notes); fairness by subgroup; then the future direction: a silent prospective test on hospital patients, with ethics approval</a:t>
            </a:r>
            <a:endParaRPr lang="en-US" sz="1200" dirty="0"/>
          </a:p>
        </p:txBody>
      </p:sp>
      <p:sp>
        <p:nvSpPr>
          <p:cNvPr id="22" name="future card"/>
          <p:cNvSpPr/>
          <p:nvPr/>
        </p:nvSpPr>
        <p:spPr>
          <a:xfrm>
            <a:off x="8138160" y="1417320"/>
            <a:ext cx="3504895" cy="4434840"/>
          </a:xfrm>
          <a:prstGeom prst="roundRect">
            <a:avLst>
              <a:gd name="adj" fmla="val 2087"/>
            </a:avLst>
          </a:prstGeom>
          <a:solidFill>
            <a:srgbClr val="14213D"/>
          </a:solidFill>
          <a:ln w="9525">
            <a:solidFill>
              <a:srgbClr val="14213D"/>
            </a:solidFill>
            <a:prstDash val="solid"/>
          </a:ln>
        </p:spPr>
      </p:sp>
      <p:sp>
        <p:nvSpPr>
          <p:cNvPr id="23" name="icon circle"/>
          <p:cNvSpPr/>
          <p:nvPr/>
        </p:nvSpPr>
        <p:spPr>
          <a:xfrm>
            <a:off x="8321040" y="1600200"/>
            <a:ext cx="566928" cy="566928"/>
          </a:xfrm>
          <a:prstGeom prst="ellipse">
            <a:avLst/>
          </a:prstGeom>
          <a:solidFill>
            <a:srgbClr val="EB6834"/>
          </a:solidFill>
          <a:ln w="12700">
            <a:solidFill>
              <a:srgbClr val="EB6834"/>
            </a:solidFill>
            <a:prstDash val="solid"/>
          </a:ln>
        </p:spPr>
      </p:sp>
      <p:pic>
        <p:nvPicPr>
          <p:cNvPr id="24" name="icon" descr="preencoded.png">    </p:cNvPr>
          <p:cNvPicPr>
            <a:picLocks noChangeAspect="1"/>
          </p:cNvPicPr>
          <p:nvPr/>
        </p:nvPicPr>
        <p:blipFill>
          <a:blip r:embed="rId1"/>
          <a:stretch>
            <a:fillRect/>
          </a:stretch>
        </p:blipFill>
        <p:spPr>
          <a:xfrm>
            <a:off x="8457103" y="1736263"/>
            <a:ext cx="294803" cy="294803"/>
          </a:xfrm>
          <a:prstGeom prst="rect">
            <a:avLst/>
          </a:prstGeom>
        </p:spPr>
      </p:pic>
      <p:sp>
        <p:nvSpPr>
          <p:cNvPr id="25" name="text"/>
          <p:cNvSpPr txBox="1"/>
          <p:nvPr/>
        </p:nvSpPr>
        <p:spPr>
          <a:xfrm>
            <a:off x="9006840" y="1572768"/>
            <a:ext cx="2499055" cy="640080"/>
          </a:xfrm>
          <a:prstGeom prst="rect">
            <a:avLst/>
          </a:prstGeom>
          <a:noFill/>
          <a:ln/>
        </p:spPr>
        <p:txBody>
          <a:bodyPr wrap="square" lIns="0" tIns="0" rIns="0" bIns="0" rtlCol="0" anchor="ctr"/>
          <a:lstStyle/>
          <a:p>
            <a:pPr algn="l" indent="0" marL="0">
              <a:buNone/>
            </a:pPr>
            <a:r>
              <a:rPr lang="en-US" sz="1400" b="1" dirty="0">
                <a:solidFill>
                  <a:srgbClr val="FFFFFF"/>
                </a:solidFill>
              </a:rPr>
              <a:t>Future direction: test the model on hospital patients</a:t>
            </a:r>
            <a:endParaRPr lang="en-US" sz="1400" dirty="0"/>
          </a:p>
        </p:txBody>
      </p:sp>
      <p:sp>
        <p:nvSpPr>
          <p:cNvPr id="26" name="bullets"/>
          <p:cNvSpPr txBox="1"/>
          <p:nvPr/>
        </p:nvSpPr>
        <p:spPr>
          <a:xfrm>
            <a:off x="8321040" y="2377440"/>
            <a:ext cx="3139135" cy="33832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D7E0EA"/>
                </a:solidFill>
              </a:rPr>
              <a:t>The model runs on live ICU data; alarms are logged, not shown, and compared with what happened to each patient.</a:t>
            </a:r>
            <a:endParaRPr lang="en-US" sz="1150" dirty="0"/>
          </a:p>
          <a:p>
            <a:pPr marL="177800" indent="-177800">
              <a:spcAft>
                <a:spcPts val="800"/>
              </a:spcAft>
              <a:buSzPct val="100000"/>
              <a:buChar char="•"/>
            </a:pPr>
            <a:r>
              <a:rPr lang="en-US" sz="1150" dirty="0">
                <a:solidFill>
                  <a:srgbClr val="D7E0EA"/>
                </a:solidFill>
              </a:rPr>
              <a:t>Measures the three things no retrospective study can: real-time data delays, a hospital the model never trained on, and the alarm burden on a working unit.</a:t>
            </a:r>
            <a:endParaRPr lang="en-US" sz="1150" dirty="0"/>
          </a:p>
          <a:p>
            <a:pPr marL="177800" indent="-177800">
              <a:spcAft>
                <a:spcPts val="800"/>
              </a:spcAft>
              <a:buSzPct val="100000"/>
              <a:buChar char="•"/>
            </a:pPr>
            <a:r>
              <a:rPr lang="en-US" sz="1150" dirty="0">
                <a:solidFill>
                  <a:srgbClr val="D7E0EA"/>
                </a:solidFill>
              </a:rPr>
              <a:t>Then a clinician-facing pilot shaped by the qualitative study: who receives the alarm, what it says, what they do next.</a:t>
            </a:r>
            <a:endParaRPr lang="en-US" sz="1150" dirty="0"/>
          </a:p>
          <a:p>
            <a:pPr marL="177800" indent="-177800">
              <a:spcAft>
                <a:spcPts val="800"/>
              </a:spcAft>
              <a:buSzPct val="100000"/>
              <a:buChar char="•"/>
            </a:pPr>
            <a:r>
              <a:rPr lang="en-US" sz="1150" dirty="0">
                <a:solidFill>
                  <a:srgbClr val="D7E0EA"/>
                </a:solidFill>
              </a:rPr>
              <a:t>Needs ethics approval, a data-governance agreement and a clinical partner; the pharmacist on the team talks to the ward in its own language.</a:t>
            </a:r>
            <a:endParaRPr lang="en-US" sz="11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914400"/>
          </a:xfrm>
          <a:prstGeom prst="rect">
            <a:avLst/>
          </a:prstGeom>
          <a:noFill/>
          <a:ln/>
        </p:spPr>
        <p:txBody>
          <a:bodyPr wrap="square" lIns="0" tIns="0" rIns="0" bIns="0" rtlCol="0" anchor="ctr"/>
          <a:lstStyle/>
          <a:p>
            <a:pPr indent="0" marL="0">
              <a:buNone/>
            </a:pPr>
            <a:r>
              <a:rPr lang="en-US" sz="3000" b="1" dirty="0">
                <a:solidFill>
                  <a:srgbClr val="FFFFFF"/>
                </a:solidFill>
              </a:rPr>
              <a:t>Where I would like your input</a:t>
            </a:r>
            <a:endParaRPr lang="en-US" sz="3000" dirty="0"/>
          </a:p>
        </p:txBody>
      </p:sp>
      <p:sp>
        <p:nvSpPr>
          <p:cNvPr id="3" name="question card"/>
          <p:cNvSpPr/>
          <p:nvPr/>
        </p:nvSpPr>
        <p:spPr>
          <a:xfrm>
            <a:off x="548640" y="1554480"/>
            <a:ext cx="11094415" cy="2011680"/>
          </a:xfrm>
          <a:prstGeom prst="roundRect">
            <a:avLst>
              <a:gd name="adj" fmla="val 3636"/>
            </a:avLst>
          </a:prstGeom>
          <a:solidFill>
            <a:srgbClr val="0F2F4A"/>
          </a:solidFill>
          <a:ln w="9525">
            <a:solidFill>
              <a:srgbClr val="2A4A6B"/>
            </a:solidFill>
            <a:prstDash val="solid"/>
          </a:ln>
        </p:spPr>
      </p:sp>
      <p:sp>
        <p:nvSpPr>
          <p:cNvPr id="4" name="icon circle"/>
          <p:cNvSpPr/>
          <p:nvPr/>
        </p:nvSpPr>
        <p:spPr>
          <a:xfrm>
            <a:off x="822960" y="1874520"/>
            <a:ext cx="640080" cy="640080"/>
          </a:xfrm>
          <a:prstGeom prst="ellipse">
            <a:avLst/>
          </a:prstGeom>
          <a:solidFill>
            <a:srgbClr val="0E7C86"/>
          </a:solidFill>
          <a:ln w="12700">
            <a:solidFill>
              <a:srgbClr val="0E7C86"/>
            </a:solidFill>
            <a:prstDash val="solid"/>
          </a:ln>
        </p:spPr>
      </p:sp>
      <p:pic>
        <p:nvPicPr>
          <p:cNvPr id="5" name="icon" descr="preencoded.png">    </p:cNvPr>
          <p:cNvPicPr>
            <a:picLocks noChangeAspect="1"/>
          </p:cNvPicPr>
          <p:nvPr/>
        </p:nvPicPr>
        <p:blipFill>
          <a:blip r:embed="rId1"/>
          <a:stretch>
            <a:fillRect/>
          </a:stretch>
        </p:blipFill>
        <p:spPr>
          <a:xfrm>
            <a:off x="976579" y="2028139"/>
            <a:ext cx="332842" cy="332842"/>
          </a:xfrm>
          <a:prstGeom prst="rect">
            <a:avLst/>
          </a:prstGeom>
        </p:spPr>
      </p:pic>
      <p:sp>
        <p:nvSpPr>
          <p:cNvPr id="6" name="text"/>
          <p:cNvSpPr txBox="1"/>
          <p:nvPr/>
        </p:nvSpPr>
        <p:spPr>
          <a:xfrm>
            <a:off x="1737360" y="1783080"/>
            <a:ext cx="9631375" cy="457200"/>
          </a:xfrm>
          <a:prstGeom prst="rect">
            <a:avLst/>
          </a:prstGeom>
          <a:noFill/>
          <a:ln/>
        </p:spPr>
        <p:txBody>
          <a:bodyPr wrap="square" lIns="0" tIns="0" rIns="0" bIns="0" rtlCol="0" anchor="ctr"/>
          <a:lstStyle/>
          <a:p>
            <a:pPr algn="l" indent="0" marL="0">
              <a:buNone/>
            </a:pPr>
            <a:r>
              <a:rPr lang="en-US" sz="1700" b="1" dirty="0">
                <a:solidFill>
                  <a:srgbClr val="FFFFFF"/>
                </a:solidFill>
              </a:rPr>
              <a:t>Which score should pick the model when they disagree?</a:t>
            </a:r>
            <a:endParaRPr lang="en-US" sz="1700" dirty="0"/>
          </a:p>
        </p:txBody>
      </p:sp>
      <p:sp>
        <p:nvSpPr>
          <p:cNvPr id="7" name="text"/>
          <p:cNvSpPr txBox="1"/>
          <p:nvPr/>
        </p:nvSpPr>
        <p:spPr>
          <a:xfrm>
            <a:off x="1737360" y="2286000"/>
            <a:ext cx="9631375" cy="1188720"/>
          </a:xfrm>
          <a:prstGeom prst="rect">
            <a:avLst/>
          </a:prstGeom>
          <a:noFill/>
          <a:ln/>
        </p:spPr>
        <p:txBody>
          <a:bodyPr wrap="square" lIns="0" tIns="0" rIns="0" bIns="0" rtlCol="0" anchor="t"/>
          <a:lstStyle/>
          <a:p>
            <a:pPr algn="l" indent="0" marL="0">
              <a:buNone/>
            </a:pPr>
            <a:r>
              <a:rPr lang="en-US" sz="1300" dirty="0">
                <a:solidFill>
                  <a:srgbClr val="D7E0EA"/>
                </a:solidFill>
              </a:rPr>
              <a:t>Utility rewards an alarm six hours before onset and charges for every false-alarm hour; AUROC rewards ranking. On our data they already rank models differently. How much sensitivity would you trade to halve false alarms per patient-day, and should that trade-off be fixed before or after seeing the holdout?</a:t>
            </a:r>
            <a:endParaRPr lang="en-US" sz="1300" dirty="0"/>
          </a:p>
        </p:txBody>
      </p:sp>
      <p:sp>
        <p:nvSpPr>
          <p:cNvPr id="8" name="question card"/>
          <p:cNvSpPr/>
          <p:nvPr/>
        </p:nvSpPr>
        <p:spPr>
          <a:xfrm>
            <a:off x="548640" y="3794760"/>
            <a:ext cx="11094415" cy="2011680"/>
          </a:xfrm>
          <a:prstGeom prst="roundRect">
            <a:avLst>
              <a:gd name="adj" fmla="val 3636"/>
            </a:avLst>
          </a:prstGeom>
          <a:solidFill>
            <a:srgbClr val="0F2F4A"/>
          </a:solidFill>
          <a:ln w="9525">
            <a:solidFill>
              <a:srgbClr val="2A4A6B"/>
            </a:solidFill>
            <a:prstDash val="solid"/>
          </a:ln>
        </p:spPr>
      </p:sp>
      <p:sp>
        <p:nvSpPr>
          <p:cNvPr id="9" name="icon circle"/>
          <p:cNvSpPr/>
          <p:nvPr/>
        </p:nvSpPr>
        <p:spPr>
          <a:xfrm>
            <a:off x="822960" y="4114800"/>
            <a:ext cx="640080" cy="640080"/>
          </a:xfrm>
          <a:prstGeom prst="ellipse">
            <a:avLst/>
          </a:prstGeom>
          <a:solidFill>
            <a:srgbClr val="0E7C86"/>
          </a:solidFill>
          <a:ln w="12700">
            <a:solidFill>
              <a:srgbClr val="0E7C86"/>
            </a:solidFill>
            <a:prstDash val="solid"/>
          </a:ln>
        </p:spPr>
      </p:sp>
      <p:pic>
        <p:nvPicPr>
          <p:cNvPr id="10" name="icon" descr="preencoded.png">    </p:cNvPr>
          <p:cNvPicPr>
            <a:picLocks noChangeAspect="1"/>
          </p:cNvPicPr>
          <p:nvPr/>
        </p:nvPicPr>
        <p:blipFill>
          <a:blip r:embed="rId2"/>
          <a:stretch>
            <a:fillRect/>
          </a:stretch>
        </p:blipFill>
        <p:spPr>
          <a:xfrm>
            <a:off x="976579" y="4268419"/>
            <a:ext cx="332842" cy="332842"/>
          </a:xfrm>
          <a:prstGeom prst="rect">
            <a:avLst/>
          </a:prstGeom>
        </p:spPr>
      </p:pic>
      <p:sp>
        <p:nvSpPr>
          <p:cNvPr id="11" name="text"/>
          <p:cNvSpPr txBox="1"/>
          <p:nvPr/>
        </p:nvSpPr>
        <p:spPr>
          <a:xfrm>
            <a:off x="1737360" y="4023360"/>
            <a:ext cx="9631375" cy="457200"/>
          </a:xfrm>
          <a:prstGeom prst="rect">
            <a:avLst/>
          </a:prstGeom>
          <a:noFill/>
          <a:ln/>
        </p:spPr>
        <p:txBody>
          <a:bodyPr wrap="square" lIns="0" tIns="0" rIns="0" bIns="0" rtlCol="0" anchor="ctr"/>
          <a:lstStyle/>
          <a:p>
            <a:pPr algn="l" indent="0" marL="0">
              <a:buNone/>
            </a:pPr>
            <a:r>
              <a:rPr lang="en-US" sz="1700" b="1" dirty="0">
                <a:solidFill>
                  <a:srgbClr val="FFFFFF"/>
                </a:solidFill>
              </a:rPr>
              <a:t>How should I study trust before the model reaches a ward?</a:t>
            </a:r>
            <a:endParaRPr lang="en-US" sz="1700" dirty="0"/>
          </a:p>
        </p:txBody>
      </p:sp>
      <p:sp>
        <p:nvSpPr>
          <p:cNvPr id="12" name="text"/>
          <p:cNvSpPr txBox="1"/>
          <p:nvPr/>
        </p:nvSpPr>
        <p:spPr>
          <a:xfrm>
            <a:off x="1737360" y="4526280"/>
            <a:ext cx="9631375" cy="1188720"/>
          </a:xfrm>
          <a:prstGeom prst="rect">
            <a:avLst/>
          </a:prstGeom>
          <a:noFill/>
          <a:ln/>
        </p:spPr>
        <p:txBody>
          <a:bodyPr wrap="square" lIns="0" tIns="0" rIns="0" bIns="0" rtlCol="0" anchor="t"/>
          <a:lstStyle/>
          <a:p>
            <a:pPr algn="l" indent="0" marL="0">
              <a:buNone/>
            </a:pPr>
            <a:r>
              <a:rPr lang="en-US" sz="1300" dirty="0">
                <a:solidFill>
                  <a:srgbClr val="D7E0EA"/>
                </a:solidFill>
              </a:rPr>
              <a:t>The qualitative phase asks ICU doctors, nurses and pharmacists whether they would act on the alarm and what they need to see. Interviews with patient vignettes, a survey with the model's own alarms, or a simulation with the alarm live on a screen: which would you choose, and what should it measure?</a:t>
            </a:r>
            <a:endParaRPr lang="en-US" sz="1300" dirty="0"/>
          </a:p>
        </p:txBody>
      </p:sp>
      <p:sp>
        <p:nvSpPr>
          <p:cNvPr id="13" name="text"/>
          <p:cNvSpPr txBox="1"/>
          <p:nvPr/>
        </p:nvSpPr>
        <p:spPr>
          <a:xfrm>
            <a:off x="548640" y="6080760"/>
            <a:ext cx="11094415" cy="320040"/>
          </a:xfrm>
          <a:prstGeom prst="rect">
            <a:avLst/>
          </a:prstGeom>
          <a:noFill/>
          <a:ln/>
        </p:spPr>
        <p:txBody>
          <a:bodyPr wrap="square" lIns="0" tIns="0" rIns="0" bIns="0" rtlCol="0" anchor="t"/>
          <a:lstStyle/>
          <a:p>
            <a:pPr algn="l" indent="0" marL="0">
              <a:buNone/>
            </a:pPr>
            <a:r>
              <a:rPr lang="en-US" sz="1100" i="1" dirty="0">
                <a:solidFill>
                  <a:srgbClr val="B8C4D2"/>
                </a:solidFill>
              </a:rPr>
              <a:t>Thank you. Backup slides follow: glossary, the utility score, predictor catalogue, cohorts, the running comparison, and the RD6 supplement.</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Glossary: the clinical terms used in this talk</a:t>
            </a:r>
            <a:endParaRPr lang="en-US" sz="2600" dirty="0"/>
          </a:p>
        </p:txBody>
      </p:sp>
      <p:sp>
        <p:nvSpPr>
          <p:cNvPr id="3" name="text"/>
          <p:cNvSpPr txBox="1"/>
          <p:nvPr/>
        </p:nvSpPr>
        <p:spPr>
          <a:xfrm>
            <a:off x="548640" y="1417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Sepsis-3</a:t>
            </a:r>
            <a:endParaRPr lang="en-US" sz="1250" dirty="0"/>
          </a:p>
        </p:txBody>
      </p:sp>
      <p:sp>
        <p:nvSpPr>
          <p:cNvPr id="4" name="text"/>
          <p:cNvSpPr txBox="1"/>
          <p:nvPr/>
        </p:nvSpPr>
        <p:spPr>
          <a:xfrm>
            <a:off x="2194560" y="1417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Life-threatening organ dysfunction caused by a dysregulated response to infection (Singer et al. 2016). Operationalised as suspected infection plus a SOFA rise of 2 or more points.</a:t>
            </a:r>
            <a:endParaRPr lang="en-US" sz="1100" dirty="0"/>
          </a:p>
        </p:txBody>
      </p:sp>
      <p:sp>
        <p:nvSpPr>
          <p:cNvPr id="5" name="text"/>
          <p:cNvSpPr txBox="1"/>
          <p:nvPr/>
        </p:nvSpPr>
        <p:spPr>
          <a:xfrm>
            <a:off x="6126480" y="1417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SOFA</a:t>
            </a:r>
            <a:endParaRPr lang="en-US" sz="1250" dirty="0"/>
          </a:p>
        </p:txBody>
      </p:sp>
      <p:sp>
        <p:nvSpPr>
          <p:cNvPr id="6" name="text"/>
          <p:cNvSpPr txBox="1"/>
          <p:nvPr/>
        </p:nvSpPr>
        <p:spPr>
          <a:xfrm>
            <a:off x="7772400" y="1417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Sequential Organ Failure Assessment: 0 to 4 points for each of six organ systems (respiratory, cardiovascular, renal, hepatic, coagulation, neurological).</a:t>
            </a:r>
            <a:endParaRPr lang="en-US" sz="1100" dirty="0"/>
          </a:p>
        </p:txBody>
      </p:sp>
      <p:sp>
        <p:nvSpPr>
          <p:cNvPr id="7" name="text"/>
          <p:cNvSpPr txBox="1"/>
          <p:nvPr/>
        </p:nvSpPr>
        <p:spPr>
          <a:xfrm>
            <a:off x="548640" y="2560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Suspected infection</a:t>
            </a:r>
            <a:endParaRPr lang="en-US" sz="1250" dirty="0"/>
          </a:p>
        </p:txBody>
      </p:sp>
      <p:sp>
        <p:nvSpPr>
          <p:cNvPr id="8" name="text"/>
          <p:cNvSpPr txBox="1"/>
          <p:nvPr/>
        </p:nvSpPr>
        <p:spPr>
          <a:xfrm>
            <a:off x="2194560" y="2560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An antibiotic order and a culture within a 72 h / 24 h window of each other (Seymour et al. 2016). eICU has antibiotics only.</a:t>
            </a:r>
            <a:endParaRPr lang="en-US" sz="1100" dirty="0"/>
          </a:p>
        </p:txBody>
      </p:sp>
      <p:sp>
        <p:nvSpPr>
          <p:cNvPr id="9" name="text"/>
          <p:cNvSpPr txBox="1"/>
          <p:nvPr/>
        </p:nvSpPr>
        <p:spPr>
          <a:xfrm>
            <a:off x="6126480" y="2560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Onset and horizon</a:t>
            </a:r>
            <a:endParaRPr lang="en-US" sz="1250" dirty="0"/>
          </a:p>
        </p:txBody>
      </p:sp>
      <p:sp>
        <p:nvSpPr>
          <p:cNvPr id="10" name="text"/>
          <p:cNvSpPr txBox="1"/>
          <p:nvPr/>
        </p:nvSpPr>
        <p:spPr>
          <a:xfrm>
            <a:off x="7772400" y="2560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Onset is the first hour both criteria are met. The model is asked, every hour, whether onset falls within the next 6 hours.</a:t>
            </a:r>
            <a:endParaRPr lang="en-US" sz="1100" dirty="0"/>
          </a:p>
        </p:txBody>
      </p:sp>
      <p:sp>
        <p:nvSpPr>
          <p:cNvPr id="11" name="text"/>
          <p:cNvSpPr txBox="1"/>
          <p:nvPr/>
        </p:nvSpPr>
        <p:spPr>
          <a:xfrm>
            <a:off x="548640" y="3703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qSOFA and NEWS2</a:t>
            </a:r>
            <a:endParaRPr lang="en-US" sz="1250" dirty="0"/>
          </a:p>
        </p:txBody>
      </p:sp>
      <p:sp>
        <p:nvSpPr>
          <p:cNvPr id="12" name="text"/>
          <p:cNvSpPr txBox="1"/>
          <p:nvPr/>
        </p:nvSpPr>
        <p:spPr>
          <a:xfrm>
            <a:off x="2194560" y="3703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Bedside screening scores built from vital signs and mental state; used here as predictors, never as the label.</a:t>
            </a:r>
            <a:endParaRPr lang="en-US" sz="1100" dirty="0"/>
          </a:p>
        </p:txBody>
      </p:sp>
      <p:sp>
        <p:nvSpPr>
          <p:cNvPr id="13" name="text"/>
          <p:cNvSpPr txBox="1"/>
          <p:nvPr/>
        </p:nvSpPr>
        <p:spPr>
          <a:xfrm>
            <a:off x="6126480" y="3703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Utility score</a:t>
            </a:r>
            <a:endParaRPr lang="en-US" sz="1250" dirty="0"/>
          </a:p>
        </p:txBody>
      </p:sp>
      <p:sp>
        <p:nvSpPr>
          <p:cNvPr id="14" name="text"/>
          <p:cNvSpPr txBox="1"/>
          <p:nvPr/>
        </p:nvSpPr>
        <p:spPr>
          <a:xfrm>
            <a:off x="7772400" y="3703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PhysioNet 2019 scoring rule: reward for alarms from 12 h before to 3 h after onset, penalty for false-alarm hours and for missed sepsis, normalised so that 1 is perfect and 0 is never alarming.</a:t>
            </a:r>
            <a:endParaRPr lang="en-US" sz="1100" dirty="0"/>
          </a:p>
        </p:txBody>
      </p:sp>
      <p:sp>
        <p:nvSpPr>
          <p:cNvPr id="15" name="text"/>
          <p:cNvSpPr txBox="1"/>
          <p:nvPr/>
        </p:nvSpPr>
        <p:spPr>
          <a:xfrm>
            <a:off x="548640" y="4846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False alarms per patient-day</a:t>
            </a:r>
            <a:endParaRPr lang="en-US" sz="1250" dirty="0"/>
          </a:p>
        </p:txBody>
      </p:sp>
      <p:sp>
        <p:nvSpPr>
          <p:cNvPr id="16" name="text"/>
          <p:cNvSpPr txBox="1"/>
          <p:nvPr/>
        </p:nvSpPr>
        <p:spPr>
          <a:xfrm>
            <a:off x="2194560" y="4846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How often the alarm fires on patients who do not develop sepsis, expressed per 24 h of monitoring; 0.5 is the budget used in this project.</a:t>
            </a:r>
            <a:endParaRPr lang="en-US" sz="1100" dirty="0"/>
          </a:p>
        </p:txBody>
      </p:sp>
      <p:sp>
        <p:nvSpPr>
          <p:cNvPr id="17" name="text"/>
          <p:cNvSpPr txBox="1"/>
          <p:nvPr/>
        </p:nvSpPr>
        <p:spPr>
          <a:xfrm>
            <a:off x="6126480" y="4846320"/>
            <a:ext cx="1600200" cy="1005840"/>
          </a:xfrm>
          <a:prstGeom prst="rect">
            <a:avLst/>
          </a:prstGeom>
          <a:noFill/>
          <a:ln/>
        </p:spPr>
        <p:txBody>
          <a:bodyPr wrap="square" lIns="0" tIns="0" rIns="0" bIns="0" rtlCol="0" anchor="t"/>
          <a:lstStyle/>
          <a:p>
            <a:pPr algn="l" indent="0" marL="0">
              <a:buNone/>
            </a:pPr>
            <a:r>
              <a:rPr lang="en-US" sz="1250" b="1" dirty="0">
                <a:solidFill>
                  <a:srgbClr val="0E7C86"/>
                </a:solidFill>
              </a:rPr>
              <a:t>Causal (availability-aware)</a:t>
            </a:r>
            <a:endParaRPr lang="en-US" sz="1250" dirty="0"/>
          </a:p>
        </p:txBody>
      </p:sp>
      <p:sp>
        <p:nvSpPr>
          <p:cNvPr id="18" name="text"/>
          <p:cNvSpPr txBox="1"/>
          <p:nvPr/>
        </p:nvSpPr>
        <p:spPr>
          <a:xfrm>
            <a:off x="7772400" y="4846320"/>
            <a:ext cx="3840480" cy="1051560"/>
          </a:xfrm>
          <a:prstGeom prst="rect">
            <a:avLst/>
          </a:prstGeom>
          <a:noFill/>
          <a:ln/>
        </p:spPr>
        <p:txBody>
          <a:bodyPr wrap="square" lIns="0" tIns="0" rIns="0" bIns="0" rtlCol="0" anchor="t"/>
          <a:lstStyle/>
          <a:p>
            <a:pPr algn="l" indent="0" marL="0">
              <a:buNone/>
            </a:pPr>
            <a:r>
              <a:rPr lang="en-US" sz="1100" dirty="0">
                <a:solidFill>
                  <a:srgbClr val="14213D"/>
                </a:solidFill>
              </a:rPr>
              <a:t>Each value is used only from the hour it was recorded in the system, with a measured-or-not flag and its age; no hour after onset is used for training or scoring.</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The utility score: what an alarm is worth, hour by hour</a:t>
            </a:r>
            <a:endParaRPr lang="en-US" sz="2600" dirty="0"/>
          </a:p>
        </p:txBody>
      </p:sp>
      <p:graphicFrame>
        <p:nvGraphicFramePr>
          <p:cNvPr id="3" name="utility curve"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utility notes"/>
          <p:cNvSpPr/>
          <p:nvPr/>
        </p:nvSpPr>
        <p:spPr>
          <a:xfrm>
            <a:off x="7726680" y="1371600"/>
            <a:ext cx="3916375" cy="4480560"/>
          </a:xfrm>
          <a:prstGeom prst="roundRect">
            <a:avLst>
              <a:gd name="adj" fmla="val 1868"/>
            </a:avLst>
          </a:prstGeom>
          <a:solidFill>
            <a:srgbClr val="EEF3F7"/>
          </a:solidFill>
          <a:ln w="9525">
            <a:solidFill>
              <a:srgbClr val="EEF3F7"/>
            </a:solidFill>
            <a:prstDash val="solid"/>
          </a:ln>
        </p:spPr>
      </p:sp>
      <p:sp>
        <p:nvSpPr>
          <p:cNvPr id="5" name="text"/>
          <p:cNvSpPr txBox="1"/>
          <p:nvPr/>
        </p:nvSpPr>
        <p:spPr>
          <a:xfrm>
            <a:off x="7909560" y="1481328"/>
            <a:ext cx="3657600" cy="320040"/>
          </a:xfrm>
          <a:prstGeom prst="rect">
            <a:avLst/>
          </a:prstGeom>
          <a:noFill/>
          <a:ln/>
        </p:spPr>
        <p:txBody>
          <a:bodyPr wrap="square" lIns="0" tIns="0" rIns="0" bIns="0" rtlCol="0" anchor="t"/>
          <a:lstStyle/>
          <a:p>
            <a:pPr algn="l" indent="0" marL="0">
              <a:buNone/>
            </a:pPr>
            <a:r>
              <a:rPr lang="en-US" sz="1400" b="1" dirty="0">
                <a:solidFill>
                  <a:srgbClr val="14213D"/>
                </a:solidFill>
              </a:rPr>
              <a:t>Reading the score</a:t>
            </a:r>
            <a:endParaRPr lang="en-US" sz="1400" dirty="0"/>
          </a:p>
        </p:txBody>
      </p:sp>
      <p:sp>
        <p:nvSpPr>
          <p:cNvPr id="6" name="bullets"/>
          <p:cNvSpPr txBox="1"/>
          <p:nvPr/>
        </p:nvSpPr>
        <p:spPr>
          <a:xfrm>
            <a:off x="7909560" y="1874520"/>
            <a:ext cx="3550615" cy="38404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4213D"/>
                </a:solidFill>
              </a:rPr>
              <a:t>An alarm earns most when raised 6 h before onset; alarms earlier than 12 h earn nothing.</a:t>
            </a:r>
            <a:endParaRPr lang="en-US" sz="1150" dirty="0"/>
          </a:p>
          <a:p>
            <a:pPr marL="177800" indent="-177800">
              <a:spcAft>
                <a:spcPts val="600"/>
              </a:spcAft>
              <a:buSzPct val="100000"/>
              <a:buChar char="•"/>
            </a:pPr>
            <a:r>
              <a:rPr lang="en-US" sz="1150" dirty="0">
                <a:solidFill>
                  <a:srgbClr val="14213D"/>
                </a:solidFill>
              </a:rPr>
              <a:t>Every false-alarm hour on a patient who never develops sepsis costs 0.05.</a:t>
            </a:r>
            <a:endParaRPr lang="en-US" sz="1150" dirty="0"/>
          </a:p>
          <a:p>
            <a:pPr marL="177800" indent="-177800">
              <a:spcAft>
                <a:spcPts val="600"/>
              </a:spcAft>
              <a:buSzPct val="100000"/>
              <a:buChar char="•"/>
            </a:pPr>
            <a:r>
              <a:rPr lang="en-US" sz="1150" dirty="0">
                <a:solidFill>
                  <a:srgbClr val="14213D"/>
                </a:solidFill>
              </a:rPr>
              <a:t>Silence after onset is penalised up to 2 points per hour by 3 h after onset.</a:t>
            </a:r>
            <a:endParaRPr lang="en-US" sz="1150" dirty="0"/>
          </a:p>
          <a:p>
            <a:pPr marL="177800" indent="-177800">
              <a:spcAft>
                <a:spcPts val="600"/>
              </a:spcAft>
              <a:buSzPct val="100000"/>
              <a:buChar char="•"/>
            </a:pPr>
            <a:r>
              <a:rPr lang="en-US" sz="1150" dirty="0">
                <a:solidFill>
                  <a:srgbClr val="14213D"/>
                </a:solidFill>
              </a:rPr>
              <a:t>Normalised utility = (score - score of never alarming) / (perfect score - score of never alarming).</a:t>
            </a:r>
            <a:endParaRPr lang="en-US" sz="1150" dirty="0"/>
          </a:p>
          <a:p>
            <a:pPr marL="177800" indent="-177800">
              <a:spcAft>
                <a:spcPts val="600"/>
              </a:spcAft>
              <a:buSzPct val="100000"/>
              <a:buChar char="•"/>
            </a:pPr>
            <a:r>
              <a:rPr lang="en-US" sz="1150" dirty="0">
                <a:solidFill>
                  <a:srgbClr val="14213D"/>
                </a:solidFill>
              </a:rPr>
              <a:t>It rewards timing and punishes alert fatigue: the two things a bedside system is judged on.</a:t>
            </a:r>
            <a:endParaRPr lang="en-US" sz="1150" dirty="0"/>
          </a:p>
          <a:p>
            <a:pPr marL="177800" indent="-177800">
              <a:spcAft>
                <a:spcPts val="600"/>
              </a:spcAft>
              <a:buSzPct val="100000"/>
              <a:buChar char="•"/>
            </a:pPr>
            <a:r>
              <a:rPr lang="en-US" sz="1150" dirty="0">
                <a:solidFill>
                  <a:srgbClr val="14213D"/>
                </a:solidFill>
              </a:rPr>
              <a:t>Official scorer code used unchanged; alarms evaluated hourly on the first 120 h of each stay.</a:t>
            </a:r>
            <a:endParaRPr lang="en-US" sz="11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The 655 predictors: the whole clinical picture, each with a measured flag and an age</a:t>
            </a:r>
            <a:endParaRPr lang="en-US" sz="2600" dirty="0"/>
          </a:p>
        </p:txBody>
      </p:sp>
      <p:sp>
        <p:nvSpPr>
          <p:cNvPr id="3" name="predictor card"/>
          <p:cNvSpPr/>
          <p:nvPr/>
        </p:nvSpPr>
        <p:spPr>
          <a:xfrm>
            <a:off x="548640" y="1417320"/>
            <a:ext cx="5440680" cy="1024128"/>
          </a:xfrm>
          <a:prstGeom prst="roundRect">
            <a:avLst>
              <a:gd name="adj" fmla="val 7143"/>
            </a:avLst>
          </a:prstGeom>
          <a:solidFill>
            <a:srgbClr val="EEF3F7"/>
          </a:solidFill>
          <a:ln w="9525">
            <a:solidFill>
              <a:srgbClr val="EEF3F7"/>
            </a:solidFill>
            <a:prstDash val="solid"/>
          </a:ln>
        </p:spPr>
      </p:sp>
      <p:sp>
        <p:nvSpPr>
          <p:cNvPr id="4" name="text"/>
          <p:cNvSpPr txBox="1"/>
          <p:nvPr/>
        </p:nvSpPr>
        <p:spPr>
          <a:xfrm>
            <a:off x="685800" y="1490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Vital signs and monitoring</a:t>
            </a:r>
            <a:endParaRPr lang="en-US" sz="1200" dirty="0"/>
          </a:p>
        </p:txBody>
      </p:sp>
      <p:sp>
        <p:nvSpPr>
          <p:cNvPr id="5" name="text"/>
          <p:cNvSpPr txBox="1"/>
          <p:nvPr/>
        </p:nvSpPr>
        <p:spPr>
          <a:xfrm>
            <a:off x="685800" y="1764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heart rate, blood pressures (cuff and arterial), respiratory rate, oxygen saturation, temperature, end-tidal CO2, central venous pressure, cardiac output, pain and sedation scores</a:t>
            </a:r>
            <a:endParaRPr lang="en-US" sz="1050" dirty="0"/>
          </a:p>
        </p:txBody>
      </p:sp>
      <p:sp>
        <p:nvSpPr>
          <p:cNvPr id="6" name="predictor card"/>
          <p:cNvSpPr/>
          <p:nvPr/>
        </p:nvSpPr>
        <p:spPr>
          <a:xfrm>
            <a:off x="6126480" y="1417320"/>
            <a:ext cx="5440680" cy="1024128"/>
          </a:xfrm>
          <a:prstGeom prst="roundRect">
            <a:avLst>
              <a:gd name="adj" fmla="val 7143"/>
            </a:avLst>
          </a:prstGeom>
          <a:solidFill>
            <a:srgbClr val="EEF3F7"/>
          </a:solidFill>
          <a:ln w="9525">
            <a:solidFill>
              <a:srgbClr val="EEF3F7"/>
            </a:solidFill>
            <a:prstDash val="solid"/>
          </a:ln>
        </p:spPr>
      </p:sp>
      <p:sp>
        <p:nvSpPr>
          <p:cNvPr id="7" name="text"/>
          <p:cNvSpPr txBox="1"/>
          <p:nvPr/>
        </p:nvSpPr>
        <p:spPr>
          <a:xfrm>
            <a:off x="6263640" y="1490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Laboratory and blood gas</a:t>
            </a:r>
            <a:endParaRPr lang="en-US" sz="1200" dirty="0"/>
          </a:p>
        </p:txBody>
      </p:sp>
      <p:sp>
        <p:nvSpPr>
          <p:cNvPr id="8" name="text"/>
          <p:cNvSpPr txBox="1"/>
          <p:nvPr/>
        </p:nvSpPr>
        <p:spPr>
          <a:xfrm>
            <a:off x="6263640" y="1764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full chemistry, haematology with differential, coagulation, lactate, procalcitonin, troponin, BNP, ferritin, D-dimer, amylase, lipase, ammonia, urinalysis, blood gases</a:t>
            </a:r>
            <a:endParaRPr lang="en-US" sz="1050" dirty="0"/>
          </a:p>
        </p:txBody>
      </p:sp>
      <p:sp>
        <p:nvSpPr>
          <p:cNvPr id="9" name="predictor card"/>
          <p:cNvSpPr/>
          <p:nvPr/>
        </p:nvSpPr>
        <p:spPr>
          <a:xfrm>
            <a:off x="548640" y="2560320"/>
            <a:ext cx="5440680" cy="1024128"/>
          </a:xfrm>
          <a:prstGeom prst="roundRect">
            <a:avLst>
              <a:gd name="adj" fmla="val 7143"/>
            </a:avLst>
          </a:prstGeom>
          <a:solidFill>
            <a:srgbClr val="EEF3F7"/>
          </a:solidFill>
          <a:ln w="9525">
            <a:solidFill>
              <a:srgbClr val="EEF3F7"/>
            </a:solidFill>
            <a:prstDash val="solid"/>
          </a:ln>
        </p:spPr>
      </p:sp>
      <p:sp>
        <p:nvSpPr>
          <p:cNvPr id="10" name="text"/>
          <p:cNvSpPr txBox="1"/>
          <p:nvPr/>
        </p:nvSpPr>
        <p:spPr>
          <a:xfrm>
            <a:off x="685800" y="2633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Scores and derived</a:t>
            </a:r>
            <a:endParaRPr lang="en-US" sz="1200" dirty="0"/>
          </a:p>
        </p:txBody>
      </p:sp>
      <p:sp>
        <p:nvSpPr>
          <p:cNvPr id="11" name="text"/>
          <p:cNvSpPr txBox="1"/>
          <p:nvPr/>
        </p:nvSpPr>
        <p:spPr>
          <a:xfrm>
            <a:off x="685800" y="2907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SOFA (full and per organ), qSOFA, NEWS2, shock index, P/F and S/F ratios, neutrophil-lymphocyte ratio, BMI, changes against the previous value and the baseline, 24 h extremes and trends</a:t>
            </a:r>
            <a:endParaRPr lang="en-US" sz="1050" dirty="0"/>
          </a:p>
        </p:txBody>
      </p:sp>
      <p:sp>
        <p:nvSpPr>
          <p:cNvPr id="12" name="predictor card"/>
          <p:cNvSpPr/>
          <p:nvPr/>
        </p:nvSpPr>
        <p:spPr>
          <a:xfrm>
            <a:off x="6126480" y="2560320"/>
            <a:ext cx="5440680" cy="1024128"/>
          </a:xfrm>
          <a:prstGeom prst="roundRect">
            <a:avLst>
              <a:gd name="adj" fmla="val 7143"/>
            </a:avLst>
          </a:prstGeom>
          <a:solidFill>
            <a:srgbClr val="EEF3F7"/>
          </a:solidFill>
          <a:ln w="9525">
            <a:solidFill>
              <a:srgbClr val="EEF3F7"/>
            </a:solidFill>
            <a:prstDash val="solid"/>
          </a:ln>
        </p:spPr>
      </p:sp>
      <p:sp>
        <p:nvSpPr>
          <p:cNvPr id="13" name="text"/>
          <p:cNvSpPr txBox="1"/>
          <p:nvPr/>
        </p:nvSpPr>
        <p:spPr>
          <a:xfrm>
            <a:off x="6263640" y="2633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Organ support</a:t>
            </a:r>
            <a:endParaRPr lang="en-US" sz="1200" dirty="0"/>
          </a:p>
        </p:txBody>
      </p:sp>
      <p:sp>
        <p:nvSpPr>
          <p:cNvPr id="14" name="text"/>
          <p:cNvSpPr txBox="1"/>
          <p:nvPr/>
        </p:nvSpPr>
        <p:spPr>
          <a:xfrm>
            <a:off x="6263640" y="2907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vasopressor dose in noradrenaline equivalents, ventilation mode and settings, oxygen flow, airway status, renal replacement therapy, urine output rate and AKI stage</a:t>
            </a:r>
            <a:endParaRPr lang="en-US" sz="1050" dirty="0"/>
          </a:p>
        </p:txBody>
      </p:sp>
      <p:sp>
        <p:nvSpPr>
          <p:cNvPr id="15" name="predictor card"/>
          <p:cNvSpPr/>
          <p:nvPr/>
        </p:nvSpPr>
        <p:spPr>
          <a:xfrm>
            <a:off x="548640" y="3703320"/>
            <a:ext cx="5440680" cy="1024128"/>
          </a:xfrm>
          <a:prstGeom prst="roundRect">
            <a:avLst>
              <a:gd name="adj" fmla="val 7143"/>
            </a:avLst>
          </a:prstGeom>
          <a:solidFill>
            <a:srgbClr val="EEF3F7"/>
          </a:solidFill>
          <a:ln w="9525">
            <a:solidFill>
              <a:srgbClr val="EEF3F7"/>
            </a:solidFill>
            <a:prstDash val="solid"/>
          </a:ln>
        </p:spPr>
      </p:sp>
      <p:sp>
        <p:nvSpPr>
          <p:cNvPr id="16" name="text"/>
          <p:cNvSpPr txBox="1"/>
          <p:nvPr/>
        </p:nvSpPr>
        <p:spPr>
          <a:xfrm>
            <a:off x="685800" y="3776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Fluids, drugs and devices</a:t>
            </a:r>
            <a:endParaRPr lang="en-US" sz="1200" dirty="0"/>
          </a:p>
        </p:txBody>
      </p:sp>
      <p:sp>
        <p:nvSpPr>
          <p:cNvPr id="17" name="text"/>
          <p:cNvSpPr txBox="1"/>
          <p:nvPr/>
        </p:nvSpPr>
        <p:spPr>
          <a:xfrm>
            <a:off x="685800" y="4050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crystalloids and transfusions, nutrition route, central and arterial lines, urinary catheters, drains; corticosteroids, immunosuppressants, chemotherapy, sedatives, opioids, diuretics, antipyretics</a:t>
            </a:r>
            <a:endParaRPr lang="en-US" sz="1050" dirty="0"/>
          </a:p>
        </p:txBody>
      </p:sp>
      <p:sp>
        <p:nvSpPr>
          <p:cNvPr id="18" name="predictor card"/>
          <p:cNvSpPr/>
          <p:nvPr/>
        </p:nvSpPr>
        <p:spPr>
          <a:xfrm>
            <a:off x="6126480" y="3703320"/>
            <a:ext cx="5440680" cy="1024128"/>
          </a:xfrm>
          <a:prstGeom prst="roundRect">
            <a:avLst>
              <a:gd name="adj" fmla="val 7143"/>
            </a:avLst>
          </a:prstGeom>
          <a:solidFill>
            <a:srgbClr val="EEF3F7"/>
          </a:solidFill>
          <a:ln w="9525">
            <a:solidFill>
              <a:srgbClr val="EEF3F7"/>
            </a:solidFill>
            <a:prstDash val="solid"/>
          </a:ln>
        </p:spPr>
      </p:sp>
      <p:sp>
        <p:nvSpPr>
          <p:cNvPr id="19" name="text"/>
          <p:cNvSpPr txBox="1"/>
          <p:nvPr/>
        </p:nvSpPr>
        <p:spPr>
          <a:xfrm>
            <a:off x="6263640" y="3776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Context and history</a:t>
            </a:r>
            <a:endParaRPr lang="en-US" sz="1200" dirty="0"/>
          </a:p>
        </p:txBody>
      </p:sp>
      <p:sp>
        <p:nvSpPr>
          <p:cNvPr id="20" name="text"/>
          <p:cNvSpPr txBox="1"/>
          <p:nvPr/>
        </p:nvSpPr>
        <p:spPr>
          <a:xfrm>
            <a:off x="6263640" y="4050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admission source and ICU type, hours in hospital before ICU, prior admissions, prior positive cultures and antibiotics in earlier admissions, 17 comorbidity flags, infection-related phenotypes, imaging orders</a:t>
            </a:r>
            <a:endParaRPr lang="en-US" sz="1050" dirty="0"/>
          </a:p>
        </p:txBody>
      </p:sp>
      <p:sp>
        <p:nvSpPr>
          <p:cNvPr id="21" name="predictor card"/>
          <p:cNvSpPr/>
          <p:nvPr/>
        </p:nvSpPr>
        <p:spPr>
          <a:xfrm>
            <a:off x="548640" y="4846320"/>
            <a:ext cx="5440680" cy="1024128"/>
          </a:xfrm>
          <a:prstGeom prst="roundRect">
            <a:avLst>
              <a:gd name="adj" fmla="val 7143"/>
            </a:avLst>
          </a:prstGeom>
          <a:solidFill>
            <a:srgbClr val="EEF3F7"/>
          </a:solidFill>
          <a:ln w="9525">
            <a:solidFill>
              <a:srgbClr val="EEF3F7"/>
            </a:solidFill>
            <a:prstDash val="solid"/>
          </a:ln>
        </p:spPr>
      </p:sp>
      <p:sp>
        <p:nvSpPr>
          <p:cNvPr id="22" name="text"/>
          <p:cNvSpPr txBox="1"/>
          <p:nvPr/>
        </p:nvSpPr>
        <p:spPr>
          <a:xfrm>
            <a:off x="685800" y="4919472"/>
            <a:ext cx="5166360" cy="274320"/>
          </a:xfrm>
          <a:prstGeom prst="rect">
            <a:avLst/>
          </a:prstGeom>
          <a:noFill/>
          <a:ln/>
        </p:spPr>
        <p:txBody>
          <a:bodyPr wrap="square" lIns="0" tIns="0" rIns="0" bIns="0" rtlCol="0" anchor="t"/>
          <a:lstStyle/>
          <a:p>
            <a:pPr algn="l" indent="0" marL="0">
              <a:buNone/>
            </a:pPr>
            <a:r>
              <a:rPr lang="en-US" sz="1200" b="1" dirty="0">
                <a:solidFill>
                  <a:srgbClr val="0E7C86"/>
                </a:solidFill>
              </a:rPr>
              <a:t>Prophylactic antibiotics (MIMIC-IV)</a:t>
            </a:r>
            <a:endParaRPr lang="en-US" sz="1200" dirty="0"/>
          </a:p>
        </p:txBody>
      </p:sp>
      <p:sp>
        <p:nvSpPr>
          <p:cNvPr id="23" name="text"/>
          <p:cNvSpPr txBox="1"/>
          <p:nvPr/>
        </p:nvSpPr>
        <p:spPr>
          <a:xfrm>
            <a:off x="685800" y="5193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surgical prophylaxis by agent, perioperative timing, duration and the absence of cultures or escalation; medical prophylaxis by agent and dose pattern</a:t>
            </a:r>
            <a:endParaRPr lang="en-US" sz="1050" dirty="0"/>
          </a:p>
        </p:txBody>
      </p:sp>
      <p:sp>
        <p:nvSpPr>
          <p:cNvPr id="24" name="predictor card"/>
          <p:cNvSpPr/>
          <p:nvPr/>
        </p:nvSpPr>
        <p:spPr>
          <a:xfrm>
            <a:off x="6126480" y="4846320"/>
            <a:ext cx="5440680" cy="1024128"/>
          </a:xfrm>
          <a:prstGeom prst="roundRect">
            <a:avLst>
              <a:gd name="adj" fmla="val 7143"/>
            </a:avLst>
          </a:prstGeom>
          <a:solidFill>
            <a:srgbClr val="FBE9E1"/>
          </a:solidFill>
          <a:ln w="9525">
            <a:solidFill>
              <a:srgbClr val="FBE9E1"/>
            </a:solidFill>
            <a:prstDash val="solid"/>
          </a:ln>
        </p:spPr>
      </p:sp>
      <p:sp>
        <p:nvSpPr>
          <p:cNvPr id="25" name="text"/>
          <p:cNvSpPr txBox="1"/>
          <p:nvPr/>
        </p:nvSpPr>
        <p:spPr>
          <a:xfrm>
            <a:off x="6263640" y="4919472"/>
            <a:ext cx="5166360" cy="274320"/>
          </a:xfrm>
          <a:prstGeom prst="rect">
            <a:avLst/>
          </a:prstGeom>
          <a:noFill/>
          <a:ln/>
        </p:spPr>
        <p:txBody>
          <a:bodyPr wrap="square" lIns="0" tIns="0" rIns="0" bIns="0" rtlCol="0" anchor="t"/>
          <a:lstStyle/>
          <a:p>
            <a:pPr algn="l" indent="0" marL="0">
              <a:buNone/>
            </a:pPr>
            <a:r>
              <a:rPr lang="en-US" sz="1200" b="1" dirty="0">
                <a:solidFill>
                  <a:srgbClr val="EB6834"/>
                </a:solidFill>
              </a:rPr>
              <a:t>Never used as predictors</a:t>
            </a:r>
            <a:endParaRPr lang="en-US" sz="1200" dirty="0"/>
          </a:p>
        </p:txBody>
      </p:sp>
      <p:sp>
        <p:nvSpPr>
          <p:cNvPr id="26" name="text"/>
          <p:cNvSpPr txBox="1"/>
          <p:nvPr/>
        </p:nvSpPr>
        <p:spPr>
          <a:xfrm>
            <a:off x="6263640" y="5193792"/>
            <a:ext cx="5166360" cy="658368"/>
          </a:xfrm>
          <a:prstGeom prst="rect">
            <a:avLst/>
          </a:prstGeom>
          <a:noFill/>
          <a:ln/>
        </p:spPr>
        <p:txBody>
          <a:bodyPr wrap="square" lIns="0" tIns="0" rIns="0" bIns="0" rtlCol="0" anchor="t"/>
          <a:lstStyle/>
          <a:p>
            <a:pPr algn="l" indent="0" marL="0">
              <a:buNone/>
            </a:pPr>
            <a:r>
              <a:rPr lang="en-US" sz="1050" dirty="0">
                <a:solidFill>
                  <a:srgbClr val="14213D"/>
                </a:solidFill>
              </a:rPr>
              <a:t>antibiotics and cultures that define suspected infection; race, ethnicity and insurance (fairness analysis only); anything recorded after the prediction hour</a:t>
            </a:r>
            <a:endParaRPr lang="en-US" sz="10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Cohorts, splits and the sealed holdout</a:t>
            </a:r>
            <a:endParaRPr lang="en-US" sz="2600" dirty="0"/>
          </a:p>
        </p:txBody>
      </p:sp>
      <p:graphicFrame>
        <p:nvGraphicFramePr>
          <p:cNvPr id="20" name="cohort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1645920"/>
                <a:gridCol w="1554480"/>
                <a:gridCol w="1828800"/>
                <a:gridCol w="1828800"/>
                <a:gridCol w="185623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Candidate ICU stays</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Sample used so far</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After benchmark exclusions</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Sealed holdout</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Development use</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r>
              <a:tr h="6858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MIMIC-IV 3.1 (BIDMC, Boston)</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about 94,000</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8,795 stays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20 % of patients by deterministic hash</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train / validation / calibration / test, grouped by patient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6858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eICU-CRD 2.0 (about 200 US hospitals)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about 201,000</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5,710 stays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20 % of patients by deterministic hash</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same, with hospital identifiers kept for leave-hospital-out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4" name="bullets"/>
          <p:cNvSpPr txBox="1"/>
          <p:nvPr/>
        </p:nvSpPr>
        <p:spPr>
          <a:xfrm>
            <a:off x="548640" y="3703320"/>
            <a:ext cx="11094415" cy="2377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4213D"/>
                </a:solidFill>
              </a:rPr>
              <a:t>Labels: Sepsis-3 via the YAIB benchmark (ricu), onset within the next 6 h; hours after onset excluded; stays followed for up to 120 h.</a:t>
            </a:r>
            <a:endParaRPr lang="en-US" sz="1200" dirty="0"/>
          </a:p>
          <a:p>
            <a:pPr marL="177800" indent="-177800">
              <a:spcAft>
                <a:spcPts val="700"/>
              </a:spcAft>
              <a:buSzPct val="100000"/>
              <a:buChar char="•"/>
            </a:pPr>
            <a:r>
              <a:rPr lang="en-US" sz="1200" dirty="0">
                <a:solidFill>
                  <a:srgbClr val="14213D"/>
                </a:solidFill>
              </a:rPr>
              <a:t>Exclusions follow the benchmark (age, stay length, missing core data); the 10,000-stay samples are fixed random draws, identical across all runs so far.</a:t>
            </a:r>
            <a:endParaRPr lang="en-US" sz="1200" dirty="0"/>
          </a:p>
          <a:p>
            <a:pPr marL="177800" indent="-177800">
              <a:spcAft>
                <a:spcPts val="700"/>
              </a:spcAft>
              <a:buSzPct val="100000"/>
              <a:buChar char="•"/>
            </a:pPr>
            <a:r>
              <a:rPr lang="en-US" sz="1200" dirty="0">
                <a:solidFill>
                  <a:srgbClr val="14213D"/>
                </a:solidFill>
              </a:rPr>
              <a:t>The holdout is released only once, after the full-cohort protocol is frozen; no threshold, calibration or model choice ever touches it.</a:t>
            </a:r>
            <a:endParaRPr lang="en-US" sz="1200" dirty="0"/>
          </a:p>
          <a:p>
            <a:pPr marL="177800" indent="-177800">
              <a:spcAft>
                <a:spcPts val="700"/>
              </a:spcAft>
              <a:buSzPct val="100000"/>
              <a:buChar char="•"/>
            </a:pPr>
            <a:r>
              <a:rPr lang="en-US" sz="1200" dirty="0">
                <a:solidFill>
                  <a:srgbClr val="14213D"/>
                </a:solidFill>
              </a:rPr>
              <a:t>Transfer rows: each database's model is also scored on the other database's development patients.</a:t>
            </a:r>
            <a:endParaRPr lang="en-US" sz="1200" dirty="0"/>
          </a:p>
          <a:p>
            <a:pPr marL="177800" indent="-177800">
              <a:spcAft>
                <a:spcPts val="700"/>
              </a:spcAft>
              <a:buSzPct val="100000"/>
              <a:buChar char="•"/>
            </a:pPr>
            <a:r>
              <a:rPr lang="en-US" sz="1200" dirty="0">
                <a:solidFill>
                  <a:srgbClr val="14213D"/>
                </a:solidFill>
              </a:rPr>
              <a:t>Label harmonisation is an open question: MIMIC-IV suspicion needs an antibiotic and a culture, eICU records antibiotics only; both definitions will be reported.</a:t>
            </a:r>
            <a:endParaRPr lang="en-US" sz="1200" dirty="0"/>
          </a:p>
          <a:p>
            <a:pPr marL="177800" indent="-177800">
              <a:spcAft>
                <a:spcPts val="700"/>
              </a:spcAft>
              <a:buSzPct val="100000"/>
              <a:buChar char="•"/>
            </a:pPr>
            <a:r>
              <a:rPr lang="en-US" sz="1200" dirty="0">
                <a:solidFill>
                  <a:srgbClr val="14213D"/>
                </a:solidFill>
              </a:rPr>
              <a:t>Unlabelled pretraining corpus: up to 75,000 stays per database that are not in the labelled cohort and not in the holdout.</a:t>
            </a:r>
            <a:endParaRPr lang="en-US" sz="12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The comparison running now: sixteen models, three losses, rules fixed in advance</a:t>
            </a:r>
            <a:endParaRPr lang="en-US" sz="2600" dirty="0"/>
          </a:p>
        </p:txBody>
      </p:sp>
      <p:graphicFrame>
        <p:nvGraphicFramePr>
          <p:cNvPr id="21" name="arm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5760720"/>
                <a:gridCol w="331927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Models</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r>
              <a:tr h="5029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Kept from earlier runs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OSTA, output fusion, CNN-Transformer, logistic regression, boosted trees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continuity with the 10,000-stay results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029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Literature benchmark</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path signatures + boosted trees (PhysioNet 2019 winner's method)</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direct replication of the winner on our data</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6858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New supervised</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flat OSTA (same model, no organ grouping), GRU-D, causal temporal CNN, CNN encoder + OSTA head, event attention + OSTA head</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organ-structure ablation; irregular-sampling models from the literature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9601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Self-supervised</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CNN encoder pretrained on unlabelled stays (next value, measured-within-6 h, SOFA components and organ worsening at 6/12/24 h), fine-tuned with OSTA, flat and survival (hazard) heads; site and pooled encoders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label-free learning from 150,000 stays; survival framing of the horizon</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029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Losses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utility-weighted cross-entropy (primary), plain cross-entropy, temporal label smoothing</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chosen by validation utility + AUPRC rank-average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6858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Decision rules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organ structure kept only if OSTA beats flat OSTA on validation; shortlist = top 2 to 3 new models + baselines; full cohort with 3 seeds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 choice is made on test data</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4" name="text"/>
          <p:cNvSpPr txBox="1"/>
          <p:nvPr/>
        </p:nvSpPr>
        <p:spPr>
          <a:xfrm>
            <a:off x="548640" y="5669280"/>
            <a:ext cx="11094415" cy="548640"/>
          </a:xfrm>
          <a:prstGeom prst="rect">
            <a:avLst/>
          </a:prstGeom>
          <a:noFill/>
          <a:ln/>
        </p:spPr>
        <p:txBody>
          <a:bodyPr wrap="square" lIns="0" tIns="0" rIns="0" bIns="0" rtlCol="0" anchor="t"/>
          <a:lstStyle/>
          <a:p>
            <a:pPr algn="l" indent="0" marL="0">
              <a:buNone/>
            </a:pPr>
            <a:r>
              <a:rPr lang="en-US" sz="1100" i="1" dirty="0">
                <a:solidFill>
                  <a:srgbClr val="5C677D"/>
                </a:solidFill>
              </a:rPr>
              <a:t>Evaluation additions in this run: warning time relative to the first antibiotic order, transfer to the other database, a conformal alarm policy with abstention on out-of-distribution hours, and a sensitivity analysis without clinician-suspicion proxies (hydrocortisone, imaging orders, prophylaxis).</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RD6 supplement: publications and outputs, October 2025 to October 2026</a:t>
            </a:r>
            <a:endParaRPr lang="en-US" sz="2600" dirty="0"/>
          </a:p>
        </p:txBody>
      </p:sp>
      <p:graphicFrame>
        <p:nvGraphicFramePr>
          <p:cNvPr id="22" name="publication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486400"/>
                <a:gridCol w="2377440"/>
                <a:gridCol w="1371600"/>
                <a:gridCol w="18562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Manuscript</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Journal</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Submitted</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4213D"/>
                    </a:solidFill>
                  </a:tcPr>
                </a:tc>
              </a:tr>
              <a:tr h="7315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Artificial Intelligence in the Diagnosis of Antimicrobial Resistance: Rapid Diagnostics and Imaging Innovations (narrative review)</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International Journal of Antimicrobial Agents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9 Oct 2026</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Technical check</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7315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Temporal Patterns and Predictors of Sepsis Onset in ICU Patients: A Retrospective Cohort Study Using PhysioNet Data</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Frontiers in Medicine</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23 Sep 2026</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Editorial assignment</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7315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Diagnostic Applications of Infrared Thermography Across Infectious Diseases: A Systematic Review with a Subgroup Meta-Analysis</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JMIR</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18 Jul 2026</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 review</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73152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Early sepsis warning on MIMIC-IV and eICU: causal predictors, utility and transfer (main study)</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target: critical care informatics journal</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 preparation</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full-cohort run and sealed-holdout evaluation pending</a:t>
                      </a:r>
                      <a:endParaRPr lang="en-US" sz="1100" dirty="0">
                        <a:latin typeface="Calibri" charset="0"/>
                        <a:ea typeface="Calibri" charset="0"/>
                        <a:cs typeface="Calibri" charset="0"/>
                      </a:endParaRPr>
                    </a:p>
                  </a:txBody>
                  <a:tcPr marL="54864" marR="54864"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4" name="bullets"/>
          <p:cNvSpPr txBox="1"/>
          <p:nvPr/>
        </p:nvSpPr>
        <p:spPr>
          <a:xfrm>
            <a:off x="548640" y="4846320"/>
            <a:ext cx="11094415" cy="10972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4213D"/>
                </a:solidFill>
              </a:rPr>
              <a:t>The cohort study (27,101 ICU admissions, 8 % sepsis, median onset 100 h) is the statistical companion to the modelling work: Cox models with a 6 h backshifted label identify early predictors that the deep models then use.</a:t>
            </a:r>
            <a:endParaRPr lang="en-US" sz="1150" dirty="0"/>
          </a:p>
          <a:p>
            <a:pPr marL="177800" indent="-177800">
              <a:spcAft>
                <a:spcPts val="600"/>
              </a:spcAft>
              <a:buSzPct val="100000"/>
              <a:buChar char="•"/>
            </a:pPr>
            <a:r>
              <a:rPr lang="en-US" sz="1150" dirty="0">
                <a:solidFill>
                  <a:srgbClr val="14213D"/>
                </a:solidFill>
              </a:rPr>
              <a:t>The CNN-Transformer and OSTA manuscripts drafted in early 2026 were withheld after the leakage audit; both architectures are being re-evaluated causally in the current comparison.</a:t>
            </a:r>
            <a:endParaRPr lang="en-US" sz="115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9905695" cy="960120"/>
          </a:xfrm>
          <a:prstGeom prst="rect">
            <a:avLst/>
          </a:prstGeom>
          <a:noFill/>
          <a:ln/>
        </p:spPr>
        <p:txBody>
          <a:bodyPr wrap="square" lIns="0" tIns="0" rIns="0" bIns="0" rtlCol="0" anchor="ctr"/>
          <a:lstStyle/>
          <a:p>
            <a:pPr indent="0" marL="0">
              <a:buNone/>
            </a:pPr>
            <a:r>
              <a:rPr lang="en-US" sz="2600" b="1" dirty="0">
                <a:solidFill>
                  <a:srgbClr val="14213D"/>
                </a:solidFill>
              </a:rPr>
              <a:t>RD6 supplement: training completed and what became of the March 2026 plan</a:t>
            </a:r>
            <a:endParaRPr lang="en-US" sz="2600" dirty="0"/>
          </a:p>
        </p:txBody>
      </p:sp>
      <p:sp>
        <p:nvSpPr>
          <p:cNvPr id="3" name="text"/>
          <p:cNvSpPr txBox="1"/>
          <p:nvPr/>
        </p:nvSpPr>
        <p:spPr>
          <a:xfrm>
            <a:off x="548640" y="1371600"/>
            <a:ext cx="5486400" cy="320040"/>
          </a:xfrm>
          <a:prstGeom prst="rect">
            <a:avLst/>
          </a:prstGeom>
          <a:noFill/>
          <a:ln/>
        </p:spPr>
        <p:txBody>
          <a:bodyPr wrap="square" lIns="0" tIns="0" rIns="0" bIns="0" rtlCol="0" anchor="t"/>
          <a:lstStyle/>
          <a:p>
            <a:pPr algn="l" indent="0" marL="0">
              <a:buNone/>
            </a:pPr>
            <a:r>
              <a:rPr lang="en-US" sz="1400" b="1" dirty="0">
                <a:solidFill>
                  <a:srgbClr val="0E7C86"/>
                </a:solidFill>
              </a:rPr>
              <a:t>Training and professional development</a:t>
            </a:r>
            <a:endParaRPr lang="en-US" sz="1400" dirty="0"/>
          </a:p>
        </p:txBody>
      </p:sp>
      <p:sp>
        <p:nvSpPr>
          <p:cNvPr id="4" name="icon circle"/>
          <p:cNvSpPr/>
          <p:nvPr/>
        </p:nvSpPr>
        <p:spPr>
          <a:xfrm>
            <a:off x="548640" y="1874520"/>
            <a:ext cx="502920" cy="502920"/>
          </a:xfrm>
          <a:prstGeom prst="ellipse">
            <a:avLst/>
          </a:prstGeom>
          <a:solidFill>
            <a:srgbClr val="0E7C86"/>
          </a:solidFill>
          <a:ln w="12700">
            <a:solidFill>
              <a:srgbClr val="0E7C86"/>
            </a:solidFill>
            <a:prstDash val="solid"/>
          </a:ln>
        </p:spPr>
      </p:sp>
      <p:pic>
        <p:nvPicPr>
          <p:cNvPr id="5" name="icon" descr="preencoded.png">    </p:cNvPr>
          <p:cNvPicPr>
            <a:picLocks noChangeAspect="1"/>
          </p:cNvPicPr>
          <p:nvPr/>
        </p:nvPicPr>
        <p:blipFill>
          <a:blip r:embed="rId1"/>
          <a:stretch>
            <a:fillRect/>
          </a:stretch>
        </p:blipFill>
        <p:spPr>
          <a:xfrm>
            <a:off x="669341" y="1995221"/>
            <a:ext cx="261518" cy="261518"/>
          </a:xfrm>
          <a:prstGeom prst="rect">
            <a:avLst/>
          </a:prstGeom>
        </p:spPr>
      </p:pic>
      <p:sp>
        <p:nvSpPr>
          <p:cNvPr id="6" name="text"/>
          <p:cNvSpPr txBox="1"/>
          <p:nvPr/>
        </p:nvSpPr>
        <p:spPr>
          <a:xfrm>
            <a:off x="1207008" y="1783080"/>
            <a:ext cx="4846320" cy="292608"/>
          </a:xfrm>
          <a:prstGeom prst="rect">
            <a:avLst/>
          </a:prstGeom>
          <a:noFill/>
          <a:ln/>
        </p:spPr>
        <p:txBody>
          <a:bodyPr wrap="square" lIns="0" tIns="0" rIns="0" bIns="0" rtlCol="0" anchor="t"/>
          <a:lstStyle/>
          <a:p>
            <a:pPr algn="l" indent="0" marL="0">
              <a:buNone/>
            </a:pPr>
            <a:r>
              <a:rPr lang="en-US" sz="1200" b="1" dirty="0">
                <a:solidFill>
                  <a:srgbClr val="14213D"/>
                </a:solidFill>
              </a:rPr>
              <a:t>Harvard PPCR: Clinical Trials Design, Implementation and Analysis</a:t>
            </a:r>
            <a:endParaRPr lang="en-US" sz="1200" dirty="0"/>
          </a:p>
        </p:txBody>
      </p:sp>
      <p:sp>
        <p:nvSpPr>
          <p:cNvPr id="7" name="text"/>
          <p:cNvSpPr txBox="1"/>
          <p:nvPr/>
        </p:nvSpPr>
        <p:spPr>
          <a:xfrm>
            <a:off x="1207008" y="2075688"/>
            <a:ext cx="4846320" cy="640080"/>
          </a:xfrm>
          <a:prstGeom prst="rect">
            <a:avLst/>
          </a:prstGeom>
          <a:noFill/>
          <a:ln/>
        </p:spPr>
        <p:txBody>
          <a:bodyPr wrap="square" lIns="0" tIns="0" rIns="0" bIns="0" rtlCol="0" anchor="t"/>
          <a:lstStyle/>
          <a:p>
            <a:pPr algn="l" indent="0" marL="0">
              <a:buNone/>
            </a:pPr>
            <a:r>
              <a:rPr lang="en-US" sz="1050" dirty="0">
                <a:solidFill>
                  <a:srgbClr val="5C677D"/>
                </a:solidFill>
              </a:rPr>
              <a:t>completed, March 2025 to February 2026; informs the validation and alarm-policy study design</a:t>
            </a:r>
            <a:endParaRPr lang="en-US" sz="1050" dirty="0"/>
          </a:p>
        </p:txBody>
      </p:sp>
      <p:sp>
        <p:nvSpPr>
          <p:cNvPr id="8" name="icon circle"/>
          <p:cNvSpPr/>
          <p:nvPr/>
        </p:nvSpPr>
        <p:spPr>
          <a:xfrm>
            <a:off x="548640" y="2834640"/>
            <a:ext cx="502920" cy="502920"/>
          </a:xfrm>
          <a:prstGeom prst="ellipse">
            <a:avLst/>
          </a:prstGeom>
          <a:solidFill>
            <a:srgbClr val="0E7C86"/>
          </a:solidFill>
          <a:ln w="12700">
            <a:solidFill>
              <a:srgbClr val="0E7C86"/>
            </a:solidFill>
            <a:prstDash val="solid"/>
          </a:ln>
        </p:spPr>
      </p:sp>
      <p:pic>
        <p:nvPicPr>
          <p:cNvPr id="9" name="icon" descr="preencoded.png">    </p:cNvPr>
          <p:cNvPicPr>
            <a:picLocks noChangeAspect="1"/>
          </p:cNvPicPr>
          <p:nvPr/>
        </p:nvPicPr>
        <p:blipFill>
          <a:blip r:embed="rId2"/>
          <a:stretch>
            <a:fillRect/>
          </a:stretch>
        </p:blipFill>
        <p:spPr>
          <a:xfrm>
            <a:off x="669341" y="2955341"/>
            <a:ext cx="261518" cy="261518"/>
          </a:xfrm>
          <a:prstGeom prst="rect">
            <a:avLst/>
          </a:prstGeom>
        </p:spPr>
      </p:pic>
      <p:sp>
        <p:nvSpPr>
          <p:cNvPr id="10" name="text"/>
          <p:cNvSpPr txBox="1"/>
          <p:nvPr/>
        </p:nvSpPr>
        <p:spPr>
          <a:xfrm>
            <a:off x="1207008" y="2743200"/>
            <a:ext cx="4846320" cy="292608"/>
          </a:xfrm>
          <a:prstGeom prst="rect">
            <a:avLst/>
          </a:prstGeom>
          <a:noFill/>
          <a:ln/>
        </p:spPr>
        <p:txBody>
          <a:bodyPr wrap="square" lIns="0" tIns="0" rIns="0" bIns="0" rtlCol="0" anchor="t"/>
          <a:lstStyle/>
          <a:p>
            <a:pPr algn="l" indent="0" marL="0">
              <a:buNone/>
            </a:pPr>
            <a:r>
              <a:rPr lang="en-US" sz="1200" b="1" dirty="0">
                <a:solidFill>
                  <a:srgbClr val="14213D"/>
                </a:solidFill>
              </a:rPr>
              <a:t>Iowa State University: Machine Learning Programme</a:t>
            </a:r>
            <a:endParaRPr lang="en-US" sz="1200" dirty="0"/>
          </a:p>
        </p:txBody>
      </p:sp>
      <p:sp>
        <p:nvSpPr>
          <p:cNvPr id="11" name="text"/>
          <p:cNvSpPr txBox="1"/>
          <p:nvPr/>
        </p:nvSpPr>
        <p:spPr>
          <a:xfrm>
            <a:off x="1207008" y="3035808"/>
            <a:ext cx="4846320" cy="640080"/>
          </a:xfrm>
          <a:prstGeom prst="rect">
            <a:avLst/>
          </a:prstGeom>
          <a:noFill/>
          <a:ln/>
        </p:spPr>
        <p:txBody>
          <a:bodyPr wrap="square" lIns="0" tIns="0" rIns="0" bIns="0" rtlCol="0" anchor="t"/>
          <a:lstStyle/>
          <a:p>
            <a:pPr algn="l" indent="0" marL="0">
              <a:buNone/>
            </a:pPr>
            <a:r>
              <a:rPr lang="en-US" sz="1050" dirty="0">
                <a:solidFill>
                  <a:srgbClr val="5C677D"/>
                </a:solidFill>
              </a:rPr>
              <a:t>completed, October to December 2025</a:t>
            </a:r>
            <a:endParaRPr lang="en-US" sz="1050" dirty="0"/>
          </a:p>
        </p:txBody>
      </p:sp>
      <p:sp>
        <p:nvSpPr>
          <p:cNvPr id="12" name="icon circle"/>
          <p:cNvSpPr/>
          <p:nvPr/>
        </p:nvSpPr>
        <p:spPr>
          <a:xfrm>
            <a:off x="548640" y="3794760"/>
            <a:ext cx="502920" cy="502920"/>
          </a:xfrm>
          <a:prstGeom prst="ellipse">
            <a:avLst/>
          </a:prstGeom>
          <a:solidFill>
            <a:srgbClr val="0E7C86"/>
          </a:solidFill>
          <a:ln w="12700">
            <a:solidFill>
              <a:srgbClr val="0E7C86"/>
            </a:solidFill>
            <a:prstDash val="solid"/>
          </a:ln>
        </p:spPr>
      </p:sp>
      <p:pic>
        <p:nvPicPr>
          <p:cNvPr id="13" name="icon" descr="preencoded.png">    </p:cNvPr>
          <p:cNvPicPr>
            <a:picLocks noChangeAspect="1"/>
          </p:cNvPicPr>
          <p:nvPr/>
        </p:nvPicPr>
        <p:blipFill>
          <a:blip r:embed="rId3"/>
          <a:stretch>
            <a:fillRect/>
          </a:stretch>
        </p:blipFill>
        <p:spPr>
          <a:xfrm>
            <a:off x="669341" y="3915461"/>
            <a:ext cx="261518" cy="261518"/>
          </a:xfrm>
          <a:prstGeom prst="rect">
            <a:avLst/>
          </a:prstGeom>
        </p:spPr>
      </p:pic>
      <p:sp>
        <p:nvSpPr>
          <p:cNvPr id="14" name="text"/>
          <p:cNvSpPr txBox="1"/>
          <p:nvPr/>
        </p:nvSpPr>
        <p:spPr>
          <a:xfrm>
            <a:off x="1207008" y="3703320"/>
            <a:ext cx="4846320" cy="292608"/>
          </a:xfrm>
          <a:prstGeom prst="rect">
            <a:avLst/>
          </a:prstGeom>
          <a:noFill/>
          <a:ln/>
        </p:spPr>
        <p:txBody>
          <a:bodyPr wrap="square" lIns="0" tIns="0" rIns="0" bIns="0" rtlCol="0" anchor="t"/>
          <a:lstStyle/>
          <a:p>
            <a:pPr algn="l" indent="0" marL="0">
              <a:buNone/>
            </a:pPr>
            <a:r>
              <a:rPr lang="en-US" sz="1200" b="1" dirty="0">
                <a:solidFill>
                  <a:srgbClr val="14213D"/>
                </a:solidFill>
              </a:rPr>
              <a:t>DataCamp Python Data Science Career Track</a:t>
            </a:r>
            <a:endParaRPr lang="en-US" sz="1200" dirty="0"/>
          </a:p>
        </p:txBody>
      </p:sp>
      <p:sp>
        <p:nvSpPr>
          <p:cNvPr id="15" name="text"/>
          <p:cNvSpPr txBox="1"/>
          <p:nvPr/>
        </p:nvSpPr>
        <p:spPr>
          <a:xfrm>
            <a:off x="1207008" y="3995928"/>
            <a:ext cx="4846320" cy="640080"/>
          </a:xfrm>
          <a:prstGeom prst="rect">
            <a:avLst/>
          </a:prstGeom>
          <a:noFill/>
          <a:ln/>
        </p:spPr>
        <p:txBody>
          <a:bodyPr wrap="square" lIns="0" tIns="0" rIns="0" bIns="0" rtlCol="0" anchor="t"/>
          <a:lstStyle/>
          <a:p>
            <a:pPr algn="l" indent="0" marL="0">
              <a:buNone/>
            </a:pPr>
            <a:r>
              <a:rPr lang="en-US" sz="1050" dirty="0">
                <a:solidFill>
                  <a:srgbClr val="5C677D"/>
                </a:solidFill>
              </a:rPr>
              <a:t>in progress since September 2025</a:t>
            </a:r>
            <a:endParaRPr lang="en-US" sz="1050" dirty="0"/>
          </a:p>
        </p:txBody>
      </p:sp>
      <p:sp>
        <p:nvSpPr>
          <p:cNvPr id="16" name="icon circle"/>
          <p:cNvSpPr/>
          <p:nvPr/>
        </p:nvSpPr>
        <p:spPr>
          <a:xfrm>
            <a:off x="548640" y="4754880"/>
            <a:ext cx="502920" cy="502920"/>
          </a:xfrm>
          <a:prstGeom prst="ellipse">
            <a:avLst/>
          </a:prstGeom>
          <a:solidFill>
            <a:srgbClr val="0E7C86"/>
          </a:solidFill>
          <a:ln w="12700">
            <a:solidFill>
              <a:srgbClr val="0E7C86"/>
            </a:solidFill>
            <a:prstDash val="solid"/>
          </a:ln>
        </p:spPr>
      </p:sp>
      <p:pic>
        <p:nvPicPr>
          <p:cNvPr id="17" name="icon" descr="preencoded.png">    </p:cNvPr>
          <p:cNvPicPr>
            <a:picLocks noChangeAspect="1"/>
          </p:cNvPicPr>
          <p:nvPr/>
        </p:nvPicPr>
        <p:blipFill>
          <a:blip r:embed="rId4"/>
          <a:stretch>
            <a:fillRect/>
          </a:stretch>
        </p:blipFill>
        <p:spPr>
          <a:xfrm>
            <a:off x="669341" y="4875581"/>
            <a:ext cx="261518" cy="261518"/>
          </a:xfrm>
          <a:prstGeom prst="rect">
            <a:avLst/>
          </a:prstGeom>
        </p:spPr>
      </p:pic>
      <p:sp>
        <p:nvSpPr>
          <p:cNvPr id="18" name="text"/>
          <p:cNvSpPr txBox="1"/>
          <p:nvPr/>
        </p:nvSpPr>
        <p:spPr>
          <a:xfrm>
            <a:off x="1207008" y="4663440"/>
            <a:ext cx="4846320" cy="292608"/>
          </a:xfrm>
          <a:prstGeom prst="rect">
            <a:avLst/>
          </a:prstGeom>
          <a:noFill/>
          <a:ln/>
        </p:spPr>
        <p:txBody>
          <a:bodyPr wrap="square" lIns="0" tIns="0" rIns="0" bIns="0" rtlCol="0" anchor="t"/>
          <a:lstStyle/>
          <a:p>
            <a:pPr algn="l" indent="0" marL="0">
              <a:buNone/>
            </a:pPr>
            <a:r>
              <a:rPr lang="en-US" sz="1200" b="1" dirty="0">
                <a:solidFill>
                  <a:srgbClr val="14213D"/>
                </a:solidFill>
              </a:rPr>
              <a:t>Research data and compute</a:t>
            </a:r>
            <a:endParaRPr lang="en-US" sz="1200" dirty="0"/>
          </a:p>
        </p:txBody>
      </p:sp>
      <p:sp>
        <p:nvSpPr>
          <p:cNvPr id="19" name="text"/>
          <p:cNvSpPr txBox="1"/>
          <p:nvPr/>
        </p:nvSpPr>
        <p:spPr>
          <a:xfrm>
            <a:off x="1207008" y="4956048"/>
            <a:ext cx="4846320" cy="640080"/>
          </a:xfrm>
          <a:prstGeom prst="rect">
            <a:avLst/>
          </a:prstGeom>
          <a:noFill/>
          <a:ln/>
        </p:spPr>
        <p:txBody>
          <a:bodyPr wrap="square" lIns="0" tIns="0" rIns="0" bIns="0" rtlCol="0" anchor="t"/>
          <a:lstStyle/>
          <a:p>
            <a:pPr algn="l" indent="0" marL="0">
              <a:buNone/>
            </a:pPr>
            <a:r>
              <a:rPr lang="en-US" sz="1050" dirty="0">
                <a:solidFill>
                  <a:srgbClr val="5C677D"/>
                </a:solidFill>
              </a:rPr>
              <a:t>PhysioNet credentialed access to MIMIC-IV 3.1 and eICU-CRD 2.0; reproducible notebook pipeline with 212 automated engineering checks</a:t>
            </a:r>
            <a:endParaRPr lang="en-US" sz="1050" dirty="0"/>
          </a:p>
        </p:txBody>
      </p:sp>
      <p:sp>
        <p:nvSpPr>
          <p:cNvPr id="20" name="text"/>
          <p:cNvSpPr txBox="1"/>
          <p:nvPr/>
        </p:nvSpPr>
        <p:spPr>
          <a:xfrm>
            <a:off x="6583680" y="1371600"/>
            <a:ext cx="5120640" cy="320040"/>
          </a:xfrm>
          <a:prstGeom prst="rect">
            <a:avLst/>
          </a:prstGeom>
          <a:noFill/>
          <a:ln/>
        </p:spPr>
        <p:txBody>
          <a:bodyPr wrap="square" lIns="0" tIns="0" rIns="0" bIns="0" rtlCol="0" anchor="t"/>
          <a:lstStyle/>
          <a:p>
            <a:pPr algn="l" indent="0" marL="0">
              <a:buNone/>
            </a:pPr>
            <a:r>
              <a:rPr lang="en-US" sz="1400" b="1" dirty="0">
                <a:solidFill>
                  <a:srgbClr val="0E7C86"/>
                </a:solidFill>
              </a:rPr>
              <a:t>What happened to the March 2026 plan</a:t>
            </a:r>
            <a:endParaRPr lang="en-US" sz="1400" dirty="0"/>
          </a:p>
        </p:txBody>
      </p:sp>
      <p:sp>
        <p:nvSpPr>
          <p:cNvPr id="21" name="text"/>
          <p:cNvSpPr txBox="1"/>
          <p:nvPr/>
        </p:nvSpPr>
        <p:spPr>
          <a:xfrm>
            <a:off x="6583680" y="1783080"/>
            <a:ext cx="2194560" cy="731520"/>
          </a:xfrm>
          <a:prstGeom prst="rect">
            <a:avLst/>
          </a:prstGeom>
          <a:noFill/>
          <a:ln/>
        </p:spPr>
        <p:txBody>
          <a:bodyPr wrap="square" lIns="0" tIns="0" rIns="0" bIns="0" rtlCol="0" anchor="t"/>
          <a:lstStyle/>
          <a:p>
            <a:pPr algn="l" indent="0" marL="0">
              <a:buNone/>
            </a:pPr>
            <a:r>
              <a:rPr lang="en-US" sz="1150" b="1" dirty="0">
                <a:solidFill>
                  <a:srgbClr val="14213D"/>
                </a:solidFill>
              </a:rPr>
              <a:t>MIMIC-IV external validation</a:t>
            </a:r>
            <a:endParaRPr lang="en-US" sz="1150" dirty="0"/>
          </a:p>
        </p:txBody>
      </p:sp>
      <p:sp>
        <p:nvSpPr>
          <p:cNvPr id="22" name="text"/>
          <p:cNvSpPr txBox="1"/>
          <p:nvPr/>
        </p:nvSpPr>
        <p:spPr>
          <a:xfrm>
            <a:off x="8869680" y="1783080"/>
            <a:ext cx="3322015" cy="731520"/>
          </a:xfrm>
          <a:prstGeom prst="rect">
            <a:avLst/>
          </a:prstGeom>
          <a:noFill/>
          <a:ln/>
        </p:spPr>
        <p:txBody>
          <a:bodyPr wrap="square" lIns="0" tIns="0" rIns="0" bIns="0" rtlCol="0" anchor="t"/>
          <a:lstStyle/>
          <a:p>
            <a:pPr algn="l" indent="0" marL="0">
              <a:buNone/>
            </a:pPr>
            <a:r>
              <a:rPr lang="en-US" sz="1100" dirty="0">
                <a:solidFill>
                  <a:srgbClr val="5C677D"/>
                </a:solidFill>
              </a:rPr>
              <a:t>became the core of the programme, extended to eICU with one shared label definition</a:t>
            </a:r>
            <a:endParaRPr lang="en-US" sz="1100" dirty="0"/>
          </a:p>
        </p:txBody>
      </p:sp>
      <p:sp>
        <p:nvSpPr>
          <p:cNvPr id="23" name="text"/>
          <p:cNvSpPr txBox="1"/>
          <p:nvPr/>
        </p:nvSpPr>
        <p:spPr>
          <a:xfrm>
            <a:off x="6583680" y="2560320"/>
            <a:ext cx="2194560" cy="731520"/>
          </a:xfrm>
          <a:prstGeom prst="rect">
            <a:avLst/>
          </a:prstGeom>
          <a:noFill/>
          <a:ln/>
        </p:spPr>
        <p:txBody>
          <a:bodyPr wrap="square" lIns="0" tIns="0" rIns="0" bIns="0" rtlCol="0" anchor="t"/>
          <a:lstStyle/>
          <a:p>
            <a:pPr algn="l" indent="0" marL="0">
              <a:buNone/>
            </a:pPr>
            <a:r>
              <a:rPr lang="en-US" sz="1150" b="1" dirty="0">
                <a:solidFill>
                  <a:srgbClr val="14213D"/>
                </a:solidFill>
              </a:rPr>
              <a:t>Submit the CNN-Transformer and OSTA papers</a:t>
            </a:r>
            <a:endParaRPr lang="en-US" sz="1150" dirty="0"/>
          </a:p>
        </p:txBody>
      </p:sp>
      <p:sp>
        <p:nvSpPr>
          <p:cNvPr id="24" name="text"/>
          <p:cNvSpPr txBox="1"/>
          <p:nvPr/>
        </p:nvSpPr>
        <p:spPr>
          <a:xfrm>
            <a:off x="8869680" y="2560320"/>
            <a:ext cx="3322015" cy="731520"/>
          </a:xfrm>
          <a:prstGeom prst="rect">
            <a:avLst/>
          </a:prstGeom>
          <a:noFill/>
          <a:ln/>
        </p:spPr>
        <p:txBody>
          <a:bodyPr wrap="square" lIns="0" tIns="0" rIns="0" bIns="0" rtlCol="0" anchor="t"/>
          <a:lstStyle/>
          <a:p>
            <a:pPr algn="l" indent="0" marL="0">
              <a:buNone/>
            </a:pPr>
            <a:r>
              <a:rPr lang="en-US" sz="1100" dirty="0">
                <a:solidFill>
                  <a:srgbClr val="5C677D"/>
                </a:solidFill>
              </a:rPr>
              <a:t>paused after the leakage audit; both models are in the causal comparison instead</a:t>
            </a:r>
            <a:endParaRPr lang="en-US" sz="1100" dirty="0"/>
          </a:p>
        </p:txBody>
      </p:sp>
      <p:sp>
        <p:nvSpPr>
          <p:cNvPr id="25" name="text"/>
          <p:cNvSpPr txBox="1"/>
          <p:nvPr/>
        </p:nvSpPr>
        <p:spPr>
          <a:xfrm>
            <a:off x="6583680" y="3337560"/>
            <a:ext cx="2194560" cy="731520"/>
          </a:xfrm>
          <a:prstGeom prst="rect">
            <a:avLst/>
          </a:prstGeom>
          <a:noFill/>
          <a:ln/>
        </p:spPr>
        <p:txBody>
          <a:bodyPr wrap="square" lIns="0" tIns="0" rIns="0" bIns="0" rtlCol="0" anchor="t"/>
          <a:lstStyle/>
          <a:p>
            <a:pPr algn="l" indent="0" marL="0">
              <a:buNone/>
            </a:pPr>
            <a:r>
              <a:rPr lang="en-US" sz="1150" b="1" dirty="0">
                <a:solidFill>
                  <a:srgbClr val="14213D"/>
                </a:solidFill>
              </a:rPr>
              <a:t>AMR review</a:t>
            </a:r>
            <a:endParaRPr lang="en-US" sz="1150" dirty="0"/>
          </a:p>
        </p:txBody>
      </p:sp>
      <p:sp>
        <p:nvSpPr>
          <p:cNvPr id="26" name="text"/>
          <p:cNvSpPr txBox="1"/>
          <p:nvPr/>
        </p:nvSpPr>
        <p:spPr>
          <a:xfrm>
            <a:off x="8869680" y="3337560"/>
            <a:ext cx="3322015" cy="731520"/>
          </a:xfrm>
          <a:prstGeom prst="rect">
            <a:avLst/>
          </a:prstGeom>
          <a:noFill/>
          <a:ln/>
        </p:spPr>
        <p:txBody>
          <a:bodyPr wrap="square" lIns="0" tIns="0" rIns="0" bIns="0" rtlCol="0" anchor="t"/>
          <a:lstStyle/>
          <a:p>
            <a:pPr algn="l" indent="0" marL="0">
              <a:buNone/>
            </a:pPr>
            <a:r>
              <a:rPr lang="en-US" sz="1100" dirty="0">
                <a:solidFill>
                  <a:srgbClr val="5C677D"/>
                </a:solidFill>
              </a:rPr>
              <a:t>revised and submitted to the International Journal of Antimicrobial Agents</a:t>
            </a:r>
            <a:endParaRPr lang="en-US" sz="1100" dirty="0"/>
          </a:p>
        </p:txBody>
      </p:sp>
      <p:sp>
        <p:nvSpPr>
          <p:cNvPr id="27" name="text"/>
          <p:cNvSpPr txBox="1"/>
          <p:nvPr/>
        </p:nvSpPr>
        <p:spPr>
          <a:xfrm>
            <a:off x="6583680" y="4114800"/>
            <a:ext cx="2194560" cy="731520"/>
          </a:xfrm>
          <a:prstGeom prst="rect">
            <a:avLst/>
          </a:prstGeom>
          <a:noFill/>
          <a:ln/>
        </p:spPr>
        <p:txBody>
          <a:bodyPr wrap="square" lIns="0" tIns="0" rIns="0" bIns="0" rtlCol="0" anchor="t"/>
          <a:lstStyle/>
          <a:p>
            <a:pPr algn="l" indent="0" marL="0">
              <a:buNone/>
            </a:pPr>
            <a:r>
              <a:rPr lang="en-US" sz="1150" b="1" dirty="0">
                <a:solidFill>
                  <a:srgbClr val="14213D"/>
                </a:solidFill>
              </a:rPr>
              <a:t>Present at a conference</a:t>
            </a:r>
            <a:endParaRPr lang="en-US" sz="1150" dirty="0"/>
          </a:p>
        </p:txBody>
      </p:sp>
      <p:sp>
        <p:nvSpPr>
          <p:cNvPr id="28" name="text"/>
          <p:cNvSpPr txBox="1"/>
          <p:nvPr/>
        </p:nvSpPr>
        <p:spPr>
          <a:xfrm>
            <a:off x="8869680" y="4114800"/>
            <a:ext cx="3322015" cy="731520"/>
          </a:xfrm>
          <a:prstGeom prst="rect">
            <a:avLst/>
          </a:prstGeom>
          <a:noFill/>
          <a:ln/>
        </p:spPr>
        <p:txBody>
          <a:bodyPr wrap="square" lIns="0" tIns="0" rIns="0" bIns="0" rtlCol="0" anchor="t"/>
          <a:lstStyle/>
          <a:p>
            <a:pPr algn="l" indent="0" marL="0">
              <a:buNone/>
            </a:pPr>
            <a:r>
              <a:rPr lang="en-US" sz="1100" dirty="0">
                <a:solidFill>
                  <a:srgbClr val="5C677D"/>
                </a:solidFill>
              </a:rPr>
              <a:t>this conference; the RD6 review follows</a:t>
            </a:r>
            <a:endParaRPr lang="en-US" sz="1100" dirty="0"/>
          </a:p>
        </p:txBody>
      </p:sp>
      <p:sp>
        <p:nvSpPr>
          <p:cNvPr id="29" name="text"/>
          <p:cNvSpPr txBox="1"/>
          <p:nvPr/>
        </p:nvSpPr>
        <p:spPr>
          <a:xfrm>
            <a:off x="6583680" y="4892040"/>
            <a:ext cx="2194560" cy="731520"/>
          </a:xfrm>
          <a:prstGeom prst="rect">
            <a:avLst/>
          </a:prstGeom>
          <a:noFill/>
          <a:ln/>
        </p:spPr>
        <p:txBody>
          <a:bodyPr wrap="square" lIns="0" tIns="0" rIns="0" bIns="0" rtlCol="0" anchor="t"/>
          <a:lstStyle/>
          <a:p>
            <a:pPr algn="l" indent="0" marL="0">
              <a:buNone/>
            </a:pPr>
            <a:r>
              <a:rPr lang="en-US" sz="1150" b="1" dirty="0">
                <a:solidFill>
                  <a:srgbClr val="14213D"/>
                </a:solidFill>
              </a:rPr>
              <a:t>Clinical stakeholder study</a:t>
            </a:r>
            <a:endParaRPr lang="en-US" sz="1150" dirty="0"/>
          </a:p>
        </p:txBody>
      </p:sp>
      <p:sp>
        <p:nvSpPr>
          <p:cNvPr id="30" name="text"/>
          <p:cNvSpPr txBox="1"/>
          <p:nvPr/>
        </p:nvSpPr>
        <p:spPr>
          <a:xfrm>
            <a:off x="8869680" y="4892040"/>
            <a:ext cx="3322015" cy="731520"/>
          </a:xfrm>
          <a:prstGeom prst="rect">
            <a:avLst/>
          </a:prstGeom>
          <a:noFill/>
          <a:ln/>
        </p:spPr>
        <p:txBody>
          <a:bodyPr wrap="square" lIns="0" tIns="0" rIns="0" bIns="0" rtlCol="0" anchor="t"/>
          <a:lstStyle/>
          <a:p>
            <a:pPr algn="l" indent="0" marL="0">
              <a:buNone/>
            </a:pPr>
            <a:r>
              <a:rPr lang="en-US" sz="1100" dirty="0">
                <a:solidFill>
                  <a:srgbClr val="5C677D"/>
                </a:solidFill>
              </a:rPr>
              <a:t>now the qualitative phase of a mixed-methods design, scheduled after the full-cohort results</a:t>
            </a:r>
            <a:endParaRPr lang="en-US" sz="1100" dirty="0"/>
          </a:p>
        </p:txBody>
      </p:sp>
      <p:sp>
        <p:nvSpPr>
          <p:cNvPr id="25" name="Slide Number Placeholder 0"/>
          <p:cNvSpPr>
            <a:spLocks noGrp="1"/>
          </p:cNvSpPr>
          <p:nvPr>
            <p:ph type="sldNum" sz="quarter" idx="4294967295"/>
          </p:nvPr>
        </p:nvSpPr>
        <p:spPr>
          <a:xfrm>
            <a:off x="10911535" y="6455664"/>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4213D"/>
                </a:solidFill>
              </a:defRPr>
            </a:lvl1pPr>
          </a:lstStyle>
          <a:p>
            <a:pPr algn="r"/>
            <a:fld id="{F7021451-1387-4CA6-816F-3879F97B5CBC}" type="slidenum">
              <a:rPr b="1" lang="en-US"/>
              <a:t>22</a:t>
            </a:fld>
            <a:endParaRPr lang="en-US"/>
          </a:p>
        </p:txBody>
      </p:sp>
    </p:spTree>
  </p:cSld>
  <p:clrMapOvr>
    <a:masterClrMapping/>
  </p:clrMapOvr>
</p:sld>
</file>

<file path=ppt/theme/theme1.xml><?xml version="1.0" encoding="utf-8"?>
<a:theme xmlns:a="http://schemas.openxmlformats.org/drawingml/2006/main" name="SepsisWarning2026">
  <a:themeElements>
    <a:clrScheme name="SepsisWarning2026">
      <a:dk1>
        <a:srgbClr val="14213D"/>
      </a:dk1>
      <a:lt1>
        <a:srgbClr val="FFFFFF"/>
      </a:lt1>
      <a:dk2>
        <a:srgbClr val="0F2F4A"/>
      </a:dk2>
      <a:lt2>
        <a:srgbClr val="EEF3F7"/>
      </a:lt2>
      <a:accent1>
        <a:srgbClr val="0E7C86"/>
      </a:accent1>
      <a:accent2>
        <a:srgbClr val="2A78D6"/>
      </a:accent2>
      <a:accent3>
        <a:srgbClr val="EB6834"/>
      </a:accent3>
      <a:accent4>
        <a:srgbClr val="1BAF7A"/>
      </a:accent4>
      <a:accent5>
        <a:srgbClr val="5C677D"/>
      </a:accent5>
      <a:accent6>
        <a:srgbClr val="E8A33D"/>
      </a:accent6>
      <a:hlink>
        <a:srgbClr val="0E7C86"/>
      </a:hlink>
      <a:folHlink>
        <a:srgbClr val="5C677D"/>
      </a:folHlink>
    </a:clrScheme>
    <a:fontScheme name="SepsisWarning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sepsis warning stay useful in a hospital it has never seen?</dc:title>
  <dc:subject>PptxGenJS Presentation</dc:subject>
  <dc:creator>Mahmoud Essam Elrggal</dc:creator>
  <cp:lastModifiedBy>Mahmoud Essam Elrggal</cp:lastModifiedBy>
  <cp:revision>1</cp:revision>
  <dcterms:created xsi:type="dcterms:W3CDTF">2026-10-18T16:33:32Z</dcterms:created>
  <dcterms:modified xsi:type="dcterms:W3CDTF">2026-10-18T16:33:32Z</dcterms:modified>
</cp:coreProperties>
</file>